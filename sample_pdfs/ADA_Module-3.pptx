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4"/>
  </p:notesMasterIdLst>
  <p:sldIdLst>
    <p:sldId id="256" r:id="rId2"/>
    <p:sldId id="257" r:id="rId3"/>
    <p:sldId id="258" r:id="rId4"/>
    <p:sldId id="302" r:id="rId5"/>
    <p:sldId id="303" r:id="rId6"/>
    <p:sldId id="301" r:id="rId7"/>
    <p:sldId id="304" r:id="rId8"/>
    <p:sldId id="299" r:id="rId9"/>
    <p:sldId id="300" r:id="rId10"/>
    <p:sldId id="260" r:id="rId11"/>
    <p:sldId id="305" r:id="rId12"/>
    <p:sldId id="261" r:id="rId13"/>
    <p:sldId id="262" r:id="rId14"/>
    <p:sldId id="263" r:id="rId15"/>
    <p:sldId id="264" r:id="rId16"/>
    <p:sldId id="265" r:id="rId17"/>
    <p:sldId id="266" r:id="rId18"/>
    <p:sldId id="267" r:id="rId19"/>
    <p:sldId id="306" r:id="rId20"/>
    <p:sldId id="268" r:id="rId21"/>
    <p:sldId id="269" r:id="rId22"/>
    <p:sldId id="311" r:id="rId23"/>
    <p:sldId id="312" r:id="rId24"/>
    <p:sldId id="310" r:id="rId25"/>
    <p:sldId id="307" r:id="rId26"/>
    <p:sldId id="308" r:id="rId27"/>
    <p:sldId id="309" r:id="rId28"/>
    <p:sldId id="270" r:id="rId29"/>
    <p:sldId id="271" r:id="rId30"/>
    <p:sldId id="272" r:id="rId31"/>
    <p:sldId id="313" r:id="rId32"/>
    <p:sldId id="273" r:id="rId33"/>
    <p:sldId id="274" r:id="rId34"/>
    <p:sldId id="275" r:id="rId35"/>
    <p:sldId id="276" r:id="rId36"/>
    <p:sldId id="277" r:id="rId37"/>
    <p:sldId id="278" r:id="rId38"/>
    <p:sldId id="314"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315" r:id="rId59"/>
    <p:sldId id="316" r:id="rId60"/>
    <p:sldId id="35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8" r:id="rId131"/>
    <p:sldId id="389" r:id="rId132"/>
    <p:sldId id="390" r:id="rId133"/>
    <p:sldId id="391" r:id="rId134"/>
    <p:sldId id="392" r:id="rId135"/>
    <p:sldId id="393" r:id="rId136"/>
    <p:sldId id="394" r:id="rId137"/>
    <p:sldId id="395" r:id="rId138"/>
    <p:sldId id="396" r:id="rId139"/>
    <p:sldId id="397" r:id="rId140"/>
    <p:sldId id="398" r:id="rId141"/>
    <p:sldId id="399" r:id="rId142"/>
    <p:sldId id="298" r:id="rId143"/>
  </p:sldIdLst>
  <p:sldSz cx="9144000" cy="5143500" type="screen16x9"/>
  <p:notesSz cx="6858000" cy="9144000"/>
  <p:embeddedFontLst>
    <p:embeddedFont>
      <p:font typeface="Cambria" panose="02040503050406030204" pitchFamily="18" charset="0"/>
      <p:regular r:id="rId145"/>
      <p:bold r:id="rId146"/>
      <p:italic r:id="rId147"/>
      <p:boldItalic r:id="rId148"/>
    </p:embeddedFont>
    <p:embeddedFont>
      <p:font typeface="Open Sans Light" panose="020B0604020202020204" charset="0"/>
      <p:regular r:id="rId149"/>
      <p:bold r:id="rId150"/>
      <p:italic r:id="rId151"/>
      <p:boldItalic r:id="rId152"/>
    </p:embeddedFont>
    <p:embeddedFont>
      <p:font typeface="Open Sans" panose="020B0604020202020204" charset="0"/>
      <p:bold r:id="rId153"/>
      <p:boldItalic r:id="rId154"/>
    </p:embeddedFont>
    <p:embeddedFont>
      <p:font typeface="Times" panose="02020603050405020304" pitchFamily="18" charset="0"/>
      <p:regular r:id="rId155"/>
      <p:bold r:id="rId156"/>
      <p:italic r:id="rId157"/>
      <p:boldItalic r:id="rId1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9" roundtripDataSignature="AMtx7miZcdNMQQlixAJeXSOsXK0zOU/1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78"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customschemas.google.com/relationships/presentationmetadata" Target="meta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5.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6.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1.fntdata"/><Relationship Id="rId16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7.fntdata"/><Relationship Id="rId156" Type="http://schemas.openxmlformats.org/officeDocument/2006/relationships/font" Target="fonts/font12.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3.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0.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notesMaster" Target="notesMasters/notesMaster1.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29849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526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98916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93003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07008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98781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095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95363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132702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1195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80353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121156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1723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45690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7514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198503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205496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765680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53263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61600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F769A5A-3FE2-C76C-8ECC-34D4C7CEFB5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890F8C3-1A96-6CE8-55C3-50C9691AE9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BCF3FF6-FE22-C049-FBBA-107D9562EB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609006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9078BFF-8394-30CC-13AF-C929FF38F87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D888CB-D073-6F8D-1482-10F7CA468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41099A0-255E-7948-D49D-79276C12E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937844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9078BFF-8394-30CC-13AF-C929FF38F87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D888CB-D073-6F8D-1482-10F7CA468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41099A0-255E-7948-D49D-79276C12E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82114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9078BFF-8394-30CC-13AF-C929FF38F87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D888CB-D073-6F8D-1482-10F7CA468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41099A0-255E-7948-D49D-79276C12E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81159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4F92A6C-6B64-6265-3A68-A7F26EED185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AB6A9D7-0385-5485-EA81-B8F8726EFB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7E6A5E9-A03F-DE4A-4D73-A9CDDA8F37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56595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AA28C1B-2ABD-32F3-3949-B8BF086DACC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357D8CD-C296-18DD-702B-A94131ED09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D0C4859-A73F-E312-1FFD-0AF96DFC92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512154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0AD32B9-8872-C442-1CE5-ABFEC450461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B743452-5C6A-1392-E82A-748000B1B4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9C68A3C-736A-FC5C-E18B-1730615367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319267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E6EE111-43E7-A4DA-E0CF-3BA6A747523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38586A7-6788-38A8-7892-7A7BC07DD7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A11E784-CF68-B49B-31D9-6EAE85C2EE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1766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206F98E-A3BE-3C1B-3765-A4DC9F2B67B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467BD37-E29A-7DCA-A43B-8B5971C49F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0F47DC8-11F7-8522-F8FC-4454431C0F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908400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9BEEB87-0987-7B8F-84C8-8C59A3BE84F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918220B-97FD-E2E5-1B96-97FF4C107E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5AD74E7-9FAF-1608-0191-C3E0F1D6DC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966196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4F2C7AD-0B78-B4FE-3DBD-5150AF755C5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1AA69F9-2511-2FE1-84A2-8AAD927AB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494A5A6-370D-E916-7143-D21C0F94DD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786007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24856DF-DC62-B975-6DC4-F7AD0957D97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50EE766-ED42-2188-4119-734FBD77E2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E4E56C8-E2E1-88F8-1885-D947952196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981437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6A95B85-AB36-0E66-939E-FB2CD5E6B82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07616E4-2B2A-FFDA-D5BE-4251DE340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509C219-C102-E104-ED4A-350DD04D52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574882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C64FBA8-433B-A9E8-0E37-C232DEF736F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EA3CEAE-B434-86CC-9B55-7DBD6873A7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269955B-2DE1-2594-A2F9-624B938D7B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0044065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1068899-ABEF-DD12-AEE0-6E9E39A0326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F70E753-99A8-967D-6D20-175FFC4258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9ED0658-7AE6-9B3B-D524-5A1FCBC092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890881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F19E4CB-1B44-2027-62C8-8C61F75DDC2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44B2262-5C59-2688-0A0F-F05078B324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2091D70-AB02-73A3-C265-6DB73479AF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176737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639AA59-B8A6-43CC-2783-F1AD004C796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C55F0DF-649C-AAD2-676F-CB7530AFB0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1FEE87A-80CE-D705-1A78-AFD7A416498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911709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952068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823663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F769A5A-3FE2-C76C-8ECC-34D4C7CEFB5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890F8C3-1A96-6CE8-55C3-50C9691AE9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BCF3FF6-FE22-C049-FBBA-107D9562EB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5805619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9078BFF-8394-30CC-13AF-C929FF38F87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D888CB-D073-6F8D-1482-10F7CA468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41099A0-255E-7948-D49D-79276C12E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8227562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9078BFF-8394-30CC-13AF-C929FF38F87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D888CB-D073-6F8D-1482-10F7CA468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41099A0-255E-7948-D49D-79276C12E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7738810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19078BFF-8394-30CC-13AF-C929FF38F87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6D888CB-D073-6F8D-1482-10F7CA468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541099A0-255E-7948-D49D-79276C12E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07074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4F92A6C-6B64-6265-3A68-A7F26EED185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AB6A9D7-0385-5485-EA81-B8F8726EFB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7E6A5E9-A03F-DE4A-4D73-A9CDDA8F37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5621289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AA28C1B-2ABD-32F3-3949-B8BF086DACC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357D8CD-C296-18DD-702B-A94131ED09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D0C4859-A73F-E312-1FFD-0AF96DFC92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2735375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0AD32B9-8872-C442-1CE5-ABFEC450461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B743452-5C6A-1392-E82A-748000B1B4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9C68A3C-736A-FC5C-E18B-1730615367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3099181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E6EE111-43E7-A4DA-E0CF-3BA6A747523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38586A7-6788-38A8-7892-7A7BC07DD7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A11E784-CF68-B49B-31D9-6EAE85C2EE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2109473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206F98E-A3BE-3C1B-3765-A4DC9F2B67B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467BD37-E29A-7DCA-A43B-8B5971C49F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0F47DC8-11F7-8522-F8FC-4454431C0F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0718298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9BEEB87-0987-7B8F-84C8-8C59A3BE84F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918220B-97FD-E2E5-1B96-97FF4C107E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5AD74E7-9FAF-1608-0191-C3E0F1D6DC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1267283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4F2C7AD-0B78-B4FE-3DBD-5150AF755C5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1AA69F9-2511-2FE1-84A2-8AAD927AB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494A5A6-370D-E916-7143-D21C0F94DD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4717606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24856DF-DC62-B975-6DC4-F7AD0957D97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50EE766-ED42-2188-4119-734FBD77E2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E4E56C8-E2E1-88F8-1885-D947952196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648883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6A95B85-AB36-0E66-939E-FB2CD5E6B82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E07616E4-2B2A-FFDA-D5BE-4251DE340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509C219-C102-E104-ED4A-350DD04D52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5716021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C64FBA8-433B-A9E8-0E37-C232DEF736F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EA3CEAE-B434-86CC-9B55-7DBD6873A7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269955B-2DE1-2594-A2F9-624B938D7B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95907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1068899-ABEF-DD12-AEE0-6E9E39A03261}"/>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F70E753-99A8-967D-6D20-175FFC4258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9ED0658-7AE6-9B3B-D524-5A1FCBC092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280237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F19E4CB-1B44-2027-62C8-8C61F75DDC2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44B2262-5C59-2688-0A0F-F05078B324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2091D70-AB02-73A3-C265-6DB73479AF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8875625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639AA59-B8A6-43CC-2783-F1AD004C796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C55F0DF-649C-AAD2-676F-CB7530AFB0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1FEE87A-80CE-D705-1A78-AFD7A416498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3535895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F639AA59-B8A6-43CC-2783-F1AD004C796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C55F0DF-649C-AAD2-676F-CB7530AFB0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1FEE87A-80CE-D705-1A78-AFD7A416498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071507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809762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8F9F9D-6FDA-57F7-F7D5-C148217894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7FC1949-2015-8DA3-F943-D88662F8D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CEF763C5-A8A6-D663-2764-7B3619531A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3811979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68BD71C7-77C4-33B1-0D76-3E8631B7776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62BD2A1-8156-0011-CFEF-EFABAF13DC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D6C10D5-362E-B094-7C1A-6E6C4F80723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5005635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EAF55C3-37E2-D20D-058D-5B56EDC1B78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0320EE3-4B30-CEF5-1B89-3915DA1918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81D36227-41E5-E179-08E6-5015085116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4648826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4D8ABDE-29C6-A1F1-8B48-4F817C2F318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2AC0E88-D52B-831F-BBF5-CFBAE4394E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CF1FF2E-8934-81D2-75EC-DD9DCD9DD8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9922070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4D8ABDE-29C6-A1F1-8B48-4F817C2F318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2AC0E88-D52B-831F-BBF5-CFBAE4394E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CF1FF2E-8934-81D2-75EC-DD9DCD9DD8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335644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9691693-9CC7-7E5C-BF46-B4F50BA1515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240D7E6-25E7-B10E-D94E-635703FEBE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6E42112-D3CC-DD30-47E9-444D2D32D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4361276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E9691693-9CC7-7E5C-BF46-B4F50BA1515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C240D7E6-25E7-B10E-D94E-635703FEBE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6E42112-D3CC-DD30-47E9-444D2D32D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692892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B79706B-58CC-9060-FD86-1AEA32EBD62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9907A44-F44F-5B42-AD38-43367D0949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06643C1E-5544-BEC6-5928-77A606E6C9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5480813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F168DA1-B2D6-7977-3DF8-A3102DE1063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CFB9660-7AF1-CA1E-D078-BB0BE13BB7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749305D-577C-2952-5319-0AE334CF56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5242353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F168DA1-B2D6-7977-3DF8-A3102DE1063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CFB9660-7AF1-CA1E-D078-BB0BE13BB7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749305D-577C-2952-5319-0AE334CF56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5110571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DE03F20-8ECF-69F2-3E92-8DA6DD04F2D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5170A25-8B1B-1CC7-BCE3-8B5DF51FF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DA7EEBD0-BBEF-15E6-1515-671A0BB1C0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13507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2ECB873-8BFE-333C-324C-41A7A67386A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A6D82F9-6B93-0AD0-DFFD-39D1BAEF21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828CC5E-684B-499B-30BB-9BD54D6091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049452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2ECB873-8BFE-333C-324C-41A7A67386A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A6D82F9-6B93-0AD0-DFFD-39D1BAEF21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828CC5E-684B-499B-30BB-9BD54D6091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1551354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6EF5B38-8775-4DFB-280E-FF0A7B93B6D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AEDAF91F-AB63-1F17-62C2-7B665A8FF2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BF8F2EC7-D071-814F-B783-48897AE7D6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5233820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F91AD04-AB52-C660-F9F3-9441AC3A626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50AE063-98AA-FA41-BF1A-2F82F447BA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A2801C8-6D70-6982-91A4-146FBF9691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59753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F91AD04-AB52-C660-F9F3-9441AC3A626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50AE063-98AA-FA41-BF1A-2F82F447BA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A2801C8-6D70-6982-91A4-146FBF9691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814944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F1A34EB-4413-741F-B935-B9C1B4E0395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FF10720-C63C-AFFC-2BE1-9E609E2E74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1D6DA7B-FAB1-08D2-35F1-6A8D75F94D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595890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7751D85-E0BD-298B-622C-EFB543E2E5C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DD9EADB7-2031-4D4E-88A7-80BF27F647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EFA507E-BA7C-85F6-1BAD-0B49195460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9133623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E134E76-651B-3942-E708-6A3AE73C8CB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5E6B6C26-B4DD-5D5A-783C-EE8AFB1C79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C191F6B-B05B-7CC4-9BA6-50C00A9076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7384463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20194596-47E4-65DC-7EFF-879435AD739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814FDEA-587B-CEA6-5DD2-6F8C28C3AB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D9E4239-AF88-8662-60FA-A5D6089256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3065289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8BC99B1-3FB5-6762-A28F-47C14C80B86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85ED1C3-85B5-CC4D-BC8B-22C3A2D34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9E2F938-769C-FE39-7F1E-688C0EE0DB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6937469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8BC99B1-3FB5-6762-A28F-47C14C80B86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185ED1C3-85B5-CC4D-BC8B-22C3A2D34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9E2F938-769C-FE39-7F1E-688C0EE0DB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770116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7BC2345-796D-58D6-5489-4C5BA1473FFA}"/>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B90605F2-7B76-4D3E-85DE-5EB9A18B0B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1477ED2A-FEB3-CA2F-29B9-C15C2CF850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270465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0485D990-2255-064E-D5B3-E47DBA19D79D}"/>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F423BF4-E72C-898B-AAC2-A57B819365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4031DC57-3008-956C-2E2E-55B6246351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555787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DC1E902-91AC-7D75-9714-4433B8979E6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D89173D-E1BC-CD66-4CE7-A669B6529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22AD9A1-6B36-DF47-B97E-088C1209D8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2509376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DC1E902-91AC-7D75-9714-4433B8979E6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D89173D-E1BC-CD66-4CE7-A669B6529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E22AD9A1-6B36-DF47-B97E-088C1209D8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4956705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9D1AEE5-956B-5B89-895D-B6FCA3A40AE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3015E8E-4F25-3A28-EA57-A700BE4695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13455A5-7B5D-3D0F-BB53-F0F294A232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8187463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9D1AEE5-956B-5B89-895D-B6FCA3A40AE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3015E8E-4F25-3A28-EA57-A700BE4695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13455A5-7B5D-3D0F-BB53-F0F294A232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102476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BD54966-1083-64D5-6CA6-7D772F868A2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F9EF7C4A-6A91-E4CE-8B9F-633690936C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6B494F77-5B9C-BEC1-B8A2-7766D5FE8C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8847504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B0B782CD-65EF-330E-BEAF-B398D1B3B706}"/>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3BA0470B-20E8-67C3-553F-8508987668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B535D73-8839-92F0-B259-1B52897523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978002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FDC9EAE-616F-2A68-3347-4199A025E22F}"/>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6C6C865-2875-34B2-2935-9666D6F53D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F4D2293-2806-4EA9-5888-2660E31492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2095939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D74CF80B-3A3B-BD1B-7012-4ADC0414D854}"/>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1E244AC-4E96-90A8-4886-FE3F8C3B7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5E57243-B8ED-6290-E8F1-0228C9EA32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6842836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5345A903-ED60-FF26-C47C-3968604977B2}"/>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3783E46-3560-19DF-0A36-AFA64A008A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81DB3BE8-F33E-3A02-FC8E-4664B96B94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8245489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36A37E04-E403-97C1-CC92-A9AC300B44E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97AB2297-C3EF-DE92-68F0-782597C612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75627C96-8482-4962-1392-E8DDEC0B52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5362497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AC912641-9CBF-0A38-1BC2-77B11172990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746B2F7E-BF57-2B5E-5EB5-F42E394C4E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99A61EF7-8664-2CD1-E919-8B65457A42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0835916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445971F6-AD4B-DDEB-5ECE-3998520DDC67}"/>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4F5B4C9E-FB0F-E483-A5F1-2A36847088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F86C6F40-A60C-F8AF-153A-542D75396D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0531646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19BCC6C-3A95-0583-E2A5-1DFC874D871B}"/>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0CA90B8-F5FC-257B-4574-5A3D7BEC4F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32E36027-9456-6F15-0180-087153DA65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1485849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7A73A939-BD4A-9016-8F69-83E5F6C88DE9}"/>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2F2434CC-CBB7-9D63-2F1B-58F52C90D0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26869983-D183-C1A6-3927-A907A208F6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167677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9144B59F-AF78-DF0E-E5DC-E449FEF69B38}"/>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86B48F0D-BF91-4520-F3AB-6E9E7DB000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DE96AF3C-1D10-7B26-B08A-E0DC4E7A14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312808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8322F606-6510-C025-4CE3-6846E5868B3C}"/>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0D0D0821-E07B-97A5-2D01-8F8F8F4771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8829A24-E567-8238-752B-9B38722DF3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8436227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544D4B6-C6DE-4497-10DB-73A1BC93511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7B8907B-A326-B812-FD4D-973AD9EB5E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A1D8280-21E9-CC8C-F3D5-96B0C0E4A3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86127584"/>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a:extLst>
            <a:ext uri="{FF2B5EF4-FFF2-40B4-BE49-F238E27FC236}">
              <a16:creationId xmlns:a16="http://schemas.microsoft.com/office/drawing/2014/main" id="{C544D4B6-C6DE-4497-10DB-73A1BC935113}"/>
            </a:ext>
          </a:extLst>
        </p:cNvPr>
        <p:cNvGrpSpPr/>
        <p:nvPr/>
      </p:nvGrpSpPr>
      <p:grpSpPr>
        <a:xfrm>
          <a:off x="0" y="0"/>
          <a:ext cx="0" cy="0"/>
          <a:chOff x="0" y="0"/>
          <a:chExt cx="0" cy="0"/>
        </a:xfrm>
      </p:grpSpPr>
      <p:sp>
        <p:nvSpPr>
          <p:cNvPr id="365" name="Google Shape;365;p42:notes">
            <a:extLst>
              <a:ext uri="{FF2B5EF4-FFF2-40B4-BE49-F238E27FC236}">
                <a16:creationId xmlns:a16="http://schemas.microsoft.com/office/drawing/2014/main" id="{67B8907B-A326-B812-FD4D-973AD9EB5E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2:notes">
            <a:extLst>
              <a:ext uri="{FF2B5EF4-FFF2-40B4-BE49-F238E27FC236}">
                <a16:creationId xmlns:a16="http://schemas.microsoft.com/office/drawing/2014/main" id="{AA1D8280-21E9-CC8C-F3D5-96B0C0E4A3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9839009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4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 name="Google Shape;14;p4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 name="Google Shape;15;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6" name="Google Shape;16;p45"/>
          <p:cNvPicPr preferRelativeResize="0"/>
          <p:nvPr/>
        </p:nvPicPr>
        <p:blipFill rotWithShape="1">
          <a:blip r:embed="rId2">
            <a:alphaModFix/>
          </a:blip>
          <a:srcRect/>
          <a:stretch/>
        </p:blipFill>
        <p:spPr>
          <a:xfrm>
            <a:off x="3463213" y="4730051"/>
            <a:ext cx="2217574" cy="337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6"/>
          <p:cNvSpPr txBox="1">
            <a:spLocks noGrp="1"/>
          </p:cNvSpPr>
          <p:nvPr>
            <p:ph type="title"/>
          </p:nvPr>
        </p:nvSpPr>
        <p:spPr>
          <a:xfrm>
            <a:off x="391725" y="9341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46"/>
          <p:cNvSpPr txBox="1">
            <a:spLocks noGrp="1"/>
          </p:cNvSpPr>
          <p:nvPr>
            <p:ph type="body" idx="1"/>
          </p:nvPr>
        </p:nvSpPr>
        <p:spPr>
          <a:xfrm>
            <a:off x="253250" y="1857500"/>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0" name="Google Shape;2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46"/>
          <p:cNvPicPr preferRelativeResize="0"/>
          <p:nvPr/>
        </p:nvPicPr>
        <p:blipFill rotWithShape="1">
          <a:blip r:embed="rId2">
            <a:alphaModFix/>
          </a:blip>
          <a:srcRect/>
          <a:stretch/>
        </p:blipFill>
        <p:spPr>
          <a:xfrm>
            <a:off x="6984000" y="414000"/>
            <a:ext cx="1974051" cy="3001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47"/>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4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4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48"/>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4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4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5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5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5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5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5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5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5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44"/>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44"/>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44"/>
          <p:cNvPicPr preferRelativeResize="0"/>
          <p:nvPr/>
        </p:nvPicPr>
        <p:blipFill rotWithShape="1">
          <a:blip r:embed="rId13">
            <a:alphaModFix/>
          </a:blip>
          <a:srcRect/>
          <a:stretch/>
        </p:blipFill>
        <p:spPr>
          <a:xfrm>
            <a:off x="216000" y="216000"/>
            <a:ext cx="2255043" cy="648000"/>
          </a:xfrm>
          <a:prstGeom prst="rect">
            <a:avLst/>
          </a:prstGeom>
          <a:noFill/>
          <a:ln>
            <a:noFill/>
          </a:ln>
        </p:spPr>
      </p:pic>
      <p:sp>
        <p:nvSpPr>
          <p:cNvPr id="10" name="Google Shape;10;p44"/>
          <p:cNvSpPr txBox="1"/>
          <p:nvPr/>
        </p:nvSpPr>
        <p:spPr>
          <a:xfrm>
            <a:off x="5990665" y="4897279"/>
            <a:ext cx="3161167" cy="23083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7F7F7F"/>
                </a:solidFill>
                <a:latin typeface="Arial"/>
                <a:ea typeface="Arial"/>
                <a:cs typeface="Arial"/>
                <a:sym typeface="Arial"/>
              </a:rPr>
              <a:t>Dr. Roopashree S, Shridevi A Desai,  Dept. of CSE</a:t>
            </a:r>
            <a:endParaRPr sz="900" b="0" i="0" u="none" strike="noStrike" cap="none">
              <a:solidFill>
                <a:srgbClr val="7F7F7F"/>
              </a:solidFill>
              <a:latin typeface="Arial"/>
              <a:ea typeface="Arial"/>
              <a:cs typeface="Arial"/>
              <a:sym typeface="Arial"/>
            </a:endParaRPr>
          </a:p>
        </p:txBody>
      </p:sp>
      <p:sp>
        <p:nvSpPr>
          <p:cNvPr id="11" name="Google Shape;11;p44"/>
          <p:cNvSpPr txBox="1"/>
          <p:nvPr/>
        </p:nvSpPr>
        <p:spPr>
          <a:xfrm>
            <a:off x="-7832" y="4917676"/>
            <a:ext cx="1505540"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7F7F7F"/>
                </a:solidFill>
                <a:latin typeface="Arial"/>
                <a:ea typeface="Arial"/>
                <a:cs typeface="Arial"/>
                <a:sym typeface="Arial"/>
              </a:rPr>
              <a:t>ADA (BCS401): Module-1</a:t>
            </a:r>
            <a:endParaRPr sz="900" b="0" i="0" u="none" strike="noStrike" cap="none">
              <a:solidFill>
                <a:srgbClr val="7F7F7F"/>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41.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p:nvPr/>
        </p:nvSpPr>
        <p:spPr>
          <a:xfrm>
            <a:off x="598737" y="1909917"/>
            <a:ext cx="813556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000" b="1" i="0" u="none" strike="noStrike" cap="none">
                <a:solidFill>
                  <a:srgbClr val="000000"/>
                </a:solidFill>
                <a:latin typeface="Arial"/>
                <a:ea typeface="Arial"/>
                <a:cs typeface="Arial"/>
                <a:sym typeface="Arial"/>
              </a:rPr>
              <a:t>Analysis &amp; Design of Algorithms</a:t>
            </a:r>
            <a:endParaRPr/>
          </a:p>
          <a:p>
            <a:pPr marL="0" marR="0" lvl="0" indent="0" algn="ctr" rtl="0">
              <a:lnSpc>
                <a:spcPct val="100000"/>
              </a:lnSpc>
              <a:spcBef>
                <a:spcPts val="0"/>
              </a:spcBef>
              <a:spcAft>
                <a:spcPts val="0"/>
              </a:spcAft>
              <a:buNone/>
            </a:pPr>
            <a:r>
              <a:rPr lang="en-US" sz="4000" b="1" i="0" u="none" strike="noStrike" cap="none">
                <a:solidFill>
                  <a:srgbClr val="000000"/>
                </a:solidFill>
                <a:latin typeface="Arial"/>
                <a:ea typeface="Arial"/>
                <a:cs typeface="Arial"/>
                <a:sym typeface="Arial"/>
              </a:rPr>
              <a:t>BCS401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p:nvPr/>
        </p:nvSpPr>
        <p:spPr>
          <a:xfrm>
            <a:off x="1742085" y="1644446"/>
            <a:ext cx="5485797"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600" b="1" i="0" u="none" strike="noStrike" cap="none">
                <a:solidFill>
                  <a:srgbClr val="083C92"/>
                </a:solidFill>
                <a:latin typeface="Arial"/>
                <a:ea typeface="Arial"/>
                <a:cs typeface="Arial"/>
                <a:sym typeface="Arial"/>
              </a:rPr>
              <a:t>Module-3</a:t>
            </a:r>
            <a:endParaRPr/>
          </a:p>
          <a:p>
            <a:pPr marL="0" marR="0" lvl="0" indent="0" algn="ctr"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TRANSFORM-AND-CONQUER,</a:t>
            </a:r>
            <a:r>
              <a:rPr lang="en-US" sz="1800" b="1" i="0" u="none" strike="noStrike" cap="none">
                <a:solidFill>
                  <a:srgbClr val="000000"/>
                </a:solidFill>
                <a:latin typeface="Cambria"/>
                <a:ea typeface="Cambria"/>
                <a:cs typeface="Cambria"/>
                <a:sym typeface="Cambria"/>
              </a:rPr>
              <a:t> </a:t>
            </a: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SPACE-TIME TRADEOFFS</a:t>
            </a:r>
            <a:endParaRP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68" name="Google Shape;6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sp>
        <p:nvSpPr>
          <p:cNvPr id="69" name="Google Shape;69;p3"/>
          <p:cNvSpPr txBox="1"/>
          <p:nvPr/>
        </p:nvSpPr>
        <p:spPr>
          <a:xfrm>
            <a:off x="185738" y="1174403"/>
            <a:ext cx="8742378" cy="34162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1" i="0" u="none" strike="noStrike" cap="none" dirty="0">
                <a:solidFill>
                  <a:srgbClr val="000000"/>
                </a:solidFill>
                <a:latin typeface="Arial"/>
                <a:ea typeface="Arial"/>
                <a:cs typeface="Arial"/>
                <a:sym typeface="Arial"/>
              </a:rPr>
              <a:t>Introduction</a:t>
            </a:r>
            <a:endParaRPr sz="1200" dirty="0"/>
          </a:p>
          <a:p>
            <a:pPr marL="285750" lvl="0" indent="-285750" algn="just">
              <a:lnSpc>
                <a:spcPct val="150000"/>
              </a:lnSpc>
              <a:buFont typeface="Arial" panose="020B0604020202020204" pitchFamily="34" charset="0"/>
              <a:buChar char="•"/>
            </a:pPr>
            <a:r>
              <a:rPr lang="en-US" sz="1600" dirty="0"/>
              <a:t>A group of design methods that are based on the </a:t>
            </a:r>
            <a:r>
              <a:rPr lang="en-US" sz="1600" b="1" dirty="0"/>
              <a:t>idea of transformation</a:t>
            </a:r>
            <a:r>
              <a:rPr lang="en-US" sz="1600" dirty="0"/>
              <a:t>. </a:t>
            </a:r>
          </a:p>
          <a:p>
            <a:pPr marL="285750" lvl="0" indent="-285750" algn="just">
              <a:lnSpc>
                <a:spcPct val="150000"/>
              </a:lnSpc>
              <a:buFont typeface="Arial" panose="020B0604020202020204" pitchFamily="34" charset="0"/>
              <a:buChar char="•"/>
            </a:pPr>
            <a:r>
              <a:rPr lang="en-US" sz="1600" dirty="0"/>
              <a:t>We call this general technique </a:t>
            </a:r>
            <a:r>
              <a:rPr lang="en-US" sz="1600" b="1" dirty="0"/>
              <a:t>transform-and-conquer </a:t>
            </a:r>
            <a:r>
              <a:rPr lang="en-US" sz="1600" dirty="0"/>
              <a:t>because these methods work as two-stage procedures.</a:t>
            </a:r>
          </a:p>
          <a:p>
            <a:pPr marL="285750" lvl="0" indent="-285750" algn="just">
              <a:lnSpc>
                <a:spcPct val="150000"/>
              </a:lnSpc>
              <a:buFont typeface="Arial" panose="020B0604020202020204" pitchFamily="34" charset="0"/>
              <a:buChar char="•"/>
            </a:pPr>
            <a:r>
              <a:rPr lang="en-US" sz="1600" b="1" dirty="0"/>
              <a:t>First</a:t>
            </a:r>
            <a:r>
              <a:rPr lang="en-US" sz="1600" dirty="0"/>
              <a:t>, in the </a:t>
            </a:r>
            <a:r>
              <a:rPr lang="en-US" sz="1600" b="1" dirty="0"/>
              <a:t>transformation stage</a:t>
            </a:r>
            <a:r>
              <a:rPr lang="en-US" sz="1600" dirty="0"/>
              <a:t>, the problem’s instance is modified to be, for one reason or another, more amenable to solution. </a:t>
            </a:r>
          </a:p>
          <a:p>
            <a:pPr marL="285750" lvl="0" indent="-285750" algn="just">
              <a:lnSpc>
                <a:spcPct val="150000"/>
              </a:lnSpc>
              <a:buFont typeface="Arial" panose="020B0604020202020204" pitchFamily="34" charset="0"/>
              <a:buChar char="•"/>
            </a:pPr>
            <a:r>
              <a:rPr lang="en-US" sz="1600" dirty="0"/>
              <a:t>Then, in the </a:t>
            </a:r>
            <a:r>
              <a:rPr lang="en-US" sz="1600" b="1" dirty="0"/>
              <a:t>second or conquering stage</a:t>
            </a:r>
            <a:r>
              <a:rPr lang="en-US" sz="1600" dirty="0"/>
              <a:t>, it is solved.</a:t>
            </a:r>
          </a:p>
          <a:p>
            <a:pPr marL="285750" lvl="0" indent="-285750" algn="just">
              <a:lnSpc>
                <a:spcPct val="150000"/>
              </a:lnSpc>
              <a:buFont typeface="Arial" panose="020B0604020202020204" pitchFamily="34" charset="0"/>
              <a:buChar char="•"/>
            </a:pPr>
            <a:r>
              <a:rPr lang="en-US" sz="1600" dirty="0"/>
              <a:t> There are three major variations of this idea that differ by what we transform a given instance to (Figure 6.1):</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68" name="Google Shape;6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pic>
        <p:nvPicPr>
          <p:cNvPr id="2" name="Picture 1"/>
          <p:cNvPicPr>
            <a:picLocks noChangeAspect="1"/>
          </p:cNvPicPr>
          <p:nvPr/>
        </p:nvPicPr>
        <p:blipFill>
          <a:blip r:embed="rId3"/>
          <a:stretch>
            <a:fillRect/>
          </a:stretch>
        </p:blipFill>
        <p:spPr>
          <a:xfrm>
            <a:off x="1150635" y="3178771"/>
            <a:ext cx="6905625" cy="1762125"/>
          </a:xfrm>
          <a:prstGeom prst="rect">
            <a:avLst/>
          </a:prstGeom>
        </p:spPr>
      </p:pic>
      <p:pic>
        <p:nvPicPr>
          <p:cNvPr id="3" name="Picture 2"/>
          <p:cNvPicPr>
            <a:picLocks noChangeAspect="1"/>
          </p:cNvPicPr>
          <p:nvPr/>
        </p:nvPicPr>
        <p:blipFill>
          <a:blip r:embed="rId4"/>
          <a:stretch>
            <a:fillRect/>
          </a:stretch>
        </p:blipFill>
        <p:spPr>
          <a:xfrm>
            <a:off x="881033" y="1318937"/>
            <a:ext cx="7591425" cy="1704975"/>
          </a:xfrm>
          <a:prstGeom prst="rect">
            <a:avLst/>
          </a:prstGeom>
        </p:spPr>
      </p:pic>
    </p:spTree>
    <p:extLst>
      <p:ext uri="{BB962C8B-B14F-4D97-AF65-F5344CB8AC3E}">
        <p14:creationId xmlns:p14="http://schemas.microsoft.com/office/powerpoint/2010/main" val="3661566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68" name="Google Shape;6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sp>
        <p:nvSpPr>
          <p:cNvPr id="69" name="Google Shape;69;p3"/>
          <p:cNvSpPr txBox="1"/>
          <p:nvPr/>
        </p:nvSpPr>
        <p:spPr>
          <a:xfrm>
            <a:off x="185738" y="1248145"/>
            <a:ext cx="8742378" cy="267761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1" i="0" u="none" strike="noStrike" cap="none" dirty="0">
                <a:solidFill>
                  <a:srgbClr val="000000"/>
                </a:solidFill>
                <a:latin typeface="Arial"/>
                <a:ea typeface="Arial"/>
                <a:cs typeface="Arial"/>
                <a:sym typeface="Arial"/>
              </a:rPr>
              <a:t>Introduction</a:t>
            </a:r>
            <a:endParaRPr sz="1200" dirty="0"/>
          </a:p>
          <a:p>
            <a:pPr marL="285750" lvl="0" indent="-285750" algn="just">
              <a:lnSpc>
                <a:spcPct val="150000"/>
              </a:lnSpc>
              <a:buFont typeface="Arial" panose="020B0604020202020204" pitchFamily="34" charset="0"/>
              <a:buChar char="•"/>
            </a:pPr>
            <a:r>
              <a:rPr lang="en-US" sz="1600" dirty="0"/>
              <a:t>The ideas of instance simplification and representation change are applied to search trees. </a:t>
            </a:r>
          </a:p>
          <a:p>
            <a:pPr marL="285750" lvl="0" indent="-285750" algn="just">
              <a:lnSpc>
                <a:spcPct val="150000"/>
              </a:lnSpc>
              <a:buFont typeface="Arial" panose="020B0604020202020204" pitchFamily="34" charset="0"/>
              <a:buChar char="•"/>
            </a:pPr>
            <a:r>
              <a:rPr lang="en-US" sz="1600" dirty="0"/>
              <a:t>The results are AVL trees and multiway balanced search trees</a:t>
            </a:r>
          </a:p>
          <a:p>
            <a:pPr marL="285750" lvl="0" indent="-285750" algn="just">
              <a:lnSpc>
                <a:spcPct val="150000"/>
              </a:lnSpc>
              <a:buFont typeface="Arial" panose="020B0604020202020204" pitchFamily="34" charset="0"/>
              <a:buChar char="•"/>
            </a:pPr>
            <a:r>
              <a:rPr lang="en-US" sz="1600" dirty="0"/>
              <a:t>The heaps and heapsort. </a:t>
            </a:r>
          </a:p>
          <a:p>
            <a:pPr marL="285750" lvl="0" indent="-285750" algn="just">
              <a:lnSpc>
                <a:spcPct val="150000"/>
              </a:lnSpc>
              <a:buFont typeface="Arial" panose="020B0604020202020204" pitchFamily="34" charset="0"/>
              <a:buChar char="•"/>
            </a:pPr>
            <a:r>
              <a:rPr lang="en-US" sz="1600" dirty="0"/>
              <a:t>Even if you are already familiar with this important data structure and its application to sorting, you can still benefit from looking at them in this new light of transform-and-conquer design.</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441378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68" name="Google Shape;6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6</a:t>
            </a:fld>
            <a:endParaRPr/>
          </a:p>
        </p:txBody>
      </p:sp>
      <p:sp>
        <p:nvSpPr>
          <p:cNvPr id="69" name="Google Shape;69;p3"/>
          <p:cNvSpPr txBox="1"/>
          <p:nvPr/>
        </p:nvSpPr>
        <p:spPr>
          <a:xfrm>
            <a:off x="185738" y="1174403"/>
            <a:ext cx="8742378" cy="267761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1" i="0" u="none" strike="noStrike" cap="none" dirty="0">
                <a:solidFill>
                  <a:srgbClr val="000000"/>
                </a:solidFill>
                <a:latin typeface="Arial"/>
                <a:ea typeface="Arial"/>
                <a:cs typeface="Arial"/>
                <a:sym typeface="Arial"/>
              </a:rPr>
              <a:t>Balanced Search Trees</a:t>
            </a:r>
            <a:endParaRPr sz="1200" dirty="0"/>
          </a:p>
          <a:p>
            <a:pPr marL="285750" lvl="0" indent="-285750" algn="just">
              <a:lnSpc>
                <a:spcPct val="150000"/>
              </a:lnSpc>
              <a:buFont typeface="Arial" panose="020B0604020202020204" pitchFamily="34" charset="0"/>
              <a:buChar char="•"/>
            </a:pPr>
            <a:r>
              <a:rPr lang="en-US" sz="1600" dirty="0"/>
              <a:t>The binary search tree—one of the principal data structures for implementing dictionaries. </a:t>
            </a:r>
          </a:p>
          <a:p>
            <a:pPr marL="285750" lvl="0" indent="-285750" algn="just">
              <a:lnSpc>
                <a:spcPct val="150000"/>
              </a:lnSpc>
              <a:buFont typeface="Arial" panose="020B0604020202020204" pitchFamily="34" charset="0"/>
              <a:buChar char="•"/>
            </a:pPr>
            <a:r>
              <a:rPr lang="en-US" sz="1600" dirty="0"/>
              <a:t>It is a binary tree whose nodes contain elements of a set of orderable items, one element per node, so that all elements in the left subtree are smaller than the element in the subtree’s root, and all the elements in the right subtree are greater than it. </a:t>
            </a:r>
          </a:p>
          <a:p>
            <a:pPr marL="285750" lvl="0" indent="-285750" algn="just">
              <a:lnSpc>
                <a:spcPct val="150000"/>
              </a:lnSpc>
              <a:buFont typeface="Arial" panose="020B0604020202020204" pitchFamily="34" charset="0"/>
              <a:buChar char="•"/>
            </a:pPr>
            <a:r>
              <a:rPr lang="en-US" sz="1600" dirty="0"/>
              <a:t>Note that this transformation from a set to a binary search tree is an example of the representation – change technique. </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46062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68" name="Google Shape;6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sp>
        <p:nvSpPr>
          <p:cNvPr id="69" name="Google Shape;69;p3"/>
          <p:cNvSpPr txBox="1"/>
          <p:nvPr/>
        </p:nvSpPr>
        <p:spPr>
          <a:xfrm>
            <a:off x="185738" y="1093287"/>
            <a:ext cx="8742378" cy="415494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1" i="0" u="none" strike="noStrike" cap="none" dirty="0">
                <a:solidFill>
                  <a:srgbClr val="000000"/>
                </a:solidFill>
                <a:latin typeface="Arial"/>
                <a:ea typeface="Arial"/>
                <a:cs typeface="Arial"/>
                <a:sym typeface="Arial"/>
              </a:rPr>
              <a:t>Balanced Search Trees</a:t>
            </a:r>
            <a:endParaRPr sz="1200" dirty="0"/>
          </a:p>
          <a:p>
            <a:pPr marL="285750" marR="0" lvl="0" indent="-285750" algn="just" rtl="0">
              <a:lnSpc>
                <a:spcPct val="150000"/>
              </a:lnSpc>
              <a:spcBef>
                <a:spcPts val="0"/>
              </a:spcBef>
              <a:spcAft>
                <a:spcPts val="0"/>
              </a:spcAft>
              <a:buFont typeface="Arial" panose="020B0604020202020204" pitchFamily="34" charset="0"/>
              <a:buChar char="•"/>
            </a:pPr>
            <a:r>
              <a:rPr lang="en-US" sz="1600" b="0" i="0" u="none" strike="noStrike" cap="none" dirty="0">
                <a:solidFill>
                  <a:srgbClr val="000000"/>
                </a:solidFill>
                <a:latin typeface="Arial"/>
                <a:ea typeface="Arial"/>
                <a:cs typeface="Arial"/>
                <a:sym typeface="Arial"/>
              </a:rPr>
              <a:t>Computer scientists have expended a lot of effort in trying to find a structure that preserves the good properties of the classical binary search tree—principally, the logarithmic efficiency of the dictionary operations and having the set’s elements sorted—but avoids its worst-case degeneracy. </a:t>
            </a:r>
          </a:p>
          <a:p>
            <a:pPr marL="285750" marR="0" lvl="0" indent="-285750" algn="just" rtl="0">
              <a:lnSpc>
                <a:spcPct val="150000"/>
              </a:lnSpc>
              <a:spcBef>
                <a:spcPts val="0"/>
              </a:spcBef>
              <a:spcAft>
                <a:spcPts val="0"/>
              </a:spcAft>
              <a:buFont typeface="Arial" panose="020B0604020202020204" pitchFamily="34" charset="0"/>
              <a:buChar char="•"/>
            </a:pPr>
            <a:r>
              <a:rPr lang="en-US" sz="1600" b="0" i="0" u="none" strike="noStrike" cap="none" dirty="0">
                <a:solidFill>
                  <a:srgbClr val="000000"/>
                </a:solidFill>
                <a:latin typeface="Arial"/>
                <a:ea typeface="Arial"/>
                <a:cs typeface="Arial"/>
                <a:sym typeface="Arial"/>
              </a:rPr>
              <a:t>They have come up with </a:t>
            </a:r>
            <a:r>
              <a:rPr lang="en-US" sz="1600" b="1" i="0" u="none" strike="noStrike" cap="none" dirty="0">
                <a:solidFill>
                  <a:srgbClr val="000000"/>
                </a:solidFill>
                <a:latin typeface="Arial"/>
                <a:ea typeface="Arial"/>
                <a:cs typeface="Arial"/>
                <a:sym typeface="Arial"/>
              </a:rPr>
              <a:t>two approaches</a:t>
            </a:r>
            <a:r>
              <a:rPr lang="en-US" sz="1600" b="0" i="0" u="none" strike="noStrike" cap="none" dirty="0">
                <a:solidFill>
                  <a:srgbClr val="000000"/>
                </a:solidFill>
                <a:latin typeface="Arial"/>
                <a:ea typeface="Arial"/>
                <a:cs typeface="Arial"/>
                <a:sym typeface="Arial"/>
              </a:rPr>
              <a:t>.</a:t>
            </a:r>
            <a:endParaRPr sz="1200" dirty="0"/>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The </a:t>
            </a:r>
            <a:r>
              <a:rPr lang="en-US" sz="1600" b="1" i="0" u="none" strike="noStrike" cap="none" dirty="0">
                <a:solidFill>
                  <a:srgbClr val="000000"/>
                </a:solidFill>
                <a:latin typeface="Arial"/>
                <a:ea typeface="Arial"/>
                <a:cs typeface="Arial"/>
                <a:sym typeface="Arial"/>
              </a:rPr>
              <a:t>first approach </a:t>
            </a:r>
            <a:r>
              <a:rPr lang="en-US" sz="1600" b="0" i="0" u="none" strike="noStrike" cap="none" dirty="0">
                <a:solidFill>
                  <a:srgbClr val="000000"/>
                </a:solidFill>
                <a:latin typeface="Arial"/>
                <a:ea typeface="Arial"/>
                <a:cs typeface="Arial"/>
                <a:sym typeface="Arial"/>
              </a:rPr>
              <a:t>is of the </a:t>
            </a:r>
            <a:r>
              <a:rPr lang="en-US" sz="1600" b="1" i="0" u="none" strike="noStrike" cap="none" dirty="0">
                <a:solidFill>
                  <a:srgbClr val="000000"/>
                </a:solidFill>
                <a:latin typeface="Arial"/>
                <a:ea typeface="Arial"/>
                <a:cs typeface="Arial"/>
                <a:sym typeface="Arial"/>
              </a:rPr>
              <a:t>instance-simplification</a:t>
            </a:r>
            <a:r>
              <a:rPr lang="en-US" sz="1600" b="0" i="0" u="none" strike="noStrike" cap="none" dirty="0">
                <a:solidFill>
                  <a:srgbClr val="000000"/>
                </a:solidFill>
                <a:latin typeface="Arial"/>
                <a:ea typeface="Arial"/>
                <a:cs typeface="Arial"/>
                <a:sym typeface="Arial"/>
              </a:rPr>
              <a:t> variety: an unbalanced binary search tree is transformed into a balanced one.</a:t>
            </a:r>
          </a:p>
          <a:p>
            <a:pPr marL="285750" lvl="0" indent="-285750" algn="just">
              <a:lnSpc>
                <a:spcPct val="150000"/>
              </a:lnSpc>
              <a:buSzPts val="1800"/>
              <a:buFont typeface="Arial"/>
              <a:buChar char="•"/>
            </a:pPr>
            <a:r>
              <a:rPr lang="en-US" sz="1600" dirty="0"/>
              <a:t>Because of this, such trees are called </a:t>
            </a:r>
            <a:r>
              <a:rPr lang="en-US" sz="1600" b="1" dirty="0"/>
              <a:t>self-balancing</a:t>
            </a:r>
            <a:endParaRPr lang="en-US" sz="1600" b="1"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An AVL tree requires the difference between the heights of the left and right subtrees of every node to never exceed 1.</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71327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68" name="Google Shape;6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sp>
        <p:nvSpPr>
          <p:cNvPr id="69" name="Google Shape;69;p3"/>
          <p:cNvSpPr txBox="1"/>
          <p:nvPr/>
        </p:nvSpPr>
        <p:spPr>
          <a:xfrm>
            <a:off x="185738" y="1174403"/>
            <a:ext cx="8742378" cy="34162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1" i="0" u="none" strike="noStrike" cap="none" dirty="0">
                <a:solidFill>
                  <a:srgbClr val="000000"/>
                </a:solidFill>
                <a:latin typeface="Arial"/>
                <a:ea typeface="Arial"/>
                <a:cs typeface="Arial"/>
                <a:sym typeface="Arial"/>
              </a:rPr>
              <a:t>Balanced Search Trees</a:t>
            </a:r>
            <a:endParaRPr sz="1200" dirty="0"/>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An </a:t>
            </a:r>
            <a:r>
              <a:rPr lang="en-US" sz="1600" b="1" i="0" u="none" strike="noStrike" cap="none" dirty="0">
                <a:solidFill>
                  <a:srgbClr val="000000"/>
                </a:solidFill>
                <a:latin typeface="Arial"/>
                <a:ea typeface="Arial"/>
                <a:cs typeface="Arial"/>
                <a:sym typeface="Arial"/>
              </a:rPr>
              <a:t>AVL tree </a:t>
            </a:r>
            <a:r>
              <a:rPr lang="en-US" sz="1600" b="0" i="0" u="none" strike="noStrike" cap="none" dirty="0">
                <a:solidFill>
                  <a:srgbClr val="000000"/>
                </a:solidFill>
                <a:latin typeface="Arial"/>
                <a:ea typeface="Arial"/>
                <a:cs typeface="Arial"/>
                <a:sym typeface="Arial"/>
              </a:rPr>
              <a:t>requires the difference between the heights of the left and right subtrees of every node to never exceed 1.</a:t>
            </a:r>
          </a:p>
          <a:p>
            <a:pPr marL="285750" lvl="0" indent="-285750" algn="just">
              <a:lnSpc>
                <a:spcPct val="150000"/>
              </a:lnSpc>
              <a:buSzPts val="1800"/>
              <a:buFont typeface="Arial"/>
              <a:buChar char="•"/>
            </a:pPr>
            <a:r>
              <a:rPr lang="en-US" sz="1600" dirty="0"/>
              <a:t>A </a:t>
            </a:r>
            <a:r>
              <a:rPr lang="en-US" sz="1600" b="1" dirty="0"/>
              <a:t>red-black tree </a:t>
            </a:r>
            <a:r>
              <a:rPr lang="en-US" sz="1600" dirty="0"/>
              <a:t>tolerates the height of one subtree being twice as large as the other subtree of the same node.</a:t>
            </a:r>
          </a:p>
          <a:p>
            <a:pPr marL="285750" lvl="0" indent="-285750" algn="just">
              <a:lnSpc>
                <a:spcPct val="150000"/>
              </a:lnSpc>
              <a:buSzPts val="1800"/>
              <a:buFont typeface="Arial"/>
              <a:buChar char="•"/>
            </a:pPr>
            <a:r>
              <a:rPr lang="en-US" sz="1600" dirty="0"/>
              <a:t>If an insertion or deletion of a new node creates a tree with a violated balance requirement, the tree is restructured by one of a family of special transformations called </a:t>
            </a:r>
            <a:r>
              <a:rPr lang="en-US" sz="1600" b="1" dirty="0"/>
              <a:t>rotations</a:t>
            </a:r>
            <a:r>
              <a:rPr lang="en-US" sz="1600" dirty="0"/>
              <a:t> that restore the balance required. </a:t>
            </a:r>
          </a:p>
          <a:p>
            <a:pPr marL="285750" lvl="0" indent="-285750" algn="just">
              <a:lnSpc>
                <a:spcPct val="150000"/>
              </a:lnSpc>
              <a:buSzPts val="1800"/>
              <a:buFont typeface="Arial"/>
              <a:buChar char="•"/>
            </a:pP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799948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68" name="Google Shape;6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sp>
        <p:nvSpPr>
          <p:cNvPr id="69" name="Google Shape;69;p3"/>
          <p:cNvSpPr txBox="1"/>
          <p:nvPr/>
        </p:nvSpPr>
        <p:spPr>
          <a:xfrm>
            <a:off x="185738" y="1174403"/>
            <a:ext cx="8742378" cy="267761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1" i="0" u="none" strike="noStrike" cap="none" dirty="0">
                <a:solidFill>
                  <a:srgbClr val="000000"/>
                </a:solidFill>
                <a:latin typeface="Arial"/>
                <a:ea typeface="Arial"/>
                <a:cs typeface="Arial"/>
                <a:sym typeface="Arial"/>
              </a:rPr>
              <a:t>Balanced Search Trees</a:t>
            </a:r>
            <a:endParaRPr sz="1200" dirty="0"/>
          </a:p>
          <a:p>
            <a:pPr marL="285750" lvl="0" indent="-285750" algn="just">
              <a:lnSpc>
                <a:spcPct val="150000"/>
              </a:lnSpc>
              <a:buSzPts val="1800"/>
              <a:buFont typeface="Arial"/>
              <a:buChar char="•"/>
            </a:pPr>
            <a:r>
              <a:rPr lang="en-US" sz="1600" dirty="0"/>
              <a:t>The </a:t>
            </a:r>
            <a:r>
              <a:rPr lang="en-US" sz="1600" b="1" dirty="0"/>
              <a:t>second approach </a:t>
            </a:r>
            <a:r>
              <a:rPr lang="en-US" sz="1600" dirty="0"/>
              <a:t>is of the </a:t>
            </a:r>
            <a:r>
              <a:rPr lang="en-US" sz="1600" b="1" dirty="0"/>
              <a:t>representation-change</a:t>
            </a:r>
            <a:r>
              <a:rPr lang="en-US" sz="1600" dirty="0"/>
              <a:t> variety: allow more than one element in a node of a search tree. </a:t>
            </a:r>
          </a:p>
          <a:p>
            <a:pPr marL="285750" lvl="0" indent="-285750" algn="just">
              <a:lnSpc>
                <a:spcPct val="150000"/>
              </a:lnSpc>
              <a:buSzPts val="1800"/>
              <a:buFont typeface="Arial"/>
              <a:buChar char="•"/>
            </a:pPr>
            <a:r>
              <a:rPr lang="en-US" sz="1600" dirty="0"/>
              <a:t>Specific cases of such trees are </a:t>
            </a:r>
            <a:r>
              <a:rPr lang="en-US" sz="1600" b="1" dirty="0"/>
              <a:t>2-3 trees</a:t>
            </a:r>
            <a:r>
              <a:rPr lang="en-US" sz="1600" dirty="0"/>
              <a:t>, </a:t>
            </a:r>
            <a:r>
              <a:rPr lang="en-US" sz="1600" b="1" dirty="0"/>
              <a:t>2-3-4 trees</a:t>
            </a:r>
            <a:r>
              <a:rPr lang="en-US" sz="1600" dirty="0"/>
              <a:t>, and more general and important </a:t>
            </a:r>
            <a:r>
              <a:rPr lang="en-US" sz="1600" b="1" dirty="0"/>
              <a:t>B-trees.</a:t>
            </a:r>
          </a:p>
          <a:p>
            <a:pPr marL="285750" lvl="0" indent="-285750" algn="just">
              <a:lnSpc>
                <a:spcPct val="150000"/>
              </a:lnSpc>
              <a:buSzPts val="1800"/>
              <a:buFont typeface="Arial"/>
              <a:buChar char="•"/>
            </a:pPr>
            <a:r>
              <a:rPr lang="en-US" sz="1600" dirty="0"/>
              <a:t>They differ in the number of elements admissible in a single node of a search tree, but all are perfectly </a:t>
            </a:r>
            <a:r>
              <a:rPr lang="en-US" sz="1600" b="1" dirty="0"/>
              <a:t>balanced. </a:t>
            </a:r>
            <a:endParaRPr sz="1600" b="1" i="0" u="none" strike="noStrike" cap="none" dirty="0">
              <a:solidFill>
                <a:srgbClr val="000000"/>
              </a:solidFill>
              <a:sym typeface="Arial"/>
            </a:endParaRPr>
          </a:p>
        </p:txBody>
      </p:sp>
    </p:spTree>
    <p:extLst>
      <p:ext uri="{BB962C8B-B14F-4D97-AF65-F5344CB8AC3E}">
        <p14:creationId xmlns:p14="http://schemas.microsoft.com/office/powerpoint/2010/main" val="1668710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5"/>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82" name="Google Shape;8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sp>
        <p:nvSpPr>
          <p:cNvPr id="83" name="Google Shape;83;p5"/>
          <p:cNvSpPr txBox="1"/>
          <p:nvPr/>
        </p:nvSpPr>
        <p:spPr>
          <a:xfrm>
            <a:off x="278780" y="983199"/>
            <a:ext cx="8742378"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An AVL tree is a binary search tree in which the balance factor of every node, which is defined as the difference between the heights of the node’s left and right subtrees, is either 0 or +1 or −1. </a:t>
            </a:r>
          </a:p>
          <a:p>
            <a:pPr marL="285750" lvl="0" indent="-285750" algn="just">
              <a:lnSpc>
                <a:spcPct val="150000"/>
              </a:lnSpc>
              <a:buFont typeface="Arial" panose="020B0604020202020204" pitchFamily="34" charset="0"/>
              <a:buChar char="•"/>
            </a:pPr>
            <a:r>
              <a:rPr lang="en-US" sz="1800" dirty="0"/>
              <a:t> The height of the empty tree is defined as −1.</a:t>
            </a:r>
          </a:p>
          <a:p>
            <a:pPr marL="285750" lvl="0" indent="-285750" algn="just">
              <a:lnSpc>
                <a:spcPct val="150000"/>
              </a:lnSpc>
              <a:buFont typeface="Arial" panose="020B0604020202020204" pitchFamily="34" charset="0"/>
              <a:buChar char="•"/>
            </a:pPr>
            <a:r>
              <a:rPr lang="en-US" sz="1800" dirty="0"/>
              <a:t>Of course, the balance factor can also be computed as the difference between the number of levels rather than the height difference of the node’s left and right subtrees.</a:t>
            </a:r>
          </a:p>
          <a:p>
            <a:pPr marL="285750" marR="0" lvl="0" indent="-285750" algn="just" rtl="0">
              <a:lnSpc>
                <a:spcPct val="150000"/>
              </a:lnSpc>
              <a:spcBef>
                <a:spcPts val="0"/>
              </a:spcBef>
              <a:spcAft>
                <a:spcPts val="0"/>
              </a:spcAft>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Consider the figure.</a:t>
            </a:r>
            <a:endParaRPr dirty="0"/>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5"/>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82" name="Google Shape;8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11</a:t>
            </a:fld>
            <a:endParaRPr/>
          </a:p>
        </p:txBody>
      </p:sp>
      <p:sp>
        <p:nvSpPr>
          <p:cNvPr id="83" name="Google Shape;83;p5"/>
          <p:cNvSpPr txBox="1"/>
          <p:nvPr/>
        </p:nvSpPr>
        <p:spPr>
          <a:xfrm>
            <a:off x="278780" y="983199"/>
            <a:ext cx="8742378" cy="156962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p>
          <a:p>
            <a:pPr marL="285750" lvl="0" indent="-285750" algn="just">
              <a:lnSpc>
                <a:spcPct val="150000"/>
              </a:lnSpc>
              <a:buFont typeface="Arial" panose="020B0604020202020204" pitchFamily="34" charset="0"/>
              <a:buChar char="•"/>
            </a:pPr>
            <a:r>
              <a:rPr lang="en-US" dirty="0"/>
              <a:t>For example, the binary search tree in Figure 6.2a is an AVL tree but the one in Figure 6.2b is not.</a:t>
            </a:r>
            <a:endParaRPr dirty="0"/>
          </a:p>
          <a:p>
            <a:pPr marL="285750" marR="0" lvl="0" indent="-285750" algn="just" rtl="0">
              <a:lnSpc>
                <a:spcPct val="150000"/>
              </a:lnSpc>
              <a:spcBef>
                <a:spcPts val="0"/>
              </a:spcBef>
              <a:spcAft>
                <a:spcPts val="0"/>
              </a:spcAft>
              <a:buFont typeface="Arial" panose="020B0604020202020204" pitchFamily="34" charset="0"/>
              <a:buChar char="•"/>
            </a:pPr>
            <a:endParaRPr dirty="0"/>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p:txBody>
      </p:sp>
      <p:pic>
        <p:nvPicPr>
          <p:cNvPr id="84" name="Google Shape;84;p5"/>
          <p:cNvPicPr preferRelativeResize="0"/>
          <p:nvPr/>
        </p:nvPicPr>
        <p:blipFill rotWithShape="1">
          <a:blip r:embed="rId3">
            <a:alphaModFix/>
          </a:blip>
          <a:srcRect/>
          <a:stretch/>
        </p:blipFill>
        <p:spPr>
          <a:xfrm>
            <a:off x="1314950" y="1879695"/>
            <a:ext cx="6420579" cy="2980322"/>
          </a:xfrm>
          <a:prstGeom prst="rect">
            <a:avLst/>
          </a:prstGeom>
          <a:noFill/>
          <a:ln>
            <a:noFill/>
          </a:ln>
        </p:spPr>
      </p:pic>
    </p:spTree>
    <p:extLst>
      <p:ext uri="{BB962C8B-B14F-4D97-AF65-F5344CB8AC3E}">
        <p14:creationId xmlns:p14="http://schemas.microsoft.com/office/powerpoint/2010/main" val="2962347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6"/>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90" name="Google Shape;90;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sp>
        <p:nvSpPr>
          <p:cNvPr id="91" name="Google Shape;91;p6"/>
          <p:cNvSpPr txBox="1"/>
          <p:nvPr/>
        </p:nvSpPr>
        <p:spPr>
          <a:xfrm>
            <a:off x="278780" y="983199"/>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If an insertion of a new node makes an AVL tree </a:t>
            </a:r>
            <a:r>
              <a:rPr lang="en-US" sz="1800" b="1" i="0" u="none" strike="noStrike" cap="none" dirty="0">
                <a:solidFill>
                  <a:srgbClr val="000000"/>
                </a:solidFill>
                <a:latin typeface="Arial"/>
                <a:ea typeface="Arial"/>
                <a:cs typeface="Arial"/>
                <a:sym typeface="Arial"/>
              </a:rPr>
              <a:t>unbalanced</a:t>
            </a:r>
            <a:r>
              <a:rPr lang="en-US" sz="1800" b="0" i="0" u="none" strike="noStrike" cap="none" dirty="0">
                <a:solidFill>
                  <a:srgbClr val="000000"/>
                </a:solidFill>
                <a:latin typeface="Arial"/>
                <a:ea typeface="Arial"/>
                <a:cs typeface="Arial"/>
                <a:sym typeface="Arial"/>
              </a:rPr>
              <a:t>, we transform the tree by a </a:t>
            </a:r>
            <a:r>
              <a:rPr lang="en-US" sz="1800" b="1" i="0" u="none" strike="noStrike" cap="none" dirty="0">
                <a:solidFill>
                  <a:srgbClr val="000000"/>
                </a:solidFill>
                <a:latin typeface="Arial"/>
                <a:ea typeface="Arial"/>
                <a:cs typeface="Arial"/>
                <a:sym typeface="Arial"/>
              </a:rPr>
              <a:t>rotation</a:t>
            </a:r>
            <a:r>
              <a:rPr lang="en-US" sz="1800" b="0" i="0" u="none" strike="noStrike" cap="none" dirty="0">
                <a:solidFill>
                  <a:srgbClr val="000000"/>
                </a:solidFill>
                <a:latin typeface="Arial"/>
                <a:ea typeface="Arial"/>
                <a:cs typeface="Arial"/>
                <a:sym typeface="Arial"/>
              </a:rPr>
              <a:t>.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 </a:t>
            </a:r>
            <a:r>
              <a:rPr lang="en-US" sz="1800" b="1" i="0" u="none" strike="noStrike" cap="none" dirty="0">
                <a:solidFill>
                  <a:srgbClr val="000000"/>
                </a:solidFill>
                <a:latin typeface="Arial"/>
                <a:ea typeface="Arial"/>
                <a:cs typeface="Arial"/>
                <a:sym typeface="Arial"/>
              </a:rPr>
              <a:t>rotation</a:t>
            </a:r>
            <a:r>
              <a:rPr lang="en-US" sz="1800" b="0" i="0" u="none" strike="noStrike" cap="none" dirty="0">
                <a:solidFill>
                  <a:srgbClr val="000000"/>
                </a:solidFill>
                <a:latin typeface="Arial"/>
                <a:ea typeface="Arial"/>
                <a:cs typeface="Arial"/>
                <a:sym typeface="Arial"/>
              </a:rPr>
              <a:t> in an AVL tree is a local transformation of its subtree rooted at a node whose balance has become either +2 or −2.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If there are several such nodes, we rotate the tree rooted at the unbalanced node that is the closest to the newly inserted leaf.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There are only </a:t>
            </a:r>
            <a:r>
              <a:rPr lang="en-US" sz="1800" b="1" i="0" u="none" strike="noStrike" cap="none" dirty="0">
                <a:solidFill>
                  <a:srgbClr val="000000"/>
                </a:solidFill>
                <a:latin typeface="Arial"/>
                <a:ea typeface="Arial"/>
                <a:cs typeface="Arial"/>
                <a:sym typeface="Arial"/>
              </a:rPr>
              <a:t>four types of rotations</a:t>
            </a:r>
            <a:r>
              <a:rPr lang="en-US" sz="1800" b="0" i="0" u="none" strike="noStrike" cap="none" dirty="0">
                <a:solidFill>
                  <a:srgbClr val="000000"/>
                </a:solidFill>
                <a:latin typeface="Arial"/>
                <a:ea typeface="Arial"/>
                <a:cs typeface="Arial"/>
                <a:sym typeface="Arial"/>
              </a:rPr>
              <a:t>; in fact, two of them are mirror images of the other two. In their simplest form, the four rotations are shown in Figure 6.3.</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7"/>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97" name="Google Shape;9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13</a:t>
            </a:fld>
            <a:endParaRPr/>
          </a:p>
        </p:txBody>
      </p:sp>
      <p:sp>
        <p:nvSpPr>
          <p:cNvPr id="98" name="Google Shape;98;p7"/>
          <p:cNvSpPr txBox="1"/>
          <p:nvPr/>
        </p:nvSpPr>
        <p:spPr>
          <a:xfrm>
            <a:off x="278780" y="983199"/>
            <a:ext cx="8742378" cy="448840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Open Sans"/>
                <a:ea typeface="Open Sans"/>
                <a:cs typeface="Open Sans"/>
                <a:sym typeface="Open Sans"/>
              </a:rPr>
              <a:t>FIGURE 6.3 </a:t>
            </a:r>
            <a:r>
              <a:rPr lang="en-US" sz="1400" b="0" i="0" u="none" strike="noStrike" cap="none" dirty="0">
                <a:solidFill>
                  <a:srgbClr val="000000"/>
                </a:solidFill>
                <a:latin typeface="Open Sans Light"/>
                <a:ea typeface="Open Sans Light"/>
                <a:cs typeface="Open Sans Light"/>
                <a:sym typeface="Open Sans Light"/>
              </a:rPr>
              <a:t>Four rotation types for AVL trees with three nodes. (a) Single </a:t>
            </a:r>
            <a:r>
              <a:rPr lang="en-US" sz="1400" b="0" i="1" u="none" strike="noStrike" cap="none" dirty="0">
                <a:solidFill>
                  <a:srgbClr val="000000"/>
                </a:solidFill>
                <a:latin typeface="Open Sans"/>
                <a:ea typeface="Open Sans"/>
                <a:cs typeface="Open Sans"/>
                <a:sym typeface="Open Sans"/>
              </a:rPr>
              <a:t>R</a:t>
            </a:r>
            <a:r>
              <a:rPr lang="en-US" sz="1400" b="0" i="0" u="none" strike="noStrike" cap="none" dirty="0">
                <a:solidFill>
                  <a:srgbClr val="000000"/>
                </a:solidFill>
                <a:latin typeface="Open Sans Light"/>
                <a:ea typeface="Open Sans Light"/>
                <a:cs typeface="Open Sans Light"/>
                <a:sym typeface="Open Sans Light"/>
              </a:rPr>
              <a:t>-rotation. (b) Single </a:t>
            </a:r>
            <a:r>
              <a:rPr lang="en-US" sz="1400" b="0" i="1" u="none" strike="noStrike" cap="none" dirty="0">
                <a:solidFill>
                  <a:srgbClr val="000000"/>
                </a:solidFill>
                <a:latin typeface="Open Sans"/>
                <a:ea typeface="Open Sans"/>
                <a:cs typeface="Open Sans"/>
                <a:sym typeface="Open Sans"/>
              </a:rPr>
              <a:t>L</a:t>
            </a:r>
            <a:r>
              <a:rPr lang="en-US" sz="1400" b="0" i="0" u="none" strike="noStrike" cap="none" dirty="0">
                <a:solidFill>
                  <a:srgbClr val="000000"/>
                </a:solidFill>
                <a:latin typeface="Open Sans Light"/>
                <a:ea typeface="Open Sans Light"/>
                <a:cs typeface="Open Sans Light"/>
                <a:sym typeface="Open Sans Light"/>
              </a:rPr>
              <a:t>-                            rotation. (c) Double </a:t>
            </a:r>
            <a:r>
              <a:rPr lang="en-US" sz="1400" b="0" i="1" u="none" strike="noStrike" cap="none" dirty="0">
                <a:solidFill>
                  <a:srgbClr val="000000"/>
                </a:solidFill>
                <a:latin typeface="Open Sans"/>
                <a:ea typeface="Open Sans"/>
                <a:cs typeface="Open Sans"/>
                <a:sym typeface="Open Sans"/>
              </a:rPr>
              <a:t>LR</a:t>
            </a:r>
            <a:r>
              <a:rPr lang="en-US" sz="1400" b="0" i="0" u="none" strike="noStrike" cap="none" dirty="0">
                <a:solidFill>
                  <a:srgbClr val="000000"/>
                </a:solidFill>
                <a:latin typeface="Open Sans Light"/>
                <a:ea typeface="Open Sans Light"/>
                <a:cs typeface="Open Sans Light"/>
                <a:sym typeface="Open Sans Light"/>
              </a:rPr>
              <a:t>-rotation. (d) Double </a:t>
            </a:r>
            <a:r>
              <a:rPr lang="en-US" sz="1400" b="0" i="1" u="none" strike="noStrike" cap="none" dirty="0">
                <a:solidFill>
                  <a:srgbClr val="000000"/>
                </a:solidFill>
                <a:latin typeface="Open Sans"/>
                <a:ea typeface="Open Sans"/>
                <a:cs typeface="Open Sans"/>
                <a:sym typeface="Open Sans"/>
              </a:rPr>
              <a:t>RL</a:t>
            </a:r>
            <a:r>
              <a:rPr lang="en-US" sz="1400" b="0" i="0" u="none" strike="noStrike" cap="none" dirty="0">
                <a:solidFill>
                  <a:srgbClr val="000000"/>
                </a:solidFill>
                <a:latin typeface="Open Sans Light"/>
                <a:ea typeface="Open Sans Light"/>
                <a:cs typeface="Open Sans Light"/>
                <a:sym typeface="Open Sans Light"/>
              </a:rPr>
              <a:t>-rotation.</a:t>
            </a:r>
            <a:endParaRPr sz="14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p:txBody>
      </p:sp>
      <p:pic>
        <p:nvPicPr>
          <p:cNvPr id="99" name="Google Shape;99;p7"/>
          <p:cNvPicPr preferRelativeResize="0"/>
          <p:nvPr/>
        </p:nvPicPr>
        <p:blipFill rotWithShape="1">
          <a:blip r:embed="rId3">
            <a:alphaModFix/>
          </a:blip>
          <a:srcRect/>
          <a:stretch/>
        </p:blipFill>
        <p:spPr>
          <a:xfrm>
            <a:off x="913570" y="1398095"/>
            <a:ext cx="3101609" cy="1524132"/>
          </a:xfrm>
          <a:prstGeom prst="rect">
            <a:avLst/>
          </a:prstGeom>
          <a:noFill/>
          <a:ln>
            <a:noFill/>
          </a:ln>
        </p:spPr>
      </p:pic>
      <p:pic>
        <p:nvPicPr>
          <p:cNvPr id="100" name="Google Shape;100;p7"/>
          <p:cNvPicPr preferRelativeResize="0"/>
          <p:nvPr/>
        </p:nvPicPr>
        <p:blipFill rotWithShape="1">
          <a:blip r:embed="rId4">
            <a:alphaModFix/>
          </a:blip>
          <a:srcRect/>
          <a:stretch/>
        </p:blipFill>
        <p:spPr>
          <a:xfrm>
            <a:off x="4649969" y="1421871"/>
            <a:ext cx="2903472" cy="1394581"/>
          </a:xfrm>
          <a:prstGeom prst="rect">
            <a:avLst/>
          </a:prstGeom>
          <a:noFill/>
          <a:ln>
            <a:noFill/>
          </a:ln>
        </p:spPr>
      </p:pic>
      <p:pic>
        <p:nvPicPr>
          <p:cNvPr id="101" name="Google Shape;101;p7"/>
          <p:cNvPicPr preferRelativeResize="0"/>
          <p:nvPr/>
        </p:nvPicPr>
        <p:blipFill rotWithShape="1">
          <a:blip r:embed="rId5">
            <a:alphaModFix/>
          </a:blip>
          <a:srcRect/>
          <a:stretch/>
        </p:blipFill>
        <p:spPr>
          <a:xfrm>
            <a:off x="1187914" y="3069078"/>
            <a:ext cx="2827265" cy="1501270"/>
          </a:xfrm>
          <a:prstGeom prst="rect">
            <a:avLst/>
          </a:prstGeom>
          <a:noFill/>
          <a:ln>
            <a:noFill/>
          </a:ln>
        </p:spPr>
      </p:pic>
      <p:pic>
        <p:nvPicPr>
          <p:cNvPr id="102" name="Google Shape;102;p7"/>
          <p:cNvPicPr preferRelativeResize="0"/>
          <p:nvPr/>
        </p:nvPicPr>
        <p:blipFill rotWithShape="1">
          <a:blip r:embed="rId6">
            <a:alphaModFix/>
          </a:blip>
          <a:srcRect/>
          <a:stretch/>
        </p:blipFill>
        <p:spPr>
          <a:xfrm>
            <a:off x="4698616" y="2995046"/>
            <a:ext cx="2834886" cy="13945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8"/>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08" name="Google Shape;10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14</a:t>
            </a:fld>
            <a:endParaRPr/>
          </a:p>
        </p:txBody>
      </p:sp>
      <p:sp>
        <p:nvSpPr>
          <p:cNvPr id="109" name="Google Shape;109;p8"/>
          <p:cNvSpPr txBox="1"/>
          <p:nvPr/>
        </p:nvSpPr>
        <p:spPr>
          <a:xfrm>
            <a:off x="278780" y="983199"/>
            <a:ext cx="8742378" cy="207745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a:t>
            </a:r>
            <a:r>
              <a:rPr lang="en-US" sz="1800" b="1" i="0" u="none" strike="noStrike" cap="none" dirty="0">
                <a:solidFill>
                  <a:srgbClr val="000000"/>
                </a:solidFill>
                <a:latin typeface="Arial"/>
                <a:ea typeface="Arial"/>
                <a:cs typeface="Arial"/>
                <a:sym typeface="Arial"/>
              </a:rPr>
              <a:t>first rotation</a:t>
            </a:r>
            <a:r>
              <a:rPr lang="en-US" sz="1800" b="0" i="0" u="none" strike="noStrike" cap="none" dirty="0">
                <a:solidFill>
                  <a:srgbClr val="000000"/>
                </a:solidFill>
                <a:latin typeface="Arial"/>
                <a:ea typeface="Arial"/>
                <a:cs typeface="Arial"/>
                <a:sym typeface="Arial"/>
              </a:rPr>
              <a:t> type is called the </a:t>
            </a:r>
            <a:r>
              <a:rPr lang="en-US" sz="1800" b="1" i="0" u="none" strike="noStrike" cap="none" dirty="0">
                <a:solidFill>
                  <a:srgbClr val="000000"/>
                </a:solidFill>
                <a:latin typeface="Arial"/>
                <a:ea typeface="Arial"/>
                <a:cs typeface="Arial"/>
                <a:sym typeface="Arial"/>
              </a:rPr>
              <a:t>single right rotation</a:t>
            </a:r>
            <a:r>
              <a:rPr lang="en-US" sz="1800" b="0" i="0" u="none" strike="noStrike" cap="none" dirty="0">
                <a:solidFill>
                  <a:srgbClr val="000000"/>
                </a:solidFill>
                <a:latin typeface="Arial"/>
                <a:ea typeface="Arial"/>
                <a:cs typeface="Arial"/>
                <a:sym typeface="Arial"/>
              </a:rPr>
              <a:t>, or </a:t>
            </a:r>
            <a:r>
              <a:rPr lang="en-US" sz="1800" b="1" i="0" u="none" strike="noStrike" cap="none" dirty="0">
                <a:solidFill>
                  <a:srgbClr val="000000"/>
                </a:solidFill>
                <a:latin typeface="Arial"/>
                <a:ea typeface="Arial"/>
                <a:cs typeface="Arial"/>
                <a:sym typeface="Arial"/>
              </a:rPr>
              <a:t>R-rotation</a:t>
            </a:r>
            <a:r>
              <a:rPr lang="en-US" sz="1800" b="0" i="0" u="none" strike="noStrike" cap="none" dirty="0">
                <a:solidFill>
                  <a:srgbClr val="000000"/>
                </a:solidFill>
                <a:latin typeface="Arial"/>
                <a:ea typeface="Arial"/>
                <a:cs typeface="Arial"/>
                <a:sym typeface="Arial"/>
              </a:rPr>
              <a:t>.</a:t>
            </a:r>
          </a:p>
          <a:p>
            <a:pPr marL="285750" lvl="0" indent="-285750" algn="just">
              <a:lnSpc>
                <a:spcPct val="150000"/>
              </a:lnSpc>
              <a:buSzPts val="1800"/>
              <a:buFont typeface="Arial"/>
              <a:buChar char="•"/>
            </a:pPr>
            <a:r>
              <a:rPr lang="en-US" sz="1600" dirty="0"/>
              <a:t>Imagine rotating the edge connecting the root and its left child in the binary tree in</a:t>
            </a:r>
          </a:p>
          <a:p>
            <a:pPr marL="285750" lvl="0" indent="-285750" algn="just">
              <a:lnSpc>
                <a:spcPct val="150000"/>
              </a:lnSpc>
              <a:buSzPts val="1800"/>
              <a:buFont typeface="Arial"/>
              <a:buChar char="•"/>
            </a:pPr>
            <a:r>
              <a:rPr lang="en-US" sz="1600" dirty="0"/>
              <a:t> Figure 6.3a to the right. </a:t>
            </a:r>
            <a:r>
              <a:rPr lang="en-US" sz="1600" b="0" i="1" u="none" strike="noStrike" cap="none" dirty="0">
                <a:solidFill>
                  <a:srgbClr val="000000"/>
                </a:solidFill>
                <a:latin typeface="Arial"/>
                <a:ea typeface="Arial"/>
                <a:cs typeface="Arial"/>
                <a:sym typeface="Arial"/>
              </a:rPr>
              <a:t>Figure 6.4 presents the single R-rotation in its most general form.</a:t>
            </a:r>
            <a:r>
              <a:rPr lang="en-US" sz="1600" b="0" i="0" u="none" strike="noStrike" cap="none" dirty="0">
                <a:solidFill>
                  <a:srgbClr val="000000"/>
                </a:solidFill>
                <a:latin typeface="Arial"/>
                <a:ea typeface="Arial"/>
                <a:cs typeface="Arial"/>
                <a:sym typeface="Arial"/>
              </a:rPr>
              <a:t> </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110" name="Google Shape;110;p8"/>
          <p:cNvPicPr preferRelativeResize="0"/>
          <p:nvPr/>
        </p:nvPicPr>
        <p:blipFill rotWithShape="1">
          <a:blip r:embed="rId3">
            <a:alphaModFix/>
          </a:blip>
          <a:srcRect/>
          <a:stretch/>
        </p:blipFill>
        <p:spPr>
          <a:xfrm>
            <a:off x="4211328" y="2731960"/>
            <a:ext cx="4902872" cy="232485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9"/>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16" name="Google Shape;11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15</a:t>
            </a:fld>
            <a:endParaRPr/>
          </a:p>
        </p:txBody>
      </p:sp>
      <p:sp>
        <p:nvSpPr>
          <p:cNvPr id="117" name="Google Shape;117;p9"/>
          <p:cNvSpPr txBox="1"/>
          <p:nvPr/>
        </p:nvSpPr>
        <p:spPr>
          <a:xfrm>
            <a:off x="278780" y="1022771"/>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Note that this rotation is performed after a new key is inserted into the left subtree of the left child of a tree whose root had the balance of +1 before the insertion.</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symmetric </a:t>
            </a:r>
            <a:r>
              <a:rPr lang="en-US" sz="1800" b="1" i="1" u="none" strike="noStrike" cap="none" dirty="0">
                <a:solidFill>
                  <a:srgbClr val="000000"/>
                </a:solidFill>
                <a:latin typeface="Arial"/>
                <a:ea typeface="Arial"/>
                <a:cs typeface="Arial"/>
                <a:sym typeface="Arial"/>
              </a:rPr>
              <a:t>single left rotation</a:t>
            </a:r>
            <a:r>
              <a:rPr lang="en-US" sz="1800" b="0" i="0" u="none" strike="noStrike" cap="none" dirty="0">
                <a:solidFill>
                  <a:srgbClr val="000000"/>
                </a:solidFill>
                <a:latin typeface="Arial"/>
                <a:ea typeface="Arial"/>
                <a:cs typeface="Arial"/>
                <a:sym typeface="Arial"/>
              </a:rPr>
              <a:t>, or </a:t>
            </a:r>
            <a:r>
              <a:rPr lang="en-US" sz="1800" b="1" i="1" u="none" strike="noStrike" cap="none" dirty="0">
                <a:solidFill>
                  <a:srgbClr val="000000"/>
                </a:solidFill>
                <a:latin typeface="Arial"/>
                <a:ea typeface="Arial"/>
                <a:cs typeface="Arial"/>
                <a:sym typeface="Arial"/>
              </a:rPr>
              <a:t>L-rotation</a:t>
            </a:r>
            <a:r>
              <a:rPr lang="en-US" sz="1800" b="0" i="0" u="none" strike="noStrike" cap="none" dirty="0">
                <a:solidFill>
                  <a:srgbClr val="000000"/>
                </a:solidFill>
                <a:latin typeface="Arial"/>
                <a:ea typeface="Arial"/>
                <a:cs typeface="Arial"/>
                <a:sym typeface="Arial"/>
              </a:rPr>
              <a:t>, is the mirror image of the single R-rotation.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It is performed after a new key is inserted into the right subtree of the right child of a tree whose root had the balance of −1 before the insertion.</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Note that this rotation is performed after a new key is inserted into the left subtree of the left child of a tree whose root had the balance of +1 before the insertion.</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0"/>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23" name="Google Shape;12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16</a:t>
            </a:fld>
            <a:endParaRPr/>
          </a:p>
        </p:txBody>
      </p:sp>
      <p:sp>
        <p:nvSpPr>
          <p:cNvPr id="124" name="Google Shape;124;p10"/>
          <p:cNvSpPr txBox="1"/>
          <p:nvPr/>
        </p:nvSpPr>
        <p:spPr>
          <a:xfrm>
            <a:off x="278780" y="983199"/>
            <a:ext cx="8742378" cy="30007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a:t>
            </a:r>
            <a:r>
              <a:rPr lang="en-US" sz="1800" b="1" i="0" u="none" strike="noStrike" cap="none" dirty="0">
                <a:solidFill>
                  <a:srgbClr val="000000"/>
                </a:solidFill>
                <a:latin typeface="Arial"/>
                <a:ea typeface="Arial"/>
                <a:cs typeface="Arial"/>
                <a:sym typeface="Arial"/>
              </a:rPr>
              <a:t>second rotation </a:t>
            </a:r>
            <a:r>
              <a:rPr lang="en-US" sz="1800" b="0" i="0" u="none" strike="noStrike" cap="none" dirty="0">
                <a:solidFill>
                  <a:srgbClr val="000000"/>
                </a:solidFill>
                <a:latin typeface="Arial"/>
                <a:ea typeface="Arial"/>
                <a:cs typeface="Arial"/>
                <a:sym typeface="Arial"/>
              </a:rPr>
              <a:t>type is called the </a:t>
            </a:r>
            <a:r>
              <a:rPr lang="en-US" sz="1800" b="1" i="0" u="none" strike="noStrike" cap="none" dirty="0">
                <a:solidFill>
                  <a:srgbClr val="000000"/>
                </a:solidFill>
                <a:latin typeface="Arial"/>
                <a:ea typeface="Arial"/>
                <a:cs typeface="Arial"/>
                <a:sym typeface="Arial"/>
              </a:rPr>
              <a:t>double left-right rotation </a:t>
            </a:r>
            <a:r>
              <a:rPr lang="en-US" sz="1800" b="0" i="0" u="none" strike="noStrike" cap="none" dirty="0">
                <a:solidFill>
                  <a:srgbClr val="000000"/>
                </a:solidFill>
                <a:latin typeface="Arial"/>
                <a:ea typeface="Arial"/>
                <a:cs typeface="Arial"/>
                <a:sym typeface="Arial"/>
              </a:rPr>
              <a:t>(</a:t>
            </a:r>
            <a:r>
              <a:rPr lang="en-US" sz="1800" b="1" i="1" u="none" strike="noStrike" cap="none" dirty="0">
                <a:solidFill>
                  <a:srgbClr val="000000"/>
                </a:solidFill>
                <a:latin typeface="Arial"/>
                <a:ea typeface="Arial"/>
                <a:cs typeface="Arial"/>
                <a:sym typeface="Arial"/>
              </a:rPr>
              <a:t>LR - rotation</a:t>
            </a:r>
            <a:r>
              <a:rPr lang="en-US" sz="1800" b="0" i="0" u="none" strike="noStrike" cap="none" dirty="0">
                <a:solidFill>
                  <a:srgbClr val="000000"/>
                </a:solidFill>
                <a:latin typeface="Arial"/>
                <a:ea typeface="Arial"/>
                <a:cs typeface="Arial"/>
                <a:sym typeface="Arial"/>
              </a:rPr>
              <a:t>).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It is, in fact, a combination of two rotations: we perform the L-rotation of the left subtree of root r followed by the R-rotation of the new tree rooted at r (Figure 6.5).</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It is performed after a new key is inserted into the right subtree of the left child of a tree whose root had the balance of +1 before the insertion.</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30" name="Google Shape;13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17</a:t>
            </a:fld>
            <a:endParaRPr/>
          </a:p>
        </p:txBody>
      </p:sp>
      <p:sp>
        <p:nvSpPr>
          <p:cNvPr id="131" name="Google Shape;131;p11"/>
          <p:cNvSpPr txBox="1"/>
          <p:nvPr/>
        </p:nvSpPr>
        <p:spPr>
          <a:xfrm>
            <a:off x="278780" y="983199"/>
            <a:ext cx="8742378" cy="203128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The </a:t>
            </a:r>
            <a:r>
              <a:rPr lang="en-US" sz="1600" b="1" i="1" u="none" strike="noStrike" cap="none" dirty="0">
                <a:solidFill>
                  <a:srgbClr val="000000"/>
                </a:solidFill>
                <a:latin typeface="Arial"/>
                <a:ea typeface="Arial"/>
                <a:cs typeface="Arial"/>
                <a:sym typeface="Arial"/>
              </a:rPr>
              <a:t>double right-left rotation (RL-rotation) is the mirror image of the double LR-rotation </a:t>
            </a:r>
            <a:r>
              <a:rPr lang="en-US" sz="1600" b="0" i="0" u="none" strike="noStrike" cap="none" dirty="0">
                <a:solidFill>
                  <a:srgbClr val="000000"/>
                </a:solidFill>
                <a:latin typeface="Arial"/>
                <a:ea typeface="Arial"/>
                <a:cs typeface="Arial"/>
                <a:sym typeface="Arial"/>
              </a:rPr>
              <a:t>and is left for the exercises. Note that the rotations are not trivial transformations, though fortunately they can be done in constant time. </a:t>
            </a:r>
            <a:endParaRPr sz="16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pic>
        <p:nvPicPr>
          <p:cNvPr id="132" name="Google Shape;132;p11"/>
          <p:cNvPicPr preferRelativeResize="0"/>
          <p:nvPr/>
        </p:nvPicPr>
        <p:blipFill rotWithShape="1">
          <a:blip r:embed="rId3">
            <a:alphaModFix/>
          </a:blip>
          <a:srcRect/>
          <a:stretch/>
        </p:blipFill>
        <p:spPr>
          <a:xfrm>
            <a:off x="4536917" y="2584263"/>
            <a:ext cx="4521111" cy="247255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2"/>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38" name="Google Shape;138;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sp>
        <p:nvSpPr>
          <p:cNvPr id="139" name="Google Shape;139;p12"/>
          <p:cNvSpPr txBox="1"/>
          <p:nvPr/>
        </p:nvSpPr>
        <p:spPr>
          <a:xfrm>
            <a:off x="278780" y="983199"/>
            <a:ext cx="8742378" cy="544251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Not only should they guarantee that a </a:t>
            </a:r>
            <a:r>
              <a:rPr lang="en-US" sz="1800" b="1" i="0" u="none" strike="noStrike" cap="none" dirty="0">
                <a:solidFill>
                  <a:srgbClr val="000000"/>
                </a:solidFill>
                <a:latin typeface="Arial"/>
                <a:ea typeface="Arial"/>
                <a:cs typeface="Arial"/>
                <a:sym typeface="Arial"/>
              </a:rPr>
              <a:t>resulting tree is balanced</a:t>
            </a:r>
            <a:r>
              <a:rPr lang="en-US" sz="1800" b="0" i="0" u="none" strike="noStrike" cap="none" dirty="0">
                <a:solidFill>
                  <a:srgbClr val="000000"/>
                </a:solidFill>
                <a:latin typeface="Arial"/>
                <a:ea typeface="Arial"/>
                <a:cs typeface="Arial"/>
                <a:sym typeface="Arial"/>
              </a:rPr>
              <a:t>, but they should also </a:t>
            </a:r>
            <a:r>
              <a:rPr lang="en-US" sz="1800" b="1" i="0" u="none" strike="noStrike" cap="none" dirty="0">
                <a:solidFill>
                  <a:srgbClr val="000000"/>
                </a:solidFill>
                <a:latin typeface="Arial"/>
                <a:ea typeface="Arial"/>
                <a:cs typeface="Arial"/>
                <a:sym typeface="Arial"/>
              </a:rPr>
              <a:t>preserve the basic requirements of a binary search tree</a:t>
            </a:r>
            <a:r>
              <a:rPr lang="en-US" sz="1800" b="0" i="0" u="none" strike="noStrike" cap="none" dirty="0">
                <a:solidFill>
                  <a:srgbClr val="000000"/>
                </a:solidFill>
                <a:latin typeface="Arial"/>
                <a:ea typeface="Arial"/>
                <a:cs typeface="Arial"/>
                <a:sym typeface="Arial"/>
              </a:rPr>
              <a:t>.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For example, in the initial tree of Figure 6.4, all the keys of subtree T1 are smaller than c, which is smaller than all the keys of subtree T2, which are smaller than r, which is smaller than all the keys of subtree T3. And the same relationships among the key values hold, as they must, for the balanced tree after the rotation.</a:t>
            </a:r>
            <a:endParaRPr sz="18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An example of constructing an AVL tree for a given list of numbers is shown in Figure 6.6. </a:t>
            </a: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2"/>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38" name="Google Shape;138;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19</a:t>
            </a:fld>
            <a:endParaRPr/>
          </a:p>
        </p:txBody>
      </p:sp>
      <p:sp>
        <p:nvSpPr>
          <p:cNvPr id="139" name="Google Shape;139;p12"/>
          <p:cNvSpPr txBox="1"/>
          <p:nvPr/>
        </p:nvSpPr>
        <p:spPr>
          <a:xfrm>
            <a:off x="278780" y="983199"/>
            <a:ext cx="8742378"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An example of constructing an AVL tree for a given list of numbers is shown in Figure 6.6. </a:t>
            </a:r>
          </a:p>
          <a:p>
            <a:pPr marL="285750" lvl="0" indent="-285750" algn="just">
              <a:lnSpc>
                <a:spcPct val="150000"/>
              </a:lnSpc>
              <a:buSzPts val="1800"/>
              <a:buFont typeface="Arial"/>
              <a:buChar char="•"/>
            </a:pPr>
            <a:r>
              <a:rPr lang="en-US" sz="1800" b="1" dirty="0"/>
              <a:t>As you trace the algorithm’s operations, keep in mind that if there are several nodes with the ±2 balance, the rotation is done for the tree rooted at the unbalanced node that is the closest to the newly inserted leaf.</a:t>
            </a: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09785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45" name="Google Shape;14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20</a:t>
            </a:fld>
            <a:endParaRPr/>
          </a:p>
        </p:txBody>
      </p:sp>
      <p:sp>
        <p:nvSpPr>
          <p:cNvPr id="146" name="Google Shape;146;p13"/>
          <p:cNvSpPr txBox="1"/>
          <p:nvPr/>
        </p:nvSpPr>
        <p:spPr>
          <a:xfrm>
            <a:off x="278780" y="983199"/>
            <a:ext cx="8742378" cy="211852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a:solidFill>
                  <a:srgbClr val="000000"/>
                </a:solidFill>
                <a:latin typeface="Arial"/>
                <a:ea typeface="Arial"/>
                <a:cs typeface="Arial"/>
                <a:sym typeface="Arial"/>
              </a:rPr>
              <a:t>AVL Trees</a:t>
            </a:r>
            <a:endParaRPr/>
          </a:p>
          <a:p>
            <a:pPr marL="0" marR="0" lvl="0" indent="0" algn="just" rtl="0">
              <a:lnSpc>
                <a:spcPct val="150000"/>
              </a:lnSpc>
              <a:spcBef>
                <a:spcPts val="0"/>
              </a:spcBef>
              <a:spcAft>
                <a:spcPts val="0"/>
              </a:spcAft>
              <a:buNone/>
            </a:pPr>
            <a:endParaRPr sz="1800" b="1"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147" name="Google Shape;147;p13"/>
          <p:cNvPicPr preferRelativeResize="0"/>
          <p:nvPr/>
        </p:nvPicPr>
        <p:blipFill rotWithShape="1">
          <a:blip r:embed="rId3">
            <a:alphaModFix/>
          </a:blip>
          <a:srcRect/>
          <a:stretch/>
        </p:blipFill>
        <p:spPr>
          <a:xfrm>
            <a:off x="204164" y="1607344"/>
            <a:ext cx="4443178" cy="2421732"/>
          </a:xfrm>
          <a:prstGeom prst="rect">
            <a:avLst/>
          </a:prstGeom>
          <a:noFill/>
          <a:ln>
            <a:noFill/>
          </a:ln>
        </p:spPr>
      </p:pic>
      <p:pic>
        <p:nvPicPr>
          <p:cNvPr id="148" name="Google Shape;148;p13"/>
          <p:cNvPicPr preferRelativeResize="0"/>
          <p:nvPr/>
        </p:nvPicPr>
        <p:blipFill rotWithShape="1">
          <a:blip r:embed="rId4">
            <a:alphaModFix/>
          </a:blip>
          <a:srcRect/>
          <a:stretch/>
        </p:blipFill>
        <p:spPr>
          <a:xfrm>
            <a:off x="4647342" y="1444429"/>
            <a:ext cx="4061812" cy="2972058"/>
          </a:xfrm>
          <a:prstGeom prst="rect">
            <a:avLst/>
          </a:prstGeom>
          <a:noFill/>
          <a:ln>
            <a:noFill/>
          </a:ln>
        </p:spPr>
      </p:pic>
      <p:pic>
        <p:nvPicPr>
          <p:cNvPr id="149" name="Google Shape;149;p13"/>
          <p:cNvPicPr preferRelativeResize="0"/>
          <p:nvPr/>
        </p:nvPicPr>
        <p:blipFill rotWithShape="1">
          <a:blip r:embed="rId5">
            <a:alphaModFix/>
          </a:blip>
          <a:srcRect/>
          <a:stretch/>
        </p:blipFill>
        <p:spPr>
          <a:xfrm>
            <a:off x="278780" y="4280750"/>
            <a:ext cx="5113463" cy="51820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55" name="Google Shape;1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21</a:t>
            </a:fld>
            <a:endParaRPr/>
          </a:p>
        </p:txBody>
      </p:sp>
      <p:sp>
        <p:nvSpPr>
          <p:cNvPr id="156" name="Google Shape;156;p14"/>
          <p:cNvSpPr txBox="1"/>
          <p:nvPr/>
        </p:nvSpPr>
        <p:spPr>
          <a:xfrm>
            <a:off x="278780" y="983199"/>
            <a:ext cx="8444891" cy="30007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400050" marR="0" lvl="0" indent="-285750" algn="just" rtl="0">
              <a:lnSpc>
                <a:spcPct val="150000"/>
              </a:lnSpc>
              <a:spcBef>
                <a:spcPts val="0"/>
              </a:spcBef>
              <a:spcAft>
                <a:spcPts val="0"/>
              </a:spcAft>
              <a:buClr>
                <a:srgbClr val="000000"/>
              </a:buClr>
              <a:buSzPts val="1800"/>
              <a:buFont typeface="Arial" panose="020B0604020202020204" pitchFamily="34" charset="0"/>
              <a:buChar char="•"/>
            </a:pPr>
            <a:endParaRPr lang="en-US" sz="1800" b="0" i="0" u="none" strike="noStrike" cap="none" dirty="0">
              <a:solidFill>
                <a:srgbClr val="000000"/>
              </a:solidFill>
              <a:latin typeface="Arial"/>
              <a:ea typeface="Arial"/>
              <a:cs typeface="Arial"/>
              <a:sym typeface="Arial"/>
            </a:endParaRPr>
          </a:p>
          <a:p>
            <a:pPr marL="400050" marR="0" lvl="0" indent="-285750" algn="just" rtl="0">
              <a:lnSpc>
                <a:spcPct val="150000"/>
              </a:lnSpc>
              <a:spcBef>
                <a:spcPts val="0"/>
              </a:spcBef>
              <a:spcAft>
                <a:spcPts val="0"/>
              </a:spcAft>
              <a:buClr>
                <a:srgbClr val="000000"/>
              </a:buClr>
              <a:buSzPts val="1800"/>
              <a:buFont typeface="Arial" panose="020B0604020202020204" pitchFamily="34" charset="0"/>
              <a:buChar char="•"/>
            </a:pPr>
            <a:endParaRPr lang="en-US" sz="1800" dirty="0"/>
          </a:p>
          <a:p>
            <a:pPr marL="400050" marR="0" lvl="0" indent="-285750" algn="just" rtl="0">
              <a:lnSpc>
                <a:spcPct val="150000"/>
              </a:lnSpc>
              <a:spcBef>
                <a:spcPts val="0"/>
              </a:spcBef>
              <a:spcAft>
                <a:spcPts val="0"/>
              </a:spcAft>
              <a:buClr>
                <a:srgbClr val="000000"/>
              </a:buClr>
              <a:buSzPts val="1800"/>
              <a:buFont typeface="Arial" panose="020B0604020202020204" pitchFamily="34" charset="0"/>
              <a:buChar char="•"/>
            </a:pPr>
            <a:endParaRPr lang="en-US" sz="1800" b="0" i="0" u="none" strike="noStrike" cap="none" dirty="0">
              <a:solidFill>
                <a:srgbClr val="000000"/>
              </a:solidFill>
              <a:latin typeface="Arial"/>
              <a:ea typeface="Arial"/>
              <a:cs typeface="Arial"/>
              <a:sym typeface="Arial"/>
            </a:endParaRPr>
          </a:p>
          <a:p>
            <a:pPr marL="400050" marR="0" lvl="0" indent="-285750" algn="just" rtl="0">
              <a:lnSpc>
                <a:spcPct val="15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Construct AVL tree for B, C, G, E, F, D, A by successive iterations.</a:t>
            </a:r>
            <a:endParaRPr sz="18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55" name="Google Shape;1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22</a:t>
            </a:fld>
            <a:endParaRPr/>
          </a:p>
        </p:txBody>
      </p:sp>
      <p:sp>
        <p:nvSpPr>
          <p:cNvPr id="156" name="Google Shape;156;p14"/>
          <p:cNvSpPr txBox="1"/>
          <p:nvPr/>
        </p:nvSpPr>
        <p:spPr>
          <a:xfrm>
            <a:off x="278780" y="983199"/>
            <a:ext cx="8444891" cy="175428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400050" marR="0" lvl="0" indent="-285750" algn="just" rtl="0">
              <a:lnSpc>
                <a:spcPct val="15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Construct AVL tree for B, C, G, E, F, D, A successively.</a:t>
            </a:r>
            <a:endParaRPr sz="18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1621402" y="2056399"/>
            <a:ext cx="4695289" cy="2803618"/>
          </a:xfrm>
          <a:prstGeom prst="rect">
            <a:avLst/>
          </a:prstGeom>
        </p:spPr>
      </p:pic>
    </p:spTree>
    <p:extLst>
      <p:ext uri="{BB962C8B-B14F-4D97-AF65-F5344CB8AC3E}">
        <p14:creationId xmlns:p14="http://schemas.microsoft.com/office/powerpoint/2010/main" val="3266283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55" name="Google Shape;1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23</a:t>
            </a:fld>
            <a:endParaRPr/>
          </a:p>
        </p:txBody>
      </p:sp>
      <p:sp>
        <p:nvSpPr>
          <p:cNvPr id="156" name="Google Shape;156;p14"/>
          <p:cNvSpPr txBox="1"/>
          <p:nvPr/>
        </p:nvSpPr>
        <p:spPr>
          <a:xfrm>
            <a:off x="278780" y="983199"/>
            <a:ext cx="8444891" cy="50779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sz="1800" b="0" i="0" u="none" strike="noStrike" cap="none" dirty="0">
              <a:solidFill>
                <a:srgbClr val="000000"/>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534013" y="2060417"/>
            <a:ext cx="8003261" cy="1670102"/>
          </a:xfrm>
          <a:prstGeom prst="rect">
            <a:avLst/>
          </a:prstGeom>
        </p:spPr>
      </p:pic>
    </p:spTree>
    <p:extLst>
      <p:ext uri="{BB962C8B-B14F-4D97-AF65-F5344CB8AC3E}">
        <p14:creationId xmlns:p14="http://schemas.microsoft.com/office/powerpoint/2010/main" val="3220130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55" name="Google Shape;1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sp>
        <p:nvSpPr>
          <p:cNvPr id="156" name="Google Shape;156;p14"/>
          <p:cNvSpPr txBox="1"/>
          <p:nvPr/>
        </p:nvSpPr>
        <p:spPr>
          <a:xfrm>
            <a:off x="278780" y="983199"/>
            <a:ext cx="8444891"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How efficient are AVL trees?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As with any search tree, the critical characteristic is the tree’s height.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It turns out that it is bounded both above and below by logarithmic functions.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Specifically, the height </a:t>
            </a:r>
            <a:r>
              <a:rPr lang="en-US" sz="1800" b="0" i="1" u="none" strike="noStrike" cap="none" dirty="0">
                <a:solidFill>
                  <a:srgbClr val="000000"/>
                </a:solidFill>
                <a:latin typeface="Arial"/>
                <a:ea typeface="Arial"/>
                <a:cs typeface="Arial"/>
                <a:sym typeface="Arial"/>
              </a:rPr>
              <a:t>h</a:t>
            </a:r>
            <a:r>
              <a:rPr lang="en-US" sz="1800" b="0" i="0" u="none" strike="noStrike" cap="none" dirty="0">
                <a:solidFill>
                  <a:srgbClr val="000000"/>
                </a:solidFill>
                <a:latin typeface="Arial"/>
                <a:ea typeface="Arial"/>
                <a:cs typeface="Arial"/>
                <a:sym typeface="Arial"/>
              </a:rPr>
              <a:t> of any AVL tree with n nodes satisfies the inequalities.</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pic>
        <p:nvPicPr>
          <p:cNvPr id="157" name="Google Shape;157;p14"/>
          <p:cNvPicPr preferRelativeResize="0"/>
          <p:nvPr/>
        </p:nvPicPr>
        <p:blipFill rotWithShape="1">
          <a:blip r:embed="rId3">
            <a:alphaModFix/>
          </a:blip>
          <a:srcRect/>
          <a:stretch/>
        </p:blipFill>
        <p:spPr>
          <a:xfrm>
            <a:off x="2229762" y="3852901"/>
            <a:ext cx="4075174" cy="497873"/>
          </a:xfrm>
          <a:prstGeom prst="rect">
            <a:avLst/>
          </a:prstGeom>
          <a:noFill/>
          <a:ln>
            <a:noFill/>
          </a:ln>
        </p:spPr>
      </p:pic>
    </p:spTree>
    <p:extLst>
      <p:ext uri="{BB962C8B-B14F-4D97-AF65-F5344CB8AC3E}">
        <p14:creationId xmlns:p14="http://schemas.microsoft.com/office/powerpoint/2010/main" val="1697104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55" name="Google Shape;1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25</a:t>
            </a:fld>
            <a:endParaRPr/>
          </a:p>
        </p:txBody>
      </p:sp>
      <p:pic>
        <p:nvPicPr>
          <p:cNvPr id="2" name="Picture 1"/>
          <p:cNvPicPr>
            <a:picLocks noChangeAspect="1"/>
          </p:cNvPicPr>
          <p:nvPr/>
        </p:nvPicPr>
        <p:blipFill>
          <a:blip r:embed="rId3"/>
          <a:stretch>
            <a:fillRect/>
          </a:stretch>
        </p:blipFill>
        <p:spPr>
          <a:xfrm>
            <a:off x="345773" y="1367567"/>
            <a:ext cx="8515350" cy="3295650"/>
          </a:xfrm>
          <a:prstGeom prst="rect">
            <a:avLst/>
          </a:prstGeom>
        </p:spPr>
      </p:pic>
    </p:spTree>
    <p:extLst>
      <p:ext uri="{BB962C8B-B14F-4D97-AF65-F5344CB8AC3E}">
        <p14:creationId xmlns:p14="http://schemas.microsoft.com/office/powerpoint/2010/main" val="34536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55" name="Google Shape;1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26</a:t>
            </a:fld>
            <a:endParaRPr/>
          </a:p>
        </p:txBody>
      </p:sp>
      <p:pic>
        <p:nvPicPr>
          <p:cNvPr id="3" name="Picture 2"/>
          <p:cNvPicPr>
            <a:picLocks noChangeAspect="1"/>
          </p:cNvPicPr>
          <p:nvPr/>
        </p:nvPicPr>
        <p:blipFill>
          <a:blip r:embed="rId3"/>
          <a:stretch>
            <a:fillRect/>
          </a:stretch>
        </p:blipFill>
        <p:spPr>
          <a:xfrm>
            <a:off x="1165891" y="1197583"/>
            <a:ext cx="6709748" cy="3662434"/>
          </a:xfrm>
          <a:prstGeom prst="rect">
            <a:avLst/>
          </a:prstGeom>
        </p:spPr>
      </p:pic>
    </p:spTree>
    <p:extLst>
      <p:ext uri="{BB962C8B-B14F-4D97-AF65-F5344CB8AC3E}">
        <p14:creationId xmlns:p14="http://schemas.microsoft.com/office/powerpoint/2010/main" val="993746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55" name="Google Shape;1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27</a:t>
            </a:fld>
            <a:endParaRPr/>
          </a:p>
        </p:txBody>
      </p:sp>
      <p:sp>
        <p:nvSpPr>
          <p:cNvPr id="156" name="Google Shape;156;p14"/>
          <p:cNvSpPr txBox="1"/>
          <p:nvPr/>
        </p:nvSpPr>
        <p:spPr>
          <a:xfrm>
            <a:off x="278780" y="983199"/>
            <a:ext cx="8742378" cy="34162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inequalities immediately imply that the operations of searching and insertion  are            in the worst case.</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Searching in an AVL tree requires, on average, almost the same number of comparisons as searching in a sorted array by binary search. </a:t>
            </a: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pic>
        <p:nvPicPr>
          <p:cNvPr id="157" name="Google Shape;157;p14"/>
          <p:cNvPicPr preferRelativeResize="0"/>
          <p:nvPr/>
        </p:nvPicPr>
        <p:blipFill rotWithShape="1">
          <a:blip r:embed="rId3">
            <a:alphaModFix/>
          </a:blip>
          <a:srcRect/>
          <a:stretch/>
        </p:blipFill>
        <p:spPr>
          <a:xfrm>
            <a:off x="2591097" y="1497022"/>
            <a:ext cx="3587918" cy="347859"/>
          </a:xfrm>
          <a:prstGeom prst="rect">
            <a:avLst/>
          </a:prstGeom>
          <a:noFill/>
          <a:ln>
            <a:noFill/>
          </a:ln>
        </p:spPr>
      </p:pic>
      <p:pic>
        <p:nvPicPr>
          <p:cNvPr id="158" name="Google Shape;158;p14"/>
          <p:cNvPicPr preferRelativeResize="0"/>
          <p:nvPr/>
        </p:nvPicPr>
        <p:blipFill rotWithShape="1">
          <a:blip r:embed="rId4">
            <a:alphaModFix/>
          </a:blip>
          <a:srcRect/>
          <a:stretch/>
        </p:blipFill>
        <p:spPr>
          <a:xfrm>
            <a:off x="1043576" y="2406825"/>
            <a:ext cx="642834" cy="188565"/>
          </a:xfrm>
          <a:prstGeom prst="rect">
            <a:avLst/>
          </a:prstGeom>
          <a:noFill/>
          <a:ln>
            <a:noFill/>
          </a:ln>
        </p:spPr>
      </p:pic>
    </p:spTree>
    <p:extLst>
      <p:ext uri="{BB962C8B-B14F-4D97-AF65-F5344CB8AC3E}">
        <p14:creationId xmlns:p14="http://schemas.microsoft.com/office/powerpoint/2010/main" val="3646043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5"/>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64" name="Google Shape;164;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28</a:t>
            </a:fld>
            <a:endParaRPr/>
          </a:p>
        </p:txBody>
      </p:sp>
      <p:sp>
        <p:nvSpPr>
          <p:cNvPr id="165" name="Google Shape;165;p15"/>
          <p:cNvSpPr txBox="1"/>
          <p:nvPr/>
        </p:nvSpPr>
        <p:spPr>
          <a:xfrm>
            <a:off x="278780" y="983199"/>
            <a:ext cx="8742378" cy="466277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AVL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The operation of </a:t>
            </a:r>
            <a:r>
              <a:rPr lang="en-US" sz="1600" b="1" i="0" u="none" strike="noStrike" cap="none" dirty="0">
                <a:solidFill>
                  <a:srgbClr val="000000"/>
                </a:solidFill>
                <a:latin typeface="Arial"/>
                <a:ea typeface="Arial"/>
                <a:cs typeface="Arial"/>
                <a:sym typeface="Arial"/>
              </a:rPr>
              <a:t>key deletion </a:t>
            </a:r>
            <a:r>
              <a:rPr lang="en-US" sz="1600" b="0" i="0" u="none" strike="noStrike" cap="none" dirty="0">
                <a:solidFill>
                  <a:srgbClr val="000000"/>
                </a:solidFill>
                <a:latin typeface="Arial"/>
                <a:ea typeface="Arial"/>
                <a:cs typeface="Arial"/>
                <a:sym typeface="Arial"/>
              </a:rPr>
              <a:t>in an AVL tree is considerably </a:t>
            </a:r>
            <a:r>
              <a:rPr lang="en-US" sz="1600" b="1" i="0" u="none" strike="noStrike" cap="none" dirty="0">
                <a:solidFill>
                  <a:srgbClr val="000000"/>
                </a:solidFill>
                <a:latin typeface="Arial"/>
                <a:ea typeface="Arial"/>
                <a:cs typeface="Arial"/>
                <a:sym typeface="Arial"/>
              </a:rPr>
              <a:t>more difficult than insertion</a:t>
            </a:r>
            <a:r>
              <a:rPr lang="en-US" sz="1600" b="0" i="0" u="none" strike="noStrike" cap="none" dirty="0">
                <a:solidFill>
                  <a:srgbClr val="000000"/>
                </a:solidFill>
                <a:latin typeface="Arial"/>
                <a:ea typeface="Arial"/>
                <a:cs typeface="Arial"/>
                <a:sym typeface="Arial"/>
              </a:rPr>
              <a:t>, but fortunately it turns out to be in the same efficiency class as insertion, i.e., logarithmic.</a:t>
            </a: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The drawbacks of AVL trees are frequent rotations and the need to maintain balances for its nodes. </a:t>
            </a:r>
            <a:endParaRPr sz="1200" dirty="0"/>
          </a:p>
          <a:p>
            <a:pPr marL="285750" marR="0" lvl="0" indent="-285750" algn="just" rtl="0">
              <a:lnSpc>
                <a:spcPct val="150000"/>
              </a:lnSpc>
              <a:spcBef>
                <a:spcPts val="0"/>
              </a:spcBef>
              <a:spcAft>
                <a:spcPts val="0"/>
              </a:spcAft>
              <a:buClr>
                <a:srgbClr val="000000"/>
              </a:buClr>
              <a:buSzPts val="1800"/>
              <a:buFont typeface="Arial"/>
              <a:buChar char="•"/>
            </a:pPr>
            <a:r>
              <a:rPr lang="en-US" sz="1600" b="1" i="0" u="none" strike="noStrike" cap="none" dirty="0">
                <a:solidFill>
                  <a:srgbClr val="000000"/>
                </a:solidFill>
                <a:latin typeface="Arial"/>
                <a:ea typeface="Arial"/>
                <a:cs typeface="Arial"/>
                <a:sym typeface="Arial"/>
              </a:rPr>
              <a:t>These drawbacks have prevented AVL trees from becoming the standard structure for implementing dictionaries</a:t>
            </a:r>
            <a:r>
              <a:rPr lang="en-US" sz="1600" b="0" i="0" u="none" strike="noStrike" cap="none" dirty="0">
                <a:solidFill>
                  <a:srgbClr val="000000"/>
                </a:solidFill>
                <a:latin typeface="Arial"/>
                <a:ea typeface="Arial"/>
                <a:cs typeface="Arial"/>
                <a:sym typeface="Arial"/>
              </a:rPr>
              <a:t>. </a:t>
            </a: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At the same time, their underlying idea — that of rebalancing a binary search tree via rotations—has proved to be very fruitful and has led to discoveries of other interesting variations of the classical binary search tree.</a:t>
            </a:r>
            <a:endParaRPr sz="16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6"/>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71" name="Google Shape;17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29</a:t>
            </a:fld>
            <a:endParaRPr/>
          </a:p>
        </p:txBody>
      </p:sp>
      <p:sp>
        <p:nvSpPr>
          <p:cNvPr id="172" name="Google Shape;172;p16"/>
          <p:cNvSpPr txBox="1"/>
          <p:nvPr/>
        </p:nvSpPr>
        <p:spPr>
          <a:xfrm>
            <a:off x="278780" y="983199"/>
            <a:ext cx="8742378" cy="461660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2-3 Trees</a:t>
            </a:r>
            <a:endParaRPr dirty="0"/>
          </a:p>
          <a:p>
            <a:pPr marL="285750" lvl="0" indent="-285750" algn="just">
              <a:lnSpc>
                <a:spcPct val="150000"/>
              </a:lnSpc>
              <a:buSzPts val="1800"/>
              <a:buFont typeface="Arial"/>
              <a:buChar char="•"/>
            </a:pPr>
            <a:r>
              <a:rPr lang="en-US" sz="1600" dirty="0"/>
              <a:t>The second idea of balancing a search tree is to allow more than one key in the same node of such a tree</a:t>
            </a: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sym typeface="Arial"/>
              </a:rPr>
              <a:t>A </a:t>
            </a:r>
            <a:r>
              <a:rPr lang="en-US" sz="1600" b="1" i="0" u="none" strike="noStrike" cap="none" dirty="0">
                <a:solidFill>
                  <a:srgbClr val="000000"/>
                </a:solidFill>
                <a:sym typeface="Arial"/>
              </a:rPr>
              <a:t>2-3 tree </a:t>
            </a:r>
            <a:r>
              <a:rPr lang="en-US" sz="1600" b="0" i="0" u="none" strike="noStrike" cap="none" dirty="0">
                <a:solidFill>
                  <a:srgbClr val="000000"/>
                </a:solidFill>
                <a:sym typeface="Arial"/>
              </a:rPr>
              <a:t>is a tree that can have nodes of two kinds: 2-nodes and 3-nodes.</a:t>
            </a: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sym typeface="Arial"/>
              </a:rPr>
              <a:t>A </a:t>
            </a:r>
            <a:r>
              <a:rPr lang="en-US" sz="1600" b="1" i="0" u="none" strike="noStrike" cap="none" dirty="0">
                <a:solidFill>
                  <a:srgbClr val="000000"/>
                </a:solidFill>
                <a:sym typeface="Arial"/>
              </a:rPr>
              <a:t>2-node</a:t>
            </a:r>
            <a:r>
              <a:rPr lang="en-US" sz="1600" b="0" i="0" u="none" strike="noStrike" cap="none" dirty="0">
                <a:solidFill>
                  <a:srgbClr val="000000"/>
                </a:solidFill>
                <a:sym typeface="Arial"/>
              </a:rPr>
              <a:t> contains a single key K and has two children: the left child serves as the root of a subtree whose keys are less than K, and the right child serves as the root of a subtree whose keys are greater than K. </a:t>
            </a:r>
            <a:endParaRPr sz="1200" dirty="0"/>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A </a:t>
            </a:r>
            <a:r>
              <a:rPr lang="en-US" sz="1600" b="1" i="0" u="none" strike="noStrike" cap="none" dirty="0">
                <a:solidFill>
                  <a:srgbClr val="000000"/>
                </a:solidFill>
                <a:latin typeface="Arial"/>
                <a:ea typeface="Arial"/>
                <a:cs typeface="Arial"/>
                <a:sym typeface="Arial"/>
              </a:rPr>
              <a:t>3-node </a:t>
            </a:r>
            <a:r>
              <a:rPr lang="en-US" sz="1600" b="0" i="0" u="none" strike="noStrike" cap="none" dirty="0">
                <a:solidFill>
                  <a:srgbClr val="000000"/>
                </a:solidFill>
                <a:latin typeface="Arial"/>
                <a:ea typeface="Arial"/>
                <a:cs typeface="Arial"/>
                <a:sym typeface="Arial"/>
              </a:rPr>
              <a:t>contains two ordered keys K1 and K2 (K1&lt;K2) and has three children. </a:t>
            </a:r>
          </a:p>
          <a:p>
            <a:pPr marL="285750" lvl="0" indent="-285750" algn="just">
              <a:lnSpc>
                <a:spcPct val="150000"/>
              </a:lnSpc>
              <a:buSzPts val="1800"/>
              <a:buFont typeface="Arial"/>
              <a:buChar char="•"/>
            </a:pPr>
            <a:r>
              <a:rPr lang="en-US" sz="1600" b="0" i="0" u="none" strike="noStrike" cap="none" dirty="0">
                <a:solidFill>
                  <a:srgbClr val="000000"/>
                </a:solidFill>
                <a:latin typeface="Arial"/>
                <a:ea typeface="Arial"/>
                <a:cs typeface="Arial"/>
                <a:sym typeface="Arial"/>
              </a:rPr>
              <a:t>The leftmost child serves as the root of a subtree with keys less than K1, the middle child serves as the root of a subtree with keys between K1 and K2, and the rightmost child serves as the root of a subtree with keys greater than </a:t>
            </a:r>
            <a:r>
              <a:rPr lang="en-US" sz="1600" dirty="0"/>
              <a:t>K2 (Figure 6.7).</a:t>
            </a:r>
            <a:endParaRPr sz="16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7"/>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78" name="Google Shape;178;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30</a:t>
            </a:fld>
            <a:endParaRPr/>
          </a:p>
        </p:txBody>
      </p:sp>
      <p:sp>
        <p:nvSpPr>
          <p:cNvPr id="179" name="Google Shape;179;p17"/>
          <p:cNvSpPr txBox="1"/>
          <p:nvPr/>
        </p:nvSpPr>
        <p:spPr>
          <a:xfrm>
            <a:off x="232259" y="1146184"/>
            <a:ext cx="8742378" cy="397027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2-3 Trees</a:t>
            </a:r>
            <a:endParaRPr dirty="0"/>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285750" lvl="0" indent="-285750" algn="just">
              <a:lnSpc>
                <a:spcPct val="150000"/>
              </a:lnSpc>
              <a:buSzPts val="1800"/>
              <a:buFont typeface="Arial"/>
              <a:buChar char="•"/>
            </a:pPr>
            <a:r>
              <a:rPr lang="en-US" dirty="0"/>
              <a:t>The last requirement of the 2-3 tree is that all its leaves must be on the same level. </a:t>
            </a:r>
          </a:p>
          <a:p>
            <a:pPr marL="285750" lvl="0" indent="-285750" algn="just">
              <a:lnSpc>
                <a:spcPct val="150000"/>
              </a:lnSpc>
              <a:buSzPts val="1800"/>
              <a:buFont typeface="Arial"/>
              <a:buChar char="•"/>
            </a:pPr>
            <a:r>
              <a:rPr lang="en-US" dirty="0"/>
              <a:t>In other words, a </a:t>
            </a:r>
            <a:r>
              <a:rPr lang="en-US" b="1" dirty="0"/>
              <a:t>2-3 tree is always perfectly height-balanced</a:t>
            </a:r>
            <a:r>
              <a:rPr lang="en-US" dirty="0"/>
              <a:t>: the length of a path from the root to a leaf is the same for every leaf. We “ buy “ this property by allowing more than one key in the same node of a search tree.</a:t>
            </a:r>
          </a:p>
          <a:p>
            <a:pPr marL="285750" lvl="0" indent="-285750" algn="just">
              <a:lnSpc>
                <a:spcPct val="150000"/>
              </a:lnSpc>
              <a:buSzPts val="1800"/>
              <a:buFont typeface="Arial"/>
              <a:buChar char="•"/>
            </a:pPr>
            <a:r>
              <a:rPr lang="en-US" dirty="0"/>
              <a:t> Searching for a given key K in a 2-3 tree is quite straightforward. We start at the root. </a:t>
            </a:r>
            <a:endParaRPr lang="en-US" b="0" i="0" u="none" strike="noStrike" cap="none" dirty="0">
              <a:solidFill>
                <a:srgbClr val="000000"/>
              </a:solidFill>
              <a:sym typeface="Arial"/>
            </a:endParaRPr>
          </a:p>
          <a:p>
            <a:pPr marL="285750" lvl="0" indent="-285750" algn="just">
              <a:lnSpc>
                <a:spcPct val="150000"/>
              </a:lnSpc>
              <a:buSzPts val="1800"/>
              <a:buFont typeface="Arial"/>
              <a:buChar char="•"/>
            </a:pPr>
            <a:r>
              <a:rPr lang="en-US" dirty="0"/>
              <a:t> </a:t>
            </a:r>
            <a:r>
              <a:rPr lang="en-US" sz="1200" dirty="0"/>
              <a:t>If the </a:t>
            </a:r>
            <a:r>
              <a:rPr lang="en-US" sz="1200" b="1" dirty="0"/>
              <a:t>root is a 2-node</a:t>
            </a:r>
            <a:r>
              <a:rPr lang="en-US" sz="1200" dirty="0"/>
              <a:t>, we act as if it were a binary search tree: we either stop if K is equal to the root’s key or continue the search in the left or right subtree if K is, respectively, smaller or larger than the root’s key</a:t>
            </a:r>
            <a:r>
              <a:rPr lang="en-US" sz="1200" b="0" i="0" u="none" strike="noStrike" cap="none" dirty="0">
                <a:solidFill>
                  <a:srgbClr val="000000"/>
                </a:solidFill>
                <a:sym typeface="Arial"/>
              </a:rPr>
              <a:t>.</a:t>
            </a:r>
            <a:endParaRPr sz="1600" b="0" i="0" u="none" strike="noStrike" cap="none" dirty="0">
              <a:solidFill>
                <a:srgbClr val="000000"/>
              </a:solidFill>
              <a:latin typeface="Arial"/>
              <a:ea typeface="Arial"/>
              <a:cs typeface="Arial"/>
              <a:sym typeface="Arial"/>
            </a:endParaRPr>
          </a:p>
        </p:txBody>
      </p:sp>
      <p:pic>
        <p:nvPicPr>
          <p:cNvPr id="180" name="Google Shape;180;p17"/>
          <p:cNvPicPr preferRelativeResize="0"/>
          <p:nvPr/>
        </p:nvPicPr>
        <p:blipFill rotWithShape="1">
          <a:blip r:embed="rId3">
            <a:alphaModFix/>
          </a:blip>
          <a:srcRect/>
          <a:stretch/>
        </p:blipFill>
        <p:spPr>
          <a:xfrm>
            <a:off x="2143829" y="1146184"/>
            <a:ext cx="4529816" cy="170762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7"/>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78" name="Google Shape;178;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31</a:t>
            </a:fld>
            <a:endParaRPr/>
          </a:p>
        </p:txBody>
      </p:sp>
      <p:sp>
        <p:nvSpPr>
          <p:cNvPr id="179" name="Google Shape;179;p17"/>
          <p:cNvSpPr txBox="1"/>
          <p:nvPr/>
        </p:nvSpPr>
        <p:spPr>
          <a:xfrm>
            <a:off x="232259" y="1146184"/>
            <a:ext cx="8742378" cy="30007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2-3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If the </a:t>
            </a:r>
            <a:r>
              <a:rPr lang="en-US" sz="1800" b="1" i="0" u="none" strike="noStrike" cap="none" dirty="0">
                <a:solidFill>
                  <a:srgbClr val="000000"/>
                </a:solidFill>
                <a:latin typeface="Arial"/>
                <a:ea typeface="Arial"/>
                <a:cs typeface="Arial"/>
                <a:sym typeface="Arial"/>
              </a:rPr>
              <a:t>root is a 2-node</a:t>
            </a:r>
            <a:r>
              <a:rPr lang="en-US" sz="1800" b="0" i="0" u="none" strike="noStrike" cap="none" dirty="0">
                <a:solidFill>
                  <a:srgbClr val="000000"/>
                </a:solidFill>
                <a:latin typeface="Arial"/>
                <a:ea typeface="Arial"/>
                <a:cs typeface="Arial"/>
                <a:sym typeface="Arial"/>
              </a:rPr>
              <a:t>, we either stop if </a:t>
            </a:r>
            <a:r>
              <a:rPr lang="en-US" sz="1800" b="0" i="1" u="none" strike="noStrike" cap="none" dirty="0">
                <a:solidFill>
                  <a:srgbClr val="000000"/>
                </a:solidFill>
                <a:latin typeface="Arial"/>
                <a:ea typeface="Arial"/>
                <a:cs typeface="Arial"/>
                <a:sym typeface="Arial"/>
              </a:rPr>
              <a:t>K</a:t>
            </a:r>
            <a:r>
              <a:rPr lang="en-US" sz="1800" b="0" i="0" u="none" strike="noStrike" cap="none" dirty="0">
                <a:solidFill>
                  <a:srgbClr val="000000"/>
                </a:solidFill>
                <a:latin typeface="Arial"/>
                <a:ea typeface="Arial"/>
                <a:cs typeface="Arial"/>
                <a:sym typeface="Arial"/>
              </a:rPr>
              <a:t> is equal to the root’s key or continue the search in the left or right subtree if </a:t>
            </a:r>
            <a:r>
              <a:rPr lang="en-US" sz="1800" b="0" i="1" u="none" strike="noStrike" cap="none" dirty="0">
                <a:solidFill>
                  <a:srgbClr val="000000"/>
                </a:solidFill>
                <a:latin typeface="Arial"/>
                <a:ea typeface="Arial"/>
                <a:cs typeface="Arial"/>
                <a:sym typeface="Arial"/>
              </a:rPr>
              <a:t>K</a:t>
            </a:r>
            <a:r>
              <a:rPr lang="en-US" sz="1800" b="0" i="0" u="none" strike="noStrike" cap="none" dirty="0">
                <a:solidFill>
                  <a:srgbClr val="000000"/>
                </a:solidFill>
                <a:latin typeface="Arial"/>
                <a:ea typeface="Arial"/>
                <a:cs typeface="Arial"/>
                <a:sym typeface="Arial"/>
              </a:rPr>
              <a:t> is, respectively, smaller or larger than the root’s key</a:t>
            </a:r>
            <a:r>
              <a:rPr lang="en-US" sz="1600" b="0" i="0" u="none" strike="noStrike" cap="none" dirty="0">
                <a:solidFill>
                  <a:srgbClr val="000000"/>
                </a:solidFill>
                <a:latin typeface="Arial"/>
                <a:ea typeface="Arial"/>
                <a:cs typeface="Arial"/>
                <a:sym typeface="Arial"/>
              </a:rPr>
              <a:t>.</a:t>
            </a:r>
          </a:p>
          <a:p>
            <a:pPr marL="285750" lvl="0" indent="-285750" algn="just">
              <a:lnSpc>
                <a:spcPct val="150000"/>
              </a:lnSpc>
              <a:buSzPts val="1800"/>
              <a:buFont typeface="Arial"/>
              <a:buChar char="•"/>
            </a:pPr>
            <a:r>
              <a:rPr lang="en-US" sz="1800" dirty="0"/>
              <a:t>If the </a:t>
            </a:r>
            <a:r>
              <a:rPr lang="en-US" sz="1800" b="1" dirty="0"/>
              <a:t>root is a 3-node</a:t>
            </a:r>
            <a:r>
              <a:rPr lang="en-US" sz="1800" dirty="0"/>
              <a:t>, we know after no more than two key comparisons whether the search can be stopped (if K is equal to one of the root’s keys) or in which of the root’s three subtrees it needs to be continued.</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854502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8"/>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86" name="Google Shape;186;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32</a:t>
            </a:fld>
            <a:endParaRPr/>
          </a:p>
        </p:txBody>
      </p:sp>
      <p:sp>
        <p:nvSpPr>
          <p:cNvPr id="187" name="Google Shape;187;p18"/>
          <p:cNvSpPr txBox="1"/>
          <p:nvPr/>
        </p:nvSpPr>
        <p:spPr>
          <a:xfrm>
            <a:off x="232259" y="1146184"/>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2-3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Inserting a new key in a 2-3 tree is done as follows</a:t>
            </a:r>
            <a:r>
              <a:rPr lang="en-US" sz="1800" b="0" i="0" u="none" strike="noStrike" cap="none" dirty="0">
                <a:solidFill>
                  <a:srgbClr val="000000"/>
                </a:solidFill>
                <a:latin typeface="Arial"/>
                <a:ea typeface="Arial"/>
                <a:cs typeface="Arial"/>
                <a:sym typeface="Arial"/>
              </a:rPr>
              <a:t>.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First of all, we always insert a new key </a:t>
            </a:r>
            <a:r>
              <a:rPr lang="en-US" sz="1800" b="0" i="1" u="none" strike="noStrike" cap="none" dirty="0">
                <a:solidFill>
                  <a:srgbClr val="000000"/>
                </a:solidFill>
                <a:latin typeface="Arial"/>
                <a:ea typeface="Arial"/>
                <a:cs typeface="Arial"/>
                <a:sym typeface="Arial"/>
              </a:rPr>
              <a:t>K</a:t>
            </a:r>
            <a:r>
              <a:rPr lang="en-US" sz="1800" b="0" i="0" u="none" strike="noStrike" cap="none" dirty="0">
                <a:solidFill>
                  <a:srgbClr val="000000"/>
                </a:solidFill>
                <a:latin typeface="Arial"/>
                <a:ea typeface="Arial"/>
                <a:cs typeface="Arial"/>
                <a:sym typeface="Arial"/>
              </a:rPr>
              <a:t> in a leaf, except for the empty tree.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appropriate leaf is found by performing a search for K.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If the </a:t>
            </a:r>
            <a:r>
              <a:rPr lang="en-US" sz="1800" b="1" i="0" u="none" strike="noStrike" cap="none" dirty="0">
                <a:solidFill>
                  <a:srgbClr val="000000"/>
                </a:solidFill>
                <a:latin typeface="Arial"/>
                <a:ea typeface="Arial"/>
                <a:cs typeface="Arial"/>
                <a:sym typeface="Arial"/>
              </a:rPr>
              <a:t>leaf in question is a 2-node</a:t>
            </a:r>
            <a:r>
              <a:rPr lang="en-US" sz="1800" b="0" i="0" u="none" strike="noStrike" cap="none" dirty="0">
                <a:solidFill>
                  <a:srgbClr val="000000"/>
                </a:solidFill>
                <a:latin typeface="Arial"/>
                <a:ea typeface="Arial"/>
                <a:cs typeface="Arial"/>
                <a:sym typeface="Arial"/>
              </a:rPr>
              <a:t>, we insert K there as either the first or the second key, depending on whether K is smaller or larger than the node’s old key.</a:t>
            </a:r>
          </a:p>
          <a:p>
            <a:pPr marL="285750" lvl="0" indent="-285750" algn="just">
              <a:lnSpc>
                <a:spcPct val="150000"/>
              </a:lnSpc>
              <a:buSzPts val="1800"/>
              <a:buFont typeface="Arial"/>
              <a:buChar char="•"/>
            </a:pPr>
            <a:r>
              <a:rPr lang="en-US" sz="1800" dirty="0"/>
              <a:t>If the </a:t>
            </a:r>
            <a:r>
              <a:rPr lang="en-US" sz="1800" b="1" dirty="0"/>
              <a:t>leaf is a 3-node</a:t>
            </a:r>
            <a:r>
              <a:rPr lang="en-US" sz="1800" dirty="0"/>
              <a:t>, we split the leaf in two: the smallest of the three keys (two old ones and the new key) is put in the first leaf, the largest key is put in the second leaf, and the middle key is promoted to the old leaf’s parent.</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193" name="Google Shape;193;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33</a:t>
            </a:fld>
            <a:endParaRPr/>
          </a:p>
        </p:txBody>
      </p:sp>
      <p:sp>
        <p:nvSpPr>
          <p:cNvPr id="194" name="Google Shape;194;p19"/>
          <p:cNvSpPr txBox="1"/>
          <p:nvPr/>
        </p:nvSpPr>
        <p:spPr>
          <a:xfrm>
            <a:off x="232259" y="1146184"/>
            <a:ext cx="8742378" cy="34162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2-3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If the leaf happens to be the tree’s root, a new root is created to accept the middle key.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Note that promotion of a middle key to its parent can cause the parent’s overflow (if it was a 3-node) and hence can lead to several node splits along the chain of the leaf’s ancestors.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An example of a 2-3 tree construction is given in Figure 6.8.</a:t>
            </a:r>
            <a:endParaRPr dirty="0"/>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0"/>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00" name="Google Shape;20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34</a:t>
            </a:fld>
            <a:endParaRPr/>
          </a:p>
        </p:txBody>
      </p:sp>
      <p:sp>
        <p:nvSpPr>
          <p:cNvPr id="201" name="Google Shape;201;p20"/>
          <p:cNvSpPr txBox="1"/>
          <p:nvPr/>
        </p:nvSpPr>
        <p:spPr>
          <a:xfrm>
            <a:off x="232259" y="1146184"/>
            <a:ext cx="8742378" cy="378052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a:solidFill>
                  <a:srgbClr val="000000"/>
                </a:solidFill>
                <a:latin typeface="Arial"/>
                <a:ea typeface="Arial"/>
                <a:cs typeface="Arial"/>
                <a:sym typeface="Arial"/>
              </a:rPr>
              <a:t>2-3 Trees</a:t>
            </a:r>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2" name="Google Shape;202;p20"/>
          <p:cNvPicPr preferRelativeResize="0"/>
          <p:nvPr/>
        </p:nvPicPr>
        <p:blipFill rotWithShape="1">
          <a:blip r:embed="rId3">
            <a:alphaModFix/>
          </a:blip>
          <a:srcRect/>
          <a:stretch/>
        </p:blipFill>
        <p:spPr>
          <a:xfrm>
            <a:off x="1439590" y="1455441"/>
            <a:ext cx="5992908" cy="346534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1"/>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08" name="Google Shape;20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35</a:t>
            </a:fld>
            <a:endParaRPr/>
          </a:p>
        </p:txBody>
      </p:sp>
      <p:sp>
        <p:nvSpPr>
          <p:cNvPr id="209" name="Google Shape;209;p21"/>
          <p:cNvSpPr txBox="1"/>
          <p:nvPr/>
        </p:nvSpPr>
        <p:spPr>
          <a:xfrm>
            <a:off x="232259" y="1146184"/>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2-3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As for any search tree, the efficiency of the dictionary operations depends on the tree’s height. So let us first find an upper bound for it.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 2-3 tree of height h with the smallest number of keys is a full tree of 2-nodes (such as the final tree in Figure 6.8 for </a:t>
            </a:r>
            <a:r>
              <a:rPr lang="en-US" sz="1800" b="0" i="1" u="none" strike="noStrike" cap="none" dirty="0">
                <a:solidFill>
                  <a:srgbClr val="000000"/>
                </a:solidFill>
                <a:latin typeface="Arial"/>
                <a:ea typeface="Arial"/>
                <a:cs typeface="Arial"/>
                <a:sym typeface="Arial"/>
              </a:rPr>
              <a:t>h = 2</a:t>
            </a:r>
            <a:r>
              <a:rPr lang="en-US" sz="1800" b="0" i="0" u="none" strike="noStrike" cap="none" dirty="0">
                <a:solidFill>
                  <a:srgbClr val="000000"/>
                </a:solidFill>
                <a:latin typeface="Arial"/>
                <a:ea typeface="Arial"/>
                <a:cs typeface="Arial"/>
                <a:sym typeface="Arial"/>
              </a:rPr>
              <a:t>). Therefore, for any 2-3 tree of height h with n nodes, we get the inequality</a:t>
            </a: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10" name="Google Shape;210;p21"/>
          <p:cNvPicPr preferRelativeResize="0"/>
          <p:nvPr/>
        </p:nvPicPr>
        <p:blipFill rotWithShape="1">
          <a:blip r:embed="rId3">
            <a:alphaModFix/>
          </a:blip>
          <a:srcRect/>
          <a:stretch/>
        </p:blipFill>
        <p:spPr>
          <a:xfrm>
            <a:off x="2049266" y="3782800"/>
            <a:ext cx="5108363" cy="107721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2"/>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16" name="Google Shape;216;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36</a:t>
            </a:fld>
            <a:endParaRPr/>
          </a:p>
        </p:txBody>
      </p:sp>
      <p:sp>
        <p:nvSpPr>
          <p:cNvPr id="217" name="Google Shape;217;p22"/>
          <p:cNvSpPr txBox="1"/>
          <p:nvPr/>
        </p:nvSpPr>
        <p:spPr>
          <a:xfrm>
            <a:off x="232259" y="1146184"/>
            <a:ext cx="8742378" cy="530401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2-3 Trees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On the other hand, a 2-3 tree of height h with the largest number of keys is a full tree of 3-nodes, each with two keys and three children. Therefore, for any 2-3 tree with n nodes,</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r>
              <a:rPr lang="en-US" sz="1800" b="0" i="0" u="none" strike="noStrike" cap="none" dirty="0">
                <a:solidFill>
                  <a:srgbClr val="000000"/>
                </a:solidFill>
                <a:latin typeface="Times"/>
                <a:ea typeface="Times"/>
                <a:cs typeface="Times"/>
                <a:sym typeface="Times"/>
              </a:rPr>
              <a:t>     </a:t>
            </a:r>
            <a:r>
              <a:rPr lang="en-US" sz="1800" b="0" i="0" u="none" strike="noStrike" cap="none" dirty="0">
                <a:solidFill>
                  <a:srgbClr val="000000"/>
                </a:solidFill>
                <a:latin typeface="Arial"/>
                <a:ea typeface="Arial"/>
                <a:cs typeface="Arial"/>
                <a:sym typeface="Arial"/>
              </a:rPr>
              <a:t>imply that the time efficiencies of searching, insertion, and deletion are all in</a:t>
            </a:r>
            <a:endParaRPr dirty="0"/>
          </a:p>
          <a:p>
            <a:pPr marL="0" marR="0" lvl="0" indent="0" algn="l"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    in both the worst and average case.</a:t>
            </a: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18" name="Google Shape;218;p22"/>
          <p:cNvPicPr preferRelativeResize="0"/>
          <p:nvPr/>
        </p:nvPicPr>
        <p:blipFill rotWithShape="1">
          <a:blip r:embed="rId3">
            <a:alphaModFix/>
          </a:blip>
          <a:srcRect/>
          <a:stretch/>
        </p:blipFill>
        <p:spPr>
          <a:xfrm>
            <a:off x="2385838" y="2633167"/>
            <a:ext cx="4000847" cy="434378"/>
          </a:xfrm>
          <a:prstGeom prst="rect">
            <a:avLst/>
          </a:prstGeom>
          <a:noFill/>
          <a:ln>
            <a:noFill/>
          </a:ln>
        </p:spPr>
      </p:pic>
      <p:pic>
        <p:nvPicPr>
          <p:cNvPr id="219" name="Google Shape;219;p22"/>
          <p:cNvPicPr preferRelativeResize="0"/>
          <p:nvPr/>
        </p:nvPicPr>
        <p:blipFill rotWithShape="1">
          <a:blip r:embed="rId4">
            <a:alphaModFix/>
          </a:blip>
          <a:srcRect/>
          <a:stretch/>
        </p:blipFill>
        <p:spPr>
          <a:xfrm>
            <a:off x="1874975" y="2832267"/>
            <a:ext cx="4648603" cy="1196444"/>
          </a:xfrm>
          <a:prstGeom prst="rect">
            <a:avLst/>
          </a:prstGeom>
          <a:noFill/>
          <a:ln>
            <a:noFill/>
          </a:ln>
        </p:spPr>
      </p:pic>
      <p:pic>
        <p:nvPicPr>
          <p:cNvPr id="2" name="Picture 1"/>
          <p:cNvPicPr>
            <a:picLocks noChangeAspect="1"/>
          </p:cNvPicPr>
          <p:nvPr/>
        </p:nvPicPr>
        <p:blipFill>
          <a:blip r:embed="rId5"/>
          <a:stretch>
            <a:fillRect/>
          </a:stretch>
        </p:blipFill>
        <p:spPr>
          <a:xfrm>
            <a:off x="8316308" y="4197242"/>
            <a:ext cx="704850" cy="2476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25" name="Google Shape;22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37</a:t>
            </a:fld>
            <a:endParaRPr/>
          </a:p>
        </p:txBody>
      </p:sp>
      <p:sp>
        <p:nvSpPr>
          <p:cNvPr id="226" name="Google Shape;226;p23"/>
          <p:cNvSpPr txBox="1"/>
          <p:nvPr/>
        </p:nvSpPr>
        <p:spPr>
          <a:xfrm>
            <a:off x="232259" y="1028197"/>
            <a:ext cx="8742378" cy="410877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data structure called the “</a:t>
            </a:r>
            <a:r>
              <a:rPr lang="en-US" sz="1800" b="1" i="1" u="none" strike="noStrike" cap="none" dirty="0">
                <a:solidFill>
                  <a:srgbClr val="000000"/>
                </a:solidFill>
                <a:latin typeface="Arial"/>
                <a:ea typeface="Arial"/>
                <a:cs typeface="Arial"/>
                <a:sym typeface="Arial"/>
              </a:rPr>
              <a:t>heap</a:t>
            </a:r>
            <a:r>
              <a:rPr lang="en-US" sz="1800" b="0" i="0" u="none" strike="noStrike" cap="none" dirty="0">
                <a:solidFill>
                  <a:srgbClr val="000000"/>
                </a:solidFill>
                <a:latin typeface="Arial"/>
                <a:ea typeface="Arial"/>
                <a:cs typeface="Arial"/>
                <a:sym typeface="Arial"/>
              </a:rPr>
              <a:t>” is a partially ordered data structure that is especially suitable for </a:t>
            </a:r>
            <a:r>
              <a:rPr lang="en-US" sz="1800" b="1" i="0" u="none" strike="noStrike" cap="none" dirty="0">
                <a:solidFill>
                  <a:srgbClr val="000000"/>
                </a:solidFill>
                <a:latin typeface="Arial"/>
                <a:ea typeface="Arial"/>
                <a:cs typeface="Arial"/>
                <a:sym typeface="Arial"/>
              </a:rPr>
              <a:t>implementing priority queues</a:t>
            </a:r>
            <a:r>
              <a:rPr lang="en-US" sz="1800" b="0" i="0" u="none" strike="noStrike" cap="none" dirty="0">
                <a:solidFill>
                  <a:srgbClr val="000000"/>
                </a:solidFill>
                <a:latin typeface="Arial"/>
                <a:ea typeface="Arial"/>
                <a:cs typeface="Arial"/>
                <a:sym typeface="Arial"/>
              </a:rPr>
              <a:t>.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Recall that a </a:t>
            </a:r>
            <a:r>
              <a:rPr lang="en-US" sz="1800" b="1" i="1" u="none" strike="noStrike" cap="none" dirty="0">
                <a:solidFill>
                  <a:srgbClr val="000000"/>
                </a:solidFill>
                <a:latin typeface="Arial"/>
                <a:ea typeface="Arial"/>
                <a:cs typeface="Arial"/>
                <a:sym typeface="Arial"/>
              </a:rPr>
              <a:t>priority queue </a:t>
            </a:r>
            <a:r>
              <a:rPr lang="en-US" sz="1800" b="0" i="0" u="none" strike="noStrike" cap="none" dirty="0">
                <a:solidFill>
                  <a:srgbClr val="000000"/>
                </a:solidFill>
                <a:latin typeface="Arial"/>
                <a:ea typeface="Arial"/>
                <a:cs typeface="Arial"/>
                <a:sym typeface="Arial"/>
              </a:rPr>
              <a:t>is a multiset of items with an orderable characteristic called an item’s priority, with the following operations:</a:t>
            </a:r>
            <a:endParaRPr dirty="0"/>
          </a:p>
          <a:p>
            <a:pPr marL="342900" marR="0" lvl="6" indent="-342900" algn="just" rtl="0">
              <a:lnSpc>
                <a:spcPct val="150000"/>
              </a:lnSpc>
              <a:spcBef>
                <a:spcPts val="0"/>
              </a:spcBef>
              <a:spcAft>
                <a:spcPts val="0"/>
              </a:spcAft>
              <a:buClr>
                <a:srgbClr val="000000"/>
              </a:buClr>
              <a:buSzPts val="1600"/>
              <a:buFont typeface="Noto Sans Symbols"/>
              <a:buChar char="❑"/>
            </a:pPr>
            <a:r>
              <a:rPr lang="en-US" sz="1600" b="0" i="0" u="none" strike="noStrike" cap="none" dirty="0">
                <a:solidFill>
                  <a:srgbClr val="000000"/>
                </a:solidFill>
                <a:latin typeface="Arial"/>
                <a:ea typeface="Arial"/>
                <a:cs typeface="Arial"/>
                <a:sym typeface="Arial"/>
              </a:rPr>
              <a:t>finding an item with the highest (i.e., largest) priority</a:t>
            </a:r>
            <a:endParaRPr dirty="0"/>
          </a:p>
          <a:p>
            <a:pPr marL="342900" marR="0" lvl="6" indent="-342900" algn="just" rtl="0">
              <a:lnSpc>
                <a:spcPct val="150000"/>
              </a:lnSpc>
              <a:spcBef>
                <a:spcPts val="0"/>
              </a:spcBef>
              <a:spcAft>
                <a:spcPts val="0"/>
              </a:spcAft>
              <a:buClr>
                <a:srgbClr val="000000"/>
              </a:buClr>
              <a:buSzPts val="1600"/>
              <a:buFont typeface="Noto Sans Symbols"/>
              <a:buChar char="❑"/>
            </a:pPr>
            <a:r>
              <a:rPr lang="en-US" sz="1600" b="0" i="0" u="none" strike="noStrike" cap="none" dirty="0">
                <a:solidFill>
                  <a:srgbClr val="000000"/>
                </a:solidFill>
                <a:latin typeface="Arial"/>
                <a:ea typeface="Arial"/>
                <a:cs typeface="Arial"/>
                <a:sym typeface="Arial"/>
              </a:rPr>
              <a:t>deleting an item with the highest priority</a:t>
            </a:r>
            <a:endParaRPr dirty="0"/>
          </a:p>
          <a:p>
            <a:pPr marL="342900" marR="0" lvl="6" indent="-342900" algn="just" rtl="0">
              <a:lnSpc>
                <a:spcPct val="150000"/>
              </a:lnSpc>
              <a:spcBef>
                <a:spcPts val="0"/>
              </a:spcBef>
              <a:spcAft>
                <a:spcPts val="0"/>
              </a:spcAft>
              <a:buClr>
                <a:srgbClr val="000000"/>
              </a:buClr>
              <a:buSzPts val="1600"/>
              <a:buFont typeface="Noto Sans Symbols"/>
              <a:buChar char="❑"/>
            </a:pPr>
            <a:r>
              <a:rPr lang="en-US" sz="1600" b="0" i="0" u="none" strike="noStrike" cap="none" dirty="0">
                <a:solidFill>
                  <a:srgbClr val="000000"/>
                </a:solidFill>
                <a:latin typeface="Arial"/>
                <a:ea typeface="Arial"/>
                <a:cs typeface="Arial"/>
                <a:sym typeface="Arial"/>
              </a:rPr>
              <a:t>adding a new item to the multiset</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25" name="Google Shape;22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38</a:t>
            </a:fld>
            <a:endParaRPr/>
          </a:p>
        </p:txBody>
      </p:sp>
      <p:sp>
        <p:nvSpPr>
          <p:cNvPr id="226" name="Google Shape;226;p23"/>
          <p:cNvSpPr txBox="1"/>
          <p:nvPr/>
        </p:nvSpPr>
        <p:spPr>
          <a:xfrm>
            <a:off x="232259" y="1174403"/>
            <a:ext cx="8742378" cy="30007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It is primarily an efficient implementation of these operations that makes the heap both interesting and useful. </a:t>
            </a:r>
          </a:p>
          <a:p>
            <a:pPr marL="285750" lvl="0" indent="-285750" algn="just">
              <a:lnSpc>
                <a:spcPct val="150000"/>
              </a:lnSpc>
              <a:buSzPts val="1800"/>
              <a:buFont typeface="Arial"/>
              <a:buChar char="•"/>
            </a:pPr>
            <a:r>
              <a:rPr lang="en-US" dirty="0"/>
              <a:t> </a:t>
            </a:r>
            <a:r>
              <a:rPr lang="en-US" sz="1800" dirty="0"/>
              <a:t>The heap is also the data structure that serves as a cornerstone of a theoretically important sorting algorithm called heapsort</a:t>
            </a:r>
            <a:r>
              <a:rPr lang="en-US" dirty="0"/>
              <a:t>. </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6369684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32" name="Google Shape;232;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39</a:t>
            </a:fld>
            <a:endParaRPr/>
          </a:p>
        </p:txBody>
      </p:sp>
      <p:sp>
        <p:nvSpPr>
          <p:cNvPr id="233" name="Google Shape;233;p24"/>
          <p:cNvSpPr txBox="1"/>
          <p:nvPr/>
        </p:nvSpPr>
        <p:spPr>
          <a:xfrm>
            <a:off x="232259" y="1146184"/>
            <a:ext cx="8742378" cy="507827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 heap can be defined as a binary tree with keys assigned to its nodes, one key per node, provided the following two conditions are met: </a:t>
            </a:r>
            <a:endParaRPr dirty="0"/>
          </a:p>
          <a:p>
            <a:pPr marL="285750" marR="0" lvl="0" indent="-285750" algn="just" rtl="0">
              <a:lnSpc>
                <a:spcPct val="150000"/>
              </a:lnSpc>
              <a:spcBef>
                <a:spcPts val="0"/>
              </a:spcBef>
              <a:spcAft>
                <a:spcPts val="0"/>
              </a:spcAft>
              <a:buClr>
                <a:srgbClr val="000000"/>
              </a:buClr>
              <a:buSzPts val="1800"/>
              <a:buFont typeface="Noto Sans Symbols"/>
              <a:buChar char="⮚"/>
            </a:pPr>
            <a:r>
              <a:rPr lang="en-US" sz="1800" b="1" i="0" u="none" strike="noStrike" cap="none" dirty="0">
                <a:solidFill>
                  <a:srgbClr val="000000"/>
                </a:solidFill>
                <a:latin typeface="Arial"/>
                <a:ea typeface="Arial"/>
                <a:cs typeface="Arial"/>
                <a:sym typeface="Arial"/>
              </a:rPr>
              <a:t>The shape property</a:t>
            </a:r>
            <a:r>
              <a:rPr lang="en-US" sz="1800" b="0" i="0" u="none" strike="noStrike" cap="none" dirty="0">
                <a:solidFill>
                  <a:srgbClr val="000000"/>
                </a:solidFill>
                <a:latin typeface="Arial"/>
                <a:ea typeface="Arial"/>
                <a:cs typeface="Arial"/>
                <a:sym typeface="Arial"/>
              </a:rPr>
              <a:t>—the binary tree is </a:t>
            </a:r>
            <a:r>
              <a:rPr lang="en-US" sz="1800" b="1" i="1" u="none" strike="noStrike" cap="none" dirty="0">
                <a:solidFill>
                  <a:srgbClr val="000000"/>
                </a:solidFill>
                <a:latin typeface="Arial"/>
                <a:ea typeface="Arial"/>
                <a:cs typeface="Arial"/>
                <a:sym typeface="Arial"/>
              </a:rPr>
              <a:t>essentially complete </a:t>
            </a:r>
            <a:r>
              <a:rPr lang="en-US" sz="1800" b="0" i="0" u="none" strike="noStrike" cap="none" dirty="0">
                <a:solidFill>
                  <a:srgbClr val="000000"/>
                </a:solidFill>
                <a:latin typeface="Arial"/>
                <a:ea typeface="Arial"/>
                <a:cs typeface="Arial"/>
                <a:sym typeface="Arial"/>
              </a:rPr>
              <a:t>(or simply </a:t>
            </a:r>
            <a:r>
              <a:rPr lang="en-US" sz="1800" b="1" i="1" u="none" strike="noStrike" cap="none" dirty="0">
                <a:solidFill>
                  <a:srgbClr val="000000"/>
                </a:solidFill>
                <a:latin typeface="Arial"/>
                <a:ea typeface="Arial"/>
                <a:cs typeface="Arial"/>
                <a:sym typeface="Arial"/>
              </a:rPr>
              <a:t>complete</a:t>
            </a:r>
            <a:r>
              <a:rPr lang="en-US" sz="1800" b="0" i="0" u="none" strike="noStrike" cap="none" dirty="0">
                <a:solidFill>
                  <a:srgbClr val="000000"/>
                </a:solidFill>
                <a:latin typeface="Arial"/>
                <a:ea typeface="Arial"/>
                <a:cs typeface="Arial"/>
                <a:sym typeface="Arial"/>
              </a:rPr>
              <a:t>), i.e., all its levels are full except possibly the last level, where only some rightmost leaves may be missing. </a:t>
            </a:r>
            <a:endParaRPr dirty="0"/>
          </a:p>
          <a:p>
            <a:pPr marL="285750" marR="0" lvl="0" indent="-285750" algn="just" rtl="0">
              <a:lnSpc>
                <a:spcPct val="150000"/>
              </a:lnSpc>
              <a:spcBef>
                <a:spcPts val="0"/>
              </a:spcBef>
              <a:spcAft>
                <a:spcPts val="0"/>
              </a:spcAft>
              <a:buClr>
                <a:srgbClr val="000000"/>
              </a:buClr>
              <a:buSzPts val="1800"/>
              <a:buFont typeface="Noto Sans Symbols"/>
              <a:buChar char="⮚"/>
            </a:pPr>
            <a:r>
              <a:rPr lang="en-US" sz="1800" b="1" i="0" u="none" strike="noStrike" cap="none" dirty="0">
                <a:solidFill>
                  <a:srgbClr val="000000"/>
                </a:solidFill>
                <a:latin typeface="Arial"/>
                <a:ea typeface="Arial"/>
                <a:cs typeface="Arial"/>
                <a:sym typeface="Arial"/>
              </a:rPr>
              <a:t>The parental dominance or heap property</a:t>
            </a:r>
            <a:r>
              <a:rPr lang="en-US" sz="1800" b="0" i="0" u="none" strike="noStrike" cap="none" dirty="0">
                <a:solidFill>
                  <a:srgbClr val="000000"/>
                </a:solidFill>
                <a:latin typeface="Arial"/>
                <a:ea typeface="Arial"/>
                <a:cs typeface="Arial"/>
                <a:sym typeface="Arial"/>
              </a:rPr>
              <a:t>—the key in each node is greater than or equal to the keys in its children. (This condition is considered automatically satisfied for all leaves.)</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5"/>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39" name="Google Shape;23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40</a:t>
            </a:fld>
            <a:endParaRPr/>
          </a:p>
        </p:txBody>
      </p:sp>
      <p:sp>
        <p:nvSpPr>
          <p:cNvPr id="240" name="Google Shape;240;p25"/>
          <p:cNvSpPr txBox="1"/>
          <p:nvPr/>
        </p:nvSpPr>
        <p:spPr>
          <a:xfrm>
            <a:off x="232259" y="1146184"/>
            <a:ext cx="8742378" cy="364711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For example, consider the trees of Figure 6.9.</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The first tree is a heap. </a:t>
            </a: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The second one is not a heap, because the tree’s shape property is violated. </a:t>
            </a: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And the third one is not a heap, because the parental dominance fails for the node with key 5.</a:t>
            </a:r>
            <a:endParaRPr sz="1800" b="0" i="0" u="none" strike="noStrike" cap="none" dirty="0">
              <a:solidFill>
                <a:srgbClr val="000000"/>
              </a:solidFill>
              <a:latin typeface="Arial"/>
              <a:ea typeface="Arial"/>
              <a:cs typeface="Arial"/>
              <a:sym typeface="Arial"/>
            </a:endParaRPr>
          </a:p>
        </p:txBody>
      </p:sp>
      <p:pic>
        <p:nvPicPr>
          <p:cNvPr id="241" name="Google Shape;241;p25"/>
          <p:cNvPicPr preferRelativeResize="0"/>
          <p:nvPr/>
        </p:nvPicPr>
        <p:blipFill rotWithShape="1">
          <a:blip r:embed="rId3">
            <a:alphaModFix/>
          </a:blip>
          <a:srcRect/>
          <a:stretch/>
        </p:blipFill>
        <p:spPr>
          <a:xfrm>
            <a:off x="2100061" y="2009551"/>
            <a:ext cx="5006774" cy="128027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6"/>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47" name="Google Shape;247;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41</a:t>
            </a:fld>
            <a:endParaRPr/>
          </a:p>
        </p:txBody>
      </p:sp>
      <p:sp>
        <p:nvSpPr>
          <p:cNvPr id="248" name="Google Shape;248;p26"/>
          <p:cNvSpPr txBox="1"/>
          <p:nvPr/>
        </p:nvSpPr>
        <p:spPr>
          <a:xfrm>
            <a:off x="232259" y="1146184"/>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Note that key values in a heap are ordered top down; i.e., a sequence of values on any path from the root to a leaf is decreasing (non-increasing, if equal keys are allowed).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However, there is no left-to-right order in key values; i.e., there is no relationship among key values for nodes either on the same level of the tree or, more generally, in the left and right subtrees of the same node.</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Here is a list of </a:t>
            </a:r>
            <a:r>
              <a:rPr lang="en-US" sz="1800" b="1" i="0" u="none" strike="noStrike" cap="none" dirty="0">
                <a:solidFill>
                  <a:srgbClr val="000000"/>
                </a:solidFill>
                <a:latin typeface="Arial"/>
                <a:ea typeface="Arial"/>
                <a:cs typeface="Arial"/>
                <a:sym typeface="Arial"/>
              </a:rPr>
              <a:t>important properties of heaps</a:t>
            </a:r>
            <a:r>
              <a:rPr lang="en-US" sz="1800" b="0" i="0" u="none" strike="noStrike" cap="none" dirty="0">
                <a:solidFill>
                  <a:srgbClr val="000000"/>
                </a:solidFill>
                <a:latin typeface="Arial"/>
                <a:ea typeface="Arial"/>
                <a:cs typeface="Arial"/>
                <a:sym typeface="Arial"/>
              </a:rPr>
              <a:t>, which are not difficult to prove (check these properties for the heap of Figure 6.10, as an example).</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7"/>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55" name="Google Shape;25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42</a:t>
            </a:fld>
            <a:endParaRPr/>
          </a:p>
        </p:txBody>
      </p:sp>
      <p:sp>
        <p:nvSpPr>
          <p:cNvPr id="256" name="Google Shape;256;p27"/>
          <p:cNvSpPr txBox="1"/>
          <p:nvPr/>
        </p:nvSpPr>
        <p:spPr>
          <a:xfrm>
            <a:off x="232259" y="1146184"/>
            <a:ext cx="8742378" cy="590927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0" marR="0" lvl="0" indent="0" algn="just" rtl="0">
              <a:lnSpc>
                <a:spcPct val="150000"/>
              </a:lnSpc>
              <a:spcBef>
                <a:spcPts val="0"/>
              </a:spcBef>
              <a:spcAft>
                <a:spcPts val="0"/>
              </a:spcAft>
              <a:buNone/>
            </a:pPr>
            <a:endParaRPr sz="1800" b="1" i="0" u="none" strike="noStrike" cap="none" dirty="0">
              <a:solidFill>
                <a:srgbClr val="000000"/>
              </a:solidFill>
              <a:latin typeface="Open Sans"/>
              <a:ea typeface="Open Sans"/>
              <a:cs typeface="Open Sans"/>
              <a:sym typeface="Open Sans"/>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Open Sans"/>
              <a:ea typeface="Open Sans"/>
              <a:cs typeface="Open Sans"/>
              <a:sym typeface="Open Sans"/>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Open Sans"/>
              <a:ea typeface="Open Sans"/>
              <a:cs typeface="Open Sans"/>
              <a:sym typeface="Open Sans"/>
            </a:endParaRPr>
          </a:p>
          <a:p>
            <a:pPr marL="0" marR="0" lvl="0" indent="0" algn="just" rtl="0">
              <a:lnSpc>
                <a:spcPct val="150000"/>
              </a:lnSpc>
              <a:spcBef>
                <a:spcPts val="0"/>
              </a:spcBef>
              <a:spcAft>
                <a:spcPts val="0"/>
              </a:spcAft>
              <a:buNone/>
            </a:pPr>
            <a:endParaRPr sz="1800" b="1" i="0" u="none" strike="noStrike" cap="none" dirty="0">
              <a:solidFill>
                <a:srgbClr val="000000"/>
              </a:solidFill>
              <a:latin typeface="Open Sans"/>
              <a:ea typeface="Open Sans"/>
              <a:cs typeface="Open Sans"/>
              <a:sym typeface="Open Sans"/>
            </a:endParaRPr>
          </a:p>
          <a:p>
            <a:pPr marL="342900" marR="0" lvl="0" indent="-342900" algn="just" rtl="0">
              <a:lnSpc>
                <a:spcPct val="150000"/>
              </a:lnSpc>
              <a:spcBef>
                <a:spcPts val="0"/>
              </a:spcBef>
              <a:spcAft>
                <a:spcPts val="0"/>
              </a:spcAft>
              <a:buAutoNum type="arabicPeriod"/>
            </a:pPr>
            <a:r>
              <a:rPr lang="en-US" sz="1800" b="0" i="0" u="none" strike="noStrike" cap="none" dirty="0">
                <a:solidFill>
                  <a:srgbClr val="000000"/>
                </a:solidFill>
                <a:latin typeface="Arial"/>
                <a:ea typeface="Arial"/>
                <a:cs typeface="Arial"/>
                <a:sym typeface="Arial"/>
              </a:rPr>
              <a:t>There exists exactly one essentially complete binary tree with n nodes. </a:t>
            </a:r>
          </a:p>
          <a:p>
            <a:pPr marL="342900" marR="0" lvl="0" indent="-342900" algn="just" rtl="0">
              <a:lnSpc>
                <a:spcPct val="150000"/>
              </a:lnSpc>
              <a:spcBef>
                <a:spcPts val="0"/>
              </a:spcBef>
              <a:spcAft>
                <a:spcPts val="0"/>
              </a:spcAft>
              <a:buAutoNum type="arabicPeriod"/>
            </a:pPr>
            <a:r>
              <a:rPr lang="en-US" sz="1800" b="0" i="0" u="none" strike="noStrike" cap="none" dirty="0">
                <a:solidFill>
                  <a:srgbClr val="000000"/>
                </a:solidFill>
                <a:latin typeface="Arial"/>
                <a:ea typeface="Arial"/>
                <a:cs typeface="Arial"/>
                <a:sym typeface="Arial"/>
              </a:rPr>
              <a:t>Its height is equal to log</a:t>
            </a:r>
            <a:r>
              <a:rPr lang="en-US" sz="1800" b="0" i="0" u="none" strike="noStrike" cap="none" baseline="-25000" dirty="0">
                <a:solidFill>
                  <a:srgbClr val="000000"/>
                </a:solidFill>
                <a:latin typeface="Arial"/>
                <a:ea typeface="Arial"/>
                <a:cs typeface="Arial"/>
                <a:sym typeface="Arial"/>
              </a:rPr>
              <a:t>2</a:t>
            </a:r>
            <a:r>
              <a:rPr lang="en-US" sz="1800" b="0" i="0" u="none" strike="noStrike" cap="none" dirty="0">
                <a:solidFill>
                  <a:srgbClr val="000000"/>
                </a:solidFill>
                <a:latin typeface="Arial"/>
                <a:ea typeface="Arial"/>
                <a:cs typeface="Arial"/>
                <a:sym typeface="Arial"/>
              </a:rPr>
              <a:t> n.</a:t>
            </a:r>
            <a:endParaRPr dirty="0"/>
          </a:p>
          <a:p>
            <a:pPr marL="0" marR="0" lvl="0" indent="0" algn="just" rtl="0">
              <a:lnSpc>
                <a:spcPct val="150000"/>
              </a:lnSpc>
              <a:spcBef>
                <a:spcPts val="0"/>
              </a:spcBef>
              <a:spcAft>
                <a:spcPts val="0"/>
              </a:spcAft>
              <a:buNone/>
            </a:pPr>
            <a:r>
              <a:rPr lang="en-US" sz="1800" dirty="0"/>
              <a:t>3</a:t>
            </a:r>
            <a:r>
              <a:rPr lang="en-US" sz="1800" b="0" i="0" u="none" strike="noStrike" cap="none" dirty="0">
                <a:solidFill>
                  <a:srgbClr val="000000"/>
                </a:solidFill>
                <a:latin typeface="Arial"/>
                <a:ea typeface="Arial"/>
                <a:cs typeface="Arial"/>
                <a:sym typeface="Arial"/>
              </a:rPr>
              <a:t>. The root of a heap always contains its largest element.</a:t>
            </a:r>
            <a:endParaRPr dirty="0"/>
          </a:p>
          <a:p>
            <a:pPr marL="0" marR="0" lvl="0" indent="0" algn="just" rtl="0">
              <a:lnSpc>
                <a:spcPct val="150000"/>
              </a:lnSpc>
              <a:spcBef>
                <a:spcPts val="0"/>
              </a:spcBef>
              <a:spcAft>
                <a:spcPts val="0"/>
              </a:spcAft>
              <a:buNone/>
            </a:pPr>
            <a:r>
              <a:rPr lang="en-US" sz="1800" dirty="0"/>
              <a:t>4</a:t>
            </a:r>
            <a:r>
              <a:rPr lang="en-US" sz="1800" b="0" i="0" u="none" strike="noStrike" cap="none" dirty="0">
                <a:solidFill>
                  <a:srgbClr val="000000"/>
                </a:solidFill>
                <a:latin typeface="Arial"/>
                <a:ea typeface="Arial"/>
                <a:cs typeface="Arial"/>
                <a:sym typeface="Arial"/>
              </a:rPr>
              <a:t>. A node of a heap considered with all its descendants is also a heap.</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57" name="Google Shape;257;p27"/>
          <p:cNvPicPr preferRelativeResize="0"/>
          <p:nvPr/>
        </p:nvPicPr>
        <p:blipFill rotWithShape="1">
          <a:blip r:embed="rId3">
            <a:alphaModFix/>
          </a:blip>
          <a:srcRect/>
          <a:stretch/>
        </p:blipFill>
        <p:spPr>
          <a:xfrm>
            <a:off x="2587854" y="1458224"/>
            <a:ext cx="5159187" cy="172989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8"/>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63" name="Google Shape;263;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43</a:t>
            </a:fld>
            <a:endParaRPr/>
          </a:p>
        </p:txBody>
      </p:sp>
      <p:sp>
        <p:nvSpPr>
          <p:cNvPr id="264" name="Google Shape;264;p28"/>
          <p:cNvSpPr txBox="1"/>
          <p:nvPr/>
        </p:nvSpPr>
        <p:spPr>
          <a:xfrm>
            <a:off x="232259" y="1020823"/>
            <a:ext cx="8742378" cy="387794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0" marR="0" lvl="0" indent="0" algn="just" rtl="0">
              <a:lnSpc>
                <a:spcPct val="150000"/>
              </a:lnSpc>
              <a:spcBef>
                <a:spcPts val="0"/>
              </a:spcBef>
              <a:spcAft>
                <a:spcPts val="0"/>
              </a:spcAft>
              <a:buNone/>
            </a:pPr>
            <a:r>
              <a:rPr lang="en-US" sz="1800" b="0" i="0" u="none" strike="noStrike" cap="none" dirty="0">
                <a:solidFill>
                  <a:srgbClr val="000000"/>
                </a:solidFill>
                <a:latin typeface="Arial"/>
                <a:ea typeface="Arial"/>
                <a:cs typeface="Arial"/>
                <a:sym typeface="Arial"/>
              </a:rPr>
              <a:t>4. A heap can be implemented as an array by recording its elements in the top-down, left-to-right fashion. </a:t>
            </a:r>
          </a:p>
          <a:p>
            <a:pPr marL="285750" marR="0" lvl="0" indent="-285750" algn="just" rtl="0">
              <a:lnSpc>
                <a:spcPct val="150000"/>
              </a:lnSpc>
              <a:spcBef>
                <a:spcPts val="0"/>
              </a:spcBef>
              <a:spcAft>
                <a:spcPts val="0"/>
              </a:spcAft>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It is convenient to store the heap’s elements in positions 1 through </a:t>
            </a:r>
            <a:r>
              <a:rPr lang="en-US" sz="1800" b="0" i="1" u="none" strike="noStrike" cap="none" dirty="0">
                <a:solidFill>
                  <a:srgbClr val="000000"/>
                </a:solidFill>
                <a:latin typeface="Arial"/>
                <a:ea typeface="Arial"/>
                <a:cs typeface="Arial"/>
                <a:sym typeface="Arial"/>
              </a:rPr>
              <a:t>n</a:t>
            </a:r>
            <a:r>
              <a:rPr lang="en-US" sz="1800" b="0" i="0" u="none" strike="noStrike" cap="none" dirty="0">
                <a:solidFill>
                  <a:srgbClr val="000000"/>
                </a:solidFill>
                <a:latin typeface="Arial"/>
                <a:ea typeface="Arial"/>
                <a:cs typeface="Arial"/>
                <a:sym typeface="Arial"/>
              </a:rPr>
              <a:t> of such an array, leaving H[0] either unused or putting there a sentinel whose value is greater than every element in the heap. In such a representation,</a:t>
            </a:r>
            <a:endParaRPr dirty="0"/>
          </a:p>
          <a:p>
            <a:pPr marL="449263" marR="0" lvl="2" algn="just" rtl="0">
              <a:lnSpc>
                <a:spcPct val="150000"/>
              </a:lnSpc>
              <a:spcBef>
                <a:spcPts val="0"/>
              </a:spcBef>
              <a:spcAft>
                <a:spcPts val="0"/>
              </a:spcAft>
              <a:buClr>
                <a:srgbClr val="000000"/>
              </a:buClr>
              <a:buSzPts val="1600"/>
            </a:pPr>
            <a:r>
              <a:rPr lang="en-US" b="0" i="0" u="none" strike="noStrike" cap="none" dirty="0">
                <a:solidFill>
                  <a:srgbClr val="000000"/>
                </a:solidFill>
                <a:latin typeface="Arial"/>
                <a:ea typeface="Arial"/>
                <a:cs typeface="Arial"/>
                <a:sym typeface="Arial"/>
              </a:rPr>
              <a:t>a. the parental node keys will be in the first n/2 positions of the array, while the leaf keys will occupy the last n/2 positions;</a:t>
            </a:r>
            <a:endParaRPr sz="1200" dirty="0"/>
          </a:p>
          <a:p>
            <a:pPr marL="449263" marR="0" lvl="2" algn="just" rtl="0">
              <a:lnSpc>
                <a:spcPct val="150000"/>
              </a:lnSpc>
              <a:spcBef>
                <a:spcPts val="0"/>
              </a:spcBef>
              <a:spcAft>
                <a:spcPts val="0"/>
              </a:spcAft>
              <a:buClr>
                <a:srgbClr val="000000"/>
              </a:buClr>
              <a:buSzPts val="1600"/>
            </a:pPr>
            <a:r>
              <a:rPr lang="en-US" b="0" i="0" u="none" strike="noStrike" cap="none" dirty="0">
                <a:solidFill>
                  <a:srgbClr val="000000"/>
                </a:solidFill>
                <a:latin typeface="Arial"/>
                <a:ea typeface="Arial"/>
                <a:cs typeface="Arial"/>
                <a:sym typeface="Arial"/>
              </a:rPr>
              <a:t>b. the children of a key in the array’s parental position </a:t>
            </a:r>
            <a:r>
              <a:rPr lang="en-US" b="0" i="0" u="none" strike="noStrike" cap="none" dirty="0" err="1">
                <a:solidFill>
                  <a:srgbClr val="000000"/>
                </a:solidFill>
                <a:latin typeface="Arial"/>
                <a:ea typeface="Arial"/>
                <a:cs typeface="Arial"/>
                <a:sym typeface="Arial"/>
              </a:rPr>
              <a:t>i</a:t>
            </a:r>
            <a:r>
              <a:rPr lang="en-US" b="0" i="0" u="none" strike="noStrike" cap="none" dirty="0">
                <a:solidFill>
                  <a:srgbClr val="000000"/>
                </a:solidFill>
                <a:latin typeface="Arial"/>
                <a:ea typeface="Arial"/>
                <a:cs typeface="Arial"/>
                <a:sym typeface="Arial"/>
              </a:rPr>
              <a:t> (1≤ </a:t>
            </a:r>
            <a:r>
              <a:rPr lang="en-US" b="0" i="0" u="none" strike="noStrike" cap="none" dirty="0" err="1">
                <a:solidFill>
                  <a:srgbClr val="000000"/>
                </a:solidFill>
                <a:latin typeface="Arial"/>
                <a:ea typeface="Arial"/>
                <a:cs typeface="Arial"/>
                <a:sym typeface="Arial"/>
              </a:rPr>
              <a:t>i</a:t>
            </a:r>
            <a:r>
              <a:rPr lang="en-US" b="0" i="0" u="none" strike="noStrike" cap="none" dirty="0">
                <a:solidFill>
                  <a:srgbClr val="000000"/>
                </a:solidFill>
                <a:latin typeface="Arial"/>
                <a:ea typeface="Arial"/>
                <a:cs typeface="Arial"/>
                <a:sym typeface="Arial"/>
              </a:rPr>
              <a:t> ≤ n/2) will be in positions 2i and 2i + 1, and, correspondingly, the parent of a key in position </a:t>
            </a:r>
            <a:r>
              <a:rPr lang="en-US" b="0" i="0" u="none" strike="noStrike" cap="none" dirty="0" err="1">
                <a:solidFill>
                  <a:srgbClr val="000000"/>
                </a:solidFill>
                <a:latin typeface="Arial"/>
                <a:ea typeface="Arial"/>
                <a:cs typeface="Arial"/>
                <a:sym typeface="Arial"/>
              </a:rPr>
              <a:t>i</a:t>
            </a:r>
            <a:r>
              <a:rPr lang="en-US" b="0" i="0" u="none" strike="noStrike" cap="none" dirty="0">
                <a:solidFill>
                  <a:srgbClr val="000000"/>
                </a:solidFill>
                <a:latin typeface="Arial"/>
                <a:ea typeface="Arial"/>
                <a:cs typeface="Arial"/>
                <a:sym typeface="Arial"/>
              </a:rPr>
              <a:t> (2 ≤ </a:t>
            </a:r>
            <a:r>
              <a:rPr lang="en-US" b="0" i="0" u="none" strike="noStrike" cap="none" dirty="0" err="1">
                <a:solidFill>
                  <a:srgbClr val="000000"/>
                </a:solidFill>
                <a:latin typeface="Arial"/>
                <a:ea typeface="Arial"/>
                <a:cs typeface="Arial"/>
                <a:sym typeface="Arial"/>
              </a:rPr>
              <a:t>i</a:t>
            </a:r>
            <a:r>
              <a:rPr lang="en-US" b="0" i="0" u="none" strike="noStrike" cap="none" dirty="0">
                <a:solidFill>
                  <a:srgbClr val="000000"/>
                </a:solidFill>
                <a:latin typeface="Arial"/>
                <a:ea typeface="Arial"/>
                <a:cs typeface="Arial"/>
                <a:sym typeface="Arial"/>
              </a:rPr>
              <a:t> ≤ n) will be in position </a:t>
            </a:r>
            <a:r>
              <a:rPr lang="en-US" b="0" i="0" u="none" strike="noStrike" cap="none" dirty="0" err="1">
                <a:solidFill>
                  <a:srgbClr val="000000"/>
                </a:solidFill>
                <a:latin typeface="Arial"/>
                <a:ea typeface="Arial"/>
                <a:cs typeface="Arial"/>
                <a:sym typeface="Arial"/>
              </a:rPr>
              <a:t>i</a:t>
            </a:r>
            <a:r>
              <a:rPr lang="en-US" b="0" i="0" u="none" strike="noStrike" cap="none" dirty="0">
                <a:solidFill>
                  <a:srgbClr val="000000"/>
                </a:solidFill>
                <a:latin typeface="Arial"/>
                <a:ea typeface="Arial"/>
                <a:cs typeface="Arial"/>
                <a:sym typeface="Arial"/>
              </a:rPr>
              <a:t>/2.</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70" name="Google Shape;270;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44</a:t>
            </a:fld>
            <a:endParaRPr/>
          </a:p>
        </p:txBody>
      </p:sp>
      <p:sp>
        <p:nvSpPr>
          <p:cNvPr id="271" name="Google Shape;271;p29"/>
          <p:cNvSpPr txBox="1"/>
          <p:nvPr/>
        </p:nvSpPr>
        <p:spPr>
          <a:xfrm>
            <a:off x="232259" y="1146184"/>
            <a:ext cx="8742378" cy="507827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Thus, we could also define a heap as an array H[1..n] in which every element in position </a:t>
            </a:r>
            <a:r>
              <a:rPr lang="en-US" sz="1800" b="0" i="0" u="none" strike="noStrike" cap="none" dirty="0" err="1">
                <a:solidFill>
                  <a:srgbClr val="000000"/>
                </a:solidFill>
                <a:latin typeface="Arial"/>
                <a:ea typeface="Arial"/>
                <a:cs typeface="Arial"/>
                <a:sym typeface="Arial"/>
              </a:rPr>
              <a:t>i</a:t>
            </a:r>
            <a:r>
              <a:rPr lang="en-US" sz="1800" b="0" i="0" u="none" strike="noStrike" cap="none" dirty="0">
                <a:solidFill>
                  <a:srgbClr val="000000"/>
                </a:solidFill>
                <a:latin typeface="Arial"/>
                <a:ea typeface="Arial"/>
                <a:cs typeface="Arial"/>
                <a:sym typeface="Arial"/>
              </a:rPr>
              <a:t> in the first half of the array is greater than or equal to the elements in positions 2i and 2i + 1, i.e.,</a:t>
            </a:r>
            <a:endParaRPr dirty="0"/>
          </a:p>
          <a:p>
            <a:pPr marL="0" marR="0" lvl="0" indent="0" algn="just" rtl="0">
              <a:lnSpc>
                <a:spcPct val="150000"/>
              </a:lnSpc>
              <a:spcBef>
                <a:spcPts val="0"/>
              </a:spcBef>
              <a:spcAft>
                <a:spcPts val="0"/>
              </a:spcAft>
              <a:buNone/>
            </a:pPr>
            <a:r>
              <a:rPr lang="en-US"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How can we construct a heap for a given list of keys? There are two principal alternatives for doing this.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a:t>
            </a:r>
            <a:r>
              <a:rPr lang="en-US" sz="1800" b="1" i="0" u="none" strike="noStrike" cap="none" dirty="0">
                <a:solidFill>
                  <a:srgbClr val="000000"/>
                </a:solidFill>
                <a:latin typeface="Arial"/>
                <a:ea typeface="Arial"/>
                <a:cs typeface="Arial"/>
                <a:sym typeface="Arial"/>
              </a:rPr>
              <a:t>first</a:t>
            </a:r>
            <a:r>
              <a:rPr lang="en-US" sz="1800" b="0" i="0" u="none" strike="noStrike" cap="none" dirty="0">
                <a:solidFill>
                  <a:srgbClr val="000000"/>
                </a:solidFill>
                <a:latin typeface="Arial"/>
                <a:ea typeface="Arial"/>
                <a:cs typeface="Arial"/>
                <a:sym typeface="Arial"/>
              </a:rPr>
              <a:t> is the </a:t>
            </a:r>
            <a:r>
              <a:rPr lang="en-US" sz="1800" b="1" i="0" u="none" strike="noStrike" cap="none" dirty="0">
                <a:solidFill>
                  <a:srgbClr val="000000"/>
                </a:solidFill>
                <a:latin typeface="Arial"/>
                <a:ea typeface="Arial"/>
                <a:cs typeface="Arial"/>
                <a:sym typeface="Arial"/>
              </a:rPr>
              <a:t>bottom-up heap construction algorithm </a:t>
            </a:r>
            <a:r>
              <a:rPr lang="en-US" sz="1800" b="0" i="0" u="none" strike="noStrike" cap="none" dirty="0">
                <a:solidFill>
                  <a:srgbClr val="000000"/>
                </a:solidFill>
                <a:latin typeface="Arial"/>
                <a:ea typeface="Arial"/>
                <a:cs typeface="Arial"/>
                <a:sym typeface="Arial"/>
              </a:rPr>
              <a:t>illustrated in Figure 6.11.</a:t>
            </a:r>
            <a:endParaRPr dirty="0"/>
          </a:p>
          <a:p>
            <a:pPr marL="0" marR="0" lvl="0" indent="0" algn="just" rtl="0">
              <a:lnSpc>
                <a:spcPct val="15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72" name="Google Shape;272;p29"/>
          <p:cNvPicPr preferRelativeResize="0"/>
          <p:nvPr/>
        </p:nvPicPr>
        <p:blipFill rotWithShape="1">
          <a:blip r:embed="rId3">
            <a:alphaModFix/>
          </a:blip>
          <a:srcRect/>
          <a:stretch/>
        </p:blipFill>
        <p:spPr>
          <a:xfrm>
            <a:off x="2398984" y="2891861"/>
            <a:ext cx="4346031" cy="33711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0"/>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78" name="Google Shape;27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45</a:t>
            </a:fld>
            <a:endParaRPr/>
          </a:p>
        </p:txBody>
      </p:sp>
      <p:sp>
        <p:nvSpPr>
          <p:cNvPr id="279" name="Google Shape;279;p30"/>
          <p:cNvSpPr txBox="1"/>
          <p:nvPr/>
        </p:nvSpPr>
        <p:spPr>
          <a:xfrm>
            <a:off x="232259" y="1146184"/>
            <a:ext cx="8742378"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It initializes the essentially complete binary tree with n nodes by placing keys in the order given and then “</a:t>
            </a:r>
            <a:r>
              <a:rPr lang="en-US" sz="1800" b="1" i="1" u="none" strike="noStrike" cap="none" dirty="0" err="1">
                <a:solidFill>
                  <a:srgbClr val="000000"/>
                </a:solidFill>
                <a:latin typeface="Arial"/>
                <a:ea typeface="Arial"/>
                <a:cs typeface="Arial"/>
                <a:sym typeface="Arial"/>
              </a:rPr>
              <a:t>heapifies</a:t>
            </a:r>
            <a:r>
              <a:rPr lang="en-US" sz="1800" b="0" i="0" u="none" strike="noStrike" cap="none" dirty="0">
                <a:solidFill>
                  <a:srgbClr val="000000"/>
                </a:solidFill>
                <a:latin typeface="Arial"/>
                <a:ea typeface="Arial"/>
                <a:cs typeface="Arial"/>
                <a:sym typeface="Arial"/>
              </a:rPr>
              <a:t>” the tree as follows. </a:t>
            </a: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80" name="Google Shape;280;p30"/>
          <p:cNvPicPr preferRelativeResize="0"/>
          <p:nvPr/>
        </p:nvPicPr>
        <p:blipFill rotWithShape="1">
          <a:blip r:embed="rId3">
            <a:alphaModFix/>
          </a:blip>
          <a:srcRect/>
          <a:stretch/>
        </p:blipFill>
        <p:spPr>
          <a:xfrm>
            <a:off x="2340069" y="1564223"/>
            <a:ext cx="5077760" cy="243309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1"/>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86" name="Google Shape;28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46</a:t>
            </a:fld>
            <a:endParaRPr/>
          </a:p>
        </p:txBody>
      </p:sp>
      <p:sp>
        <p:nvSpPr>
          <p:cNvPr id="287" name="Google Shape;287;p31"/>
          <p:cNvSpPr txBox="1"/>
          <p:nvPr/>
        </p:nvSpPr>
        <p:spPr>
          <a:xfrm>
            <a:off x="232259" y="1146184"/>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Starting with the last parental node, the </a:t>
            </a:r>
            <a:r>
              <a:rPr lang="en-US" sz="1800" b="1" i="0" u="none" strike="noStrike" cap="none" dirty="0">
                <a:solidFill>
                  <a:srgbClr val="000000"/>
                </a:solidFill>
                <a:latin typeface="Arial"/>
                <a:ea typeface="Arial"/>
                <a:cs typeface="Arial"/>
                <a:sym typeface="Arial"/>
              </a:rPr>
              <a:t>algorithm checks whether the parental dominance holds</a:t>
            </a:r>
            <a:r>
              <a:rPr lang="en-US" sz="1800" b="0" i="0" u="none" strike="noStrike" cap="none" dirty="0">
                <a:solidFill>
                  <a:srgbClr val="000000"/>
                </a:solidFill>
                <a:latin typeface="Arial"/>
                <a:ea typeface="Arial"/>
                <a:cs typeface="Arial"/>
                <a:sym typeface="Arial"/>
              </a:rPr>
              <a:t> for the key in this node.</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This process continues until the parental dominance for K is satisfied. (Eventually, it has to because it holds automatically for any key in a leaf.)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After completing the “</a:t>
            </a:r>
            <a:r>
              <a:rPr lang="en-US" sz="1800" b="1" i="1" u="none" strike="noStrike" cap="none" dirty="0" err="1">
                <a:solidFill>
                  <a:srgbClr val="000000"/>
                </a:solidFill>
                <a:latin typeface="Arial"/>
                <a:ea typeface="Arial"/>
                <a:cs typeface="Arial"/>
                <a:sym typeface="Arial"/>
              </a:rPr>
              <a:t>heapification</a:t>
            </a:r>
            <a:r>
              <a:rPr lang="en-US" sz="1800" b="0" i="0" u="none" strike="noStrike" cap="none" dirty="0">
                <a:solidFill>
                  <a:srgbClr val="000000"/>
                </a:solidFill>
                <a:latin typeface="Arial"/>
                <a:ea typeface="Arial"/>
                <a:cs typeface="Arial"/>
                <a:sym typeface="Arial"/>
              </a:rPr>
              <a:t>” of the subtree rooted at the current parental node, the algorithm proceeds to do the same for the node’s immediate predecessor.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algorithm stops after this is done for the root of the tree.</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2"/>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293" name="Google Shape;293;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47</a:t>
            </a:fld>
            <a:endParaRPr/>
          </a:p>
        </p:txBody>
      </p:sp>
      <p:sp>
        <p:nvSpPr>
          <p:cNvPr id="294" name="Google Shape;294;p32"/>
          <p:cNvSpPr txBox="1"/>
          <p:nvPr/>
        </p:nvSpPr>
        <p:spPr>
          <a:xfrm>
            <a:off x="232259" y="1146184"/>
            <a:ext cx="8742378" cy="87203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a:solidFill>
                  <a:srgbClr val="000000"/>
                </a:solidFill>
                <a:latin typeface="Arial"/>
                <a:ea typeface="Arial"/>
                <a:cs typeface="Arial"/>
                <a:sym typeface="Arial"/>
              </a:rPr>
              <a:t>Heaps </a:t>
            </a:r>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95" name="Google Shape;295;p32"/>
          <p:cNvPicPr preferRelativeResize="0"/>
          <p:nvPr/>
        </p:nvPicPr>
        <p:blipFill rotWithShape="1">
          <a:blip r:embed="rId3">
            <a:alphaModFix/>
          </a:blip>
          <a:srcRect/>
          <a:stretch/>
        </p:blipFill>
        <p:spPr>
          <a:xfrm>
            <a:off x="2123700" y="1305232"/>
            <a:ext cx="4269725" cy="364705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3"/>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01" name="Google Shape;301;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48</a:t>
            </a:fld>
            <a:endParaRPr/>
          </a:p>
        </p:txBody>
      </p:sp>
      <p:sp>
        <p:nvSpPr>
          <p:cNvPr id="302" name="Google Shape;302;p33"/>
          <p:cNvSpPr txBox="1"/>
          <p:nvPr/>
        </p:nvSpPr>
        <p:spPr>
          <a:xfrm>
            <a:off x="278780" y="1028239"/>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How efficient is this algorithm in the worst case?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Assume, for simplicity, that n = 2</a:t>
            </a:r>
            <a:r>
              <a:rPr lang="en-US" sz="1800" b="0" i="0" u="none" strike="noStrike" cap="none" baseline="30000" dirty="0">
                <a:solidFill>
                  <a:srgbClr val="000000"/>
                </a:solidFill>
                <a:latin typeface="Arial"/>
                <a:ea typeface="Arial"/>
                <a:cs typeface="Arial"/>
                <a:sym typeface="Arial"/>
              </a:rPr>
              <a:t>k</a:t>
            </a:r>
            <a:r>
              <a:rPr lang="en-US" sz="1800" b="0" i="0" u="none" strike="noStrike" cap="none" dirty="0">
                <a:solidFill>
                  <a:srgbClr val="000000"/>
                </a:solidFill>
                <a:latin typeface="Arial"/>
                <a:ea typeface="Arial"/>
                <a:cs typeface="Arial"/>
                <a:sym typeface="Arial"/>
              </a:rPr>
              <a:t> − 1 so that a heap’s tree is full, i.e., the largest possible number of nodes occurs on each level.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Let </a:t>
            </a:r>
            <a:r>
              <a:rPr lang="en-US" sz="1800" b="0" i="1" u="none" strike="noStrike" cap="none" dirty="0">
                <a:solidFill>
                  <a:srgbClr val="000000"/>
                </a:solidFill>
                <a:latin typeface="Arial"/>
                <a:ea typeface="Arial"/>
                <a:cs typeface="Arial"/>
                <a:sym typeface="Arial"/>
              </a:rPr>
              <a:t>h</a:t>
            </a:r>
            <a:r>
              <a:rPr lang="en-US" sz="1800" b="0" i="0" u="none" strike="noStrike" cap="none" dirty="0">
                <a:solidFill>
                  <a:srgbClr val="000000"/>
                </a:solidFill>
                <a:latin typeface="Arial"/>
                <a:ea typeface="Arial"/>
                <a:cs typeface="Arial"/>
                <a:sym typeface="Arial"/>
              </a:rPr>
              <a:t> be the height of the tree.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According to the first property of heaps in the list at the beginning of the section,                        </a:t>
            </a:r>
          </a:p>
          <a:p>
            <a:pPr marR="0" lvl="0" algn="just" rtl="0">
              <a:lnSpc>
                <a:spcPct val="150000"/>
              </a:lnSpc>
              <a:spcBef>
                <a:spcPts val="0"/>
              </a:spcBef>
              <a:spcAft>
                <a:spcPts val="0"/>
              </a:spcAft>
              <a:buClr>
                <a:srgbClr val="000000"/>
              </a:buClr>
              <a:buSzPts val="1800"/>
            </a:pPr>
            <a:r>
              <a:rPr lang="en-US" sz="1800" dirty="0"/>
              <a:t>                                     </a:t>
            </a:r>
            <a:r>
              <a:rPr lang="en-US" sz="1800" b="0" i="0" u="none" strike="noStrike" cap="none" dirty="0">
                <a:solidFill>
                  <a:srgbClr val="000000"/>
                </a:solidFill>
                <a:latin typeface="Arial"/>
                <a:ea typeface="Arial"/>
                <a:cs typeface="Arial"/>
                <a:sym typeface="Arial"/>
              </a:rPr>
              <a:t>for the specific values of n we are considering.</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Each key on level </a:t>
            </a:r>
            <a:r>
              <a:rPr lang="en-US" sz="1800" b="0" i="0" u="none" strike="noStrike" cap="none" dirty="0" err="1">
                <a:solidFill>
                  <a:srgbClr val="000000"/>
                </a:solidFill>
                <a:latin typeface="Arial"/>
                <a:ea typeface="Arial"/>
                <a:cs typeface="Arial"/>
                <a:sym typeface="Arial"/>
              </a:rPr>
              <a:t>i</a:t>
            </a:r>
            <a:r>
              <a:rPr lang="en-US" sz="1800" b="0" i="0" u="none" strike="noStrike" cap="none" dirty="0">
                <a:solidFill>
                  <a:srgbClr val="000000"/>
                </a:solidFill>
                <a:latin typeface="Arial"/>
                <a:ea typeface="Arial"/>
                <a:cs typeface="Arial"/>
                <a:sym typeface="Arial"/>
              </a:rPr>
              <a:t> of the tree will travel to the leaf level h in the worst case of the heap construction algorithm.</a:t>
            </a:r>
            <a:endParaRPr sz="1800" b="0" i="0" u="none" strike="noStrike" cap="none" dirty="0">
              <a:solidFill>
                <a:srgbClr val="000000"/>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685953" y="3669055"/>
            <a:ext cx="1990725" cy="2476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4"/>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08" name="Google Shape;308;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49</a:t>
            </a:fld>
            <a:endParaRPr/>
          </a:p>
        </p:txBody>
      </p:sp>
      <p:sp>
        <p:nvSpPr>
          <p:cNvPr id="309" name="Google Shape;309;p34"/>
          <p:cNvSpPr txBox="1"/>
          <p:nvPr/>
        </p:nvSpPr>
        <p:spPr>
          <a:xfrm>
            <a:off x="232259" y="1146184"/>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Since moving to the next level down requires two comparisons—one to find the larger child and the other to determine whether the exchange is required—the total number of key comparisons involving a key on level </a:t>
            </a:r>
            <a:r>
              <a:rPr lang="en-US" sz="1600" b="0" i="0" u="none" strike="noStrike" cap="none" dirty="0" err="1">
                <a:solidFill>
                  <a:srgbClr val="000000"/>
                </a:solidFill>
                <a:latin typeface="Arial"/>
                <a:ea typeface="Arial"/>
                <a:cs typeface="Arial"/>
                <a:sym typeface="Arial"/>
              </a:rPr>
              <a:t>i</a:t>
            </a:r>
            <a:r>
              <a:rPr lang="en-US" sz="1600" b="0" i="0" u="none" strike="noStrike" cap="none" dirty="0">
                <a:solidFill>
                  <a:srgbClr val="000000"/>
                </a:solidFill>
                <a:latin typeface="Arial"/>
                <a:ea typeface="Arial"/>
                <a:cs typeface="Arial"/>
                <a:sym typeface="Arial"/>
              </a:rPr>
              <a:t> will be 2(h − </a:t>
            </a:r>
            <a:r>
              <a:rPr lang="en-US" sz="1600" b="0" i="0" u="none" strike="noStrike" cap="none" dirty="0" err="1">
                <a:solidFill>
                  <a:srgbClr val="000000"/>
                </a:solidFill>
                <a:latin typeface="Arial"/>
                <a:ea typeface="Arial"/>
                <a:cs typeface="Arial"/>
                <a:sym typeface="Arial"/>
              </a:rPr>
              <a:t>i</a:t>
            </a:r>
            <a:r>
              <a:rPr lang="en-US" sz="1600" b="0" i="0" u="none" strike="noStrike" cap="none" dirty="0">
                <a:solidFill>
                  <a:srgbClr val="000000"/>
                </a:solidFill>
                <a:latin typeface="Arial"/>
                <a:ea typeface="Arial"/>
                <a:cs typeface="Arial"/>
                <a:sym typeface="Arial"/>
              </a:rPr>
              <a:t>). </a:t>
            </a:r>
          </a:p>
          <a:p>
            <a:pPr marL="285750" marR="0" lvl="0" indent="-285750" algn="just" rtl="0">
              <a:lnSpc>
                <a:spcPct val="15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Therefore, the total number of key comparisons in the worst case will be</a:t>
            </a:r>
            <a:endParaRPr sz="1200" dirty="0"/>
          </a:p>
          <a:p>
            <a:pPr marL="285750" marR="0" lvl="0" indent="-171450" algn="just" rtl="0">
              <a:lnSpc>
                <a:spcPct val="150000"/>
              </a:lnSpc>
              <a:spcBef>
                <a:spcPts val="0"/>
              </a:spcBef>
              <a:spcAft>
                <a:spcPts val="0"/>
              </a:spcAft>
              <a:buClr>
                <a:srgbClr val="000000"/>
              </a:buClr>
              <a:buSzPts val="1800"/>
              <a:buFont typeface="Arial"/>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endParaRPr lang="en-US" sz="16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where the validity of the last equality can be proved either by using the closed-form formula for the sum                    or by mathematical induction on h. </a:t>
            </a:r>
          </a:p>
          <a:p>
            <a:pPr marL="285750" marR="0" lvl="0" indent="-285750" algn="l" rtl="0">
              <a:lnSpc>
                <a:spcPct val="100000"/>
              </a:lnSpc>
              <a:spcBef>
                <a:spcPts val="0"/>
              </a:spcBef>
              <a:spcAft>
                <a:spcPts val="0"/>
              </a:spcAft>
              <a:buClr>
                <a:srgbClr val="000000"/>
              </a:buClr>
              <a:buSzPts val="1800"/>
              <a:buFont typeface="Arial"/>
              <a:buChar char="•"/>
            </a:pPr>
            <a:r>
              <a:rPr lang="en-US" sz="1600" b="0" i="0" u="none" strike="noStrike" cap="none" dirty="0">
                <a:solidFill>
                  <a:srgbClr val="000000"/>
                </a:solidFill>
                <a:latin typeface="Arial"/>
                <a:ea typeface="Arial"/>
                <a:cs typeface="Arial"/>
                <a:sym typeface="Arial"/>
              </a:rPr>
              <a:t>Thus, with this bottom-up algorithm, a heap of size n can be constructed with fewer than 2n comparisons.</a:t>
            </a:r>
            <a:endParaRPr sz="1800" b="0" i="0" u="none" strike="noStrike" cap="none" dirty="0">
              <a:solidFill>
                <a:srgbClr val="000000"/>
              </a:solidFill>
              <a:latin typeface="Arial"/>
              <a:ea typeface="Arial"/>
              <a:cs typeface="Arial"/>
              <a:sym typeface="Arial"/>
            </a:endParaRPr>
          </a:p>
        </p:txBody>
      </p:sp>
      <p:pic>
        <p:nvPicPr>
          <p:cNvPr id="310" name="Google Shape;310;p34"/>
          <p:cNvPicPr preferRelativeResize="0"/>
          <p:nvPr/>
        </p:nvPicPr>
        <p:blipFill rotWithShape="1">
          <a:blip r:embed="rId3">
            <a:alphaModFix/>
          </a:blip>
          <a:srcRect/>
          <a:stretch/>
        </p:blipFill>
        <p:spPr>
          <a:xfrm>
            <a:off x="2029103" y="3308485"/>
            <a:ext cx="4557155" cy="541067"/>
          </a:xfrm>
          <a:prstGeom prst="rect">
            <a:avLst/>
          </a:prstGeom>
          <a:noFill/>
          <a:ln>
            <a:noFill/>
          </a:ln>
        </p:spPr>
      </p:pic>
      <p:pic>
        <p:nvPicPr>
          <p:cNvPr id="311" name="Google Shape;311;p34"/>
          <p:cNvPicPr preferRelativeResize="0"/>
          <p:nvPr/>
        </p:nvPicPr>
        <p:blipFill rotWithShape="1">
          <a:blip r:embed="rId4">
            <a:alphaModFix/>
          </a:blip>
          <a:srcRect/>
          <a:stretch/>
        </p:blipFill>
        <p:spPr>
          <a:xfrm>
            <a:off x="1793442" y="4165987"/>
            <a:ext cx="589623" cy="19395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5"/>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17" name="Google Shape;317;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50</a:t>
            </a:fld>
            <a:endParaRPr/>
          </a:p>
        </p:txBody>
      </p:sp>
      <p:sp>
        <p:nvSpPr>
          <p:cNvPr id="318" name="Google Shape;318;p35"/>
          <p:cNvSpPr txBox="1"/>
          <p:nvPr/>
        </p:nvSpPr>
        <p:spPr>
          <a:xfrm>
            <a:off x="232259" y="961829"/>
            <a:ext cx="8742378"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 alternative (and less efficient) algorithm constructs a heap by successive insertions of a new key into a previously constructed heap; some people call it the </a:t>
            </a:r>
            <a:r>
              <a:rPr lang="en-US" sz="1800" b="1" i="0" u="none" strike="noStrike" cap="none" dirty="0">
                <a:solidFill>
                  <a:srgbClr val="000000"/>
                </a:solidFill>
                <a:latin typeface="Arial"/>
                <a:ea typeface="Arial"/>
                <a:cs typeface="Arial"/>
                <a:sym typeface="Arial"/>
              </a:rPr>
              <a:t>top-down heap construction </a:t>
            </a:r>
            <a:r>
              <a:rPr lang="en-US" sz="1800" b="0" i="0" u="none" strike="noStrike" cap="none" dirty="0">
                <a:solidFill>
                  <a:srgbClr val="000000"/>
                </a:solidFill>
                <a:latin typeface="Arial"/>
                <a:ea typeface="Arial"/>
                <a:cs typeface="Arial"/>
                <a:sym typeface="Arial"/>
              </a:rPr>
              <a:t>algorithm. </a:t>
            </a:r>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sym typeface="Arial"/>
              </a:rPr>
              <a:t>So how can we insert a new key K into a heap?</a:t>
            </a:r>
            <a:endParaRPr b="1"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First, attach a new node with key K in it after the last leaf of the existing heap.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Then shift K up to its appropriate place in the new heap as follows.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Compare K with its parent’s key: if the latter is greater than or equal to K, stop (the structure is a heap); otherwise, swap these two keys and compare K with its new parent. </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6"/>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24" name="Google Shape;324;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51</a:t>
            </a:fld>
            <a:endParaRPr/>
          </a:p>
        </p:txBody>
      </p:sp>
      <p:sp>
        <p:nvSpPr>
          <p:cNvPr id="325" name="Google Shape;325;p36"/>
          <p:cNvSpPr txBox="1"/>
          <p:nvPr/>
        </p:nvSpPr>
        <p:spPr>
          <a:xfrm>
            <a:off x="215884" y="996165"/>
            <a:ext cx="8742378"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This swapping continues until K is not greater than its last parent or it reaches the root (illustrated in Figure 6.12).</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800" dirty="0"/>
              <a:t>T</a:t>
            </a:r>
            <a:r>
              <a:rPr lang="en-US" sz="1800" b="0" i="0" u="none" strike="noStrike" cap="none" dirty="0">
                <a:solidFill>
                  <a:srgbClr val="000000"/>
                </a:solidFill>
                <a:latin typeface="Arial"/>
                <a:ea typeface="Arial"/>
                <a:cs typeface="Arial"/>
                <a:sym typeface="Arial"/>
              </a:rPr>
              <a:t>he insertion operation cannot require more key comparisons than the heap’s height.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Since the height of a heap with n nodes is about log</a:t>
            </a:r>
            <a:r>
              <a:rPr lang="en-US" sz="1800" b="0" i="0" u="none" strike="noStrike" cap="none" baseline="-25000" dirty="0">
                <a:solidFill>
                  <a:srgbClr val="000000"/>
                </a:solidFill>
                <a:latin typeface="Arial"/>
                <a:ea typeface="Arial"/>
                <a:cs typeface="Arial"/>
                <a:sym typeface="Arial"/>
              </a:rPr>
              <a:t>2</a:t>
            </a:r>
            <a:r>
              <a:rPr lang="en-US" sz="1800" b="0" i="0" u="none" strike="noStrike" cap="none" dirty="0">
                <a:solidFill>
                  <a:srgbClr val="000000"/>
                </a:solidFill>
                <a:latin typeface="Arial"/>
                <a:ea typeface="Arial"/>
                <a:cs typeface="Arial"/>
                <a:sym typeface="Arial"/>
              </a:rPr>
              <a:t>n, the time efficiency of insertion is in O(log n).</a:t>
            </a:r>
            <a:endParaRPr sz="1800" b="0" i="0" u="none" strike="noStrike" cap="none" dirty="0">
              <a:solidFill>
                <a:srgbClr val="000000"/>
              </a:solidFill>
              <a:latin typeface="Arial"/>
              <a:ea typeface="Arial"/>
              <a:cs typeface="Arial"/>
              <a:sym typeface="Arial"/>
            </a:endParaRPr>
          </a:p>
        </p:txBody>
      </p:sp>
      <p:pic>
        <p:nvPicPr>
          <p:cNvPr id="326" name="Google Shape;326;p36"/>
          <p:cNvPicPr preferRelativeResize="0"/>
          <p:nvPr/>
        </p:nvPicPr>
        <p:blipFill rotWithShape="1">
          <a:blip r:embed="rId3">
            <a:alphaModFix/>
          </a:blip>
          <a:srcRect/>
          <a:stretch/>
        </p:blipFill>
        <p:spPr>
          <a:xfrm>
            <a:off x="3763358" y="1984742"/>
            <a:ext cx="5257800" cy="149348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7"/>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32" name="Google Shape;332;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52</a:t>
            </a:fld>
            <a:endParaRPr/>
          </a:p>
        </p:txBody>
      </p:sp>
      <p:sp>
        <p:nvSpPr>
          <p:cNvPr id="333" name="Google Shape;333;p37"/>
          <p:cNvSpPr txBox="1"/>
          <p:nvPr/>
        </p:nvSpPr>
        <p:spPr>
          <a:xfrm>
            <a:off x="232259" y="1146184"/>
            <a:ext cx="8742378" cy="258528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How can we delete an item from a heap? </a:t>
            </a:r>
            <a:r>
              <a:rPr lang="en-US" sz="1800" b="0" i="0" u="none" strike="noStrike" cap="none" dirty="0">
                <a:solidFill>
                  <a:srgbClr val="000000"/>
                </a:solidFill>
                <a:latin typeface="Arial"/>
                <a:ea typeface="Arial"/>
                <a:cs typeface="Arial"/>
                <a:sym typeface="Arial"/>
              </a:rPr>
              <a:t>(only deleting the root’s key considered)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Deleting the root’s key from a heap can be done with the following algorithm, illustrated in Figure 6.13.</a:t>
            </a:r>
            <a:endParaRPr dirty="0"/>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334" name="Google Shape;334;p37"/>
          <p:cNvPicPr preferRelativeResize="0"/>
          <p:nvPr/>
        </p:nvPicPr>
        <p:blipFill rotWithShape="1">
          <a:blip r:embed="rId3">
            <a:alphaModFix/>
          </a:blip>
          <a:srcRect/>
          <a:stretch/>
        </p:blipFill>
        <p:spPr>
          <a:xfrm>
            <a:off x="3569108" y="2789252"/>
            <a:ext cx="5508523" cy="226756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8"/>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40" name="Google Shape;340;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53</a:t>
            </a:fld>
            <a:endParaRPr/>
          </a:p>
        </p:txBody>
      </p:sp>
      <p:sp>
        <p:nvSpPr>
          <p:cNvPr id="341" name="Google Shape;341;p38"/>
          <p:cNvSpPr txBox="1"/>
          <p:nvPr/>
        </p:nvSpPr>
        <p:spPr>
          <a:xfrm>
            <a:off x="232259" y="1146184"/>
            <a:ext cx="8742378"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Maximum Key Deletion </a:t>
            </a:r>
            <a:r>
              <a:rPr lang="en-US" sz="1800" b="0" i="0" u="none" strike="noStrike" cap="none" dirty="0">
                <a:solidFill>
                  <a:srgbClr val="000000"/>
                </a:solidFill>
                <a:latin typeface="Arial"/>
                <a:ea typeface="Arial"/>
                <a:cs typeface="Arial"/>
                <a:sym typeface="Arial"/>
              </a:rPr>
              <a:t>from a heap</a:t>
            </a:r>
            <a:endParaRPr dirty="0"/>
          </a:p>
          <a:p>
            <a:pPr marL="538163"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Step 1</a:t>
            </a:r>
            <a:r>
              <a:rPr lang="en-US" sz="1800" b="0" i="0" u="none" strike="noStrike" cap="none" dirty="0">
                <a:solidFill>
                  <a:srgbClr val="000000"/>
                </a:solidFill>
                <a:latin typeface="Arial"/>
                <a:ea typeface="Arial"/>
                <a:cs typeface="Arial"/>
                <a:sym typeface="Arial"/>
              </a:rPr>
              <a:t> Exchange the root’s key with the last key K of the heap.</a:t>
            </a:r>
            <a:endParaRPr dirty="0"/>
          </a:p>
          <a:p>
            <a:pPr marL="538163"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Step 2</a:t>
            </a:r>
            <a:r>
              <a:rPr lang="en-US" sz="1800" b="0" i="0" u="none" strike="noStrike" cap="none" dirty="0">
                <a:solidFill>
                  <a:srgbClr val="000000"/>
                </a:solidFill>
                <a:latin typeface="Arial"/>
                <a:ea typeface="Arial"/>
                <a:cs typeface="Arial"/>
                <a:sym typeface="Arial"/>
              </a:rPr>
              <a:t> Decrease the heap’s size by 1.</a:t>
            </a:r>
            <a:endParaRPr dirty="0"/>
          </a:p>
          <a:p>
            <a:pPr marL="538163"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Step 3</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Heapify</a:t>
            </a:r>
            <a:r>
              <a:rPr lang="en-US" sz="1800" b="0" i="0" u="none" strike="noStrike" cap="none" dirty="0">
                <a:solidFill>
                  <a:srgbClr val="000000"/>
                </a:solidFill>
                <a:latin typeface="Arial"/>
                <a:ea typeface="Arial"/>
                <a:cs typeface="Arial"/>
                <a:sym typeface="Arial"/>
              </a:rPr>
              <a:t>” the smaller tree by sifting K down the tree exactly in the same way we did it in the bottom-up heap construction algorithm. That is, verify the parental dominance for K: if it holds, we are done; if not, swap K with the larger of its children and repeat this operation until the parental dominance condition holds for K in its new position. </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9"/>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47" name="Google Shape;347;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54</a:t>
            </a:fld>
            <a:endParaRPr/>
          </a:p>
        </p:txBody>
      </p:sp>
      <p:sp>
        <p:nvSpPr>
          <p:cNvPr id="348" name="Google Shape;348;p39"/>
          <p:cNvSpPr txBox="1"/>
          <p:nvPr/>
        </p:nvSpPr>
        <p:spPr>
          <a:xfrm>
            <a:off x="232259" y="1146184"/>
            <a:ext cx="8742378" cy="295286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a:solidFill>
                  <a:srgbClr val="000000"/>
                </a:solidFill>
                <a:latin typeface="Arial"/>
                <a:ea typeface="Arial"/>
                <a:cs typeface="Arial"/>
                <a:sym typeface="Arial"/>
              </a:rPr>
              <a:t>Heaps </a:t>
            </a:r>
            <a:endParaRP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The efficiency of deletion is determined by the number of key comparisons needed to “heapify” the tree after the swap has been made and the size of the tree is decreased by 1. </a:t>
            </a:r>
            <a:endParaRP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Since this cannot require more key comparisons than twice the heap’s height, the time efficiency of deletion is in O(log n) as well.</a:t>
            </a:r>
            <a:endParaRPr sz="18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endParaRPr sz="18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0"/>
          <p:cNvSpPr txBox="1"/>
          <p:nvPr/>
        </p:nvSpPr>
        <p:spPr>
          <a:xfrm>
            <a:off x="345543" y="603856"/>
            <a:ext cx="85158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TRANSFORM &amp; CONQUER</a:t>
            </a:r>
            <a:endParaRPr sz="3200" b="1" i="0" u="none" strike="noStrike" cap="none" dirty="0">
              <a:solidFill>
                <a:srgbClr val="000000"/>
              </a:solidFill>
              <a:latin typeface="Arial"/>
              <a:ea typeface="Arial"/>
              <a:cs typeface="Arial"/>
              <a:sym typeface="Arial"/>
            </a:endParaRPr>
          </a:p>
        </p:txBody>
      </p:sp>
      <p:sp>
        <p:nvSpPr>
          <p:cNvPr id="354" name="Google Shape;354;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55</a:t>
            </a:fld>
            <a:endParaRPr/>
          </a:p>
        </p:txBody>
      </p:sp>
      <p:sp>
        <p:nvSpPr>
          <p:cNvPr id="355" name="Google Shape;355;p40"/>
          <p:cNvSpPr txBox="1"/>
          <p:nvPr/>
        </p:nvSpPr>
        <p:spPr>
          <a:xfrm>
            <a:off x="232259" y="896224"/>
            <a:ext cx="8742378"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Heapsort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Heapsort—an interesting sorting algorithm discovered by J. W. J. Williams [Wil64]. This is a two-stage algorithm that works as follows.</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Stage 1 (heap construction)</a:t>
            </a:r>
            <a:r>
              <a:rPr lang="en-US" sz="1800" b="0" i="0" u="none" strike="noStrike" cap="none" dirty="0">
                <a:solidFill>
                  <a:srgbClr val="000000"/>
                </a:solidFill>
                <a:latin typeface="Arial"/>
                <a:ea typeface="Arial"/>
                <a:cs typeface="Arial"/>
                <a:sym typeface="Arial"/>
              </a:rPr>
              <a:t>: Construct a heap for a given array.</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Stage 2 (maximum deletions)</a:t>
            </a:r>
            <a:r>
              <a:rPr lang="en-US" sz="1800" b="0" i="0" u="none" strike="noStrike" cap="none" dirty="0">
                <a:solidFill>
                  <a:srgbClr val="000000"/>
                </a:solidFill>
                <a:latin typeface="Arial"/>
                <a:ea typeface="Arial"/>
                <a:cs typeface="Arial"/>
                <a:sym typeface="Arial"/>
              </a:rPr>
              <a:t>: Apply the root-deletion operation n − 1 times to the remaining heap.</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As a result, the array elements are eliminated in decreasing order. </a:t>
            </a: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But since under the array implementation of heaps an element being deleted is placed last, the resulting array will be exactly the original array sorted in increasing order.</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1"/>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61" name="Google Shape;36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56</a:t>
            </a:fld>
            <a:endParaRPr/>
          </a:p>
        </p:txBody>
      </p:sp>
      <p:sp>
        <p:nvSpPr>
          <p:cNvPr id="362" name="Google Shape;362;p41"/>
          <p:cNvSpPr txBox="1"/>
          <p:nvPr/>
        </p:nvSpPr>
        <p:spPr>
          <a:xfrm>
            <a:off x="185738" y="1367410"/>
            <a:ext cx="2422451" cy="216978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i="0" u="none" strike="noStrike" cap="none" dirty="0">
                <a:solidFill>
                  <a:srgbClr val="000000"/>
                </a:solidFill>
                <a:sym typeface="Arial"/>
              </a:rPr>
              <a:t>Heapsort </a:t>
            </a:r>
            <a:endParaRPr dirty="0"/>
          </a:p>
          <a:p>
            <a:pPr marL="0" marR="0" lvl="0" indent="0" algn="just" rtl="0">
              <a:lnSpc>
                <a:spcPct val="150000"/>
              </a:lnSpc>
              <a:spcBef>
                <a:spcPts val="0"/>
              </a:spcBef>
              <a:spcAft>
                <a:spcPts val="0"/>
              </a:spcAft>
              <a:buNone/>
            </a:pPr>
            <a:r>
              <a:rPr lang="en-US" sz="1800" i="0" u="none" strike="noStrike" cap="none" dirty="0">
                <a:solidFill>
                  <a:srgbClr val="000000"/>
                </a:solidFill>
                <a:latin typeface="Open Sans"/>
                <a:ea typeface="Open Sans"/>
                <a:cs typeface="Open Sans"/>
                <a:sym typeface="Open Sans"/>
              </a:rPr>
              <a:t>Heapsort is traced on a specific input in Figure 6.14.</a:t>
            </a:r>
            <a:endParaRPr sz="1800" i="0" u="none" strike="noStrike" cap="none" dirty="0">
              <a:solidFill>
                <a:srgbClr val="000000"/>
              </a:solidFill>
              <a:latin typeface="Open Sans"/>
              <a:ea typeface="Open Sans"/>
              <a:cs typeface="Open Sans"/>
              <a:sym typeface="Open Sans"/>
            </a:endParaRPr>
          </a:p>
          <a:p>
            <a:pPr marL="0" marR="0" lvl="0" indent="0" algn="just" rtl="0">
              <a:lnSpc>
                <a:spcPct val="150000"/>
              </a:lnSpc>
              <a:spcBef>
                <a:spcPts val="0"/>
              </a:spcBef>
              <a:spcAft>
                <a:spcPts val="0"/>
              </a:spcAft>
              <a:buNone/>
            </a:pPr>
            <a:endParaRPr sz="1800" i="0" u="none" strike="noStrike" cap="none" dirty="0">
              <a:solidFill>
                <a:srgbClr val="000000"/>
              </a:solidFill>
              <a:sym typeface="Arial"/>
            </a:endParaRPr>
          </a:p>
        </p:txBody>
      </p:sp>
      <p:pic>
        <p:nvPicPr>
          <p:cNvPr id="363" name="Google Shape;363;p41"/>
          <p:cNvPicPr preferRelativeResize="0"/>
          <p:nvPr/>
        </p:nvPicPr>
        <p:blipFill rotWithShape="1">
          <a:blip r:embed="rId3">
            <a:alphaModFix/>
          </a:blip>
          <a:srcRect/>
          <a:stretch/>
        </p:blipFill>
        <p:spPr>
          <a:xfrm>
            <a:off x="3570025" y="1174403"/>
            <a:ext cx="4109276" cy="375256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2"/>
          <p:cNvSpPr txBox="1"/>
          <p:nvPr/>
        </p:nvSpPr>
        <p:spPr>
          <a:xfrm>
            <a:off x="185738" y="635794"/>
            <a:ext cx="883542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TRANSFORM &amp; CONQUER</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p:txBody>
      </p:sp>
      <p:sp>
        <p:nvSpPr>
          <p:cNvPr id="369" name="Google Shape;36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57</a:t>
            </a:fld>
            <a:endParaRPr/>
          </a:p>
        </p:txBody>
      </p:sp>
      <p:sp>
        <p:nvSpPr>
          <p:cNvPr id="370" name="Google Shape;370;p42"/>
          <p:cNvSpPr txBox="1"/>
          <p:nvPr/>
        </p:nvSpPr>
        <p:spPr>
          <a:xfrm>
            <a:off x="232259" y="1146184"/>
            <a:ext cx="8425966" cy="378052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a:solidFill>
                  <a:srgbClr val="000000"/>
                </a:solidFill>
                <a:latin typeface="Arial"/>
                <a:ea typeface="Arial"/>
                <a:cs typeface="Arial"/>
                <a:sym typeface="Arial"/>
              </a:rPr>
              <a:t>Heapsort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Since we already know that the heap construction stage of the algorithm is in  O(n), we have to investigate just the time efficiency of the second stage. </a:t>
            </a:r>
            <a:endParaRPr dirty="0"/>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For the number of key comparisons, C(n), needed for eliminating the root keys from the heaps of diminishing sizes from n to 2, we get the following inequality:</a:t>
            </a:r>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just"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Arial"/>
                <a:ea typeface="Arial"/>
                <a:cs typeface="Arial"/>
                <a:sym typeface="Arial"/>
              </a:rPr>
              <a:t>This means that C(n) ∈ O(n log n) for the second stage of heapsort. For both stages, we get O(n) + O(n log n) = O(n log n). </a:t>
            </a:r>
            <a:endParaRPr sz="1800" b="0" i="0" u="none" strike="noStrike" cap="none" dirty="0">
              <a:solidFill>
                <a:srgbClr val="000000"/>
              </a:solidFill>
              <a:latin typeface="Arial"/>
              <a:ea typeface="Arial"/>
              <a:cs typeface="Arial"/>
              <a:sym typeface="Arial"/>
            </a:endParaRPr>
          </a:p>
        </p:txBody>
      </p:sp>
      <p:pic>
        <p:nvPicPr>
          <p:cNvPr id="371" name="Google Shape;371;p42"/>
          <p:cNvPicPr preferRelativeResize="0"/>
          <p:nvPr/>
        </p:nvPicPr>
        <p:blipFill rotWithShape="1">
          <a:blip r:embed="rId3">
            <a:alphaModFix/>
          </a:blip>
          <a:srcRect/>
          <a:stretch/>
        </p:blipFill>
        <p:spPr>
          <a:xfrm>
            <a:off x="2316278" y="3215147"/>
            <a:ext cx="4615464" cy="87357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2"/>
          <p:cNvSpPr txBox="1"/>
          <p:nvPr/>
        </p:nvSpPr>
        <p:spPr>
          <a:xfrm>
            <a:off x="185738" y="635794"/>
            <a:ext cx="883542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Questions for practice</a:t>
            </a:r>
            <a:endParaRPr sz="3200" b="1" i="0" u="none" strike="noStrike" cap="none" dirty="0">
              <a:solidFill>
                <a:srgbClr val="000000"/>
              </a:solidFill>
              <a:latin typeface="Arial"/>
              <a:ea typeface="Arial"/>
              <a:cs typeface="Arial"/>
              <a:sym typeface="Arial"/>
            </a:endParaRPr>
          </a:p>
        </p:txBody>
      </p:sp>
      <p:sp>
        <p:nvSpPr>
          <p:cNvPr id="369" name="Google Shape;36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58</a:t>
            </a:fld>
            <a:endParaRPr/>
          </a:p>
        </p:txBody>
      </p:sp>
      <p:sp>
        <p:nvSpPr>
          <p:cNvPr id="370" name="Google Shape;370;p42"/>
          <p:cNvSpPr txBox="1"/>
          <p:nvPr/>
        </p:nvSpPr>
        <p:spPr>
          <a:xfrm>
            <a:off x="232259" y="1146184"/>
            <a:ext cx="8425966" cy="2585283"/>
          </a:xfrm>
          <a:prstGeom prst="rect">
            <a:avLst/>
          </a:prstGeom>
          <a:noFill/>
          <a:ln>
            <a:noFill/>
          </a:ln>
        </p:spPr>
        <p:txBody>
          <a:bodyPr spcFirstLastPara="1" wrap="square" lIns="91425" tIns="45700" rIns="91425" bIns="45700" anchor="t" anchorCtr="0">
            <a:spAutoFit/>
          </a:bodyPr>
          <a:lstStyle/>
          <a:p>
            <a:pPr marL="342900" lvl="0" indent="-342900" algn="just">
              <a:lnSpc>
                <a:spcPct val="150000"/>
              </a:lnSpc>
              <a:buFont typeface="+mj-lt"/>
              <a:buAutoNum type="arabicPeriod"/>
            </a:pPr>
            <a:r>
              <a:rPr lang="en-US" sz="1800" dirty="0"/>
              <a:t>Construct a heap for the list 1, 8, 6, 5, 3, 7, 4 by the bottom-up algorithm.</a:t>
            </a:r>
          </a:p>
          <a:p>
            <a:pPr marL="342900" lvl="0" indent="-342900" algn="just">
              <a:lnSpc>
                <a:spcPct val="150000"/>
              </a:lnSpc>
              <a:buFont typeface="+mj-lt"/>
              <a:buAutoNum type="arabicPeriod"/>
            </a:pPr>
            <a:r>
              <a:rPr lang="en-US" sz="1800" dirty="0"/>
              <a:t>Construct a heap for the list 1, 8, 6, 5, 3, 7, 4 by successive key insertions  (top-down algorithm)</a:t>
            </a:r>
          </a:p>
          <a:p>
            <a:pPr marL="342900" lvl="0" indent="-342900" algn="just">
              <a:lnSpc>
                <a:spcPct val="150000"/>
              </a:lnSpc>
              <a:buFont typeface="+mj-lt"/>
              <a:buAutoNum type="arabicPeriod"/>
            </a:pPr>
            <a:r>
              <a:rPr lang="en-IN" sz="1800" dirty="0"/>
              <a:t>Sort the following lists by heap sort by using the array representation of heaps.</a:t>
            </a:r>
          </a:p>
          <a:p>
            <a:pPr marL="342900" lvl="0" indent="-342900" algn="just">
              <a:lnSpc>
                <a:spcPct val="150000"/>
              </a:lnSpc>
              <a:buFont typeface="+mj-lt"/>
              <a:buAutoNum type="arabicPeriod"/>
            </a:pPr>
            <a:endParaRPr sz="1800" b="0" i="0" u="none" strike="noStrike" cap="none" dirty="0">
              <a:solidFill>
                <a:srgbClr val="000000"/>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2017609" y="3424237"/>
            <a:ext cx="4695825" cy="1038225"/>
          </a:xfrm>
          <a:prstGeom prst="rect">
            <a:avLst/>
          </a:prstGeom>
        </p:spPr>
      </p:pic>
    </p:spTree>
    <p:extLst>
      <p:ext uri="{BB962C8B-B14F-4D97-AF65-F5344CB8AC3E}">
        <p14:creationId xmlns:p14="http://schemas.microsoft.com/office/powerpoint/2010/main" val="41352071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85738" y="232448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59</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661397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F97FB2-1037-5C98-88E5-931F7395349C}"/>
              </a:ext>
            </a:extLst>
          </p:cNvPr>
          <p:cNvSpPr txBox="1"/>
          <p:nvPr/>
        </p:nvSpPr>
        <p:spPr>
          <a:xfrm>
            <a:off x="239633" y="1404281"/>
            <a:ext cx="8425966" cy="2585283"/>
          </a:xfrm>
          <a:prstGeom prst="rect">
            <a:avLst/>
          </a:prstGeom>
          <a:noFill/>
          <a:ln>
            <a:noFill/>
          </a:ln>
        </p:spPr>
        <p:txBody>
          <a:bodyPr spcFirstLastPara="1" wrap="square" lIns="91425" tIns="45700" rIns="91425" bIns="45700" anchor="t" anchorCtr="0">
            <a:spAutoFit/>
          </a:bodyPr>
          <a:lstStyle/>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Space and time trade-offs in algorithm design are a well-known issue for both</a:t>
            </a: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0" i="0" u="none" strike="noStrike" kern="0" cap="none" spc="0" normalizeH="0" baseline="0" noProof="0" dirty="0">
                <a:ln>
                  <a:noFill/>
                </a:ln>
                <a:solidFill>
                  <a:sysClr val="windowText" lastClr="000000"/>
                </a:solidFill>
                <a:effectLst/>
                <a:uLnTx/>
                <a:uFillTx/>
              </a:rPr>
              <a:t>     theoreticians and practitioners of computing.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Consider, as an example, the problem of computing values of a function at many points in its domain.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If it is time that is at a premium, we can precompute the function’s values and store them </a:t>
            </a:r>
            <a:r>
              <a:rPr kumimoji="0" lang="en-IN" sz="1800" b="0" i="0" u="none" strike="noStrike" kern="0" cap="none" spc="0" normalizeH="0" baseline="0" noProof="0" dirty="0">
                <a:ln>
                  <a:noFill/>
                </a:ln>
                <a:solidFill>
                  <a:sysClr val="windowText" lastClr="000000"/>
                </a:solidFill>
                <a:effectLst/>
                <a:uLnTx/>
                <a:uFillTx/>
              </a:rPr>
              <a:t>in a table.</a:t>
            </a:r>
          </a:p>
        </p:txBody>
      </p:sp>
    </p:spTree>
    <p:extLst>
      <p:ext uri="{BB962C8B-B14F-4D97-AF65-F5344CB8AC3E}">
        <p14:creationId xmlns:p14="http://schemas.microsoft.com/office/powerpoint/2010/main" val="12158693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F97FB2-1037-5C98-88E5-931F7395349C}"/>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idea is to </a:t>
            </a:r>
            <a:r>
              <a:rPr kumimoji="0" lang="en-US" sz="1800" b="1" i="0" u="none" strike="noStrike" kern="0" cap="none" spc="0" normalizeH="0" baseline="0" noProof="0" dirty="0">
                <a:ln>
                  <a:noFill/>
                </a:ln>
                <a:solidFill>
                  <a:sysClr val="windowText" lastClr="000000"/>
                </a:solidFill>
                <a:effectLst/>
                <a:uLnTx/>
                <a:uFillTx/>
              </a:rPr>
              <a:t>preprocess the problem’s input</a:t>
            </a:r>
            <a:r>
              <a:rPr kumimoji="0" lang="en-US" sz="1800" b="0" i="0" u="none" strike="noStrike" kern="0" cap="none" spc="0" normalizeH="0" baseline="0" noProof="0" dirty="0">
                <a:ln>
                  <a:noFill/>
                </a:ln>
                <a:solidFill>
                  <a:sysClr val="windowText" lastClr="000000"/>
                </a:solidFill>
                <a:effectLst/>
                <a:uLnTx/>
                <a:uFillTx/>
              </a:rPr>
              <a:t>, in whole or in part, and store the additional information obtained to accelerate solving the problem afterward.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We call this approach </a:t>
            </a:r>
            <a:r>
              <a:rPr kumimoji="0" lang="en-US" sz="1800" b="1" i="1" u="none" strike="noStrike" kern="0" cap="none" spc="0" normalizeH="0" baseline="0" noProof="0" dirty="0">
                <a:ln>
                  <a:noFill/>
                </a:ln>
                <a:solidFill>
                  <a:sysClr val="windowText" lastClr="000000"/>
                </a:solidFill>
                <a:effectLst/>
                <a:uLnTx/>
                <a:uFillTx/>
              </a:rPr>
              <a:t>input enhancement </a:t>
            </a:r>
            <a:r>
              <a:rPr kumimoji="0" lang="en-US" sz="1800" b="0" i="0" u="none" strike="noStrike" kern="0" cap="none" spc="0" normalizeH="0" baseline="0" noProof="0" dirty="0">
                <a:ln>
                  <a:noFill/>
                </a:ln>
                <a:solidFill>
                  <a:sysClr val="windowText" lastClr="000000"/>
                </a:solidFill>
                <a:effectLst/>
                <a:uLnTx/>
                <a:uFillTx/>
              </a:rPr>
              <a:t>and discuss the following algorithms based on it:</a:t>
            </a:r>
          </a:p>
          <a:p>
            <a:pPr marL="7159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Counting methods for sorting </a:t>
            </a:r>
          </a:p>
          <a:p>
            <a:pPr marL="7159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Boyer-Moore algorithm for string matching and its simplified version suggested by </a:t>
            </a:r>
            <a:r>
              <a:rPr kumimoji="0" lang="en-US" sz="1800" b="0" i="0" u="none" strike="noStrike" kern="0" cap="none" spc="0" normalizeH="0" baseline="0" noProof="0" dirty="0" err="1">
                <a:ln>
                  <a:noFill/>
                </a:ln>
                <a:solidFill>
                  <a:sysClr val="windowText" lastClr="000000"/>
                </a:solidFill>
                <a:effectLst/>
                <a:uLnTx/>
                <a:uFillTx/>
              </a:rPr>
              <a:t>Horspool</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560230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3F8A64C-69BC-B3B4-3EAC-DF5372EE0D8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5BFB364-B527-6827-0188-170DC592531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0860681-57B7-A782-368B-4C343D2527E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662DCBA-6341-8902-FF78-5A2CA563DDAF}"/>
              </a:ext>
            </a:extLst>
          </p:cNvPr>
          <p:cNvSpPr txBox="1"/>
          <p:nvPr/>
        </p:nvSpPr>
        <p:spPr>
          <a:xfrm>
            <a:off x="232259" y="1146184"/>
            <a:ext cx="8425966" cy="3416279"/>
          </a:xfrm>
          <a:prstGeom prst="rect">
            <a:avLst/>
          </a:prstGeom>
          <a:noFill/>
          <a:ln>
            <a:noFill/>
          </a:ln>
        </p:spPr>
        <p:txBody>
          <a:bodyPr spcFirstLastPara="1" wrap="square" lIns="91425" tIns="45700" rIns="91425" bIns="45700" anchor="t" anchorCtr="0">
            <a:spAutoFit/>
          </a:bodyPr>
          <a:lstStyle/>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other type of technique that exploits space-for-time trade-offs simply uses extra space to facilitate faster and/or more flexible access to the data.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We call this approach </a:t>
            </a:r>
            <a:r>
              <a:rPr kumimoji="0" lang="en-US" sz="1800" b="1" i="1" u="none" strike="noStrike" kern="0" cap="none" spc="0" normalizeH="0" baseline="0" noProof="0" dirty="0" err="1">
                <a:ln>
                  <a:noFill/>
                </a:ln>
                <a:solidFill>
                  <a:sysClr val="windowText" lastClr="000000"/>
                </a:solidFill>
                <a:effectLst/>
                <a:uLnTx/>
                <a:uFillTx/>
              </a:rPr>
              <a:t>prestructuring</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There is one more algorithm design technique related to the space-for-time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 trade-off idea: </a:t>
            </a:r>
            <a:r>
              <a:rPr kumimoji="0" lang="en-US" sz="1800" b="1" i="0" u="none" strike="noStrike" kern="0" cap="none" spc="0" normalizeH="0" baseline="0" noProof="0" dirty="0">
                <a:ln>
                  <a:noFill/>
                </a:ln>
                <a:solidFill>
                  <a:sysClr val="windowText" lastClr="000000"/>
                </a:solidFill>
                <a:effectLst/>
                <a:uLnTx/>
                <a:uFillTx/>
              </a:rPr>
              <a:t>dynamic programming</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This strategy is based on recording solutions to overlapping sub problems of a given problem in a table from which a solution to the problem in question is then obtained.</a:t>
            </a:r>
          </a:p>
        </p:txBody>
      </p:sp>
    </p:spTree>
    <p:extLst>
      <p:ext uri="{BB962C8B-B14F-4D97-AF65-F5344CB8AC3E}">
        <p14:creationId xmlns:p14="http://schemas.microsoft.com/office/powerpoint/2010/main" val="26473706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77E48B-0F82-6008-B2A2-A0E1B73DD91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3D9C00E-9A7E-FAFE-DBAC-48091E9ABB4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8261D7-788D-5C16-183F-571BE254B13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5AF4DD-533E-7E8C-F04A-2E6DB4C728D1}"/>
              </a:ext>
            </a:extLst>
          </p:cNvPr>
          <p:cNvSpPr txBox="1"/>
          <p:nvPr/>
        </p:nvSpPr>
        <p:spPr>
          <a:xfrm>
            <a:off x="232259" y="1146184"/>
            <a:ext cx="8425966" cy="3416279"/>
          </a:xfrm>
          <a:prstGeom prst="rect">
            <a:avLst/>
          </a:prstGeom>
          <a:noFill/>
          <a:ln>
            <a:noFill/>
          </a:ln>
        </p:spPr>
        <p:txBody>
          <a:bodyPr spcFirstLastPara="1" wrap="square" lIns="91425" tIns="45700" rIns="91425" bIns="45700" anchor="t" anchorCtr="0">
            <a:spAutoFit/>
          </a:bodyPr>
          <a:lstStyle/>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Two final comments about the interplay between time and space in algorithm design need to be made.</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1" i="0" u="none" strike="noStrike" kern="0" cap="none" spc="0" normalizeH="0" baseline="0" noProof="0" dirty="0">
                <a:ln>
                  <a:noFill/>
                </a:ln>
                <a:solidFill>
                  <a:sysClr val="windowText" lastClr="000000"/>
                </a:solidFill>
                <a:effectLst/>
                <a:uLnTx/>
                <a:uFillTx/>
              </a:rPr>
              <a:t>First</a:t>
            </a:r>
            <a:r>
              <a:rPr kumimoji="0" lang="en-US" sz="1600" b="0" i="0" u="none" strike="noStrike" kern="0" cap="none" spc="0" normalizeH="0" baseline="0" noProof="0" dirty="0">
                <a:ln>
                  <a:noFill/>
                </a:ln>
                <a:solidFill>
                  <a:sysClr val="windowText" lastClr="000000"/>
                </a:solidFill>
                <a:effectLst/>
                <a:uLnTx/>
                <a:uFillTx/>
              </a:rPr>
              <a:t>, the two resources—time and space—do not have to compete with each other in all design situations. </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In fact, they can align to bring an algorithmic solution that minimizes both the running time and the space consumed.</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Such a situation arises, in particular, when an algorithm uses a space efficient data structure to represent a problem’s input, which leads, in turn, to a faster algorithm. </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Consider, as an example, the problem of traversing graphs. </a:t>
            </a:r>
          </a:p>
        </p:txBody>
      </p:sp>
    </p:spTree>
    <p:extLst>
      <p:ext uri="{BB962C8B-B14F-4D97-AF65-F5344CB8AC3E}">
        <p14:creationId xmlns:p14="http://schemas.microsoft.com/office/powerpoint/2010/main" val="2439524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77E48B-0F82-6008-B2A2-A0E1B73DD91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3D9C00E-9A7E-FAFE-DBAC-48091E9ABB4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8261D7-788D-5C16-183F-571BE254B13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5AF4DD-533E-7E8C-F04A-2E6DB4C728D1}"/>
              </a:ext>
            </a:extLst>
          </p:cNvPr>
          <p:cNvSpPr txBox="1"/>
          <p:nvPr/>
        </p:nvSpPr>
        <p:spPr>
          <a:xfrm>
            <a:off x="232258" y="1146184"/>
            <a:ext cx="8788899" cy="3416279"/>
          </a:xfrm>
          <a:prstGeom prst="rect">
            <a:avLst/>
          </a:prstGeom>
          <a:noFill/>
          <a:ln>
            <a:noFill/>
          </a:ln>
        </p:spPr>
        <p:txBody>
          <a:bodyPr spcFirstLastPara="1" wrap="square" lIns="91425" tIns="45700" rIns="91425" bIns="45700" anchor="t" anchorCtr="0">
            <a:spAutoFit/>
          </a:bodyPr>
          <a:lstStyle/>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Recall that the time efficiency of the two principal traversal algorithms—depth-first search and breadth-first search—depends on the data structure used for representing graphs: it is           for the adjacency matrix representation and                         for the adjacency list representation, where n and m are the numbers of vertices and edges, respectively. </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If input graphs are sparse, i.e., have few edges relative to the number of vertices (say, m ∈ O(n)), the </a:t>
            </a:r>
            <a:r>
              <a:rPr kumimoji="0" lang="en-US" sz="1600" b="1" i="0" u="none" strike="noStrike" kern="0" cap="none" spc="0" normalizeH="0" baseline="0" noProof="0" dirty="0">
                <a:ln>
                  <a:noFill/>
                </a:ln>
                <a:solidFill>
                  <a:sysClr val="windowText" lastClr="000000"/>
                </a:solidFill>
                <a:effectLst/>
                <a:uLnTx/>
                <a:uFillTx/>
              </a:rPr>
              <a:t>adjacency list representation may well be more efficient from both the space and the running-time points of view. </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600" b="0" i="0" u="none" strike="noStrike" kern="0" cap="none" spc="0" normalizeH="0" baseline="0" noProof="0" dirty="0">
              <a:ln>
                <a:noFill/>
              </a:ln>
              <a:solidFill>
                <a:sysClr val="windowText" lastClr="000000"/>
              </a:solidFill>
              <a:effectLst/>
              <a:uLnTx/>
              <a:uFillTx/>
            </a:endParaRPr>
          </a:p>
        </p:txBody>
      </p:sp>
      <p:pic>
        <p:nvPicPr>
          <p:cNvPr id="2" name="Picture 1"/>
          <p:cNvPicPr>
            <a:picLocks noChangeAspect="1"/>
          </p:cNvPicPr>
          <p:nvPr/>
        </p:nvPicPr>
        <p:blipFill>
          <a:blip r:embed="rId3"/>
          <a:stretch>
            <a:fillRect/>
          </a:stretch>
        </p:blipFill>
        <p:spPr>
          <a:xfrm>
            <a:off x="2383402" y="1983504"/>
            <a:ext cx="584027" cy="339367"/>
          </a:xfrm>
          <a:prstGeom prst="rect">
            <a:avLst/>
          </a:prstGeom>
        </p:spPr>
      </p:pic>
      <p:pic>
        <p:nvPicPr>
          <p:cNvPr id="3" name="Picture 2"/>
          <p:cNvPicPr>
            <a:picLocks noChangeAspect="1"/>
          </p:cNvPicPr>
          <p:nvPr/>
        </p:nvPicPr>
        <p:blipFill>
          <a:blip r:embed="rId4"/>
          <a:stretch>
            <a:fillRect/>
          </a:stretch>
        </p:blipFill>
        <p:spPr>
          <a:xfrm>
            <a:off x="7057595" y="1983426"/>
            <a:ext cx="1066800" cy="333375"/>
          </a:xfrm>
          <a:prstGeom prst="rect">
            <a:avLst/>
          </a:prstGeom>
        </p:spPr>
      </p:pic>
    </p:spTree>
    <p:extLst>
      <p:ext uri="{BB962C8B-B14F-4D97-AF65-F5344CB8AC3E}">
        <p14:creationId xmlns:p14="http://schemas.microsoft.com/office/powerpoint/2010/main" val="40002437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77E48B-0F82-6008-B2A2-A0E1B73DD91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3D9C00E-9A7E-FAFE-DBAC-48091E9ABB4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8261D7-788D-5C16-183F-571BE254B13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5AF4DD-533E-7E8C-F04A-2E6DB4C728D1}"/>
              </a:ext>
            </a:extLst>
          </p:cNvPr>
          <p:cNvSpPr txBox="1"/>
          <p:nvPr/>
        </p:nvSpPr>
        <p:spPr>
          <a:xfrm>
            <a:off x="232259" y="1146184"/>
            <a:ext cx="8425966" cy="1569620"/>
          </a:xfrm>
          <a:prstGeom prst="rect">
            <a:avLst/>
          </a:prstGeom>
          <a:noFill/>
          <a:ln>
            <a:noFill/>
          </a:ln>
        </p:spPr>
        <p:txBody>
          <a:bodyPr spcFirstLastPara="1" wrap="square" lIns="91425" tIns="45700" rIns="91425" bIns="45700" anchor="t" anchorCtr="0">
            <a:spAutoFit/>
          </a:bodyPr>
          <a:lstStyle/>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1" i="0" u="none" strike="noStrike" kern="0" cap="none" spc="0" normalizeH="0" baseline="0" noProof="0" dirty="0">
                <a:ln>
                  <a:noFill/>
                </a:ln>
                <a:solidFill>
                  <a:sysClr val="windowText" lastClr="000000"/>
                </a:solidFill>
                <a:effectLst/>
                <a:uLnTx/>
                <a:uFillTx/>
              </a:rPr>
              <a:t>Second</a:t>
            </a:r>
            <a:r>
              <a:rPr kumimoji="0" lang="en-US" sz="1600" b="0" i="0" u="none" strike="noStrike" kern="0" cap="none" spc="0" normalizeH="0" baseline="0" noProof="0" dirty="0">
                <a:ln>
                  <a:noFill/>
                </a:ln>
                <a:solidFill>
                  <a:sysClr val="windowText" lastClr="000000"/>
                </a:solidFill>
                <a:effectLst/>
                <a:uLnTx/>
                <a:uFillTx/>
              </a:rPr>
              <a:t>, one cannot discuss space-time trade-offs without mentioning the hugely important area of data compression.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Note, however, that in data compression, size reduction is the goal rather than a technique for solving another problem.</a:t>
            </a:r>
          </a:p>
        </p:txBody>
      </p:sp>
    </p:spTree>
    <p:extLst>
      <p:ext uri="{BB962C8B-B14F-4D97-AF65-F5344CB8AC3E}">
        <p14:creationId xmlns:p14="http://schemas.microsoft.com/office/powerpoint/2010/main" val="4662315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A9AD076-3E2D-EABC-A7F6-6D28C00FDF4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B518273-2810-B70D-E52A-05F8F1808E3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62401C7-154E-CCFF-9D2D-ED0E0C7789B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86A6C66-7775-76CA-7EA8-56FCEAFD5BD5}"/>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As a first example of </a:t>
            </a:r>
            <a:r>
              <a:rPr kumimoji="0" lang="en-US" sz="1800" b="1" i="0" u="none" strike="noStrike" kern="0" cap="none" spc="0" normalizeH="0" baseline="0" noProof="0" dirty="0">
                <a:ln>
                  <a:noFill/>
                </a:ln>
                <a:solidFill>
                  <a:sysClr val="windowText" lastClr="000000"/>
                </a:solidFill>
                <a:effectLst/>
                <a:uLnTx/>
                <a:uFillTx/>
              </a:rPr>
              <a:t>applying the input-enhancement technique</a:t>
            </a:r>
            <a:r>
              <a:rPr kumimoji="0" lang="en-US" sz="1800" b="0" i="0" u="none" strike="noStrike" kern="0" cap="none" spc="0" normalizeH="0" baseline="0" noProof="0" dirty="0">
                <a:ln>
                  <a:noFill/>
                </a:ln>
                <a:solidFill>
                  <a:sysClr val="windowText" lastClr="000000"/>
                </a:solidFill>
                <a:effectLst/>
                <a:uLnTx/>
                <a:uFillTx/>
              </a:rPr>
              <a:t>, we discuss its application to the sorting problem.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One rather obvious idea is to </a:t>
            </a:r>
            <a:r>
              <a:rPr kumimoji="0" lang="en-US" sz="1800" b="1" i="0" u="none" strike="noStrike" kern="0" cap="none" spc="0" normalizeH="0" baseline="0" noProof="0" dirty="0">
                <a:ln>
                  <a:noFill/>
                </a:ln>
                <a:solidFill>
                  <a:sysClr val="windowText" lastClr="000000"/>
                </a:solidFill>
                <a:effectLst/>
                <a:uLnTx/>
                <a:uFillTx/>
              </a:rPr>
              <a:t>count</a:t>
            </a:r>
            <a:r>
              <a:rPr kumimoji="0" lang="en-US" sz="1800" b="0" i="0" u="none" strike="noStrike" kern="0" cap="none" spc="0" normalizeH="0" baseline="0" noProof="0" dirty="0">
                <a:ln>
                  <a:noFill/>
                </a:ln>
                <a:solidFill>
                  <a:sysClr val="windowText" lastClr="000000"/>
                </a:solidFill>
                <a:effectLst/>
                <a:uLnTx/>
                <a:uFillTx/>
              </a:rPr>
              <a:t>, for each element of a list to be sorted, the total number of elements smaller than this element and record the results in a table.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These numbers will indicate the positions of the elements in the sorted list: e.g., if the count is 10 for some element, it should be in the 11th position (with index 10, if we start counting with 0) in the sorted array. </a:t>
            </a:r>
          </a:p>
        </p:txBody>
      </p:sp>
    </p:spTree>
    <p:extLst>
      <p:ext uri="{BB962C8B-B14F-4D97-AF65-F5344CB8AC3E}">
        <p14:creationId xmlns:p14="http://schemas.microsoft.com/office/powerpoint/2010/main" val="30583763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55257F5-6534-C26D-38A5-A60835E0D75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E7C5A86-A930-C157-9926-94D789A2725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4365E2A8-8F9C-5345-6959-FB8F348540B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BB0B942-F526-7D12-9CE3-A18E2D26C5F6}"/>
              </a:ext>
            </a:extLst>
          </p:cNvPr>
          <p:cNvSpPr txBox="1"/>
          <p:nvPr/>
        </p:nvSpPr>
        <p:spPr>
          <a:xfrm>
            <a:off x="232259" y="1146184"/>
            <a:ext cx="8425966" cy="2446783"/>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Thus, we will be able to sort the list by simply copying its elements to their appropriate positions in a new, sorted list.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This algorithm is called </a:t>
            </a:r>
            <a:r>
              <a:rPr kumimoji="0" lang="en-US" sz="1600" b="1" i="0" u="none" strike="noStrike" kern="0" cap="none" spc="0" normalizeH="0" baseline="0" noProof="0" dirty="0">
                <a:ln>
                  <a:noFill/>
                </a:ln>
                <a:solidFill>
                  <a:sysClr val="windowText" lastClr="000000"/>
                </a:solidFill>
                <a:effectLst/>
                <a:uLnTx/>
                <a:uFillTx/>
              </a:rPr>
              <a:t>comparison counting sort </a:t>
            </a:r>
            <a:r>
              <a:rPr kumimoji="0" lang="en-US" sz="1600" b="0" i="0" u="none" strike="noStrike" kern="0" cap="none" spc="0" normalizeH="0" baseline="0" noProof="0" dirty="0">
                <a:ln>
                  <a:noFill/>
                </a:ln>
                <a:solidFill>
                  <a:sysClr val="windowText" lastClr="000000"/>
                </a:solidFill>
                <a:effectLst/>
                <a:uLnTx/>
                <a:uFillTx/>
              </a:rPr>
              <a:t>(Figure 7.1).</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9D7EC576-A61B-C49E-948A-2291D52E4F95}"/>
              </a:ext>
            </a:extLst>
          </p:cNvPr>
          <p:cNvPicPr>
            <a:picLocks noChangeAspect="1"/>
          </p:cNvPicPr>
          <p:nvPr/>
        </p:nvPicPr>
        <p:blipFill>
          <a:blip r:embed="rId3"/>
          <a:stretch>
            <a:fillRect/>
          </a:stretch>
        </p:blipFill>
        <p:spPr>
          <a:xfrm>
            <a:off x="1632819" y="2698955"/>
            <a:ext cx="5098025" cy="2444545"/>
          </a:xfrm>
          <a:prstGeom prst="rect">
            <a:avLst/>
          </a:prstGeom>
        </p:spPr>
      </p:pic>
    </p:spTree>
    <p:extLst>
      <p:ext uri="{BB962C8B-B14F-4D97-AF65-F5344CB8AC3E}">
        <p14:creationId xmlns:p14="http://schemas.microsoft.com/office/powerpoint/2010/main" val="32478152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975D7CE-64AA-48E9-2637-A1A668FDC86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40BEFCE-FE48-23D3-1ECC-B41E4910C71B}"/>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921B4F-ED22-F2E3-2A2B-6202A8F2D935}"/>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6DFDD6F-4155-3B04-7148-79C9BC84721D}"/>
              </a:ext>
            </a:extLst>
          </p:cNvPr>
          <p:cNvSpPr txBox="1"/>
          <p:nvPr/>
        </p:nvSpPr>
        <p:spPr>
          <a:xfrm>
            <a:off x="232259" y="1146184"/>
            <a:ext cx="8425966" cy="133878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5" name="Picture 4">
            <a:extLst>
              <a:ext uri="{FF2B5EF4-FFF2-40B4-BE49-F238E27FC236}">
                <a16:creationId xmlns:a16="http://schemas.microsoft.com/office/drawing/2014/main" id="{5E5D6A28-E65A-8F76-A6B3-71F1B6CEABCE}"/>
              </a:ext>
            </a:extLst>
          </p:cNvPr>
          <p:cNvPicPr>
            <a:picLocks noChangeAspect="1"/>
          </p:cNvPicPr>
          <p:nvPr/>
        </p:nvPicPr>
        <p:blipFill>
          <a:blip r:embed="rId3"/>
          <a:stretch>
            <a:fillRect/>
          </a:stretch>
        </p:blipFill>
        <p:spPr>
          <a:xfrm>
            <a:off x="1471356" y="1730919"/>
            <a:ext cx="6718233" cy="3113926"/>
          </a:xfrm>
          <a:prstGeom prst="rect">
            <a:avLst/>
          </a:prstGeom>
        </p:spPr>
      </p:pic>
    </p:spTree>
    <p:extLst>
      <p:ext uri="{BB962C8B-B14F-4D97-AF65-F5344CB8AC3E}">
        <p14:creationId xmlns:p14="http://schemas.microsoft.com/office/powerpoint/2010/main" val="5887802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5813167-174B-0D32-9D69-131837128D5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08117AC-8555-2C7F-717E-FFC39B781DCF}"/>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956C2C4-3374-FF30-1B04-FD58761B746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69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A973029-7C27-1CDD-10E0-FED00B077355}"/>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0" u="none" strike="noStrike" kern="0" cap="none" spc="0" normalizeH="0" baseline="0" noProof="0" dirty="0">
                <a:ln>
                  <a:noFill/>
                </a:ln>
                <a:solidFill>
                  <a:sysClr val="windowText" lastClr="000000"/>
                </a:solidFill>
                <a:effectLst/>
                <a:uLnTx/>
                <a:uFillTx/>
              </a:rPr>
              <a:t>What is the time efficiency of this algorithm?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It should be </a:t>
            </a:r>
            <a:r>
              <a:rPr kumimoji="0" lang="en-US" sz="1800" b="1" i="0" u="none" strike="noStrike" kern="0" cap="none" spc="0" normalizeH="0" baseline="0" noProof="0" dirty="0">
                <a:ln>
                  <a:noFill/>
                </a:ln>
                <a:solidFill>
                  <a:sysClr val="windowText" lastClr="000000"/>
                </a:solidFill>
                <a:effectLst/>
                <a:uLnTx/>
                <a:uFillTx/>
              </a:rPr>
              <a:t>quadratic</a:t>
            </a:r>
            <a:r>
              <a:rPr kumimoji="0" lang="en-US" sz="1800" b="0" i="0" u="none" strike="noStrike" kern="0" cap="none" spc="0" normalizeH="0" baseline="0" noProof="0" dirty="0">
                <a:ln>
                  <a:noFill/>
                </a:ln>
                <a:solidFill>
                  <a:sysClr val="windowText" lastClr="000000"/>
                </a:solidFill>
                <a:effectLst/>
                <a:uLnTx/>
                <a:uFillTx/>
              </a:rPr>
              <a:t> because the algorithm considers all the different pairs of an n-element array.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More formally, the number of times its </a:t>
            </a:r>
            <a:r>
              <a:rPr kumimoji="0" lang="en-US" sz="1800" b="1" i="0" u="none" strike="noStrike" kern="0" cap="none" spc="0" normalizeH="0" baseline="0" noProof="0" dirty="0">
                <a:ln>
                  <a:noFill/>
                </a:ln>
                <a:solidFill>
                  <a:sysClr val="windowText" lastClr="000000"/>
                </a:solidFill>
                <a:effectLst/>
                <a:uLnTx/>
                <a:uFillTx/>
              </a:rPr>
              <a:t>basic operation</a:t>
            </a:r>
            <a:r>
              <a:rPr kumimoji="0" lang="en-US" sz="1800" b="0" i="0" u="none" strike="noStrike" kern="0" cap="none" spc="0" normalizeH="0" baseline="0" noProof="0" dirty="0">
                <a:ln>
                  <a:noFill/>
                </a:ln>
                <a:solidFill>
                  <a:sysClr val="windowText" lastClr="000000"/>
                </a:solidFill>
                <a:effectLst/>
                <a:uLnTx/>
                <a:uFillTx/>
              </a:rPr>
              <a:t>, the </a:t>
            </a:r>
            <a:r>
              <a:rPr kumimoji="0" lang="en-US" sz="1800" b="1" i="0" u="none" strike="noStrike" kern="0" cap="none" spc="0" normalizeH="0" baseline="0" noProof="0" dirty="0">
                <a:ln>
                  <a:noFill/>
                </a:ln>
                <a:solidFill>
                  <a:sysClr val="windowText" lastClr="000000"/>
                </a:solidFill>
                <a:effectLst/>
                <a:uLnTx/>
                <a:uFillTx/>
              </a:rPr>
              <a:t>comparison</a:t>
            </a:r>
            <a:r>
              <a:rPr kumimoji="0" lang="en-US" sz="1800" b="0" i="0" u="none" strike="noStrike" kern="0" cap="none" spc="0" normalizeH="0" baseline="0" noProof="0" dirty="0">
                <a:ln>
                  <a:noFill/>
                </a:ln>
                <a:solidFill>
                  <a:sysClr val="windowText" lastClr="000000"/>
                </a:solidFill>
                <a:effectLst/>
                <a:uLnTx/>
                <a:uFillTx/>
              </a:rPr>
              <a:t> A[</a:t>
            </a:r>
            <a:r>
              <a:rPr kumimoji="0" lang="en-US" sz="1800" b="0" i="0" u="none" strike="noStrike" kern="0" cap="none" spc="0" normalizeH="0" baseline="0" noProof="0" dirty="0" err="1">
                <a:ln>
                  <a:noFill/>
                </a:ln>
                <a:solidFill>
                  <a:sysClr val="windowText" lastClr="000000"/>
                </a:solidFill>
                <a:effectLst/>
                <a:uLnTx/>
                <a:uFillTx/>
              </a:rPr>
              <a:t>i</a:t>
            </a:r>
            <a:r>
              <a:rPr kumimoji="0" lang="en-US" sz="1800" b="0" i="0" u="none" strike="noStrike" kern="0" cap="none" spc="0" normalizeH="0" baseline="0" noProof="0" dirty="0">
                <a:ln>
                  <a:noFill/>
                </a:ln>
                <a:solidFill>
                  <a:sysClr val="windowText" lastClr="000000"/>
                </a:solidFill>
                <a:effectLst/>
                <a:uLnTx/>
                <a:uFillTx/>
              </a:rPr>
              <a:t>]&lt;A[j ], is executed is equal to the sum we have encountered several times already:</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61D4379F-542B-A67F-2569-C5D4F0193E94}"/>
              </a:ext>
            </a:extLst>
          </p:cNvPr>
          <p:cNvPicPr>
            <a:picLocks noChangeAspect="1"/>
          </p:cNvPicPr>
          <p:nvPr/>
        </p:nvPicPr>
        <p:blipFill>
          <a:blip r:embed="rId3"/>
          <a:stretch>
            <a:fillRect/>
          </a:stretch>
        </p:blipFill>
        <p:spPr>
          <a:xfrm>
            <a:off x="1523324" y="4022894"/>
            <a:ext cx="6035563" cy="662997"/>
          </a:xfrm>
          <a:prstGeom prst="rect">
            <a:avLst/>
          </a:prstGeom>
        </p:spPr>
      </p:pic>
    </p:spTree>
    <p:extLst>
      <p:ext uri="{BB962C8B-B14F-4D97-AF65-F5344CB8AC3E}">
        <p14:creationId xmlns:p14="http://schemas.microsoft.com/office/powerpoint/2010/main" val="39416174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CD3426A-4AE8-81DA-C594-84704F43C16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91FE6E5-BE96-16AF-DFB3-D6728486A6A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5172C241-7A16-11E5-E674-A55C400D1E2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390E80F-7890-2F05-F7D1-3304F2FF429A}"/>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Thus, the algorithm makes the same number of key comparisons as selection sort and in addition uses a linear amount of extra space.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On the positive side, the algorithm makes the minimum number of key moves possible, placing each of them directly in their final position in a sorted array.</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1" u="none" strike="noStrike" kern="0" cap="none" spc="0" normalizeH="0" baseline="0" noProof="0" dirty="0">
                <a:ln>
                  <a:noFill/>
                </a:ln>
                <a:solidFill>
                  <a:sysClr val="windowText" lastClr="000000"/>
                </a:solidFill>
                <a:effectLst/>
                <a:uLnTx/>
                <a:uFillTx/>
              </a:rPr>
              <a:t>The counting idea does work productively in a situation in which elements to be sorted belong to a known small set of values</a:t>
            </a:r>
            <a:r>
              <a:rPr kumimoji="0" lang="en-US" sz="1800" b="0" i="0" u="none" strike="noStrike" kern="0" cap="none" spc="0" normalizeH="0" baseline="0" noProof="0" dirty="0">
                <a:ln>
                  <a:noFill/>
                </a:ln>
                <a:solidFill>
                  <a:sysClr val="windowText" lastClr="000000"/>
                </a:solidFill>
                <a:effectLst/>
                <a:uLnTx/>
                <a:uFillTx/>
              </a:rPr>
              <a:t>.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Assume, for example, that we have to sort a list whose values can be either 1 or 2. </a:t>
            </a:r>
          </a:p>
        </p:txBody>
      </p:sp>
    </p:spTree>
    <p:extLst>
      <p:ext uri="{BB962C8B-B14F-4D97-AF65-F5344CB8AC3E}">
        <p14:creationId xmlns:p14="http://schemas.microsoft.com/office/powerpoint/2010/main" val="1814875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37130F6-878D-1689-ADFD-90278FF3605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A84E35D-7B48-C8A6-4D9A-84BBFF055068}"/>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34EBE2FC-3886-565E-6CC9-8BB2B8559C7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106AE4B-284F-6D7D-96B9-5FCB8124394E}"/>
              </a:ext>
            </a:extLst>
          </p:cNvPr>
          <p:cNvSpPr txBox="1"/>
          <p:nvPr/>
        </p:nvSpPr>
        <p:spPr>
          <a:xfrm>
            <a:off x="232258" y="1146184"/>
            <a:ext cx="8683141"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Rather than applying a general sorting algorithm, we should be able to take advantage of this additional information about values to be sorted.</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We can scan the list to compute the number of 1’s and the number of 2’s in it and then, on the second pass, simply make the appropriate number of the first elements equal to 1 and the remaining elements equal to 2.</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More generally, if element values are integers between some lower bound </a:t>
            </a:r>
            <a:r>
              <a:rPr kumimoji="0" lang="en-US" sz="1800" b="0" i="1" u="none" strike="noStrike" kern="0" cap="none" spc="0" normalizeH="0" baseline="0" noProof="0" dirty="0">
                <a:ln>
                  <a:noFill/>
                </a:ln>
                <a:solidFill>
                  <a:sysClr val="windowText" lastClr="000000"/>
                </a:solidFill>
                <a:effectLst/>
                <a:uLnTx/>
                <a:uFillTx/>
              </a:rPr>
              <a:t>l</a:t>
            </a:r>
            <a:r>
              <a:rPr kumimoji="0" lang="en-US" sz="1800" b="0" i="0" u="none" strike="noStrike" kern="0" cap="none" spc="0" normalizeH="0" baseline="0" noProof="0" dirty="0">
                <a:ln>
                  <a:noFill/>
                </a:ln>
                <a:solidFill>
                  <a:sysClr val="windowText" lastClr="000000"/>
                </a:solidFill>
                <a:effectLst/>
                <a:uLnTx/>
                <a:uFillTx/>
              </a:rPr>
              <a:t> and upper bound </a:t>
            </a:r>
            <a:r>
              <a:rPr kumimoji="0" lang="en-US" sz="1800" b="0" i="1" u="none" strike="noStrike" kern="0" cap="none" spc="0" normalizeH="0" baseline="0" noProof="0" dirty="0">
                <a:ln>
                  <a:noFill/>
                </a:ln>
                <a:solidFill>
                  <a:sysClr val="windowText" lastClr="000000"/>
                </a:solidFill>
                <a:effectLst/>
                <a:uLnTx/>
                <a:uFillTx/>
              </a:rPr>
              <a:t>u</a:t>
            </a:r>
            <a:r>
              <a:rPr kumimoji="0" lang="en-US" sz="1800" b="0" i="0" u="none" strike="noStrike" kern="0" cap="none" spc="0" normalizeH="0" baseline="0" noProof="0" dirty="0">
                <a:ln>
                  <a:noFill/>
                </a:ln>
                <a:solidFill>
                  <a:sysClr val="windowText" lastClr="000000"/>
                </a:solidFill>
                <a:effectLst/>
                <a:uLnTx/>
                <a:uFillTx/>
              </a:rPr>
              <a:t>, we can compute the frequency of each of those values and store them in array </a:t>
            </a:r>
            <a:r>
              <a:rPr kumimoji="0" lang="en-US" sz="1800" b="0" i="1" u="none" strike="noStrike" kern="0" cap="none" spc="0" normalizeH="0" baseline="0" noProof="0" dirty="0">
                <a:ln>
                  <a:noFill/>
                </a:ln>
                <a:solidFill>
                  <a:sysClr val="windowText" lastClr="000000"/>
                </a:solidFill>
                <a:effectLst/>
                <a:uLnTx/>
                <a:uFillTx/>
              </a:rPr>
              <a:t>F[0..u − l]</a:t>
            </a:r>
            <a:r>
              <a:rPr kumimoji="0" lang="en-US" sz="1800" b="0" i="0" u="none" strike="noStrike" kern="0" cap="none" spc="0" normalizeH="0" baseline="0" noProof="0" dirty="0">
                <a:ln>
                  <a:noFill/>
                </a:ln>
                <a:solidFill>
                  <a:sysClr val="windowText" lastClr="000000"/>
                </a:solidFill>
                <a:effectLst/>
                <a:uLnTx/>
                <a:uFillTx/>
              </a:rPr>
              <a:t>.</a:t>
            </a:r>
          </a:p>
        </p:txBody>
      </p:sp>
    </p:spTree>
    <p:extLst>
      <p:ext uri="{BB962C8B-B14F-4D97-AF65-F5344CB8AC3E}">
        <p14:creationId xmlns:p14="http://schemas.microsoft.com/office/powerpoint/2010/main" val="7211690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4C11902-06D7-7EC4-E6D6-F0E12D7BE58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E1AD5CD-E2A0-FC41-D428-FE64E70A4FB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698897D5-237A-9169-0A31-E01298157E3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7BD9CB4-6194-F241-29B9-01FEAF5D4D92}"/>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Then the first F[0] positions in the sorted list must be filled with l, the next F[1] positions with l + 1, and so on.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All this can be done, of course, only if we can overwrite the given elements.</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Let us consider a more realistic situation of sorting a list of items with some other information associated with their keys so that we cannot overwrite the list’s elements.</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Then we can copy elements into a new array S[0..n−1]to hold the sorted list as follows.</a:t>
            </a:r>
          </a:p>
        </p:txBody>
      </p:sp>
    </p:spTree>
    <p:extLst>
      <p:ext uri="{BB962C8B-B14F-4D97-AF65-F5344CB8AC3E}">
        <p14:creationId xmlns:p14="http://schemas.microsoft.com/office/powerpoint/2010/main" val="15321373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9A54714-0E87-DB93-04CE-5F66D32F021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F87DE11-C80A-BF79-DE68-2F58780A3E2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0F6E89AE-6F51-8C4C-1B3B-49814C27044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C2AF4BA-8E06-FD16-1B6A-B21A32827773}"/>
              </a:ext>
            </a:extLst>
          </p:cNvPr>
          <p:cNvSpPr txBox="1"/>
          <p:nvPr/>
        </p:nvSpPr>
        <p:spPr>
          <a:xfrm>
            <a:off x="232259" y="1146184"/>
            <a:ext cx="8425966" cy="300078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elements of A whose values are equal to the lowest possible value l are copied into the first F[0]elements of S, i.e., positions 0 through F[0]− 1; the elements of value l + 1 are copied to positions from F[0] to (F[0]+ F[1]) − 1; and so on.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Since such accumulated </a:t>
            </a:r>
            <a:r>
              <a:rPr kumimoji="0" lang="en-US" sz="1800" b="1" i="0" u="none" strike="noStrike" kern="0" cap="none" spc="0" normalizeH="0" baseline="0" noProof="0" dirty="0">
                <a:ln>
                  <a:noFill/>
                </a:ln>
                <a:solidFill>
                  <a:sysClr val="windowText" lastClr="000000"/>
                </a:solidFill>
                <a:effectLst/>
                <a:uLnTx/>
                <a:uFillTx/>
              </a:rPr>
              <a:t>sums of frequencies are called a distribution </a:t>
            </a:r>
            <a:r>
              <a:rPr kumimoji="0" lang="en-US" sz="1800" b="0" i="0" u="none" strike="noStrike" kern="0" cap="none" spc="0" normalizeH="0" baseline="0" noProof="0" dirty="0">
                <a:ln>
                  <a:noFill/>
                </a:ln>
                <a:solidFill>
                  <a:sysClr val="windowText" lastClr="000000"/>
                </a:solidFill>
                <a:effectLst/>
                <a:uLnTx/>
                <a:uFillTx/>
              </a:rPr>
              <a:t>in statistics, the method itself is known as </a:t>
            </a:r>
            <a:r>
              <a:rPr kumimoji="0" lang="en-US" sz="1800" b="1" i="0" u="none" strike="noStrike" kern="0" cap="none" spc="0" normalizeH="0" baseline="0" noProof="0" dirty="0">
                <a:ln>
                  <a:noFill/>
                </a:ln>
                <a:solidFill>
                  <a:sysClr val="windowText" lastClr="000000"/>
                </a:solidFill>
                <a:effectLst/>
                <a:uLnTx/>
                <a:uFillTx/>
              </a:rPr>
              <a:t>distribution counting</a:t>
            </a:r>
            <a:r>
              <a:rPr kumimoji="0" lang="en-US" sz="1800" b="0" i="0" u="none" strike="noStrike" kern="0" cap="none" spc="0" normalizeH="0" baseline="0" noProof="0" dirty="0">
                <a:ln>
                  <a:noFill/>
                </a:ln>
                <a:solidFill>
                  <a:sysClr val="windowText" lastClr="000000"/>
                </a:solidFill>
                <a:effectLst/>
                <a:uLnTx/>
                <a:uFillTx/>
              </a:rPr>
              <a:t>.</a:t>
            </a:r>
          </a:p>
        </p:txBody>
      </p:sp>
    </p:spTree>
    <p:extLst>
      <p:ext uri="{BB962C8B-B14F-4D97-AF65-F5344CB8AC3E}">
        <p14:creationId xmlns:p14="http://schemas.microsoft.com/office/powerpoint/2010/main" val="34906472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749CD8F-8FDB-9688-6840-01DBE8461E8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549E60C-07BB-9E8F-5FC7-DC0CE234258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A566148-D9AF-C98B-691A-03F22C74329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4661395-CD7E-26CE-9E80-67DDCF6229FB}"/>
              </a:ext>
            </a:extLst>
          </p:cNvPr>
          <p:cNvSpPr txBox="1"/>
          <p:nvPr/>
        </p:nvSpPr>
        <p:spPr>
          <a:xfrm>
            <a:off x="232259" y="1146184"/>
            <a:ext cx="8425966"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36E7A6A0-27F9-6922-9356-BC450641B84F}"/>
              </a:ext>
            </a:extLst>
          </p:cNvPr>
          <p:cNvPicPr>
            <a:picLocks noChangeAspect="1"/>
          </p:cNvPicPr>
          <p:nvPr/>
        </p:nvPicPr>
        <p:blipFill>
          <a:blip r:embed="rId3"/>
          <a:stretch>
            <a:fillRect/>
          </a:stretch>
        </p:blipFill>
        <p:spPr>
          <a:xfrm>
            <a:off x="1094619" y="1634901"/>
            <a:ext cx="6454699" cy="1889924"/>
          </a:xfrm>
          <a:prstGeom prst="rect">
            <a:avLst/>
          </a:prstGeom>
        </p:spPr>
      </p:pic>
      <p:pic>
        <p:nvPicPr>
          <p:cNvPr id="6" name="Picture 5">
            <a:extLst>
              <a:ext uri="{FF2B5EF4-FFF2-40B4-BE49-F238E27FC236}">
                <a16:creationId xmlns:a16="http://schemas.microsoft.com/office/drawing/2014/main" id="{8572305C-FBC0-9EDA-FF7A-C54E0A62ECB1}"/>
              </a:ext>
            </a:extLst>
          </p:cNvPr>
          <p:cNvPicPr>
            <a:picLocks noChangeAspect="1"/>
          </p:cNvPicPr>
          <p:nvPr/>
        </p:nvPicPr>
        <p:blipFill>
          <a:blip r:embed="rId4"/>
          <a:stretch>
            <a:fillRect/>
          </a:stretch>
        </p:blipFill>
        <p:spPr>
          <a:xfrm>
            <a:off x="2581612" y="3524825"/>
            <a:ext cx="3223539" cy="1242168"/>
          </a:xfrm>
          <a:prstGeom prst="rect">
            <a:avLst/>
          </a:prstGeom>
        </p:spPr>
      </p:pic>
    </p:spTree>
    <p:extLst>
      <p:ext uri="{BB962C8B-B14F-4D97-AF65-F5344CB8AC3E}">
        <p14:creationId xmlns:p14="http://schemas.microsoft.com/office/powerpoint/2010/main" val="10134585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1511308-A30F-D27B-DFE5-6C78C1DBA13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708162E-4D40-34C8-E5E7-94EA6F6A4874}"/>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E7E59284-4A8F-9D7C-9310-E2400FFD0E8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15804DB-AAC0-80FD-71A5-8F6A362BC5EF}"/>
              </a:ext>
            </a:extLst>
          </p:cNvPr>
          <p:cNvSpPr txBox="1"/>
          <p:nvPr/>
        </p:nvSpPr>
        <p:spPr>
          <a:xfrm>
            <a:off x="232259" y="1146184"/>
            <a:ext cx="8425966"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Note that the distribution values indicate the proper positions for the last occurrences of their elements in the final sorted array.</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If we index array positions from 0 to n − 1, the distribution values must be reduced by 1 to get corresponding element positions.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It is more convenient to process the input array right to left.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For the example, the last element is 12, and, since its distribution value is 4, we place this 12 in position 4 − 1= 3 of the array S that will hold the sorted list. </a:t>
            </a:r>
          </a:p>
        </p:txBody>
      </p:sp>
    </p:spTree>
    <p:extLst>
      <p:ext uri="{BB962C8B-B14F-4D97-AF65-F5344CB8AC3E}">
        <p14:creationId xmlns:p14="http://schemas.microsoft.com/office/powerpoint/2010/main" val="9226273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E74214B-EFEA-7DAB-93A0-5C3B0D2E20B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2979C80-40E0-C5C2-1067-E34175D41AC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9BE6C93F-4E3B-8E23-BC93-4195320DF20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FA39A50C-63B7-AF34-E30A-8BB24815922A}"/>
              </a:ext>
            </a:extLst>
          </p:cNvPr>
          <p:cNvSpPr txBox="1"/>
          <p:nvPr/>
        </p:nvSpPr>
        <p:spPr>
          <a:xfrm>
            <a:off x="232259" y="1146184"/>
            <a:ext cx="8425966" cy="2169784"/>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Then we decrease the 12’s distribution value by 1 and proceed to the next (from the right) element in the given array.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entire processing of this example is depicted in Figure 7.2.</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E4E33F4D-535D-1F0D-F404-5B54C6954A51}"/>
              </a:ext>
            </a:extLst>
          </p:cNvPr>
          <p:cNvPicPr>
            <a:picLocks noChangeAspect="1"/>
          </p:cNvPicPr>
          <p:nvPr/>
        </p:nvPicPr>
        <p:blipFill>
          <a:blip r:embed="rId3"/>
          <a:stretch>
            <a:fillRect/>
          </a:stretch>
        </p:blipFill>
        <p:spPr>
          <a:xfrm>
            <a:off x="1137481" y="2893887"/>
            <a:ext cx="6454699" cy="1966130"/>
          </a:xfrm>
          <a:prstGeom prst="rect">
            <a:avLst/>
          </a:prstGeom>
        </p:spPr>
      </p:pic>
    </p:spTree>
    <p:extLst>
      <p:ext uri="{BB962C8B-B14F-4D97-AF65-F5344CB8AC3E}">
        <p14:creationId xmlns:p14="http://schemas.microsoft.com/office/powerpoint/2010/main" val="4687491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A3CB07C-DCBD-65F0-E0E0-E563D0DC542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E185B42-AD0B-5627-7FD5-BF57E9E52FB8}"/>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A2F8D6D-5C16-20D4-9358-1EC00BB7866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3C3129E-ABC3-78DA-8C93-719E26AF6032}"/>
              </a:ext>
            </a:extLst>
          </p:cNvPr>
          <p:cNvSpPr txBox="1"/>
          <p:nvPr/>
        </p:nvSpPr>
        <p:spPr>
          <a:xfrm>
            <a:off x="232259" y="1146184"/>
            <a:ext cx="8425966" cy="133878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9" name="Picture 8">
            <a:extLst>
              <a:ext uri="{FF2B5EF4-FFF2-40B4-BE49-F238E27FC236}">
                <a16:creationId xmlns:a16="http://schemas.microsoft.com/office/drawing/2014/main" id="{0E480794-CA8D-5371-0633-A6C4177E7990}"/>
              </a:ext>
            </a:extLst>
          </p:cNvPr>
          <p:cNvPicPr>
            <a:picLocks noChangeAspect="1"/>
          </p:cNvPicPr>
          <p:nvPr/>
        </p:nvPicPr>
        <p:blipFill>
          <a:blip r:embed="rId3"/>
          <a:stretch>
            <a:fillRect/>
          </a:stretch>
        </p:blipFill>
        <p:spPr>
          <a:xfrm>
            <a:off x="1440874" y="1655303"/>
            <a:ext cx="6325148" cy="3261643"/>
          </a:xfrm>
          <a:prstGeom prst="rect">
            <a:avLst/>
          </a:prstGeom>
        </p:spPr>
      </p:pic>
    </p:spTree>
    <p:extLst>
      <p:ext uri="{BB962C8B-B14F-4D97-AF65-F5344CB8AC3E}">
        <p14:creationId xmlns:p14="http://schemas.microsoft.com/office/powerpoint/2010/main" val="1574385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DD88F54-AE24-BE1A-3918-5C6A8B4B08B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5B459B4-0455-11BC-2EE0-9A0938D6642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1C5C4325-C991-8969-7BCD-15D1F6FCC0E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29772ED-F8EB-91C7-BE7F-44B224463819}"/>
              </a:ext>
            </a:extLst>
          </p:cNvPr>
          <p:cNvSpPr txBox="1"/>
          <p:nvPr/>
        </p:nvSpPr>
        <p:spPr>
          <a:xfrm>
            <a:off x="232258" y="1146184"/>
            <a:ext cx="8726003"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Assuming that the range of array values is fixed, this is obviously a linear algorithm because it makes just two consecutive passes through its input array A.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This is a </a:t>
            </a:r>
            <a:r>
              <a:rPr kumimoji="0" lang="en-US" sz="1800" b="1" i="0" u="none" strike="noStrike" kern="0" cap="none" spc="0" normalizeH="0" baseline="0" noProof="0" dirty="0">
                <a:ln>
                  <a:noFill/>
                </a:ln>
                <a:solidFill>
                  <a:sysClr val="windowText" lastClr="000000"/>
                </a:solidFill>
                <a:effectLst/>
                <a:uLnTx/>
                <a:uFillTx/>
              </a:rPr>
              <a:t>better time-efficiency class than that of the most efficient sorting algorithms—merge sort, quicksort, and heapsort—we have encountered</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It is important to remember, however, that this </a:t>
            </a:r>
            <a:r>
              <a:rPr kumimoji="0" lang="en-US" sz="1800" b="1" i="0" u="none" strike="noStrike" kern="0" cap="none" spc="0" normalizeH="0" baseline="0" noProof="0" dirty="0">
                <a:ln>
                  <a:noFill/>
                </a:ln>
                <a:solidFill>
                  <a:sysClr val="windowText" lastClr="000000"/>
                </a:solidFill>
                <a:effectLst/>
                <a:uLnTx/>
                <a:uFillTx/>
              </a:rPr>
              <a:t>efficiency is obtained by exploiting the specific nature of inputs for which sorting by distribution counting works</a:t>
            </a:r>
            <a:r>
              <a:rPr kumimoji="0" lang="en-US" sz="1800" b="0" i="0" u="none" strike="noStrike" kern="0" cap="none" spc="0" normalizeH="0" baseline="0" noProof="0" dirty="0">
                <a:ln>
                  <a:noFill/>
                </a:ln>
                <a:solidFill>
                  <a:sysClr val="windowText" lastClr="000000"/>
                </a:solidFill>
                <a:effectLst/>
                <a:uLnTx/>
                <a:uFillTx/>
              </a:rPr>
              <a:t>, in addition to trading space for time.</a:t>
            </a:r>
          </a:p>
        </p:txBody>
      </p:sp>
    </p:spTree>
    <p:extLst>
      <p:ext uri="{BB962C8B-B14F-4D97-AF65-F5344CB8AC3E}">
        <p14:creationId xmlns:p14="http://schemas.microsoft.com/office/powerpoint/2010/main" val="28232653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79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F97FB2-1037-5C98-88E5-931F7395349C}"/>
              </a:ext>
            </a:extLst>
          </p:cNvPr>
          <p:cNvSpPr txBox="1"/>
          <p:nvPr/>
        </p:nvSpPr>
        <p:spPr>
          <a:xfrm>
            <a:off x="239633" y="1404281"/>
            <a:ext cx="8425966" cy="2585283"/>
          </a:xfrm>
          <a:prstGeom prst="rect">
            <a:avLst/>
          </a:prstGeom>
          <a:noFill/>
          <a:ln>
            <a:noFill/>
          </a:ln>
        </p:spPr>
        <p:txBody>
          <a:bodyPr spcFirstLastPara="1" wrap="square" lIns="91425" tIns="45700" rIns="91425" bIns="45700" anchor="t" anchorCtr="0">
            <a:spAutoFit/>
          </a:bodyPr>
          <a:lstStyle/>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Space and time trade-offs in algorithm design are a well-known issue for both</a:t>
            </a: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0" i="0" u="none" strike="noStrike" kern="0" cap="none" spc="0" normalizeH="0" baseline="0" noProof="0" dirty="0">
                <a:ln>
                  <a:noFill/>
                </a:ln>
                <a:solidFill>
                  <a:sysClr val="windowText" lastClr="000000"/>
                </a:solidFill>
                <a:effectLst/>
                <a:uLnTx/>
                <a:uFillTx/>
              </a:rPr>
              <a:t>     theoreticians and practitioners of computing.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Consider, as an example, the problem of computing values of a function at many points in its domain.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If it is time that is at a premium, we can precompute the function’s values and store them </a:t>
            </a:r>
            <a:r>
              <a:rPr kumimoji="0" lang="en-IN" sz="1800" b="0" i="0" u="none" strike="noStrike" kern="0" cap="none" spc="0" normalizeH="0" baseline="0" noProof="0" dirty="0">
                <a:ln>
                  <a:noFill/>
                </a:ln>
                <a:solidFill>
                  <a:sysClr val="windowText" lastClr="000000"/>
                </a:solidFill>
                <a:effectLst/>
                <a:uLnTx/>
                <a:uFillTx/>
              </a:rPr>
              <a:t>in a table.</a:t>
            </a:r>
          </a:p>
        </p:txBody>
      </p:sp>
    </p:spTree>
    <p:extLst>
      <p:ext uri="{BB962C8B-B14F-4D97-AF65-F5344CB8AC3E}">
        <p14:creationId xmlns:p14="http://schemas.microsoft.com/office/powerpoint/2010/main" val="34300206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F97FB2-1037-5C98-88E5-931F7395349C}"/>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idea is to </a:t>
            </a:r>
            <a:r>
              <a:rPr kumimoji="0" lang="en-US" sz="1800" b="1" i="0" u="none" strike="noStrike" kern="0" cap="none" spc="0" normalizeH="0" baseline="0" noProof="0" dirty="0">
                <a:ln>
                  <a:noFill/>
                </a:ln>
                <a:solidFill>
                  <a:sysClr val="windowText" lastClr="000000"/>
                </a:solidFill>
                <a:effectLst/>
                <a:uLnTx/>
                <a:uFillTx/>
              </a:rPr>
              <a:t>preprocess the problem’s input</a:t>
            </a:r>
            <a:r>
              <a:rPr kumimoji="0" lang="en-US" sz="1800" b="0" i="0" u="none" strike="noStrike" kern="0" cap="none" spc="0" normalizeH="0" baseline="0" noProof="0" dirty="0">
                <a:ln>
                  <a:noFill/>
                </a:ln>
                <a:solidFill>
                  <a:sysClr val="windowText" lastClr="000000"/>
                </a:solidFill>
                <a:effectLst/>
                <a:uLnTx/>
                <a:uFillTx/>
              </a:rPr>
              <a:t>, in whole or in part, and store the additional information obtained to accelerate solving the problem afterward.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We call this approach </a:t>
            </a:r>
            <a:r>
              <a:rPr kumimoji="0" lang="en-US" sz="1800" b="1" i="1" u="none" strike="noStrike" kern="0" cap="none" spc="0" normalizeH="0" baseline="0" noProof="0" dirty="0">
                <a:ln>
                  <a:noFill/>
                </a:ln>
                <a:solidFill>
                  <a:sysClr val="windowText" lastClr="000000"/>
                </a:solidFill>
                <a:effectLst/>
                <a:uLnTx/>
                <a:uFillTx/>
              </a:rPr>
              <a:t>input enhancement </a:t>
            </a:r>
            <a:r>
              <a:rPr kumimoji="0" lang="en-US" sz="1800" b="0" i="0" u="none" strike="noStrike" kern="0" cap="none" spc="0" normalizeH="0" baseline="0" noProof="0" dirty="0">
                <a:ln>
                  <a:noFill/>
                </a:ln>
                <a:solidFill>
                  <a:sysClr val="windowText" lastClr="000000"/>
                </a:solidFill>
                <a:effectLst/>
                <a:uLnTx/>
                <a:uFillTx/>
              </a:rPr>
              <a:t>and discuss the following algorithms based on it:</a:t>
            </a:r>
          </a:p>
          <a:p>
            <a:pPr marL="7159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Counting methods for sorting </a:t>
            </a:r>
          </a:p>
          <a:p>
            <a:pPr marL="7159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Boyer-Moore algorithm for string matching and its simplified version suggested by </a:t>
            </a:r>
            <a:r>
              <a:rPr kumimoji="0" lang="en-US" sz="1800" b="0" i="0" u="none" strike="noStrike" kern="0" cap="none" spc="0" normalizeH="0" baseline="0" noProof="0" dirty="0" err="1">
                <a:ln>
                  <a:noFill/>
                </a:ln>
                <a:solidFill>
                  <a:sysClr val="windowText" lastClr="000000"/>
                </a:solidFill>
                <a:effectLst/>
                <a:uLnTx/>
                <a:uFillTx/>
              </a:rPr>
              <a:t>Horspool</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9156332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3F8A64C-69BC-B3B4-3EAC-DF5372EE0D8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5BFB364-B527-6827-0188-170DC592531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0860681-57B7-A782-368B-4C343D2527E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662DCBA-6341-8902-FF78-5A2CA563DDAF}"/>
              </a:ext>
            </a:extLst>
          </p:cNvPr>
          <p:cNvSpPr txBox="1"/>
          <p:nvPr/>
        </p:nvSpPr>
        <p:spPr>
          <a:xfrm>
            <a:off x="232259" y="1146184"/>
            <a:ext cx="8425966" cy="3416279"/>
          </a:xfrm>
          <a:prstGeom prst="rect">
            <a:avLst/>
          </a:prstGeom>
          <a:noFill/>
          <a:ln>
            <a:noFill/>
          </a:ln>
        </p:spPr>
        <p:txBody>
          <a:bodyPr spcFirstLastPara="1" wrap="square" lIns="91425" tIns="45700" rIns="91425" bIns="45700" anchor="t" anchorCtr="0">
            <a:spAutoFit/>
          </a:bodyPr>
          <a:lstStyle/>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other type of technique that exploits space-for-time trade-offs simply uses extra space to facilitate faster and/or more flexible access to the data.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We call this approach </a:t>
            </a:r>
            <a:r>
              <a:rPr kumimoji="0" lang="en-US" sz="1800" b="1" i="1" u="none" strike="noStrike" kern="0" cap="none" spc="0" normalizeH="0" baseline="0" noProof="0" dirty="0" err="1">
                <a:ln>
                  <a:noFill/>
                </a:ln>
                <a:solidFill>
                  <a:sysClr val="windowText" lastClr="000000"/>
                </a:solidFill>
                <a:effectLst/>
                <a:uLnTx/>
                <a:uFillTx/>
              </a:rPr>
              <a:t>prestructuring</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There is one more algorithm design technique related to the space-for-time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 trade-off idea: </a:t>
            </a:r>
            <a:r>
              <a:rPr kumimoji="0" lang="en-US" sz="1800" b="1" i="0" u="none" strike="noStrike" kern="0" cap="none" spc="0" normalizeH="0" baseline="0" noProof="0" dirty="0">
                <a:ln>
                  <a:noFill/>
                </a:ln>
                <a:solidFill>
                  <a:sysClr val="windowText" lastClr="000000"/>
                </a:solidFill>
                <a:effectLst/>
                <a:uLnTx/>
                <a:uFillTx/>
              </a:rPr>
              <a:t>dynamic programming</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This strategy is based on recording solutions to overlapping sub problems of a given problem in a table from which a solution to the problem in question is then obtained.</a:t>
            </a:r>
          </a:p>
        </p:txBody>
      </p:sp>
    </p:spTree>
    <p:extLst>
      <p:ext uri="{BB962C8B-B14F-4D97-AF65-F5344CB8AC3E}">
        <p14:creationId xmlns:p14="http://schemas.microsoft.com/office/powerpoint/2010/main" val="21066583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77E48B-0F82-6008-B2A2-A0E1B73DD91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3D9C00E-9A7E-FAFE-DBAC-48091E9ABB4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8261D7-788D-5C16-183F-571BE254B13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5AF4DD-533E-7E8C-F04A-2E6DB4C728D1}"/>
              </a:ext>
            </a:extLst>
          </p:cNvPr>
          <p:cNvSpPr txBox="1"/>
          <p:nvPr/>
        </p:nvSpPr>
        <p:spPr>
          <a:xfrm>
            <a:off x="232259" y="1146184"/>
            <a:ext cx="8425966" cy="3416279"/>
          </a:xfrm>
          <a:prstGeom prst="rect">
            <a:avLst/>
          </a:prstGeom>
          <a:noFill/>
          <a:ln>
            <a:noFill/>
          </a:ln>
        </p:spPr>
        <p:txBody>
          <a:bodyPr spcFirstLastPara="1" wrap="square" lIns="91425" tIns="45700" rIns="91425" bIns="45700" anchor="t" anchorCtr="0">
            <a:spAutoFit/>
          </a:bodyPr>
          <a:lstStyle/>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Two final comments about the interplay between time and space in algorithm design need to be made.</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1" i="0" u="none" strike="noStrike" kern="0" cap="none" spc="0" normalizeH="0" baseline="0" noProof="0" dirty="0">
                <a:ln>
                  <a:noFill/>
                </a:ln>
                <a:solidFill>
                  <a:sysClr val="windowText" lastClr="000000"/>
                </a:solidFill>
                <a:effectLst/>
                <a:uLnTx/>
                <a:uFillTx/>
              </a:rPr>
              <a:t>First</a:t>
            </a:r>
            <a:r>
              <a:rPr kumimoji="0" lang="en-US" sz="1600" b="0" i="0" u="none" strike="noStrike" kern="0" cap="none" spc="0" normalizeH="0" baseline="0" noProof="0" dirty="0">
                <a:ln>
                  <a:noFill/>
                </a:ln>
                <a:solidFill>
                  <a:sysClr val="windowText" lastClr="000000"/>
                </a:solidFill>
                <a:effectLst/>
                <a:uLnTx/>
                <a:uFillTx/>
              </a:rPr>
              <a:t>, the two resources—time and space—do not have to compete with each other in all design situations. </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In fact, they can align to bring an algorithmic solution that minimizes both the running time and the space consumed.</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Such a situation arises, in particular, when an algorithm uses a space efficient data structure to represent a problem’s input, which leads, in turn, to a faster algorithm. </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Consider, as an example, the problem of traversing graphs. </a:t>
            </a:r>
          </a:p>
        </p:txBody>
      </p:sp>
    </p:spTree>
    <p:extLst>
      <p:ext uri="{BB962C8B-B14F-4D97-AF65-F5344CB8AC3E}">
        <p14:creationId xmlns:p14="http://schemas.microsoft.com/office/powerpoint/2010/main" val="33057393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77E48B-0F82-6008-B2A2-A0E1B73DD91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3D9C00E-9A7E-FAFE-DBAC-48091E9ABB4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8261D7-788D-5C16-183F-571BE254B13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5AF4DD-533E-7E8C-F04A-2E6DB4C728D1}"/>
              </a:ext>
            </a:extLst>
          </p:cNvPr>
          <p:cNvSpPr txBox="1"/>
          <p:nvPr/>
        </p:nvSpPr>
        <p:spPr>
          <a:xfrm>
            <a:off x="232258" y="1146184"/>
            <a:ext cx="8788899" cy="3416279"/>
          </a:xfrm>
          <a:prstGeom prst="rect">
            <a:avLst/>
          </a:prstGeom>
          <a:noFill/>
          <a:ln>
            <a:noFill/>
          </a:ln>
        </p:spPr>
        <p:txBody>
          <a:bodyPr spcFirstLastPara="1" wrap="square" lIns="91425" tIns="45700" rIns="91425" bIns="45700" anchor="t" anchorCtr="0">
            <a:spAutoFit/>
          </a:bodyPr>
          <a:lstStyle/>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Recall that the time efficiency of the two principal traversal algorithms—depth-first search and breadth-first search—depends on the data structure used for representing graphs: it is           for the adjacency matrix representation and                         for the adjacency list representation, where n and m are the numbers of vertices and edges, respectively. </a:t>
            </a:r>
          </a:p>
          <a:p>
            <a:pPr marL="715963" marR="0" lvl="0" indent="-379413"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If input graphs are sparse, i.e., have few edges relative to the number of vertices (say, m ∈ O(n)), the </a:t>
            </a:r>
            <a:r>
              <a:rPr kumimoji="0" lang="en-US" sz="1600" b="1" i="0" u="none" strike="noStrike" kern="0" cap="none" spc="0" normalizeH="0" baseline="0" noProof="0" dirty="0">
                <a:ln>
                  <a:noFill/>
                </a:ln>
                <a:solidFill>
                  <a:sysClr val="windowText" lastClr="000000"/>
                </a:solidFill>
                <a:effectLst/>
                <a:uLnTx/>
                <a:uFillTx/>
              </a:rPr>
              <a:t>adjacency list representation may well be more efficient from both the space and the running-time points of view. </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600" b="0" i="0" u="none" strike="noStrike" kern="0" cap="none" spc="0" normalizeH="0" baseline="0" noProof="0" dirty="0">
              <a:ln>
                <a:noFill/>
              </a:ln>
              <a:solidFill>
                <a:sysClr val="windowText" lastClr="000000"/>
              </a:solidFill>
              <a:effectLst/>
              <a:uLnTx/>
              <a:uFillTx/>
            </a:endParaRPr>
          </a:p>
        </p:txBody>
      </p:sp>
      <p:pic>
        <p:nvPicPr>
          <p:cNvPr id="2" name="Picture 1"/>
          <p:cNvPicPr>
            <a:picLocks noChangeAspect="1"/>
          </p:cNvPicPr>
          <p:nvPr/>
        </p:nvPicPr>
        <p:blipFill>
          <a:blip r:embed="rId3"/>
          <a:stretch>
            <a:fillRect/>
          </a:stretch>
        </p:blipFill>
        <p:spPr>
          <a:xfrm>
            <a:off x="2383402" y="1983504"/>
            <a:ext cx="584027" cy="339367"/>
          </a:xfrm>
          <a:prstGeom prst="rect">
            <a:avLst/>
          </a:prstGeom>
        </p:spPr>
      </p:pic>
      <p:pic>
        <p:nvPicPr>
          <p:cNvPr id="3" name="Picture 2"/>
          <p:cNvPicPr>
            <a:picLocks noChangeAspect="1"/>
          </p:cNvPicPr>
          <p:nvPr/>
        </p:nvPicPr>
        <p:blipFill>
          <a:blip r:embed="rId4"/>
          <a:stretch>
            <a:fillRect/>
          </a:stretch>
        </p:blipFill>
        <p:spPr>
          <a:xfrm>
            <a:off x="7057595" y="1983426"/>
            <a:ext cx="1066800" cy="333375"/>
          </a:xfrm>
          <a:prstGeom prst="rect">
            <a:avLst/>
          </a:prstGeom>
        </p:spPr>
      </p:pic>
    </p:spTree>
    <p:extLst>
      <p:ext uri="{BB962C8B-B14F-4D97-AF65-F5344CB8AC3E}">
        <p14:creationId xmlns:p14="http://schemas.microsoft.com/office/powerpoint/2010/main" val="36064854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477E48B-0F82-6008-B2A2-A0E1B73DD91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3D9C00E-9A7E-FAFE-DBAC-48091E9ABB4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8261D7-788D-5C16-183F-571BE254B13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5AF4DD-533E-7E8C-F04A-2E6DB4C728D1}"/>
              </a:ext>
            </a:extLst>
          </p:cNvPr>
          <p:cNvSpPr txBox="1"/>
          <p:nvPr/>
        </p:nvSpPr>
        <p:spPr>
          <a:xfrm>
            <a:off x="232259" y="1146184"/>
            <a:ext cx="8425966" cy="1569620"/>
          </a:xfrm>
          <a:prstGeom prst="rect">
            <a:avLst/>
          </a:prstGeom>
          <a:noFill/>
          <a:ln>
            <a:noFill/>
          </a:ln>
        </p:spPr>
        <p:txBody>
          <a:bodyPr spcFirstLastPara="1" wrap="square" lIns="91425" tIns="45700" rIns="91425" bIns="45700" anchor="t" anchorCtr="0">
            <a:spAutoFit/>
          </a:bodyPr>
          <a:lstStyle/>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1" i="0" u="none" strike="noStrike" kern="0" cap="none" spc="0" normalizeH="0" baseline="0" noProof="0" dirty="0">
                <a:ln>
                  <a:noFill/>
                </a:ln>
                <a:solidFill>
                  <a:sysClr val="windowText" lastClr="000000"/>
                </a:solidFill>
                <a:effectLst/>
                <a:uLnTx/>
                <a:uFillTx/>
              </a:rPr>
              <a:t>Second</a:t>
            </a:r>
            <a:r>
              <a:rPr kumimoji="0" lang="en-US" sz="1600" b="0" i="0" u="none" strike="noStrike" kern="0" cap="none" spc="0" normalizeH="0" baseline="0" noProof="0" dirty="0">
                <a:ln>
                  <a:noFill/>
                </a:ln>
                <a:solidFill>
                  <a:sysClr val="windowText" lastClr="000000"/>
                </a:solidFill>
                <a:effectLst/>
                <a:uLnTx/>
                <a:uFillTx/>
              </a:rPr>
              <a:t>, one cannot discuss space-time trade-offs without mentioning the hugely important area of data compression.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Note, however, that in data compression, size reduction is the goal rather than a technique for solving another problem.</a:t>
            </a:r>
          </a:p>
        </p:txBody>
      </p:sp>
    </p:spTree>
    <p:extLst>
      <p:ext uri="{BB962C8B-B14F-4D97-AF65-F5344CB8AC3E}">
        <p14:creationId xmlns:p14="http://schemas.microsoft.com/office/powerpoint/2010/main" val="31186558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A9AD076-3E2D-EABC-A7F6-6D28C00FDF4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B518273-2810-B70D-E52A-05F8F1808E3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62401C7-154E-CCFF-9D2D-ED0E0C7789B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86A6C66-7775-76CA-7EA8-56FCEAFD5BD5}"/>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As a first example of </a:t>
            </a:r>
            <a:r>
              <a:rPr kumimoji="0" lang="en-US" sz="1800" b="1" i="0" u="none" strike="noStrike" kern="0" cap="none" spc="0" normalizeH="0" baseline="0" noProof="0" dirty="0">
                <a:ln>
                  <a:noFill/>
                </a:ln>
                <a:solidFill>
                  <a:sysClr val="windowText" lastClr="000000"/>
                </a:solidFill>
                <a:effectLst/>
                <a:uLnTx/>
                <a:uFillTx/>
              </a:rPr>
              <a:t>applying the input-enhancement technique</a:t>
            </a:r>
            <a:r>
              <a:rPr kumimoji="0" lang="en-US" sz="1800" b="0" i="0" u="none" strike="noStrike" kern="0" cap="none" spc="0" normalizeH="0" baseline="0" noProof="0" dirty="0">
                <a:ln>
                  <a:noFill/>
                </a:ln>
                <a:solidFill>
                  <a:sysClr val="windowText" lastClr="000000"/>
                </a:solidFill>
                <a:effectLst/>
                <a:uLnTx/>
                <a:uFillTx/>
              </a:rPr>
              <a:t>, we discuss its application to the sorting problem.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One rather obvious idea is to </a:t>
            </a:r>
            <a:r>
              <a:rPr kumimoji="0" lang="en-US" sz="1800" b="1" i="0" u="none" strike="noStrike" kern="0" cap="none" spc="0" normalizeH="0" baseline="0" noProof="0" dirty="0">
                <a:ln>
                  <a:noFill/>
                </a:ln>
                <a:solidFill>
                  <a:sysClr val="windowText" lastClr="000000"/>
                </a:solidFill>
                <a:effectLst/>
                <a:uLnTx/>
                <a:uFillTx/>
              </a:rPr>
              <a:t>count</a:t>
            </a:r>
            <a:r>
              <a:rPr kumimoji="0" lang="en-US" sz="1800" b="0" i="0" u="none" strike="noStrike" kern="0" cap="none" spc="0" normalizeH="0" baseline="0" noProof="0" dirty="0">
                <a:ln>
                  <a:noFill/>
                </a:ln>
                <a:solidFill>
                  <a:sysClr val="windowText" lastClr="000000"/>
                </a:solidFill>
                <a:effectLst/>
                <a:uLnTx/>
                <a:uFillTx/>
              </a:rPr>
              <a:t>, for each element of a list to be sorted, the total number of elements smaller than this element and record the results in a table.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These numbers will indicate the positions of the elements in the sorted list: e.g., if the count is 10 for some element, it should be in the 11th position (with index 10, if we start counting with 0) in the sorted array. </a:t>
            </a:r>
          </a:p>
        </p:txBody>
      </p:sp>
    </p:spTree>
    <p:extLst>
      <p:ext uri="{BB962C8B-B14F-4D97-AF65-F5344CB8AC3E}">
        <p14:creationId xmlns:p14="http://schemas.microsoft.com/office/powerpoint/2010/main" val="5632290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55257F5-6534-C26D-38A5-A60835E0D75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E7C5A86-A930-C157-9926-94D789A2725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4365E2A8-8F9C-5345-6959-FB8F348540B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BB0B942-F526-7D12-9CE3-A18E2D26C5F6}"/>
              </a:ext>
            </a:extLst>
          </p:cNvPr>
          <p:cNvSpPr txBox="1"/>
          <p:nvPr/>
        </p:nvSpPr>
        <p:spPr>
          <a:xfrm>
            <a:off x="232259" y="1146184"/>
            <a:ext cx="8425966" cy="2446783"/>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Thus, we will be able to sort the list by simply copying its elements to their appropriate positions in a new, sorted list.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rPr>
              <a:t>This algorithm is called </a:t>
            </a:r>
            <a:r>
              <a:rPr kumimoji="0" lang="en-US" sz="1600" b="1" i="0" u="none" strike="noStrike" kern="0" cap="none" spc="0" normalizeH="0" baseline="0" noProof="0" dirty="0">
                <a:ln>
                  <a:noFill/>
                </a:ln>
                <a:solidFill>
                  <a:sysClr val="windowText" lastClr="000000"/>
                </a:solidFill>
                <a:effectLst/>
                <a:uLnTx/>
                <a:uFillTx/>
              </a:rPr>
              <a:t>comparison counting sort </a:t>
            </a:r>
            <a:r>
              <a:rPr kumimoji="0" lang="en-US" sz="1600" b="0" i="0" u="none" strike="noStrike" kern="0" cap="none" spc="0" normalizeH="0" baseline="0" noProof="0" dirty="0">
                <a:ln>
                  <a:noFill/>
                </a:ln>
                <a:solidFill>
                  <a:sysClr val="windowText" lastClr="000000"/>
                </a:solidFill>
                <a:effectLst/>
                <a:uLnTx/>
                <a:uFillTx/>
              </a:rPr>
              <a:t>(Figure 7.1).</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9D7EC576-A61B-C49E-948A-2291D52E4F95}"/>
              </a:ext>
            </a:extLst>
          </p:cNvPr>
          <p:cNvPicPr>
            <a:picLocks noChangeAspect="1"/>
          </p:cNvPicPr>
          <p:nvPr/>
        </p:nvPicPr>
        <p:blipFill>
          <a:blip r:embed="rId3"/>
          <a:stretch>
            <a:fillRect/>
          </a:stretch>
        </p:blipFill>
        <p:spPr>
          <a:xfrm>
            <a:off x="1632819" y="2698955"/>
            <a:ext cx="5098025" cy="2444545"/>
          </a:xfrm>
          <a:prstGeom prst="rect">
            <a:avLst/>
          </a:prstGeom>
        </p:spPr>
      </p:pic>
    </p:spTree>
    <p:extLst>
      <p:ext uri="{BB962C8B-B14F-4D97-AF65-F5344CB8AC3E}">
        <p14:creationId xmlns:p14="http://schemas.microsoft.com/office/powerpoint/2010/main" val="10737837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975D7CE-64AA-48E9-2637-A1A668FDC86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40BEFCE-FE48-23D3-1ECC-B41E4910C71B}"/>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7921B4F-ED22-F2E3-2A2B-6202A8F2D935}"/>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6DFDD6F-4155-3B04-7148-79C9BC84721D}"/>
              </a:ext>
            </a:extLst>
          </p:cNvPr>
          <p:cNvSpPr txBox="1"/>
          <p:nvPr/>
        </p:nvSpPr>
        <p:spPr>
          <a:xfrm>
            <a:off x="232259" y="1146184"/>
            <a:ext cx="8425966" cy="133878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5" name="Picture 4">
            <a:extLst>
              <a:ext uri="{FF2B5EF4-FFF2-40B4-BE49-F238E27FC236}">
                <a16:creationId xmlns:a16="http://schemas.microsoft.com/office/drawing/2014/main" id="{5E5D6A28-E65A-8F76-A6B3-71F1B6CEABCE}"/>
              </a:ext>
            </a:extLst>
          </p:cNvPr>
          <p:cNvPicPr>
            <a:picLocks noChangeAspect="1"/>
          </p:cNvPicPr>
          <p:nvPr/>
        </p:nvPicPr>
        <p:blipFill>
          <a:blip r:embed="rId3"/>
          <a:stretch>
            <a:fillRect/>
          </a:stretch>
        </p:blipFill>
        <p:spPr>
          <a:xfrm>
            <a:off x="1471356" y="1730919"/>
            <a:ext cx="6718233" cy="3113926"/>
          </a:xfrm>
          <a:prstGeom prst="rect">
            <a:avLst/>
          </a:prstGeom>
        </p:spPr>
      </p:pic>
    </p:spTree>
    <p:extLst>
      <p:ext uri="{BB962C8B-B14F-4D97-AF65-F5344CB8AC3E}">
        <p14:creationId xmlns:p14="http://schemas.microsoft.com/office/powerpoint/2010/main" val="26164939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5813167-174B-0D32-9D69-131837128D5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08117AC-8555-2C7F-717E-FFC39B781DCF}"/>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956C2C4-3374-FF30-1B04-FD58761B746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A973029-7C27-1CDD-10E0-FED00B077355}"/>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0" u="none" strike="noStrike" kern="0" cap="none" spc="0" normalizeH="0" baseline="0" noProof="0" dirty="0">
                <a:ln>
                  <a:noFill/>
                </a:ln>
                <a:solidFill>
                  <a:sysClr val="windowText" lastClr="000000"/>
                </a:solidFill>
                <a:effectLst/>
                <a:uLnTx/>
                <a:uFillTx/>
              </a:rPr>
              <a:t>What is the time efficiency of this algorithm?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It should be </a:t>
            </a:r>
            <a:r>
              <a:rPr kumimoji="0" lang="en-US" sz="1800" b="1" i="0" u="none" strike="noStrike" kern="0" cap="none" spc="0" normalizeH="0" baseline="0" noProof="0" dirty="0">
                <a:ln>
                  <a:noFill/>
                </a:ln>
                <a:solidFill>
                  <a:sysClr val="windowText" lastClr="000000"/>
                </a:solidFill>
                <a:effectLst/>
                <a:uLnTx/>
                <a:uFillTx/>
              </a:rPr>
              <a:t>quadratic</a:t>
            </a:r>
            <a:r>
              <a:rPr kumimoji="0" lang="en-US" sz="1800" b="0" i="0" u="none" strike="noStrike" kern="0" cap="none" spc="0" normalizeH="0" baseline="0" noProof="0" dirty="0">
                <a:ln>
                  <a:noFill/>
                </a:ln>
                <a:solidFill>
                  <a:sysClr val="windowText" lastClr="000000"/>
                </a:solidFill>
                <a:effectLst/>
                <a:uLnTx/>
                <a:uFillTx/>
              </a:rPr>
              <a:t> because the algorithm considers all the different pairs of an n-element array.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More formally, the number of times its </a:t>
            </a:r>
            <a:r>
              <a:rPr kumimoji="0" lang="en-US" sz="1800" b="1" i="0" u="none" strike="noStrike" kern="0" cap="none" spc="0" normalizeH="0" baseline="0" noProof="0" dirty="0">
                <a:ln>
                  <a:noFill/>
                </a:ln>
                <a:solidFill>
                  <a:sysClr val="windowText" lastClr="000000"/>
                </a:solidFill>
                <a:effectLst/>
                <a:uLnTx/>
                <a:uFillTx/>
              </a:rPr>
              <a:t>basic operation</a:t>
            </a:r>
            <a:r>
              <a:rPr kumimoji="0" lang="en-US" sz="1800" b="0" i="0" u="none" strike="noStrike" kern="0" cap="none" spc="0" normalizeH="0" baseline="0" noProof="0" dirty="0">
                <a:ln>
                  <a:noFill/>
                </a:ln>
                <a:solidFill>
                  <a:sysClr val="windowText" lastClr="000000"/>
                </a:solidFill>
                <a:effectLst/>
                <a:uLnTx/>
                <a:uFillTx/>
              </a:rPr>
              <a:t>, the </a:t>
            </a:r>
            <a:r>
              <a:rPr kumimoji="0" lang="en-US" sz="1800" b="1" i="0" u="none" strike="noStrike" kern="0" cap="none" spc="0" normalizeH="0" baseline="0" noProof="0" dirty="0">
                <a:ln>
                  <a:noFill/>
                </a:ln>
                <a:solidFill>
                  <a:sysClr val="windowText" lastClr="000000"/>
                </a:solidFill>
                <a:effectLst/>
                <a:uLnTx/>
                <a:uFillTx/>
              </a:rPr>
              <a:t>comparison</a:t>
            </a:r>
            <a:r>
              <a:rPr kumimoji="0" lang="en-US" sz="1800" b="0" i="0" u="none" strike="noStrike" kern="0" cap="none" spc="0" normalizeH="0" baseline="0" noProof="0" dirty="0">
                <a:ln>
                  <a:noFill/>
                </a:ln>
                <a:solidFill>
                  <a:sysClr val="windowText" lastClr="000000"/>
                </a:solidFill>
                <a:effectLst/>
                <a:uLnTx/>
                <a:uFillTx/>
              </a:rPr>
              <a:t> A[</a:t>
            </a:r>
            <a:r>
              <a:rPr kumimoji="0" lang="en-US" sz="1800" b="0" i="0" u="none" strike="noStrike" kern="0" cap="none" spc="0" normalizeH="0" baseline="0" noProof="0" dirty="0" err="1">
                <a:ln>
                  <a:noFill/>
                </a:ln>
                <a:solidFill>
                  <a:sysClr val="windowText" lastClr="000000"/>
                </a:solidFill>
                <a:effectLst/>
                <a:uLnTx/>
                <a:uFillTx/>
              </a:rPr>
              <a:t>i</a:t>
            </a:r>
            <a:r>
              <a:rPr kumimoji="0" lang="en-US" sz="1800" b="0" i="0" u="none" strike="noStrike" kern="0" cap="none" spc="0" normalizeH="0" baseline="0" noProof="0" dirty="0">
                <a:ln>
                  <a:noFill/>
                </a:ln>
                <a:solidFill>
                  <a:sysClr val="windowText" lastClr="000000"/>
                </a:solidFill>
                <a:effectLst/>
                <a:uLnTx/>
                <a:uFillTx/>
              </a:rPr>
              <a:t>]&lt;A[j ], is executed is equal to the sum we have encountered several times already:</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61D4379F-542B-A67F-2569-C5D4F0193E94}"/>
              </a:ext>
            </a:extLst>
          </p:cNvPr>
          <p:cNvPicPr>
            <a:picLocks noChangeAspect="1"/>
          </p:cNvPicPr>
          <p:nvPr/>
        </p:nvPicPr>
        <p:blipFill>
          <a:blip r:embed="rId3"/>
          <a:stretch>
            <a:fillRect/>
          </a:stretch>
        </p:blipFill>
        <p:spPr>
          <a:xfrm>
            <a:off x="1523324" y="4022894"/>
            <a:ext cx="6035563" cy="662997"/>
          </a:xfrm>
          <a:prstGeom prst="rect">
            <a:avLst/>
          </a:prstGeom>
        </p:spPr>
      </p:pic>
    </p:spTree>
    <p:extLst>
      <p:ext uri="{BB962C8B-B14F-4D97-AF65-F5344CB8AC3E}">
        <p14:creationId xmlns:p14="http://schemas.microsoft.com/office/powerpoint/2010/main" val="675605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CD3426A-4AE8-81DA-C594-84704F43C16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91FE6E5-BE96-16AF-DFB3-D6728486A6A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5172C241-7A16-11E5-E674-A55C400D1E2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89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1390E80F-7890-2F05-F7D1-3304F2FF429A}"/>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Thus, the algorithm makes the same number of key comparisons as selection sort and in addition uses a linear amount of extra space.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On the positive side, the algorithm makes the minimum number of key moves possible, placing each of them directly in their final position in a sorted array.</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1" i="1" u="none" strike="noStrike" kern="0" cap="none" spc="0" normalizeH="0" baseline="0" noProof="0" dirty="0">
                <a:ln>
                  <a:noFill/>
                </a:ln>
                <a:solidFill>
                  <a:sysClr val="windowText" lastClr="000000"/>
                </a:solidFill>
                <a:effectLst/>
                <a:uLnTx/>
                <a:uFillTx/>
              </a:rPr>
              <a:t>The counting idea does work productively in a situation in which elements to be sorted belong to a known small set of values</a:t>
            </a:r>
            <a:r>
              <a:rPr kumimoji="0" lang="en-US" sz="1800" b="0" i="0" u="none" strike="noStrike" kern="0" cap="none" spc="0" normalizeH="0" baseline="0" noProof="0" dirty="0">
                <a:ln>
                  <a:noFill/>
                </a:ln>
                <a:solidFill>
                  <a:sysClr val="windowText" lastClr="000000"/>
                </a:solidFill>
                <a:effectLst/>
                <a:uLnTx/>
                <a:uFillTx/>
              </a:rPr>
              <a:t>.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Assume, for example, that we have to sort a list whose values can be either 1 or 2. </a:t>
            </a:r>
          </a:p>
        </p:txBody>
      </p:sp>
    </p:spTree>
    <p:extLst>
      <p:ext uri="{BB962C8B-B14F-4D97-AF65-F5344CB8AC3E}">
        <p14:creationId xmlns:p14="http://schemas.microsoft.com/office/powerpoint/2010/main" val="6715226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37130F6-878D-1689-ADFD-90278FF3605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A84E35D-7B48-C8A6-4D9A-84BBFF055068}"/>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34EBE2FC-3886-565E-6CC9-8BB2B8559C7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106AE4B-284F-6D7D-96B9-5FCB8124394E}"/>
              </a:ext>
            </a:extLst>
          </p:cNvPr>
          <p:cNvSpPr txBox="1"/>
          <p:nvPr/>
        </p:nvSpPr>
        <p:spPr>
          <a:xfrm>
            <a:off x="232258" y="1146184"/>
            <a:ext cx="8683141"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Rather than applying a general sorting algorithm, we should be able to take advantage of this additional information about values to be sorted.</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We can scan the list to compute the number of 1’s and the number of 2’s in it and then, on the second pass, simply make the appropriate number of the first elements equal to 1 and the remaining elements equal to 2.</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More generally, if element values are integers between some lower bound </a:t>
            </a:r>
            <a:r>
              <a:rPr kumimoji="0" lang="en-US" sz="1800" b="0" i="1" u="none" strike="noStrike" kern="0" cap="none" spc="0" normalizeH="0" baseline="0" noProof="0" dirty="0">
                <a:ln>
                  <a:noFill/>
                </a:ln>
                <a:solidFill>
                  <a:sysClr val="windowText" lastClr="000000"/>
                </a:solidFill>
                <a:effectLst/>
                <a:uLnTx/>
                <a:uFillTx/>
              </a:rPr>
              <a:t>l</a:t>
            </a:r>
            <a:r>
              <a:rPr kumimoji="0" lang="en-US" sz="1800" b="0" i="0" u="none" strike="noStrike" kern="0" cap="none" spc="0" normalizeH="0" baseline="0" noProof="0" dirty="0">
                <a:ln>
                  <a:noFill/>
                </a:ln>
                <a:solidFill>
                  <a:sysClr val="windowText" lastClr="000000"/>
                </a:solidFill>
                <a:effectLst/>
                <a:uLnTx/>
                <a:uFillTx/>
              </a:rPr>
              <a:t> and upper bound </a:t>
            </a:r>
            <a:r>
              <a:rPr kumimoji="0" lang="en-US" sz="1800" b="0" i="1" u="none" strike="noStrike" kern="0" cap="none" spc="0" normalizeH="0" baseline="0" noProof="0" dirty="0">
                <a:ln>
                  <a:noFill/>
                </a:ln>
                <a:solidFill>
                  <a:sysClr val="windowText" lastClr="000000"/>
                </a:solidFill>
                <a:effectLst/>
                <a:uLnTx/>
                <a:uFillTx/>
              </a:rPr>
              <a:t>u</a:t>
            </a:r>
            <a:r>
              <a:rPr kumimoji="0" lang="en-US" sz="1800" b="0" i="0" u="none" strike="noStrike" kern="0" cap="none" spc="0" normalizeH="0" baseline="0" noProof="0" dirty="0">
                <a:ln>
                  <a:noFill/>
                </a:ln>
                <a:solidFill>
                  <a:sysClr val="windowText" lastClr="000000"/>
                </a:solidFill>
                <a:effectLst/>
                <a:uLnTx/>
                <a:uFillTx/>
              </a:rPr>
              <a:t>, we can compute the frequency of each of those values and store them in array </a:t>
            </a:r>
            <a:r>
              <a:rPr kumimoji="0" lang="en-US" sz="1800" b="0" i="1" u="none" strike="noStrike" kern="0" cap="none" spc="0" normalizeH="0" baseline="0" noProof="0" dirty="0">
                <a:ln>
                  <a:noFill/>
                </a:ln>
                <a:solidFill>
                  <a:sysClr val="windowText" lastClr="000000"/>
                </a:solidFill>
                <a:effectLst/>
                <a:uLnTx/>
                <a:uFillTx/>
              </a:rPr>
              <a:t>F[0..u − l]</a:t>
            </a:r>
            <a:r>
              <a:rPr kumimoji="0" lang="en-US" sz="1800" b="0" i="0" u="none" strike="noStrike" kern="0" cap="none" spc="0" normalizeH="0" baseline="0" noProof="0" dirty="0">
                <a:ln>
                  <a:noFill/>
                </a:ln>
                <a:solidFill>
                  <a:sysClr val="windowText" lastClr="000000"/>
                </a:solidFill>
                <a:effectLst/>
                <a:uLnTx/>
                <a:uFillTx/>
              </a:rPr>
              <a:t>.</a:t>
            </a:r>
          </a:p>
        </p:txBody>
      </p:sp>
    </p:spTree>
    <p:extLst>
      <p:ext uri="{BB962C8B-B14F-4D97-AF65-F5344CB8AC3E}">
        <p14:creationId xmlns:p14="http://schemas.microsoft.com/office/powerpoint/2010/main" val="7254076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84C11902-06D7-7EC4-E6D6-F0E12D7BE58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E1AD5CD-E2A0-FC41-D428-FE64E70A4FB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698897D5-237A-9169-0A31-E01298157E3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7BD9CB4-6194-F241-29B9-01FEAF5D4D92}"/>
              </a:ext>
            </a:extLst>
          </p:cNvPr>
          <p:cNvSpPr txBox="1"/>
          <p:nvPr/>
        </p:nvSpPr>
        <p:spPr>
          <a:xfrm>
            <a:off x="232259" y="1146184"/>
            <a:ext cx="84259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Then the first F[0] positions in the sorted list must be filled with l, the next F[1] positions with l + 1, and so on.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All this can be done, of course, only if we can overwrite the given elements.</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Let us consider a more realistic situation of sorting a list of items with some other information associated with their keys so that we cannot overwrite the list’s elements.</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Then we can copy elements into a new array S[0..n−1]to hold the sorted list as follows.</a:t>
            </a:r>
          </a:p>
        </p:txBody>
      </p:sp>
    </p:spTree>
    <p:extLst>
      <p:ext uri="{BB962C8B-B14F-4D97-AF65-F5344CB8AC3E}">
        <p14:creationId xmlns:p14="http://schemas.microsoft.com/office/powerpoint/2010/main" val="26133636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9A54714-0E87-DB93-04CE-5F66D32F021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F87DE11-C80A-BF79-DE68-2F58780A3E2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0F6E89AE-6F51-8C4C-1B3B-49814C27044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C2AF4BA-8E06-FD16-1B6A-B21A32827773}"/>
              </a:ext>
            </a:extLst>
          </p:cNvPr>
          <p:cNvSpPr txBox="1"/>
          <p:nvPr/>
        </p:nvSpPr>
        <p:spPr>
          <a:xfrm>
            <a:off x="232259" y="1146184"/>
            <a:ext cx="8425966" cy="300078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elements of A whose values are equal to the lowest possible value l are copied into the first F[0]elements of S, i.e., positions 0 through F[0]− 1; the elements of value l + 1 are copied to positions from F[0] to (F[0]+ F[1]) − 1; and so on. </a:t>
            </a:r>
          </a:p>
          <a:p>
            <a:pPr marL="380990" marR="0" lvl="0" indent="-38099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Since such accumulated </a:t>
            </a:r>
            <a:r>
              <a:rPr kumimoji="0" lang="en-US" sz="1800" b="1" i="0" u="none" strike="noStrike" kern="0" cap="none" spc="0" normalizeH="0" baseline="0" noProof="0" dirty="0">
                <a:ln>
                  <a:noFill/>
                </a:ln>
                <a:solidFill>
                  <a:sysClr val="windowText" lastClr="000000"/>
                </a:solidFill>
                <a:effectLst/>
                <a:uLnTx/>
                <a:uFillTx/>
              </a:rPr>
              <a:t>sums of frequencies are called a distribution </a:t>
            </a:r>
            <a:r>
              <a:rPr kumimoji="0" lang="en-US" sz="1800" b="0" i="0" u="none" strike="noStrike" kern="0" cap="none" spc="0" normalizeH="0" baseline="0" noProof="0" dirty="0">
                <a:ln>
                  <a:noFill/>
                </a:ln>
                <a:solidFill>
                  <a:sysClr val="windowText" lastClr="000000"/>
                </a:solidFill>
                <a:effectLst/>
                <a:uLnTx/>
                <a:uFillTx/>
              </a:rPr>
              <a:t>in statistics, the method itself is known as </a:t>
            </a:r>
            <a:r>
              <a:rPr kumimoji="0" lang="en-US" sz="1800" b="1" i="0" u="none" strike="noStrike" kern="0" cap="none" spc="0" normalizeH="0" baseline="0" noProof="0" dirty="0">
                <a:ln>
                  <a:noFill/>
                </a:ln>
                <a:solidFill>
                  <a:sysClr val="windowText" lastClr="000000"/>
                </a:solidFill>
                <a:effectLst/>
                <a:uLnTx/>
                <a:uFillTx/>
              </a:rPr>
              <a:t>distribution counting</a:t>
            </a:r>
            <a:r>
              <a:rPr kumimoji="0" lang="en-US" sz="1800" b="0" i="0" u="none" strike="noStrike" kern="0" cap="none" spc="0" normalizeH="0" baseline="0" noProof="0" dirty="0">
                <a:ln>
                  <a:noFill/>
                </a:ln>
                <a:solidFill>
                  <a:sysClr val="windowText" lastClr="000000"/>
                </a:solidFill>
                <a:effectLst/>
                <a:uLnTx/>
                <a:uFillTx/>
              </a:rPr>
              <a:t>.</a:t>
            </a:r>
          </a:p>
        </p:txBody>
      </p:sp>
    </p:spTree>
    <p:extLst>
      <p:ext uri="{BB962C8B-B14F-4D97-AF65-F5344CB8AC3E}">
        <p14:creationId xmlns:p14="http://schemas.microsoft.com/office/powerpoint/2010/main" val="39696984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749CD8F-8FDB-9688-6840-01DBE8461E8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549E60C-07BB-9E8F-5FC7-DC0CE234258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A566148-D9AF-C98B-691A-03F22C74329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4661395-CD7E-26CE-9E80-67DDCF6229FB}"/>
              </a:ext>
            </a:extLst>
          </p:cNvPr>
          <p:cNvSpPr txBox="1"/>
          <p:nvPr/>
        </p:nvSpPr>
        <p:spPr>
          <a:xfrm>
            <a:off x="232259" y="1146184"/>
            <a:ext cx="8425966"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1"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36E7A6A0-27F9-6922-9356-BC450641B84F}"/>
              </a:ext>
            </a:extLst>
          </p:cNvPr>
          <p:cNvPicPr>
            <a:picLocks noChangeAspect="1"/>
          </p:cNvPicPr>
          <p:nvPr/>
        </p:nvPicPr>
        <p:blipFill>
          <a:blip r:embed="rId3"/>
          <a:stretch>
            <a:fillRect/>
          </a:stretch>
        </p:blipFill>
        <p:spPr>
          <a:xfrm>
            <a:off x="1094619" y="1634901"/>
            <a:ext cx="6454699" cy="1889924"/>
          </a:xfrm>
          <a:prstGeom prst="rect">
            <a:avLst/>
          </a:prstGeom>
        </p:spPr>
      </p:pic>
      <p:pic>
        <p:nvPicPr>
          <p:cNvPr id="6" name="Picture 5">
            <a:extLst>
              <a:ext uri="{FF2B5EF4-FFF2-40B4-BE49-F238E27FC236}">
                <a16:creationId xmlns:a16="http://schemas.microsoft.com/office/drawing/2014/main" id="{8572305C-FBC0-9EDA-FF7A-C54E0A62ECB1}"/>
              </a:ext>
            </a:extLst>
          </p:cNvPr>
          <p:cNvPicPr>
            <a:picLocks noChangeAspect="1"/>
          </p:cNvPicPr>
          <p:nvPr/>
        </p:nvPicPr>
        <p:blipFill>
          <a:blip r:embed="rId4"/>
          <a:stretch>
            <a:fillRect/>
          </a:stretch>
        </p:blipFill>
        <p:spPr>
          <a:xfrm>
            <a:off x="2581612" y="3524825"/>
            <a:ext cx="3223539" cy="1242168"/>
          </a:xfrm>
          <a:prstGeom prst="rect">
            <a:avLst/>
          </a:prstGeom>
        </p:spPr>
      </p:pic>
    </p:spTree>
    <p:extLst>
      <p:ext uri="{BB962C8B-B14F-4D97-AF65-F5344CB8AC3E}">
        <p14:creationId xmlns:p14="http://schemas.microsoft.com/office/powerpoint/2010/main" val="827164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1511308-A30F-D27B-DFE5-6C78C1DBA13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708162E-4D40-34C8-E5E7-94EA6F6A4874}"/>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E7E59284-4A8F-9D7C-9310-E2400FFD0E8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15804DB-AAC0-80FD-71A5-8F6A362BC5EF}"/>
              </a:ext>
            </a:extLst>
          </p:cNvPr>
          <p:cNvSpPr txBox="1"/>
          <p:nvPr/>
        </p:nvSpPr>
        <p:spPr>
          <a:xfrm>
            <a:off x="232259" y="1146184"/>
            <a:ext cx="8425966"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Note that the distribution values indicate the proper positions for the last occurrences of their elements in the final sorted array.</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If we index array positions from 0 to n − 1, the distribution values must be reduced by 1 to get corresponding element positions.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It is more convenient to process the input array right to left.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For the example, the last element is 12, and, since its distribution value is 4, we place this 12 in position 4 − 1= 3 of the array S that will hold the sorted list. </a:t>
            </a:r>
          </a:p>
        </p:txBody>
      </p:sp>
    </p:spTree>
    <p:extLst>
      <p:ext uri="{BB962C8B-B14F-4D97-AF65-F5344CB8AC3E}">
        <p14:creationId xmlns:p14="http://schemas.microsoft.com/office/powerpoint/2010/main" val="32685354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E74214B-EFEA-7DAB-93A0-5C3B0D2E20B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2979C80-40E0-C5C2-1067-E34175D41AC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9BE6C93F-4E3B-8E23-BC93-4195320DF20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FA39A50C-63B7-AF34-E30A-8BB24815922A}"/>
              </a:ext>
            </a:extLst>
          </p:cNvPr>
          <p:cNvSpPr txBox="1"/>
          <p:nvPr/>
        </p:nvSpPr>
        <p:spPr>
          <a:xfrm>
            <a:off x="232259" y="1146184"/>
            <a:ext cx="8425966" cy="2169784"/>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Then we decrease the 12’s distribution value by 1 and proceed to the next (from the right) element in the given array.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The entire processing of this example is depicted in Figure 7.2.</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3" name="Picture 2">
            <a:extLst>
              <a:ext uri="{FF2B5EF4-FFF2-40B4-BE49-F238E27FC236}">
                <a16:creationId xmlns:a16="http://schemas.microsoft.com/office/drawing/2014/main" id="{E4E33F4D-535D-1F0D-F404-5B54C6954A51}"/>
              </a:ext>
            </a:extLst>
          </p:cNvPr>
          <p:cNvPicPr>
            <a:picLocks noChangeAspect="1"/>
          </p:cNvPicPr>
          <p:nvPr/>
        </p:nvPicPr>
        <p:blipFill>
          <a:blip r:embed="rId3"/>
          <a:stretch>
            <a:fillRect/>
          </a:stretch>
        </p:blipFill>
        <p:spPr>
          <a:xfrm>
            <a:off x="1137481" y="2893887"/>
            <a:ext cx="6454699" cy="1966130"/>
          </a:xfrm>
          <a:prstGeom prst="rect">
            <a:avLst/>
          </a:prstGeom>
        </p:spPr>
      </p:pic>
    </p:spTree>
    <p:extLst>
      <p:ext uri="{BB962C8B-B14F-4D97-AF65-F5344CB8AC3E}">
        <p14:creationId xmlns:p14="http://schemas.microsoft.com/office/powerpoint/2010/main" val="29601325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A3CB07C-DCBD-65F0-E0E0-E563D0DC542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E185B42-AD0B-5627-7FD5-BF57E9E52FB8}"/>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A2F8D6D-5C16-20D4-9358-1EC00BB7866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3C3129E-ABC3-78DA-8C93-719E26AF6032}"/>
              </a:ext>
            </a:extLst>
          </p:cNvPr>
          <p:cNvSpPr txBox="1"/>
          <p:nvPr/>
        </p:nvSpPr>
        <p:spPr>
          <a:xfrm>
            <a:off x="232259" y="1146184"/>
            <a:ext cx="8425966" cy="133878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9" name="Picture 8">
            <a:extLst>
              <a:ext uri="{FF2B5EF4-FFF2-40B4-BE49-F238E27FC236}">
                <a16:creationId xmlns:a16="http://schemas.microsoft.com/office/drawing/2014/main" id="{0E480794-CA8D-5371-0633-A6C4177E7990}"/>
              </a:ext>
            </a:extLst>
          </p:cNvPr>
          <p:cNvPicPr>
            <a:picLocks noChangeAspect="1"/>
          </p:cNvPicPr>
          <p:nvPr/>
        </p:nvPicPr>
        <p:blipFill>
          <a:blip r:embed="rId3"/>
          <a:stretch>
            <a:fillRect/>
          </a:stretch>
        </p:blipFill>
        <p:spPr>
          <a:xfrm>
            <a:off x="1440874" y="1655303"/>
            <a:ext cx="6325148" cy="3261643"/>
          </a:xfrm>
          <a:prstGeom prst="rect">
            <a:avLst/>
          </a:prstGeom>
        </p:spPr>
      </p:pic>
    </p:spTree>
    <p:extLst>
      <p:ext uri="{BB962C8B-B14F-4D97-AF65-F5344CB8AC3E}">
        <p14:creationId xmlns:p14="http://schemas.microsoft.com/office/powerpoint/2010/main" val="9495811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DD88F54-AE24-BE1A-3918-5C6A8B4B08B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5B459B4-0455-11BC-2EE0-9A0938D6642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1C5C4325-C991-8969-7BCD-15D1F6FCC0E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29772ED-F8EB-91C7-BE7F-44B224463819}"/>
              </a:ext>
            </a:extLst>
          </p:cNvPr>
          <p:cNvSpPr txBox="1"/>
          <p:nvPr/>
        </p:nvSpPr>
        <p:spPr>
          <a:xfrm>
            <a:off x="232258" y="1146184"/>
            <a:ext cx="8726003"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rPr>
              <a:t>Sorting by Counting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Assuming that the range of array values is fixed, this is obviously a linear algorithm because it makes just two consecutive passes through its input array A.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This is a </a:t>
            </a:r>
            <a:r>
              <a:rPr kumimoji="0" lang="en-US" sz="1800" b="1" i="0" u="none" strike="noStrike" kern="0" cap="none" spc="0" normalizeH="0" baseline="0" noProof="0" dirty="0">
                <a:ln>
                  <a:noFill/>
                </a:ln>
                <a:solidFill>
                  <a:sysClr val="windowText" lastClr="000000"/>
                </a:solidFill>
                <a:effectLst/>
                <a:uLnTx/>
                <a:uFillTx/>
              </a:rPr>
              <a:t>better time-efficiency class than that of the most efficient sorting algorithms—merge sort, quicksort, and heapsort—we have encountered</a:t>
            </a:r>
            <a:r>
              <a:rPr kumimoji="0" lang="en-US" sz="1800" b="0" i="0" u="none" strike="noStrike" kern="0" cap="none" spc="0" normalizeH="0" baseline="0" noProof="0" dirty="0">
                <a:ln>
                  <a:noFill/>
                </a:ln>
                <a:solidFill>
                  <a:sysClr val="windowText" lastClr="000000"/>
                </a:solidFill>
                <a:effectLst/>
                <a:uLnTx/>
                <a:uFillTx/>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rPr>
              <a:t>It is important to remember, however, that this </a:t>
            </a:r>
            <a:r>
              <a:rPr kumimoji="0" lang="en-US" sz="1800" b="1" i="0" u="none" strike="noStrike" kern="0" cap="none" spc="0" normalizeH="0" baseline="0" noProof="0" dirty="0">
                <a:ln>
                  <a:noFill/>
                </a:ln>
                <a:solidFill>
                  <a:sysClr val="windowText" lastClr="000000"/>
                </a:solidFill>
                <a:effectLst/>
                <a:uLnTx/>
                <a:uFillTx/>
              </a:rPr>
              <a:t>efficiency is obtained by exploiting the specific nature of inputs for which sorting by distribution counting works</a:t>
            </a:r>
            <a:r>
              <a:rPr kumimoji="0" lang="en-US" sz="1800" b="0" i="0" u="none" strike="noStrike" kern="0" cap="none" spc="0" normalizeH="0" baseline="0" noProof="0" dirty="0">
                <a:ln>
                  <a:noFill/>
                </a:ln>
                <a:solidFill>
                  <a:sysClr val="windowText" lastClr="000000"/>
                </a:solidFill>
                <a:effectLst/>
                <a:uLnTx/>
                <a:uFillTx/>
              </a:rPr>
              <a:t>, in addition to trading space for time.</a:t>
            </a:r>
          </a:p>
        </p:txBody>
      </p:sp>
    </p:spTree>
    <p:extLst>
      <p:ext uri="{BB962C8B-B14F-4D97-AF65-F5344CB8AC3E}">
        <p14:creationId xmlns:p14="http://schemas.microsoft.com/office/powerpoint/2010/main" val="24337828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3DD88F54-AE24-BE1A-3918-5C6A8B4B08B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5B459B4-0455-11BC-2EE0-9A0938D6642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Questions for practice</a:t>
            </a:r>
          </a:p>
        </p:txBody>
      </p:sp>
      <p:sp>
        <p:nvSpPr>
          <p:cNvPr id="369" name="Google Shape;369;p42">
            <a:extLst>
              <a:ext uri="{FF2B5EF4-FFF2-40B4-BE49-F238E27FC236}">
                <a16:creationId xmlns:a16="http://schemas.microsoft.com/office/drawing/2014/main" id="{1C5C4325-C991-8969-7BCD-15D1F6FCC0E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98</a:t>
            </a:fld>
            <a:endParaRPr kumimoji="0" sz="1800" b="0" i="0" u="none" strike="noStrike" kern="0" cap="none" spc="0" normalizeH="0" baseline="0" noProof="0">
              <a:ln>
                <a:noFill/>
              </a:ln>
              <a:solidFill>
                <a:sysClr val="windowText" lastClr="000000"/>
              </a:solidFill>
              <a:effectLst/>
              <a:uLnTx/>
              <a:uFillTx/>
            </a:endParaRPr>
          </a:p>
        </p:txBody>
      </p:sp>
      <p:pic>
        <p:nvPicPr>
          <p:cNvPr id="2" name="Picture 1"/>
          <p:cNvPicPr>
            <a:picLocks noChangeAspect="1"/>
          </p:cNvPicPr>
          <p:nvPr/>
        </p:nvPicPr>
        <p:blipFill>
          <a:blip r:embed="rId3"/>
          <a:stretch>
            <a:fillRect/>
          </a:stretch>
        </p:blipFill>
        <p:spPr>
          <a:xfrm>
            <a:off x="498218" y="1395620"/>
            <a:ext cx="8029575" cy="1162050"/>
          </a:xfrm>
          <a:prstGeom prst="rect">
            <a:avLst/>
          </a:prstGeom>
        </p:spPr>
      </p:pic>
    </p:spTree>
    <p:extLst>
      <p:ext uri="{BB962C8B-B14F-4D97-AF65-F5344CB8AC3E}">
        <p14:creationId xmlns:p14="http://schemas.microsoft.com/office/powerpoint/2010/main" val="13622670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85738" y="2317110"/>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99</a:t>
            </a:fld>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0481812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712F8CA-994D-706E-7C25-267AC58B6A3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F529037-1329-D6C6-C649-43EC70E8D03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7A2FF5-C93B-F94C-FB30-63735B41E59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F97FB2-1037-5C98-88E5-931F7395349C}"/>
              </a:ext>
            </a:extLst>
          </p:cNvPr>
          <p:cNvSpPr txBox="1"/>
          <p:nvPr/>
        </p:nvSpPr>
        <p:spPr>
          <a:xfrm>
            <a:off x="232258" y="1146184"/>
            <a:ext cx="8647423" cy="3093114"/>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Input Enhancement in String Matching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In </a:t>
            </a:r>
            <a:r>
              <a:rPr kumimoji="0" lang="en-US" sz="1600" b="0" i="0" u="none" strike="noStrike" kern="0" cap="none" spc="0" normalizeH="0" baseline="0" noProof="0" dirty="0">
                <a:ln>
                  <a:noFill/>
                </a:ln>
                <a:solidFill>
                  <a:sysClr val="windowText" lastClr="000000"/>
                </a:solidFill>
                <a:effectLst/>
                <a:uLnTx/>
                <a:uFillTx/>
                <a:latin typeface="+mn-lt"/>
              </a:rPr>
              <a:t>this</a:t>
            </a:r>
            <a:r>
              <a:rPr kumimoji="0" lang="en-US" sz="1600" b="0" i="0" u="none" strike="noStrike" kern="0" cap="none" spc="0" normalizeH="0" baseline="0" noProof="0" dirty="0">
                <a:ln>
                  <a:noFill/>
                </a:ln>
                <a:solidFill>
                  <a:sysClr val="windowText" lastClr="000000"/>
                </a:solidFill>
                <a:effectLst/>
                <a:uLnTx/>
                <a:uFillTx/>
                <a:latin typeface="+mj-lt"/>
              </a:rPr>
              <a:t> section, we see how the technique of input enhancement can be applied to the problem of string matching.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Recall that the problem of string matching requires finding an occurrence of a given string of m characters called the </a:t>
            </a:r>
            <a:r>
              <a:rPr kumimoji="0" lang="en-US" sz="1600" b="1" i="1" u="none" strike="noStrike" kern="0" cap="none" spc="0" normalizeH="0" baseline="0" noProof="0" dirty="0">
                <a:ln>
                  <a:noFill/>
                </a:ln>
                <a:solidFill>
                  <a:sysClr val="windowText" lastClr="000000"/>
                </a:solidFill>
                <a:effectLst/>
                <a:uLnTx/>
                <a:uFillTx/>
                <a:latin typeface="+mj-lt"/>
              </a:rPr>
              <a:t>pattern</a:t>
            </a:r>
            <a:r>
              <a:rPr kumimoji="0" lang="en-US" sz="1600" b="0" i="0" u="none" strike="noStrike" kern="0" cap="none" spc="0" normalizeH="0" baseline="0" noProof="0" dirty="0">
                <a:ln>
                  <a:noFill/>
                </a:ln>
                <a:solidFill>
                  <a:sysClr val="windowText" lastClr="000000"/>
                </a:solidFill>
                <a:effectLst/>
                <a:uLnTx/>
                <a:uFillTx/>
                <a:latin typeface="+mj-lt"/>
              </a:rPr>
              <a:t> in a longer string of n characters called the </a:t>
            </a:r>
            <a:r>
              <a:rPr kumimoji="0" lang="en-US" sz="1600" b="1" i="1" u="none" strike="noStrike" kern="0" cap="none" spc="0" normalizeH="0" baseline="0" noProof="0" dirty="0">
                <a:ln>
                  <a:noFill/>
                </a:ln>
                <a:solidFill>
                  <a:sysClr val="windowText" lastClr="000000"/>
                </a:solidFill>
                <a:effectLst/>
                <a:uLnTx/>
                <a:uFillTx/>
                <a:latin typeface="+mj-lt"/>
              </a:rPr>
              <a:t>text</a:t>
            </a:r>
            <a:r>
              <a:rPr kumimoji="0" lang="en-US" sz="1600" b="0" i="0" u="none" strike="noStrike" kern="0" cap="none" spc="0" normalizeH="0" baseline="0" noProof="0" dirty="0">
                <a:ln>
                  <a:noFill/>
                </a:ln>
                <a:solidFill>
                  <a:sysClr val="windowText" lastClr="000000"/>
                </a:solidFill>
                <a:effectLst/>
                <a:uLnTx/>
                <a:uFillTx/>
                <a:latin typeface="+mj-lt"/>
              </a:rPr>
              <a: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j-lt"/>
              </a:rPr>
              <a:t>We discussed the brute-force algorithm for this problem earlier: it simply matches corresponding pairs of characters in the pattern and the text left to right and, if a mismatch occurs, shifts the pattern one position to the right for the next trial. </a:t>
            </a:r>
          </a:p>
        </p:txBody>
      </p:sp>
    </p:spTree>
    <p:extLst>
      <p:ext uri="{BB962C8B-B14F-4D97-AF65-F5344CB8AC3E}">
        <p14:creationId xmlns:p14="http://schemas.microsoft.com/office/powerpoint/2010/main" val="31410328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7C67931-8F21-208E-A7A9-18951186683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52C1F87-83A4-5B50-355A-6C074B89B1B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09076DF6-7665-87E5-2968-50717CABD7E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EA06B42-8D2E-DFDE-CF0C-F4E08CEC53E6}"/>
              </a:ext>
            </a:extLst>
          </p:cNvPr>
          <p:cNvSpPr txBox="1"/>
          <p:nvPr/>
        </p:nvSpPr>
        <p:spPr>
          <a:xfrm>
            <a:off x="232259" y="1146184"/>
            <a:ext cx="8654566" cy="4062610"/>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Input Enhancement in String Matching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Since the maximum number of such trials is n − m + 1 and, in the worst case, m comparisons need to be made on each of them, the worst-case efficiency of the brute-force algorithm is in the O(</a:t>
            </a:r>
            <a:r>
              <a:rPr kumimoji="0" lang="en-US" sz="1700" b="0" i="1" u="none" strike="noStrike" kern="0" cap="none" spc="0" normalizeH="0" baseline="0" noProof="0" dirty="0">
                <a:ln>
                  <a:noFill/>
                </a:ln>
                <a:solidFill>
                  <a:sysClr val="windowText" lastClr="000000"/>
                </a:solidFill>
                <a:effectLst/>
                <a:uLnTx/>
                <a:uFillTx/>
                <a:latin typeface="+mj-lt"/>
              </a:rPr>
              <a:t>nm</a:t>
            </a:r>
            <a:r>
              <a:rPr kumimoji="0" lang="en-US" sz="1700" b="0" i="0" u="none" strike="noStrike" kern="0" cap="none" spc="0" normalizeH="0" baseline="0" noProof="0" dirty="0">
                <a:ln>
                  <a:noFill/>
                </a:ln>
                <a:solidFill>
                  <a:sysClr val="windowText" lastClr="000000"/>
                </a:solidFill>
                <a:effectLst/>
                <a:uLnTx/>
                <a:uFillTx/>
                <a:latin typeface="+mj-lt"/>
              </a:rPr>
              <a:t>) class.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On average, however, we should expect just a few comparisons before a pattern’s shift, and for random natural-language texts, the average-case efficiency indeed turns out to be in O(n + 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j-lt"/>
              </a:rPr>
              <a:t>Several faster algorithms exploit the input-enhancement idea: preprocess the pattern to get some information about it, store this information in a table, and then use this information during an actual search for the pattern in a given text</a:t>
            </a:r>
            <a:r>
              <a:rPr kumimoji="0" lang="en-US" sz="1800" b="0" i="0" u="none" strike="noStrike" kern="0" cap="none" spc="0" normalizeH="0" baseline="0" noProof="0" dirty="0">
                <a:ln>
                  <a:noFill/>
                </a:ln>
                <a:solidFill>
                  <a:sysClr val="windowText" lastClr="000000"/>
                </a:solidFill>
                <a:effectLst/>
                <a:uLnTx/>
                <a:uFillTx/>
                <a:latin typeface="+mj-lt"/>
              </a:rPr>
              <a:t>. </a:t>
            </a:r>
          </a:p>
        </p:txBody>
      </p:sp>
    </p:spTree>
    <p:extLst>
      <p:ext uri="{BB962C8B-B14F-4D97-AF65-F5344CB8AC3E}">
        <p14:creationId xmlns:p14="http://schemas.microsoft.com/office/powerpoint/2010/main" val="177842689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61D6D8F-FEF7-3C39-0922-D4F3050553A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C9C3CBE-8AA1-CCD4-1A2D-644E81B8555F}"/>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DE77DDA-9745-85F9-86A8-7892DF61532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F792D27-104D-89E3-6776-C1C83F839CC1}"/>
              </a:ext>
            </a:extLst>
          </p:cNvPr>
          <p:cNvSpPr txBox="1"/>
          <p:nvPr/>
        </p:nvSpPr>
        <p:spPr>
          <a:xfrm>
            <a:off x="232259" y="1146184"/>
            <a:ext cx="86545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Input Enhancement in String Matching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This is exactly the idea behind the two best-known algorithms of this type: the Knuth-Morris-Pratt algorithm and the 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 principal difference between these two algorithms lies in the way they compare characters of a pattern with their counterparts in a text: the Knuth-Morris-Pratt algorithm does it left to right, whereas the </a:t>
            </a:r>
            <a:r>
              <a:rPr kumimoji="0" lang="en-US" sz="1800" b="1" i="0" u="none" strike="noStrike" kern="0" cap="none" spc="0" normalizeH="0" baseline="0" noProof="0" dirty="0">
                <a:ln>
                  <a:noFill/>
                </a:ln>
                <a:solidFill>
                  <a:sysClr val="windowText" lastClr="000000"/>
                </a:solidFill>
                <a:effectLst/>
                <a:uLnTx/>
                <a:uFillTx/>
                <a:latin typeface="+mj-lt"/>
              </a:rPr>
              <a:t>Boyer-Moore algorithm does it right to left.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Since the latter idea leads to simpler algorithms, it is the only one that we will pursue here. </a:t>
            </a:r>
          </a:p>
        </p:txBody>
      </p:sp>
    </p:spTree>
    <p:extLst>
      <p:ext uri="{BB962C8B-B14F-4D97-AF65-F5344CB8AC3E}">
        <p14:creationId xmlns:p14="http://schemas.microsoft.com/office/powerpoint/2010/main" val="21009776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0C22447-4810-D269-3976-3E815866B01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AD0BCC3-61B8-B972-1488-423871B9A830}"/>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E3EB922-9D52-F0C0-C0FC-DEC44238135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DBDB8F-7AB4-E6E0-ED7C-1F45EB6E3B85}"/>
              </a:ext>
            </a:extLst>
          </p:cNvPr>
          <p:cNvSpPr txBox="1"/>
          <p:nvPr/>
        </p:nvSpPr>
        <p:spPr>
          <a:xfrm>
            <a:off x="232259" y="1146184"/>
            <a:ext cx="8654566" cy="341627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Input Enhancement in String Matching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Note that the Boyer-Moore algorithm starts by aligning the pattern against the beginning characters of the text; if the first trial fails, it shifts the pattern to the right.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It is comparisons within a trial that the algorithm does right to left, starting with the last character in the pattern.</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Although the underlying idea of the Boyer-Moore algorithm is simple, its actual implementation in a working method is less so. </a:t>
            </a:r>
          </a:p>
        </p:txBody>
      </p:sp>
    </p:spTree>
    <p:extLst>
      <p:ext uri="{BB962C8B-B14F-4D97-AF65-F5344CB8AC3E}">
        <p14:creationId xmlns:p14="http://schemas.microsoft.com/office/powerpoint/2010/main" val="23788516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0C22447-4810-D269-3976-3E815866B01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AD0BCC3-61B8-B972-1488-423871B9A830}"/>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E3EB922-9D52-F0C0-C0FC-DEC44238135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DBDB8F-7AB4-E6E0-ED7C-1F45EB6E3B85}"/>
              </a:ext>
            </a:extLst>
          </p:cNvPr>
          <p:cNvSpPr txBox="1"/>
          <p:nvPr/>
        </p:nvSpPr>
        <p:spPr>
          <a:xfrm>
            <a:off x="232259" y="1146184"/>
            <a:ext cx="8654566" cy="2169784"/>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j-lt"/>
              </a:rPr>
              <a:t>Input Enhancement in String Matching</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Therefore, we start our discussion with a simplified version of the Boyer-Moore algorithm suggested by R. </a:t>
            </a:r>
            <a:r>
              <a:rPr kumimoji="0" lang="en-US" sz="1800" b="0" i="0" u="none" strike="noStrike" kern="0" cap="none" spc="0" normalizeH="0" baseline="0" noProof="0" dirty="0" err="1">
                <a:ln>
                  <a:noFill/>
                </a:ln>
                <a:solidFill>
                  <a:sysClr val="windowText" lastClr="000000"/>
                </a:solidFill>
                <a:effectLst/>
                <a:uLnTx/>
                <a:uFillTx/>
                <a:latin typeface="+mj-lt"/>
              </a:rPr>
              <a:t>Horspool</a:t>
            </a:r>
            <a:r>
              <a:rPr kumimoji="0" lang="en-US" sz="1800" b="0" i="0" u="none" strike="noStrike" kern="0" cap="none" spc="0" normalizeH="0" baseline="0" noProof="0" dirty="0">
                <a:ln>
                  <a:noFill/>
                </a:ln>
                <a:solidFill>
                  <a:sysClr val="windowText" lastClr="000000"/>
                </a:solidFill>
                <a:effectLst/>
                <a:uLnTx/>
                <a:uFillTx/>
                <a:latin typeface="+mj-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800" b="0" i="0" u="none" strike="noStrike" kern="0" cap="none" spc="0" normalizeH="0" baseline="0" noProof="0" dirty="0">
                <a:ln>
                  <a:noFill/>
                </a:ln>
                <a:solidFill>
                  <a:sysClr val="windowText" lastClr="000000"/>
                </a:solidFill>
                <a:effectLst/>
                <a:uLnTx/>
                <a:uFillTx/>
                <a:latin typeface="+mj-lt"/>
              </a:rPr>
              <a:t>In addition to being simpler, Horspool’s algorithm is not necessarily less efficient than the Boyer-Moore algorithm on random strings.</a:t>
            </a:r>
          </a:p>
        </p:txBody>
      </p:sp>
    </p:spTree>
    <p:extLst>
      <p:ext uri="{BB962C8B-B14F-4D97-AF65-F5344CB8AC3E}">
        <p14:creationId xmlns:p14="http://schemas.microsoft.com/office/powerpoint/2010/main" val="273330098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8215DE1-B285-D773-95FA-27B3B50C8CD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5786506-1DA8-D6EF-3E2F-7916FDA86A5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AB86C790-2B77-B829-99A6-AE5F2529FE0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33BED98-3E95-0B3B-2DA2-3EABFF04E59E}"/>
              </a:ext>
            </a:extLst>
          </p:cNvPr>
          <p:cNvSpPr txBox="1"/>
          <p:nvPr/>
        </p:nvSpPr>
        <p:spPr>
          <a:xfrm>
            <a:off x="122842" y="1046172"/>
            <a:ext cx="8654566" cy="3277780"/>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Consider, as an example, searching for the pattern BARBER in some text:</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Starting with the last R of the pattern and moving right to left, we compare the corresponding pairs of characters in the pattern and the text.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If all the pattern’s characters match successfully, a matching substring is found.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Then the search can be either stopped altogether or continued if another occurrence of the same pattern is desired. </a:t>
            </a:r>
          </a:p>
        </p:txBody>
      </p:sp>
      <p:pic>
        <p:nvPicPr>
          <p:cNvPr id="3" name="Picture 2">
            <a:extLst>
              <a:ext uri="{FF2B5EF4-FFF2-40B4-BE49-F238E27FC236}">
                <a16:creationId xmlns:a16="http://schemas.microsoft.com/office/drawing/2014/main" id="{2A83F902-F83C-5281-96FC-03F32D458890}"/>
              </a:ext>
            </a:extLst>
          </p:cNvPr>
          <p:cNvPicPr>
            <a:picLocks noChangeAspect="1"/>
          </p:cNvPicPr>
          <p:nvPr/>
        </p:nvPicPr>
        <p:blipFill>
          <a:blip r:embed="rId3"/>
          <a:stretch>
            <a:fillRect/>
          </a:stretch>
        </p:blipFill>
        <p:spPr>
          <a:xfrm>
            <a:off x="2408658" y="1860785"/>
            <a:ext cx="3215919" cy="502964"/>
          </a:xfrm>
          <a:prstGeom prst="rect">
            <a:avLst/>
          </a:prstGeom>
        </p:spPr>
      </p:pic>
    </p:spTree>
    <p:extLst>
      <p:ext uri="{BB962C8B-B14F-4D97-AF65-F5344CB8AC3E}">
        <p14:creationId xmlns:p14="http://schemas.microsoft.com/office/powerpoint/2010/main" val="111129945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8215DE1-B285-D773-95FA-27B3B50C8CD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5786506-1DA8-D6EF-3E2F-7916FDA86A5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AB86C790-2B77-B829-99A6-AE5F2529FE0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33BED98-3E95-0B3B-2DA2-3EABFF04E59E}"/>
              </a:ext>
            </a:extLst>
          </p:cNvPr>
          <p:cNvSpPr txBox="1"/>
          <p:nvPr/>
        </p:nvSpPr>
        <p:spPr>
          <a:xfrm>
            <a:off x="122842" y="1046172"/>
            <a:ext cx="8654566"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If a mismatch occurs, we need to shift the pattern to the right.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Clearly, we would like to make as large a shift as possible without risking the possibility of  missing a matching substring in the text.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err="1">
                <a:ln>
                  <a:noFill/>
                </a:ln>
                <a:solidFill>
                  <a:sysClr val="windowText" lastClr="000000"/>
                </a:solidFill>
                <a:effectLst/>
                <a:uLnTx/>
                <a:uFillTx/>
                <a:latin typeface="+mn-lt"/>
              </a:rPr>
              <a:t>Horspool’s</a:t>
            </a:r>
            <a:r>
              <a:rPr kumimoji="0" lang="en-US" sz="1700" b="0" i="0" u="none" strike="noStrike" kern="0" cap="none" spc="0" normalizeH="0" baseline="0" noProof="0" dirty="0">
                <a:ln>
                  <a:noFill/>
                </a:ln>
                <a:solidFill>
                  <a:sysClr val="windowText" lastClr="000000"/>
                </a:solidFill>
                <a:effectLst/>
                <a:uLnTx/>
                <a:uFillTx/>
                <a:latin typeface="+mn-lt"/>
              </a:rPr>
              <a:t> algorithm determines the size of such a shift by looking at the character c of the text that is aligned against the last character of the pattern.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rPr>
              <a:t>This is the case even if character c itself matches its counterpart in the pattern.</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rPr>
              <a:t>In general, the following four possibilities can occur.</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spTree>
    <p:extLst>
      <p:ext uri="{BB962C8B-B14F-4D97-AF65-F5344CB8AC3E}">
        <p14:creationId xmlns:p14="http://schemas.microsoft.com/office/powerpoint/2010/main" val="4065578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821AD6C-4B06-543F-D0ED-912CB250F54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8DE8A31-B83A-6779-A609-E41D081782FC}"/>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56DDDF-E267-1339-98EC-C1E00DEB7D8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B635F8F-4E90-6F67-BB8B-479B4C2DBDC2}"/>
              </a:ext>
            </a:extLst>
          </p:cNvPr>
          <p:cNvSpPr txBox="1"/>
          <p:nvPr/>
        </p:nvSpPr>
        <p:spPr>
          <a:xfrm>
            <a:off x="122842" y="1046172"/>
            <a:ext cx="8654566" cy="2492950"/>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Case 1 If there are no c’s in the pattern—e.g., c is letter S in our example—we can safely shift the pattern by its entire length (if we shift less, some character of the pattern would be aligned against the text’s character c that is known not to be in the pattern):</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n-lt"/>
            </a:endParaRPr>
          </a:p>
        </p:txBody>
      </p:sp>
      <p:pic>
        <p:nvPicPr>
          <p:cNvPr id="5" name="Picture 4">
            <a:extLst>
              <a:ext uri="{FF2B5EF4-FFF2-40B4-BE49-F238E27FC236}">
                <a16:creationId xmlns:a16="http://schemas.microsoft.com/office/drawing/2014/main" id="{F32F5FD1-F24A-E39D-71BE-2AEE8D7AAA69}"/>
              </a:ext>
            </a:extLst>
          </p:cNvPr>
          <p:cNvPicPr>
            <a:picLocks noChangeAspect="1"/>
          </p:cNvPicPr>
          <p:nvPr/>
        </p:nvPicPr>
        <p:blipFill>
          <a:blip r:embed="rId3"/>
          <a:stretch>
            <a:fillRect/>
          </a:stretch>
        </p:blipFill>
        <p:spPr>
          <a:xfrm>
            <a:off x="1910478" y="3253369"/>
            <a:ext cx="5338575" cy="1119528"/>
          </a:xfrm>
          <a:prstGeom prst="rect">
            <a:avLst/>
          </a:prstGeom>
        </p:spPr>
      </p:pic>
    </p:spTree>
    <p:extLst>
      <p:ext uri="{BB962C8B-B14F-4D97-AF65-F5344CB8AC3E}">
        <p14:creationId xmlns:p14="http://schemas.microsoft.com/office/powerpoint/2010/main" val="177100694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C367459-CDCD-5D63-0527-66987DDDBE2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652A23B-2157-CC66-F7A8-D98B2E995682}"/>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D452DE0B-9FD5-0C0C-1428-F556D098371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B86AC27-BD2A-F5D4-1582-415E9E9FFC3B}"/>
              </a:ext>
            </a:extLst>
          </p:cNvPr>
          <p:cNvSpPr txBox="1"/>
          <p:nvPr/>
        </p:nvSpPr>
        <p:spPr>
          <a:xfrm>
            <a:off x="122842" y="1046172"/>
            <a:ext cx="8654566" cy="286228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Case 2 If there are occurrences of character c in the pattern but it is not the last one there—e.g., c is letter B in our example—the shift should align the rightmost occurrence of c in the pattern with the c in the text:</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41838CAC-9E5F-58D1-522A-AA134EF7541D}"/>
              </a:ext>
            </a:extLst>
          </p:cNvPr>
          <p:cNvPicPr>
            <a:picLocks noChangeAspect="1"/>
          </p:cNvPicPr>
          <p:nvPr/>
        </p:nvPicPr>
        <p:blipFill>
          <a:blip r:embed="rId3"/>
          <a:stretch>
            <a:fillRect/>
          </a:stretch>
        </p:blipFill>
        <p:spPr>
          <a:xfrm>
            <a:off x="1591905" y="3024457"/>
            <a:ext cx="5780051" cy="1294375"/>
          </a:xfrm>
          <a:prstGeom prst="rect">
            <a:avLst/>
          </a:prstGeom>
        </p:spPr>
      </p:pic>
    </p:spTree>
    <p:extLst>
      <p:ext uri="{BB962C8B-B14F-4D97-AF65-F5344CB8AC3E}">
        <p14:creationId xmlns:p14="http://schemas.microsoft.com/office/powerpoint/2010/main" val="360605764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C367459-CDCD-5D63-0527-66987DDDBE2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652A23B-2157-CC66-F7A8-D98B2E995682}"/>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D452DE0B-9FD5-0C0C-1428-F556D098371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109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B86AC27-BD2A-F5D4-1582-415E9E9FFC3B}"/>
              </a:ext>
            </a:extLst>
          </p:cNvPr>
          <p:cNvSpPr txBox="1"/>
          <p:nvPr/>
        </p:nvSpPr>
        <p:spPr>
          <a:xfrm>
            <a:off x="122842" y="1046172"/>
            <a:ext cx="8654566" cy="207745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Case 3 If c happens to be the last character in the pattern but there are no c’s among its other m − 1 characters—e.g., c is letter R in our example—the situation is similar to that of Case 1 and the pattern should be shifted by the entire pattern’s length m:</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9" name="Picture 8">
            <a:extLst>
              <a:ext uri="{FF2B5EF4-FFF2-40B4-BE49-F238E27FC236}">
                <a16:creationId xmlns:a16="http://schemas.microsoft.com/office/drawing/2014/main" id="{DB753481-1C0F-F5DB-AA3C-C7EB59C720AD}"/>
              </a:ext>
            </a:extLst>
          </p:cNvPr>
          <p:cNvPicPr>
            <a:picLocks noChangeAspect="1"/>
          </p:cNvPicPr>
          <p:nvPr/>
        </p:nvPicPr>
        <p:blipFill>
          <a:blip r:embed="rId3"/>
          <a:stretch>
            <a:fillRect/>
          </a:stretch>
        </p:blipFill>
        <p:spPr>
          <a:xfrm>
            <a:off x="1659959" y="3123623"/>
            <a:ext cx="6112308" cy="1241900"/>
          </a:xfrm>
          <a:prstGeom prst="rect">
            <a:avLst/>
          </a:prstGeom>
        </p:spPr>
      </p:pic>
    </p:spTree>
    <p:extLst>
      <p:ext uri="{BB962C8B-B14F-4D97-AF65-F5344CB8AC3E}">
        <p14:creationId xmlns:p14="http://schemas.microsoft.com/office/powerpoint/2010/main" val="18894144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C28ACB8E-3109-6774-DA0D-7065AFE3B882}"/>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318B260F-40EF-D4D6-F868-8D9C2EE6FA2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A0E3C0EC-7A8B-CF56-4455-4114AD57C05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BC7D3D66-B7DB-DEDC-321B-55274436DFEB}"/>
              </a:ext>
            </a:extLst>
          </p:cNvPr>
          <p:cNvSpPr txBox="1"/>
          <p:nvPr/>
        </p:nvSpPr>
        <p:spPr>
          <a:xfrm>
            <a:off x="122842" y="1046172"/>
            <a:ext cx="86545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Case 4 Finally, if c happens to be the last character in the pattern and there are other c’s among its first m − 1 characters—e.g., c is letter R in our example—the situation is similar to that of Case 2 and the rightmost occurrence of c among the first m − 1 characters in the pattern should be aligned with the text’s c:</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8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800" b="1" i="0" u="none" strike="noStrike" kern="0" cap="none" spc="0" normalizeH="0" baseline="0" noProof="0" dirty="0">
                <a:ln>
                  <a:noFill/>
                </a:ln>
                <a:solidFill>
                  <a:sysClr val="windowText" lastClr="000000"/>
                </a:solidFill>
                <a:effectLst/>
                <a:uLnTx/>
                <a:uFillTx/>
                <a:latin typeface="+mn-lt"/>
              </a:rPr>
              <a:t>These examples clearly demonstrate that right-to-left character comparisons can lead to farther shifts of the pattern than the shifts by only one position always made by the brute-force algorithm</a:t>
            </a:r>
            <a:r>
              <a:rPr kumimoji="0" lang="en-US" sz="1800" b="0" i="0" u="none" strike="noStrike" kern="0" cap="none" spc="0" normalizeH="0" baseline="0" noProof="0" dirty="0">
                <a:ln>
                  <a:noFill/>
                </a:ln>
                <a:solidFill>
                  <a:sysClr val="windowText" lastClr="000000"/>
                </a:solidFill>
                <a:effectLst/>
                <a:uLnTx/>
                <a:uFillTx/>
                <a:latin typeface="+mn-lt"/>
              </a:rPr>
              <a:t>.</a:t>
            </a: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5" name="Picture 4">
            <a:extLst>
              <a:ext uri="{FF2B5EF4-FFF2-40B4-BE49-F238E27FC236}">
                <a16:creationId xmlns:a16="http://schemas.microsoft.com/office/drawing/2014/main" id="{F4721C3C-0DDC-F0DF-4E23-766975EDC8AB}"/>
              </a:ext>
            </a:extLst>
          </p:cNvPr>
          <p:cNvPicPr>
            <a:picLocks noChangeAspect="1"/>
          </p:cNvPicPr>
          <p:nvPr/>
        </p:nvPicPr>
        <p:blipFill>
          <a:blip r:embed="rId3"/>
          <a:stretch>
            <a:fillRect/>
          </a:stretch>
        </p:blipFill>
        <p:spPr>
          <a:xfrm>
            <a:off x="1965693" y="3051533"/>
            <a:ext cx="4715326" cy="1047850"/>
          </a:xfrm>
          <a:prstGeom prst="rect">
            <a:avLst/>
          </a:prstGeom>
        </p:spPr>
      </p:pic>
    </p:spTree>
    <p:extLst>
      <p:ext uri="{BB962C8B-B14F-4D97-AF65-F5344CB8AC3E}">
        <p14:creationId xmlns:p14="http://schemas.microsoft.com/office/powerpoint/2010/main" val="30730895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8839248-B93F-03BC-8E25-303C718B7DD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D49801E-26D2-FFAF-A10C-7A2527C225D0}"/>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3BB9EF9C-3416-418D-7A82-D522A6777D5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90AB663-6778-7813-95F1-CC6332B158E5}"/>
              </a:ext>
            </a:extLst>
          </p:cNvPr>
          <p:cNvSpPr txBox="1"/>
          <p:nvPr/>
        </p:nvSpPr>
        <p:spPr>
          <a:xfrm>
            <a:off x="122842" y="1046172"/>
            <a:ext cx="8654566"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Fortunately, the idea of input enhancement makes repetitive comparisons unnecessary.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We can precompute shift sizes and store them in a table.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table will be indexed by all possible characters that can be encountered in a text, including, for natural language texts, the space, punctuation symbols, and other special characters.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table’s entries will indicate the shift sizes computed by the formula.</a:t>
            </a:r>
          </a:p>
        </p:txBody>
      </p:sp>
    </p:spTree>
    <p:extLst>
      <p:ext uri="{BB962C8B-B14F-4D97-AF65-F5344CB8AC3E}">
        <p14:creationId xmlns:p14="http://schemas.microsoft.com/office/powerpoint/2010/main" val="6026774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8839248-B93F-03BC-8E25-303C718B7DD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D49801E-26D2-FFAF-A10C-7A2527C225D0}"/>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3BB9EF9C-3416-418D-7A82-D522A6777D5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90AB663-6778-7813-95F1-CC6332B158E5}"/>
              </a:ext>
            </a:extLst>
          </p:cNvPr>
          <p:cNvSpPr txBox="1"/>
          <p:nvPr/>
        </p:nvSpPr>
        <p:spPr>
          <a:xfrm>
            <a:off x="122842" y="1046172"/>
            <a:ext cx="8654566"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err="1">
                <a:ln>
                  <a:noFill/>
                </a:ln>
                <a:solidFill>
                  <a:sysClr val="windowText" lastClr="000000"/>
                </a:solidFill>
                <a:effectLst/>
                <a:uLnTx/>
                <a:uFillTx/>
                <a:latin typeface="+mj-lt"/>
              </a:rPr>
              <a:t>Horspool’s</a:t>
            </a:r>
            <a:r>
              <a:rPr kumimoji="0" lang="en-IN" sz="1800" b="1" i="0" u="none" strike="noStrike" kern="0" cap="none" spc="0" normalizeH="0" baseline="0" noProof="0" dirty="0">
                <a:ln>
                  <a:noFill/>
                </a:ln>
                <a:solidFill>
                  <a:sysClr val="windowText" lastClr="000000"/>
                </a:solidFill>
                <a:effectLst/>
                <a:uLnTx/>
                <a:uFillTx/>
                <a:latin typeface="+mj-lt"/>
              </a:rPr>
              <a:t> Algorithm</a:t>
            </a:r>
          </a:p>
        </p:txBody>
      </p:sp>
      <p:pic>
        <p:nvPicPr>
          <p:cNvPr id="3" name="Picture 2">
            <a:extLst>
              <a:ext uri="{FF2B5EF4-FFF2-40B4-BE49-F238E27FC236}">
                <a16:creationId xmlns:a16="http://schemas.microsoft.com/office/drawing/2014/main" id="{A529C242-1330-E2ED-3083-73EFC284E695}"/>
              </a:ext>
            </a:extLst>
          </p:cNvPr>
          <p:cNvPicPr>
            <a:picLocks noChangeAspect="1"/>
          </p:cNvPicPr>
          <p:nvPr/>
        </p:nvPicPr>
        <p:blipFill>
          <a:blip r:embed="rId3"/>
          <a:stretch>
            <a:fillRect/>
          </a:stretch>
        </p:blipFill>
        <p:spPr>
          <a:xfrm>
            <a:off x="670916" y="2259561"/>
            <a:ext cx="7590765" cy="1390665"/>
          </a:xfrm>
          <a:prstGeom prst="rect">
            <a:avLst/>
          </a:prstGeom>
        </p:spPr>
      </p:pic>
    </p:spTree>
    <p:extLst>
      <p:ext uri="{BB962C8B-B14F-4D97-AF65-F5344CB8AC3E}">
        <p14:creationId xmlns:p14="http://schemas.microsoft.com/office/powerpoint/2010/main" val="11641962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996D145D-ACC3-9E1D-5E47-6B9A253BB961}"/>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2671B7DF-FB95-6383-89FA-5391FFEEF1AB}"/>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361DE179-C8B6-AC10-D25E-AA18CC23A0C8}"/>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FC099E1-5C51-87DD-AA86-24E7996F802F}"/>
              </a:ext>
            </a:extLst>
          </p:cNvPr>
          <p:cNvSpPr txBox="1"/>
          <p:nvPr/>
        </p:nvSpPr>
        <p:spPr>
          <a:xfrm>
            <a:off x="122842" y="1046172"/>
            <a:ext cx="8654566"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For example, for the pattern BARBER, all the table’s entries will be equal to 6, except for the entries for E, B, R, and A, which will be 1, 2, 3, and 4, respectively.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Here is a simple algorithm for computing the shift table entries.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Initialize all the entries to the pattern’s length m and scan the pattern left to right repeating the following step m − 1 times: for the </a:t>
            </a:r>
            <a:r>
              <a:rPr kumimoji="0" lang="en-US" sz="1700" b="0" i="0" u="none" strike="noStrike" kern="0" cap="none" spc="0" normalizeH="0" baseline="0" noProof="0" dirty="0" err="1">
                <a:ln>
                  <a:noFill/>
                </a:ln>
                <a:solidFill>
                  <a:sysClr val="windowText" lastClr="000000"/>
                </a:solidFill>
                <a:effectLst/>
                <a:uLnTx/>
                <a:uFillTx/>
                <a:latin typeface="+mn-lt"/>
              </a:rPr>
              <a:t>jth</a:t>
            </a:r>
            <a:r>
              <a:rPr kumimoji="0" lang="en-US" sz="1700" b="0" i="0" u="none" strike="noStrike" kern="0" cap="none" spc="0" normalizeH="0" baseline="0" noProof="0" dirty="0">
                <a:ln>
                  <a:noFill/>
                </a:ln>
                <a:solidFill>
                  <a:sysClr val="windowText" lastClr="000000"/>
                </a:solidFill>
                <a:effectLst/>
                <a:uLnTx/>
                <a:uFillTx/>
                <a:latin typeface="+mn-lt"/>
              </a:rPr>
              <a:t> character of the pattern (0 ≤ j ≤ m − 2), overwrite its entry in the table with m − 1− j , which is the character’s distance to the last character of the pattern.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Note that since the algorithm scans the pattern from left to right, the last overwrite will happen for the character’s rightmost occurrence—exactly as we would like it to be.</a:t>
            </a:r>
          </a:p>
        </p:txBody>
      </p:sp>
    </p:spTree>
    <p:extLst>
      <p:ext uri="{BB962C8B-B14F-4D97-AF65-F5344CB8AC3E}">
        <p14:creationId xmlns:p14="http://schemas.microsoft.com/office/powerpoint/2010/main" val="9194691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DFBF999-6DE2-D3A7-3B8E-F092BD8D03A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25A1B68-6372-F216-9173-B1FA12ECBEE9}"/>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0EDFED4A-D00C-628A-3B38-C2E4FC41C04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BF3E084-3EC1-18BD-DAB2-2E58C8C47D0E}"/>
              </a:ext>
            </a:extLst>
          </p:cNvPr>
          <p:cNvSpPr txBox="1"/>
          <p:nvPr/>
        </p:nvSpPr>
        <p:spPr>
          <a:xfrm>
            <a:off x="122842" y="1046172"/>
            <a:ext cx="8654566" cy="286228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3D7BBE9E-1B21-C886-EBAA-4DAE45BAB06D}"/>
              </a:ext>
            </a:extLst>
          </p:cNvPr>
          <p:cNvPicPr>
            <a:picLocks noChangeAspect="1"/>
          </p:cNvPicPr>
          <p:nvPr/>
        </p:nvPicPr>
        <p:blipFill>
          <a:blip r:embed="rId3"/>
          <a:stretch>
            <a:fillRect/>
          </a:stretch>
        </p:blipFill>
        <p:spPr>
          <a:xfrm>
            <a:off x="1061089" y="1569352"/>
            <a:ext cx="7084717" cy="2921532"/>
          </a:xfrm>
          <a:prstGeom prst="rect">
            <a:avLst/>
          </a:prstGeom>
        </p:spPr>
      </p:pic>
    </p:spTree>
    <p:extLst>
      <p:ext uri="{BB962C8B-B14F-4D97-AF65-F5344CB8AC3E}">
        <p14:creationId xmlns:p14="http://schemas.microsoft.com/office/powerpoint/2010/main" val="2738037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DFBF999-6DE2-D3A7-3B8E-F092BD8D03AF}"/>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25A1B68-6372-F216-9173-B1FA12ECBEE9}"/>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0EDFED4A-D00C-628A-3B38-C2E4FC41C04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BF3E084-3EC1-18BD-DAB2-2E58C8C47D0E}"/>
              </a:ext>
            </a:extLst>
          </p:cNvPr>
          <p:cNvSpPr txBox="1"/>
          <p:nvPr/>
        </p:nvSpPr>
        <p:spPr>
          <a:xfrm>
            <a:off x="122842" y="1046172"/>
            <a:ext cx="8654566" cy="403952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Now, we can summarize the algorithm as follows: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1" i="0" u="none" strike="noStrike" kern="0" cap="none" spc="0" normalizeH="0" baseline="0" noProof="0" dirty="0">
                <a:ln>
                  <a:noFill/>
                </a:ln>
                <a:solidFill>
                  <a:sysClr val="windowText" lastClr="000000"/>
                </a:solidFill>
                <a:effectLst/>
                <a:uLnTx/>
                <a:uFillTx/>
                <a:latin typeface="+mn-lt"/>
              </a:rPr>
              <a:t>Step 1</a:t>
            </a:r>
            <a:r>
              <a:rPr kumimoji="0" lang="en-US" sz="1700" b="0" i="0" u="none" strike="noStrike" kern="0" cap="none" spc="0" normalizeH="0" baseline="0" noProof="0" dirty="0">
                <a:ln>
                  <a:noFill/>
                </a:ln>
                <a:solidFill>
                  <a:sysClr val="windowText" lastClr="000000"/>
                </a:solidFill>
                <a:effectLst/>
                <a:uLnTx/>
                <a:uFillTx/>
                <a:latin typeface="+mn-lt"/>
              </a:rPr>
              <a:t> For a given pattern of length m and the alphabet used in both the pattern and text, construct the shift table as described above.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Step 2 Align the pattern against the beginning of the text.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Step 3 Repeat the following until either a matching substring is found or the pattern reaches beyond the last character of the text. </a:t>
            </a:r>
          </a:p>
          <a:p>
            <a:pPr marL="715963"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Starting with the last character in the pattern, compare the corresponding characters in the pattern and text until either all m characters are matched (then stop) or a mismatching pair is encountered. </a:t>
            </a:r>
          </a:p>
        </p:txBody>
      </p:sp>
    </p:spTree>
    <p:extLst>
      <p:ext uri="{BB962C8B-B14F-4D97-AF65-F5344CB8AC3E}">
        <p14:creationId xmlns:p14="http://schemas.microsoft.com/office/powerpoint/2010/main" val="13869704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E2027D4-9992-0274-61E0-3C57A23ECDE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7489994-4F4D-3182-C0D9-D28C59ED3888}"/>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098CA92B-645D-C232-6752-7844731DD3B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E73668E-AE98-0CD0-7181-67ADC1DCFEB0}"/>
              </a:ext>
            </a:extLst>
          </p:cNvPr>
          <p:cNvSpPr txBox="1"/>
          <p:nvPr/>
        </p:nvSpPr>
        <p:spPr>
          <a:xfrm>
            <a:off x="122842" y="1046172"/>
            <a:ext cx="8654566" cy="168503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In the latter case, retrieve the entry t (c) from the c’s column of the shift table where c is the text’s character currently aligned against the last character of the pattern, and shift the pattern by t (c) characters to the right along the text.</a:t>
            </a:r>
          </a:p>
        </p:txBody>
      </p:sp>
    </p:spTree>
    <p:extLst>
      <p:ext uri="{BB962C8B-B14F-4D97-AF65-F5344CB8AC3E}">
        <p14:creationId xmlns:p14="http://schemas.microsoft.com/office/powerpoint/2010/main" val="3972660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45FBB87E-AB59-DD4E-F5EC-A54529D52EE3}"/>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4C09625F-E2D8-C471-2CE6-5B2F987A9BD9}"/>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1BC7EA4F-D6B7-052E-5564-E5247E09756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96B7CF1-8022-C184-3543-6F5E447B78A6}"/>
              </a:ext>
            </a:extLst>
          </p:cNvPr>
          <p:cNvSpPr txBox="1"/>
          <p:nvPr/>
        </p:nvSpPr>
        <p:spPr>
          <a:xfrm>
            <a:off x="0" y="1051042"/>
            <a:ext cx="8654566"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       </a:t>
            </a:r>
            <a:r>
              <a:rPr kumimoji="0" lang="en-US" sz="1800" b="0" i="0" u="none" strike="noStrike" kern="0" cap="none" spc="0" normalizeH="0" baseline="0" noProof="0" dirty="0">
                <a:ln>
                  <a:noFill/>
                </a:ln>
                <a:solidFill>
                  <a:sysClr val="windowText" lastClr="000000"/>
                </a:solidFill>
                <a:effectLst/>
                <a:uLnTx/>
                <a:uFillTx/>
                <a:latin typeface="+mn-lt"/>
              </a:rPr>
              <a:t>Here is pseudocode of Horspool’s algorithm</a:t>
            </a:r>
            <a:r>
              <a:rPr kumimoji="0" lang="en-US" sz="1800" b="0" i="0" u="none" strike="noStrike" kern="0" cap="none" spc="0" normalizeH="0" baseline="0" noProof="0" dirty="0">
                <a:ln>
                  <a:noFill/>
                </a:ln>
                <a:solidFill>
                  <a:sysClr val="windowText" lastClr="000000"/>
                </a:solidFill>
                <a:effectLst/>
                <a:uLnTx/>
                <a:uFillTx/>
                <a:latin typeface="TimesTen-Roman"/>
              </a:rPr>
              <a:t>.</a:t>
            </a: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2" name="Picture 1">
            <a:extLst>
              <a:ext uri="{FF2B5EF4-FFF2-40B4-BE49-F238E27FC236}">
                <a16:creationId xmlns:a16="http://schemas.microsoft.com/office/drawing/2014/main" id="{342B7517-9EF4-7477-3586-580573871A88}"/>
              </a:ext>
            </a:extLst>
          </p:cNvPr>
          <p:cNvPicPr>
            <a:picLocks noChangeAspect="1"/>
          </p:cNvPicPr>
          <p:nvPr/>
        </p:nvPicPr>
        <p:blipFill>
          <a:blip r:embed="rId3"/>
          <a:stretch>
            <a:fillRect/>
          </a:stretch>
        </p:blipFill>
        <p:spPr>
          <a:xfrm>
            <a:off x="1538121" y="1549404"/>
            <a:ext cx="5578323" cy="3594096"/>
          </a:xfrm>
          <a:prstGeom prst="rect">
            <a:avLst/>
          </a:prstGeom>
        </p:spPr>
      </p:pic>
    </p:spTree>
    <p:extLst>
      <p:ext uri="{BB962C8B-B14F-4D97-AF65-F5344CB8AC3E}">
        <p14:creationId xmlns:p14="http://schemas.microsoft.com/office/powerpoint/2010/main" val="1550388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52062F07-DDB3-F65C-D01E-23B842BC0DD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30971DA-0D18-51BA-9608-64B6B6254092}"/>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979470D-5FCF-BD90-8B7A-C4B2AE32FCB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BE23E6A-EEE1-EBBE-1ED9-81202BAC56B0}"/>
              </a:ext>
            </a:extLst>
          </p:cNvPr>
          <p:cNvSpPr txBox="1"/>
          <p:nvPr/>
        </p:nvSpPr>
        <p:spPr>
          <a:xfrm>
            <a:off x="122842" y="1046172"/>
            <a:ext cx="8654566"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FEFEAA60-447B-F250-30AD-6C643B0A0AF8}"/>
              </a:ext>
            </a:extLst>
          </p:cNvPr>
          <p:cNvPicPr>
            <a:picLocks noChangeAspect="1"/>
          </p:cNvPicPr>
          <p:nvPr/>
        </p:nvPicPr>
        <p:blipFill>
          <a:blip r:embed="rId3"/>
          <a:stretch>
            <a:fillRect/>
          </a:stretch>
        </p:blipFill>
        <p:spPr>
          <a:xfrm>
            <a:off x="1337995" y="1437003"/>
            <a:ext cx="6530906" cy="3619814"/>
          </a:xfrm>
          <a:prstGeom prst="rect">
            <a:avLst/>
          </a:prstGeom>
        </p:spPr>
      </p:pic>
    </p:spTree>
    <p:extLst>
      <p:ext uri="{BB962C8B-B14F-4D97-AF65-F5344CB8AC3E}">
        <p14:creationId xmlns:p14="http://schemas.microsoft.com/office/powerpoint/2010/main" val="250353836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C66CFEA-DF0F-C404-89C4-D533D4932425}"/>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8B417F7B-065E-BA19-3B11-E01795197F43}"/>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4B11BDB-C762-A5DB-79B1-E8CE33AE38F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119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672027A-36CE-6B70-F30B-F1FC4BE751BE}"/>
              </a:ext>
            </a:extLst>
          </p:cNvPr>
          <p:cNvSpPr txBox="1"/>
          <p:nvPr/>
        </p:nvSpPr>
        <p:spPr>
          <a:xfrm>
            <a:off x="122842" y="1046172"/>
            <a:ext cx="8654566" cy="286228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Horspool’s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 simple example can demonstrate that the worst-case efficiency of Horspool’s algorithm is in O(nm).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But for random texts, it is in (n), and, although in the same efficiency class, Horspool’s algorithm is obviously faster on average than the brute-force algorithm.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In fact, as mentioned, it is often at least as efficient as its more sophisticated predecessor discovered by R. Boyer and J. Moore.</a:t>
            </a:r>
          </a:p>
        </p:txBody>
      </p:sp>
    </p:spTree>
    <p:extLst>
      <p:ext uri="{BB962C8B-B14F-4D97-AF65-F5344CB8AC3E}">
        <p14:creationId xmlns:p14="http://schemas.microsoft.com/office/powerpoint/2010/main" val="239184887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2DDB5B7-5591-C32B-977C-4AED23CACDE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ABA34C0-9C6D-9395-EFCF-618AE9809F94}"/>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24D0A89-B6B3-3037-A1CC-2A68B2DF439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A286B2BA-1576-9D40-FBA2-21AF0310CFAE}"/>
              </a:ext>
            </a:extLst>
          </p:cNvPr>
          <p:cNvSpPr txBox="1"/>
          <p:nvPr/>
        </p:nvSpPr>
        <p:spPr>
          <a:xfrm>
            <a:off x="122842" y="1046172"/>
            <a:ext cx="8654566"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Now we outline the Boyer-Moore algorithm itself.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If the first comparison of the rightmost character in the pattern with the corresponding character c in the text fails, the algorithm does exactly the same thing as Horspool’s algorithm.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Namely, it shifts the pattern to the right by the number of characters retrieved from the table precomputed as explained earlier.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two algorithms act differently, however, after some positive number k (0&lt;k&lt;m) of the pattern’s characters are matched successfully before a mismatch is encountered:</a:t>
            </a:r>
          </a:p>
        </p:txBody>
      </p:sp>
    </p:spTree>
    <p:extLst>
      <p:ext uri="{BB962C8B-B14F-4D97-AF65-F5344CB8AC3E}">
        <p14:creationId xmlns:p14="http://schemas.microsoft.com/office/powerpoint/2010/main" val="31726565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2DDB5B7-5591-C32B-977C-4AED23CACDED}"/>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FABA34C0-9C6D-9395-EFCF-618AE9809F94}"/>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24D0A89-B6B3-3037-A1CC-2A68B2DF439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A286B2BA-1576-9D40-FBA2-21AF0310CFAE}"/>
              </a:ext>
            </a:extLst>
          </p:cNvPr>
          <p:cNvSpPr txBox="1"/>
          <p:nvPr/>
        </p:nvSpPr>
        <p:spPr>
          <a:xfrm>
            <a:off x="122842" y="1046172"/>
            <a:ext cx="8654566"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In this situation, the Boyer-Moore algorithm determines the shift size by considering two quantities.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first one is guided by the text’s character c that caused a mismatch with its counterpart in the pattern. Accordingly, it is called the </a:t>
            </a:r>
            <a:r>
              <a:rPr kumimoji="0" lang="en-US" sz="1700" b="1" i="1" u="none" strike="noStrike" kern="0" cap="none" spc="0" normalizeH="0" baseline="0" noProof="0" dirty="0">
                <a:ln>
                  <a:noFill/>
                </a:ln>
                <a:solidFill>
                  <a:sysClr val="windowText" lastClr="000000"/>
                </a:solidFill>
                <a:effectLst/>
                <a:uLnTx/>
                <a:uFillTx/>
                <a:latin typeface="+mn-lt"/>
              </a:rPr>
              <a:t>bad symbol shift.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628CF421-EBC1-0D98-0320-16E9B1DFF7DC}"/>
              </a:ext>
            </a:extLst>
          </p:cNvPr>
          <p:cNvPicPr>
            <a:picLocks noChangeAspect="1"/>
          </p:cNvPicPr>
          <p:nvPr/>
        </p:nvPicPr>
        <p:blipFill>
          <a:blip r:embed="rId3"/>
          <a:stretch>
            <a:fillRect/>
          </a:stretch>
        </p:blipFill>
        <p:spPr>
          <a:xfrm>
            <a:off x="1506702" y="1628346"/>
            <a:ext cx="5311600" cy="670618"/>
          </a:xfrm>
          <a:prstGeom prst="rect">
            <a:avLst/>
          </a:prstGeom>
        </p:spPr>
      </p:pic>
    </p:spTree>
    <p:extLst>
      <p:ext uri="{BB962C8B-B14F-4D97-AF65-F5344CB8AC3E}">
        <p14:creationId xmlns:p14="http://schemas.microsoft.com/office/powerpoint/2010/main" val="14411311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5912063-2B1C-2EE7-DEEC-2BB5EA7BCE6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2A64715-9A63-3283-1586-14F7E243A6B7}"/>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1F1A48AF-427F-D72B-893C-48178E53012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4FCE9FC-FBC4-546D-5793-7D4B56E24921}"/>
              </a:ext>
            </a:extLst>
          </p:cNvPr>
          <p:cNvSpPr txBox="1"/>
          <p:nvPr/>
        </p:nvSpPr>
        <p:spPr>
          <a:xfrm>
            <a:off x="122842" y="1046172"/>
            <a:ext cx="8654566" cy="246986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reasoning behind this shift is the reasoning we used in Horspool’s algorithm.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If c is not in the pattern, we shift the pattern to just pass this c in the text.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Conveniently, the size of this shift can be computed by the formula t1(c) − k where t1(c) is the entry in the precomputed table used by </a:t>
            </a:r>
            <a:r>
              <a:rPr kumimoji="0" lang="en-US" sz="1700" b="0" i="0" u="none" strike="noStrike" kern="0" cap="none" spc="0" normalizeH="0" baseline="0" noProof="0" dirty="0" err="1">
                <a:ln>
                  <a:noFill/>
                </a:ln>
                <a:solidFill>
                  <a:sysClr val="windowText" lastClr="000000"/>
                </a:solidFill>
                <a:effectLst/>
                <a:uLnTx/>
                <a:uFillTx/>
                <a:latin typeface="+mn-lt"/>
              </a:rPr>
              <a:t>Horspool’s</a:t>
            </a:r>
            <a:r>
              <a:rPr kumimoji="0" lang="en-US" sz="1700" b="0" i="0" u="none" strike="noStrike" kern="0" cap="none" spc="0" normalizeH="0" baseline="0" noProof="0" dirty="0">
                <a:ln>
                  <a:noFill/>
                </a:ln>
                <a:solidFill>
                  <a:sysClr val="windowText" lastClr="000000"/>
                </a:solidFill>
                <a:effectLst/>
                <a:uLnTx/>
                <a:uFillTx/>
                <a:latin typeface="+mn-lt"/>
              </a:rPr>
              <a:t> algorithm and k is the number of matched characters:</a:t>
            </a:r>
          </a:p>
        </p:txBody>
      </p:sp>
    </p:spTree>
    <p:extLst>
      <p:ext uri="{BB962C8B-B14F-4D97-AF65-F5344CB8AC3E}">
        <p14:creationId xmlns:p14="http://schemas.microsoft.com/office/powerpoint/2010/main" val="9742941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29B91D5C-2E1C-A3FE-07B2-4FD63CEA70F6}"/>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BC3D138-D808-4364-9E9B-43E73FE501B4}"/>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50E52A2-1ED8-33A4-63FB-8B0C0F6295E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F1D7F938-5327-3499-8A92-B29D488AF558}"/>
              </a:ext>
            </a:extLst>
          </p:cNvPr>
          <p:cNvSpPr txBox="1"/>
          <p:nvPr/>
        </p:nvSpPr>
        <p:spPr>
          <a:xfrm>
            <a:off x="122842" y="1046172"/>
            <a:ext cx="8654566" cy="90020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6" name="Picture 5">
            <a:extLst>
              <a:ext uri="{FF2B5EF4-FFF2-40B4-BE49-F238E27FC236}">
                <a16:creationId xmlns:a16="http://schemas.microsoft.com/office/drawing/2014/main" id="{9272AF8B-8E75-B2AB-F737-51DE22ABF725}"/>
              </a:ext>
            </a:extLst>
          </p:cNvPr>
          <p:cNvPicPr>
            <a:picLocks noChangeAspect="1"/>
          </p:cNvPicPr>
          <p:nvPr/>
        </p:nvPicPr>
        <p:blipFill>
          <a:blip r:embed="rId3"/>
          <a:stretch>
            <a:fillRect/>
          </a:stretch>
        </p:blipFill>
        <p:spPr>
          <a:xfrm>
            <a:off x="1405615" y="1630907"/>
            <a:ext cx="6332769" cy="2911092"/>
          </a:xfrm>
          <a:prstGeom prst="rect">
            <a:avLst/>
          </a:prstGeom>
        </p:spPr>
      </p:pic>
    </p:spTree>
    <p:extLst>
      <p:ext uri="{BB962C8B-B14F-4D97-AF65-F5344CB8AC3E}">
        <p14:creationId xmlns:p14="http://schemas.microsoft.com/office/powerpoint/2010/main" val="311620942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B292D79-E525-4E84-0DC4-18886997FEA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FABAF53-A779-3BBD-2E28-5FC53690166F}"/>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AC70E21B-3702-C406-45DC-F48DBB9B88E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A06A9CF-2074-1201-0D9B-EDD9A0267AD6}"/>
              </a:ext>
            </a:extLst>
          </p:cNvPr>
          <p:cNvSpPr txBox="1"/>
          <p:nvPr/>
        </p:nvSpPr>
        <p:spPr>
          <a:xfrm>
            <a:off x="122842" y="1046172"/>
            <a:ext cx="8654566"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same formula can also be used when the mismatching character c of the text occurs in the pattern, provided t1(c) −k &gt;0.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For example, if we search for the pattern BARBER in some text and match the last two characters before failing on letter A, we can shift the pattern by t1(A) − 2 = 4 − 2 = 2 positions:</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6AD92386-E164-14F6-9152-DCDDEDE8406D}"/>
              </a:ext>
            </a:extLst>
          </p:cNvPr>
          <p:cNvPicPr>
            <a:picLocks noChangeAspect="1"/>
          </p:cNvPicPr>
          <p:nvPr/>
        </p:nvPicPr>
        <p:blipFill>
          <a:blip r:embed="rId3"/>
          <a:stretch>
            <a:fillRect/>
          </a:stretch>
        </p:blipFill>
        <p:spPr>
          <a:xfrm>
            <a:off x="2190942" y="3553467"/>
            <a:ext cx="4054191" cy="929721"/>
          </a:xfrm>
          <a:prstGeom prst="rect">
            <a:avLst/>
          </a:prstGeom>
        </p:spPr>
      </p:pic>
    </p:spTree>
    <p:extLst>
      <p:ext uri="{BB962C8B-B14F-4D97-AF65-F5344CB8AC3E}">
        <p14:creationId xmlns:p14="http://schemas.microsoft.com/office/powerpoint/2010/main" val="36294678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B292D79-E525-4E84-0DC4-18886997FEAE}"/>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FABAF53-A779-3BBD-2E28-5FC53690166F}"/>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AC70E21B-3702-C406-45DC-F48DBB9B88E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A06A9CF-2074-1201-0D9B-EDD9A0267AD6}"/>
              </a:ext>
            </a:extLst>
          </p:cNvPr>
          <p:cNvSpPr txBox="1"/>
          <p:nvPr/>
        </p:nvSpPr>
        <p:spPr>
          <a:xfrm>
            <a:off x="122842" y="1046172"/>
            <a:ext cx="8654566" cy="286228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If t1(c) − k ≤ 0, we obviously do not want to shift the pattern by 0 or a negative number of positions.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Rather, we can fall back on the brute-force thinking and simply shift the pattern by one position to the right.</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To summarize, the bad-symbol shift d1 is computed by the Boyer-Moore algorithm either as t1(c) − k if this quantity is positive and as 1 if it is negative or zero. </a:t>
            </a:r>
          </a:p>
        </p:txBody>
      </p:sp>
    </p:spTree>
    <p:extLst>
      <p:ext uri="{BB962C8B-B14F-4D97-AF65-F5344CB8AC3E}">
        <p14:creationId xmlns:p14="http://schemas.microsoft.com/office/powerpoint/2010/main" val="178490167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2609A82-DE03-44BE-E2D0-E1CCD991DE3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0908AE1-8CE3-BA14-23F0-4F4F6C32385B}"/>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3C54304A-42EE-54AC-73EF-22871BCBA71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38F800F-2E23-89DB-700B-5D29557CECB1}"/>
              </a:ext>
            </a:extLst>
          </p:cNvPr>
          <p:cNvSpPr txBox="1"/>
          <p:nvPr/>
        </p:nvSpPr>
        <p:spPr>
          <a:xfrm>
            <a:off x="122842" y="1046172"/>
            <a:ext cx="8654566" cy="364711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This can be expressed by the following compact formula:</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second type of shift is guided by a successful match of the last k &gt; 0 characters of the pattern.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We refer to the ending portion of the pattern as its suffix of size k and denote it </a:t>
            </a:r>
            <a:r>
              <a:rPr kumimoji="0" lang="en-US" sz="1700" b="0" i="0" u="none" strike="noStrike" kern="0" cap="none" spc="0" normalizeH="0" baseline="0" noProof="0" dirty="0" err="1">
                <a:ln>
                  <a:noFill/>
                </a:ln>
                <a:solidFill>
                  <a:sysClr val="windowText" lastClr="000000"/>
                </a:solidFill>
                <a:effectLst/>
                <a:uLnTx/>
                <a:uFillTx/>
                <a:latin typeface="+mn-lt"/>
              </a:rPr>
              <a:t>suff</a:t>
            </a:r>
            <a:r>
              <a:rPr kumimoji="0" lang="en-US" sz="1700" b="0" i="0" u="none" strike="noStrike" kern="0" cap="none" spc="0" normalizeH="0" baseline="0" noProof="0" dirty="0">
                <a:ln>
                  <a:noFill/>
                </a:ln>
                <a:solidFill>
                  <a:sysClr val="windowText" lastClr="000000"/>
                </a:solidFill>
                <a:effectLst/>
                <a:uLnTx/>
                <a:uFillTx/>
                <a:latin typeface="+mn-lt"/>
              </a:rPr>
              <a:t> (k).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Accordingly, we call this type of shift the good-suffix shift.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5" name="Picture 4">
            <a:extLst>
              <a:ext uri="{FF2B5EF4-FFF2-40B4-BE49-F238E27FC236}">
                <a16:creationId xmlns:a16="http://schemas.microsoft.com/office/drawing/2014/main" id="{F1C4751B-F373-B6EB-BB7D-2EE25421CAA0}"/>
              </a:ext>
            </a:extLst>
          </p:cNvPr>
          <p:cNvPicPr>
            <a:picLocks noChangeAspect="1"/>
          </p:cNvPicPr>
          <p:nvPr/>
        </p:nvPicPr>
        <p:blipFill>
          <a:blip r:embed="rId3"/>
          <a:stretch>
            <a:fillRect/>
          </a:stretch>
        </p:blipFill>
        <p:spPr>
          <a:xfrm>
            <a:off x="2390404" y="1877884"/>
            <a:ext cx="4368972" cy="400741"/>
          </a:xfrm>
          <a:prstGeom prst="rect">
            <a:avLst/>
          </a:prstGeom>
        </p:spPr>
      </p:pic>
    </p:spTree>
    <p:extLst>
      <p:ext uri="{BB962C8B-B14F-4D97-AF65-F5344CB8AC3E}">
        <p14:creationId xmlns:p14="http://schemas.microsoft.com/office/powerpoint/2010/main" val="31456750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2609A82-DE03-44BE-E2D0-E1CCD991DE3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0908AE1-8CE3-BA14-23F0-4F4F6C32385B}"/>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3C54304A-42EE-54AC-73EF-22871BCBA71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538F800F-2E23-89DB-700B-5D29557CECB1}"/>
              </a:ext>
            </a:extLst>
          </p:cNvPr>
          <p:cNvSpPr txBox="1"/>
          <p:nvPr/>
        </p:nvSpPr>
        <p:spPr>
          <a:xfrm>
            <a:off x="122842" y="1046172"/>
            <a:ext cx="8654566" cy="4431942"/>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We now apply the reasoning that guided us in filling the bad-symbol shift table, which was based on a single alphabet character c, to the pattern’s suffixes of sizes 1, . . . , m − 1 to fill in the good-suffix shift table.</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Let us first consider the case when there is another occurrence of </a:t>
            </a:r>
            <a:r>
              <a:rPr kumimoji="0" lang="en-US" sz="1700" b="0" i="0" u="none" strike="noStrike" kern="0" cap="none" spc="0" normalizeH="0" baseline="0" noProof="0" dirty="0" err="1">
                <a:ln>
                  <a:noFill/>
                </a:ln>
                <a:solidFill>
                  <a:sysClr val="windowText" lastClr="000000"/>
                </a:solidFill>
                <a:effectLst/>
                <a:uLnTx/>
                <a:uFillTx/>
                <a:latin typeface="+mn-lt"/>
              </a:rPr>
              <a:t>suff</a:t>
            </a:r>
            <a:r>
              <a:rPr kumimoji="0" lang="en-US" sz="1700" b="0" i="0" u="none" strike="noStrike" kern="0" cap="none" spc="0" normalizeH="0" baseline="0" noProof="0" dirty="0">
                <a:ln>
                  <a:noFill/>
                </a:ln>
                <a:solidFill>
                  <a:sysClr val="windowText" lastClr="000000"/>
                </a:solidFill>
                <a:effectLst/>
                <a:uLnTx/>
                <a:uFillTx/>
                <a:latin typeface="+mn-lt"/>
              </a:rPr>
              <a:t> (k) in the pattern or, to be more accurate, there is another occurrence of </a:t>
            </a:r>
            <a:r>
              <a:rPr kumimoji="0" lang="en-US" sz="1700" b="0" i="0" u="none" strike="noStrike" kern="0" cap="none" spc="0" normalizeH="0" baseline="0" noProof="0" dirty="0" err="1">
                <a:ln>
                  <a:noFill/>
                </a:ln>
                <a:solidFill>
                  <a:sysClr val="windowText" lastClr="000000"/>
                </a:solidFill>
                <a:effectLst/>
                <a:uLnTx/>
                <a:uFillTx/>
                <a:latin typeface="+mn-lt"/>
              </a:rPr>
              <a:t>suff</a:t>
            </a:r>
            <a:r>
              <a:rPr kumimoji="0" lang="en-US" sz="1700" b="0" i="0" u="none" strike="noStrike" kern="0" cap="none" spc="0" normalizeH="0" baseline="0" noProof="0" dirty="0">
                <a:ln>
                  <a:noFill/>
                </a:ln>
                <a:solidFill>
                  <a:sysClr val="windowText" lastClr="000000"/>
                </a:solidFill>
                <a:effectLst/>
                <a:uLnTx/>
                <a:uFillTx/>
                <a:latin typeface="+mn-lt"/>
              </a:rPr>
              <a:t> (k) not preceded by the same character as in its rightmost occurrence. (It would be useless to shift the pattern to match another occurrence of </a:t>
            </a:r>
            <a:r>
              <a:rPr kumimoji="0" lang="en-US" sz="1700" b="0" i="0" u="none" strike="noStrike" kern="0" cap="none" spc="0" normalizeH="0" baseline="0" noProof="0" dirty="0" err="1">
                <a:ln>
                  <a:noFill/>
                </a:ln>
                <a:solidFill>
                  <a:sysClr val="windowText" lastClr="000000"/>
                </a:solidFill>
                <a:effectLst/>
                <a:uLnTx/>
                <a:uFillTx/>
                <a:latin typeface="+mn-lt"/>
              </a:rPr>
              <a:t>suff</a:t>
            </a:r>
            <a:r>
              <a:rPr kumimoji="0" lang="en-US" sz="1700" b="0" i="0" u="none" strike="noStrike" kern="0" cap="none" spc="0" normalizeH="0" baseline="0" noProof="0" dirty="0">
                <a:ln>
                  <a:noFill/>
                </a:ln>
                <a:solidFill>
                  <a:sysClr val="windowText" lastClr="000000"/>
                </a:solidFill>
                <a:effectLst/>
                <a:uLnTx/>
                <a:uFillTx/>
                <a:latin typeface="+mn-lt"/>
              </a:rPr>
              <a:t> (k) preceded by the same character because this would simply repeat a failed trial.)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spTree>
    <p:extLst>
      <p:ext uri="{BB962C8B-B14F-4D97-AF65-F5344CB8AC3E}">
        <p14:creationId xmlns:p14="http://schemas.microsoft.com/office/powerpoint/2010/main" val="339258097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1451CC4-F330-C994-6BDF-AECDDC7663F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478F4A8-3C1C-B1DE-F0B8-698E9637D45F}"/>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DA722FD-6609-49B7-4F9A-7DF7F01B2F55}"/>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CAA32DAF-9CF7-C426-CBF8-1D838ED634D7}"/>
              </a:ext>
            </a:extLst>
          </p:cNvPr>
          <p:cNvSpPr txBox="1"/>
          <p:nvPr/>
        </p:nvSpPr>
        <p:spPr>
          <a:xfrm>
            <a:off x="122842" y="1046172"/>
            <a:ext cx="8654566" cy="246986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In this case, we can shift the pattern by the distance d2 between such a second rightmost occurrence (not preceded by the same character as in the rightmost occurrence) of </a:t>
            </a:r>
            <a:r>
              <a:rPr kumimoji="0" lang="en-US" sz="1700" b="0" i="0" u="none" strike="noStrike" kern="0" cap="none" spc="0" normalizeH="0" baseline="0" noProof="0" dirty="0" err="1">
                <a:ln>
                  <a:noFill/>
                </a:ln>
                <a:solidFill>
                  <a:sysClr val="windowText" lastClr="000000"/>
                </a:solidFill>
                <a:effectLst/>
                <a:uLnTx/>
                <a:uFillTx/>
                <a:latin typeface="+mn-lt"/>
              </a:rPr>
              <a:t>suff</a:t>
            </a:r>
            <a:r>
              <a:rPr kumimoji="0" lang="en-US" sz="1700" b="0" i="0" u="none" strike="noStrike" kern="0" cap="none" spc="0" normalizeH="0" baseline="0" noProof="0" dirty="0">
                <a:ln>
                  <a:noFill/>
                </a:ln>
                <a:solidFill>
                  <a:sysClr val="windowText" lastClr="000000"/>
                </a:solidFill>
                <a:effectLst/>
                <a:uLnTx/>
                <a:uFillTx/>
                <a:latin typeface="+mn-lt"/>
              </a:rPr>
              <a:t> (k) and its rightmost occurrence.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For example, for the pattern ABCBAB, these distances for k = 1 and 2 will be 2 and 4, respectively:</a:t>
            </a:r>
          </a:p>
        </p:txBody>
      </p:sp>
    </p:spTree>
    <p:extLst>
      <p:ext uri="{BB962C8B-B14F-4D97-AF65-F5344CB8AC3E}">
        <p14:creationId xmlns:p14="http://schemas.microsoft.com/office/powerpoint/2010/main" val="6877099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D10B0E2-E760-6F0F-4DD4-EF246FEA34A0}"/>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7E65757-16AA-647C-F277-7217AD20C816}"/>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B0C46094-BA0B-3407-9079-5A259F59321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129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F6B4DB5C-7332-50A5-4B64-ABA34CCC5001}"/>
              </a:ext>
            </a:extLst>
          </p:cNvPr>
          <p:cNvSpPr txBox="1"/>
          <p:nvPr/>
        </p:nvSpPr>
        <p:spPr>
          <a:xfrm>
            <a:off x="122842" y="1046172"/>
            <a:ext cx="8654566" cy="507791"/>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p:txBody>
      </p:sp>
      <p:pic>
        <p:nvPicPr>
          <p:cNvPr id="3" name="Picture 2">
            <a:extLst>
              <a:ext uri="{FF2B5EF4-FFF2-40B4-BE49-F238E27FC236}">
                <a16:creationId xmlns:a16="http://schemas.microsoft.com/office/drawing/2014/main" id="{188DDF51-4D9D-BD35-55A9-CF32FE63391E}"/>
              </a:ext>
            </a:extLst>
          </p:cNvPr>
          <p:cNvPicPr>
            <a:picLocks noChangeAspect="1"/>
          </p:cNvPicPr>
          <p:nvPr/>
        </p:nvPicPr>
        <p:blipFill>
          <a:blip r:embed="rId3"/>
          <a:stretch>
            <a:fillRect/>
          </a:stretch>
        </p:blipFill>
        <p:spPr>
          <a:xfrm>
            <a:off x="1260878" y="1478757"/>
            <a:ext cx="6519633" cy="3474022"/>
          </a:xfrm>
          <a:prstGeom prst="rect">
            <a:avLst/>
          </a:prstGeom>
        </p:spPr>
      </p:pic>
    </p:spTree>
    <p:extLst>
      <p:ext uri="{BB962C8B-B14F-4D97-AF65-F5344CB8AC3E}">
        <p14:creationId xmlns:p14="http://schemas.microsoft.com/office/powerpoint/2010/main" val="7671457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489B8D2-CC5D-9F42-D149-BCBC8C8F3CEA}"/>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C53D4C4-4565-2460-05CC-FE6820CCD06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6EA5DE13-FE7C-7376-1440-C0B0DA35290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38B83713-C353-8C99-C09B-96745D5C4AB6}"/>
              </a:ext>
            </a:extLst>
          </p:cNvPr>
          <p:cNvSpPr txBox="1"/>
          <p:nvPr/>
        </p:nvSpPr>
        <p:spPr>
          <a:xfrm>
            <a:off x="122842" y="1046172"/>
            <a:ext cx="8654566"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Unfortunately, shifting the pattern by its entire length when there is no other occurrence of </a:t>
            </a:r>
            <a:r>
              <a:rPr kumimoji="0" lang="en-US" sz="1700" b="0" i="0" u="none" strike="noStrike" kern="0" cap="none" spc="0" normalizeH="0" baseline="0" noProof="0" dirty="0" err="1">
                <a:ln>
                  <a:noFill/>
                </a:ln>
                <a:solidFill>
                  <a:sysClr val="windowText" lastClr="000000"/>
                </a:solidFill>
                <a:effectLst/>
                <a:uLnTx/>
                <a:uFillTx/>
                <a:latin typeface="+mn-lt"/>
              </a:rPr>
              <a:t>suff</a:t>
            </a:r>
            <a:r>
              <a:rPr kumimoji="0" lang="en-US" sz="1700" b="0" i="0" u="none" strike="noStrike" kern="0" cap="none" spc="0" normalizeH="0" baseline="0" noProof="0" dirty="0">
                <a:ln>
                  <a:noFill/>
                </a:ln>
                <a:solidFill>
                  <a:sysClr val="windowText" lastClr="000000"/>
                </a:solidFill>
                <a:effectLst/>
                <a:uLnTx/>
                <a:uFillTx/>
                <a:latin typeface="+mn-lt"/>
              </a:rPr>
              <a:t> (k) not preceded by the same character as in its rightmost occurrence is not always correct.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For example, for the pattern ABCBAB and k = 3, shifting by 6 could miss a matching substring that starts with the text’s AB aligned with the last two characters of the pattern:</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855C3B39-0D68-CB81-BB56-53C25883EF73}"/>
              </a:ext>
            </a:extLst>
          </p:cNvPr>
          <p:cNvPicPr>
            <a:picLocks noChangeAspect="1"/>
          </p:cNvPicPr>
          <p:nvPr/>
        </p:nvPicPr>
        <p:blipFill>
          <a:blip r:embed="rId3"/>
          <a:stretch>
            <a:fillRect/>
          </a:stretch>
        </p:blipFill>
        <p:spPr>
          <a:xfrm>
            <a:off x="1987672" y="3720561"/>
            <a:ext cx="4511431" cy="990686"/>
          </a:xfrm>
          <a:prstGeom prst="rect">
            <a:avLst/>
          </a:prstGeom>
        </p:spPr>
      </p:pic>
    </p:spTree>
    <p:extLst>
      <p:ext uri="{BB962C8B-B14F-4D97-AF65-F5344CB8AC3E}">
        <p14:creationId xmlns:p14="http://schemas.microsoft.com/office/powerpoint/2010/main" val="4211640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E34BA9A3-074E-3398-8B6C-EBE86DEA06C7}"/>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AE8E62C1-09AD-2B7B-BA33-EDC1930C1EFF}"/>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4F492D0E-7EB5-6536-C349-BCD61A3DAC5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131</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9C3CDD7B-0569-9B9E-DD91-1E979CCF0C75}"/>
              </a:ext>
            </a:extLst>
          </p:cNvPr>
          <p:cNvSpPr txBox="1"/>
          <p:nvPr/>
        </p:nvSpPr>
        <p:spPr>
          <a:xfrm>
            <a:off x="122842" y="1024741"/>
            <a:ext cx="8654566"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Note that the shift by 6 is correct for the pattern DBCBAB but not for ABCBAB, because the latter pattern has the same substring AB as its prefix (beginning part of the pattern) and as its suffix (ending part of the pattern).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To avoid such an erroneous shift based on a suffix of size k, for which there is no other occurrence in the pattern not preceded by the same character as in its rightmost occurrence, we need to find the longest prefix of size l &lt; k that matches the suffix of the same size l. </a:t>
            </a:r>
          </a:p>
        </p:txBody>
      </p:sp>
    </p:spTree>
    <p:extLst>
      <p:ext uri="{BB962C8B-B14F-4D97-AF65-F5344CB8AC3E}">
        <p14:creationId xmlns:p14="http://schemas.microsoft.com/office/powerpoint/2010/main" val="402287863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DDEDD582-C8D2-4D80-2BF8-93EDB8BA3FD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9E606B30-E08F-12C8-A954-661B52A7D64E}"/>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F6D98AA5-48F6-C108-8C0C-938F853963D6}"/>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132</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25E8F8A6-E502-E854-D5A7-81E05B330309}"/>
              </a:ext>
            </a:extLst>
          </p:cNvPr>
          <p:cNvSpPr txBox="1"/>
          <p:nvPr/>
        </p:nvSpPr>
        <p:spPr>
          <a:xfrm>
            <a:off x="122842" y="1024741"/>
            <a:ext cx="8654566" cy="246986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If such a prefix exists, the shift size d</a:t>
            </a:r>
            <a:r>
              <a:rPr kumimoji="0" lang="en-US" sz="1700" b="0" i="0" u="none" strike="noStrike" kern="0" cap="none" spc="0" normalizeH="0" baseline="-25000" noProof="0" dirty="0">
                <a:ln>
                  <a:noFill/>
                </a:ln>
                <a:solidFill>
                  <a:sysClr val="windowText" lastClr="000000"/>
                </a:solidFill>
                <a:effectLst/>
                <a:uLnTx/>
                <a:uFillTx/>
                <a:latin typeface="+mn-lt"/>
              </a:rPr>
              <a:t>2</a:t>
            </a:r>
            <a:r>
              <a:rPr kumimoji="0" lang="en-US" sz="1700" b="0" i="0" u="none" strike="noStrike" kern="0" cap="none" spc="0" normalizeH="0" baseline="0" noProof="0" dirty="0">
                <a:ln>
                  <a:noFill/>
                </a:ln>
                <a:solidFill>
                  <a:sysClr val="windowText" lastClr="000000"/>
                </a:solidFill>
                <a:effectLst/>
                <a:uLnTx/>
                <a:uFillTx/>
                <a:latin typeface="+mn-lt"/>
              </a:rPr>
              <a:t> is computed as the distance between this prefix and the corresponding suffix; otherwise, </a:t>
            </a:r>
            <a:r>
              <a:rPr kumimoji="0" lang="en-US" sz="1700" b="0" i="0" u="none" strike="noStrike" kern="0" cap="none" spc="0" normalizeH="0" baseline="0" noProof="0" dirty="0">
                <a:ln>
                  <a:noFill/>
                </a:ln>
                <a:solidFill>
                  <a:sysClr val="windowText" lastClr="000000"/>
                </a:solidFill>
                <a:effectLst/>
                <a:uLnTx/>
                <a:uFillTx/>
              </a:rPr>
              <a:t>d</a:t>
            </a:r>
            <a:r>
              <a:rPr kumimoji="0" lang="en-US" sz="1700" b="0" i="0" u="none" strike="noStrike" kern="0" cap="none" spc="0" normalizeH="0" baseline="-25000" noProof="0" dirty="0">
                <a:ln>
                  <a:noFill/>
                </a:ln>
                <a:solidFill>
                  <a:sysClr val="windowText" lastClr="000000"/>
                </a:solidFill>
                <a:effectLst/>
                <a:uLnTx/>
                <a:uFillTx/>
              </a:rPr>
              <a:t>2</a:t>
            </a:r>
            <a:r>
              <a:rPr kumimoji="0" lang="en-US" sz="1700" b="0" i="0" u="none" strike="noStrike" kern="0" cap="none" spc="0" normalizeH="0" baseline="0" noProof="0" dirty="0">
                <a:ln>
                  <a:noFill/>
                </a:ln>
                <a:solidFill>
                  <a:sysClr val="windowText" lastClr="000000"/>
                </a:solidFill>
                <a:effectLst/>
                <a:uLnTx/>
                <a:uFillTx/>
                <a:latin typeface="+mn-lt"/>
              </a:rPr>
              <a:t> is set to the pattern’s length m.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As an example, here is the complete list of the </a:t>
            </a:r>
            <a:r>
              <a:rPr kumimoji="0" lang="en-US" sz="1700" b="0" i="0" u="none" strike="noStrike" kern="0" cap="none" spc="0" normalizeH="0" baseline="0" noProof="0" dirty="0">
                <a:ln>
                  <a:noFill/>
                </a:ln>
                <a:solidFill>
                  <a:sysClr val="windowText" lastClr="000000"/>
                </a:solidFill>
                <a:effectLst/>
                <a:uLnTx/>
                <a:uFillTx/>
              </a:rPr>
              <a:t>d</a:t>
            </a:r>
            <a:r>
              <a:rPr kumimoji="0" lang="en-US" sz="1700" b="0" i="0" u="none" strike="noStrike" kern="0" cap="none" spc="0" normalizeH="0" baseline="-25000" noProof="0" dirty="0">
                <a:ln>
                  <a:noFill/>
                </a:ln>
                <a:solidFill>
                  <a:sysClr val="windowText" lastClr="000000"/>
                </a:solidFill>
                <a:effectLst/>
                <a:uLnTx/>
                <a:uFillTx/>
              </a:rPr>
              <a:t>2</a:t>
            </a:r>
            <a:r>
              <a:rPr kumimoji="0" lang="en-US" sz="1700" b="0" i="0" u="none" strike="noStrike" kern="0" cap="none" spc="0" normalizeH="0" baseline="0" noProof="0" dirty="0">
                <a:ln>
                  <a:noFill/>
                </a:ln>
                <a:solidFill>
                  <a:sysClr val="windowText" lastClr="000000"/>
                </a:solidFill>
                <a:effectLst/>
                <a:uLnTx/>
                <a:uFillTx/>
                <a:latin typeface="+mn-lt"/>
              </a:rPr>
              <a:t> values—the good-suffix table of the Boyer-Moore algorithm—for the pattern ABCBAB:</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D671619D-330F-DBA2-DDDD-BE1C0DBBDF11}"/>
              </a:ext>
            </a:extLst>
          </p:cNvPr>
          <p:cNvPicPr>
            <a:picLocks noChangeAspect="1"/>
          </p:cNvPicPr>
          <p:nvPr/>
        </p:nvPicPr>
        <p:blipFill>
          <a:blip r:embed="rId3"/>
          <a:stretch>
            <a:fillRect/>
          </a:stretch>
        </p:blipFill>
        <p:spPr>
          <a:xfrm>
            <a:off x="2927424" y="3156813"/>
            <a:ext cx="1988992" cy="1844200"/>
          </a:xfrm>
          <a:prstGeom prst="rect">
            <a:avLst/>
          </a:prstGeom>
        </p:spPr>
      </p:pic>
    </p:spTree>
    <p:extLst>
      <p:ext uri="{BB962C8B-B14F-4D97-AF65-F5344CB8AC3E}">
        <p14:creationId xmlns:p14="http://schemas.microsoft.com/office/powerpoint/2010/main" val="32846214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FB0BCF4A-4FBD-AD92-CAF3-62D7E26667A0}"/>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0FC2B975-92CD-5684-89C3-EE5D9A4F913B}"/>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DBE71EFA-D913-5BC3-4C1A-5B15B49BD39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133</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75FD121C-A89F-B081-1694-4CCA2A22CA09}"/>
              </a:ext>
            </a:extLst>
          </p:cNvPr>
          <p:cNvSpPr txBox="1"/>
          <p:nvPr/>
        </p:nvSpPr>
        <p:spPr>
          <a:xfrm>
            <a:off x="122842" y="1024741"/>
            <a:ext cx="8654566" cy="4224193"/>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n-lt"/>
              </a:rPr>
              <a:t>Let’s summarize the Boyer-Moore algorithm in its entirety</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Step 1 For a given pattern and the alphabet used in both the pattern and the text, construct the bad-symbol shift table as described earlier.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Step 2 Using the pattern, construct the good-suffix shift table as described earlier.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Step 3 Align the pattern against the beginning of the text.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Step 4 Repeat the following step until either a matching substring is found or the pattern reaches beyond the last character of the text. Starting with the last character in the pattern, compare the corresponding characters in the pattern and the text until either all m character pairs are matched (then stop) or a mismatching pair is encountered after k ≥ 0 character pairs are matched successfully. </a:t>
            </a:r>
          </a:p>
        </p:txBody>
      </p:sp>
    </p:spTree>
    <p:extLst>
      <p:ext uri="{BB962C8B-B14F-4D97-AF65-F5344CB8AC3E}">
        <p14:creationId xmlns:p14="http://schemas.microsoft.com/office/powerpoint/2010/main" val="37818528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00BD2CCE-E2AB-B6CC-C412-281066CD1FE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672E24B2-5632-FDB0-E571-CBD2768AF3A9}"/>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81B2F1-C772-A330-CED4-1A02BC61C69F}"/>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134</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1F6E34A-9BA7-A8F5-1C26-38567483C278}"/>
              </a:ext>
            </a:extLst>
          </p:cNvPr>
          <p:cNvSpPr txBox="1"/>
          <p:nvPr/>
        </p:nvSpPr>
        <p:spPr>
          <a:xfrm>
            <a:off x="122842" y="1024741"/>
            <a:ext cx="8654566" cy="246986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US" sz="1700" b="0" i="0" u="none" strike="noStrike" kern="0" cap="none" spc="0" normalizeH="0" baseline="0" noProof="0" dirty="0">
                <a:ln>
                  <a:noFill/>
                </a:ln>
                <a:solidFill>
                  <a:sysClr val="windowText" lastClr="000000"/>
                </a:solidFill>
                <a:effectLst/>
                <a:uLnTx/>
                <a:uFillTx/>
                <a:latin typeface="+mn-lt"/>
              </a:rPr>
              <a:t>(Step 4 continued)</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In the latter case, retrieve the entry t1(c) from the c’s column of the bad-symbol table where c is the text’s mismatched character. If k &gt; 0, also retrieve the corresponding d2 entry from the good-suffix table.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Shift the pattern to the right by the number of positions computed by the formula. </a:t>
            </a:r>
          </a:p>
        </p:txBody>
      </p:sp>
      <p:pic>
        <p:nvPicPr>
          <p:cNvPr id="3" name="Picture 2">
            <a:extLst>
              <a:ext uri="{FF2B5EF4-FFF2-40B4-BE49-F238E27FC236}">
                <a16:creationId xmlns:a16="http://schemas.microsoft.com/office/drawing/2014/main" id="{6C074081-37F2-8587-2846-18E646833F50}"/>
              </a:ext>
            </a:extLst>
          </p:cNvPr>
          <p:cNvPicPr>
            <a:picLocks noChangeAspect="1"/>
          </p:cNvPicPr>
          <p:nvPr/>
        </p:nvPicPr>
        <p:blipFill>
          <a:blip r:embed="rId3"/>
          <a:stretch>
            <a:fillRect/>
          </a:stretch>
        </p:blipFill>
        <p:spPr>
          <a:xfrm>
            <a:off x="1418332" y="3494608"/>
            <a:ext cx="5149801" cy="1168609"/>
          </a:xfrm>
          <a:prstGeom prst="rect">
            <a:avLst/>
          </a:prstGeom>
        </p:spPr>
      </p:pic>
    </p:spTree>
    <p:extLst>
      <p:ext uri="{BB962C8B-B14F-4D97-AF65-F5344CB8AC3E}">
        <p14:creationId xmlns:p14="http://schemas.microsoft.com/office/powerpoint/2010/main" val="104499906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D34D576-344D-D946-EE22-80BD6221D554}"/>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16289775-EB2F-40F1-93E9-528FBADACA42}"/>
              </a:ext>
            </a:extLst>
          </p:cNvPr>
          <p:cNvSpPr txBox="1"/>
          <p:nvPr/>
        </p:nvSpPr>
        <p:spPr>
          <a:xfrm>
            <a:off x="185738" y="640962"/>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8469CEAD-076E-54A0-4BFA-77AF36EBA95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135</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CCE6E44-A13A-440E-A9B1-00BFC9ADC7D6}"/>
              </a:ext>
            </a:extLst>
          </p:cNvPr>
          <p:cNvSpPr txBox="1"/>
          <p:nvPr/>
        </p:nvSpPr>
        <p:spPr>
          <a:xfrm>
            <a:off x="185738" y="1164142"/>
            <a:ext cx="8654566" cy="325469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Shifting by the maximum of the two available shifts when k &gt; 0 is quite logical.</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The two shifts are based on the observations—the first one about a text’s mismatched character, and the second one about a matched group of the pattern’s rightmost characters—that imply that shifting by less than d1 and d2 characters, respectively, cannot lead to aligning the pattern with a matching substring in the text.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Since we are interested in shifting the pattern as far as possible without missing a possible matching substring, we take the maximum of these two numbers.</a:t>
            </a:r>
          </a:p>
        </p:txBody>
      </p:sp>
    </p:spTree>
    <p:extLst>
      <p:ext uri="{BB962C8B-B14F-4D97-AF65-F5344CB8AC3E}">
        <p14:creationId xmlns:p14="http://schemas.microsoft.com/office/powerpoint/2010/main" val="247313342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15E0CD7C-B6B8-BD9E-13AD-669EDF8ED5CB}"/>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7440258B-B854-BDB0-0E3A-301150B3F0B5}"/>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294C1961-0439-C8F7-41A6-6B2FF786BCD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136</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0E8CB1A9-928C-FEA7-7326-7D143EB688C7}"/>
              </a:ext>
            </a:extLst>
          </p:cNvPr>
          <p:cNvSpPr txBox="1"/>
          <p:nvPr/>
        </p:nvSpPr>
        <p:spPr>
          <a:xfrm>
            <a:off x="122842" y="1024741"/>
            <a:ext cx="8654566" cy="923289"/>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0" marR="0" lvl="0" indent="0" algn="just" defTabSz="914400" eaLnBrk="1" fontAlgn="auto" latinLnBrk="0" hangingPunct="1">
              <a:lnSpc>
                <a:spcPct val="150000"/>
              </a:lnSpc>
              <a:spcBef>
                <a:spcPts val="0"/>
              </a:spcBef>
              <a:spcAft>
                <a:spcPts val="0"/>
              </a:spcAft>
              <a:buClrTx/>
              <a:buSzPts val="1800"/>
              <a:buFontTx/>
              <a:buNone/>
              <a:tabLst/>
              <a:defRPr/>
            </a:pPr>
            <a:endParaRPr kumimoji="0" lang="en-IN" sz="1800" b="1" i="0" u="none" strike="noStrike" kern="0" cap="none" spc="0" normalizeH="0" baseline="0" noProof="0" dirty="0">
              <a:ln>
                <a:noFill/>
              </a:ln>
              <a:solidFill>
                <a:sysClr val="windowText" lastClr="000000"/>
              </a:solidFill>
              <a:effectLst/>
              <a:uLnTx/>
              <a:uFillTx/>
              <a:latin typeface="+mj-lt"/>
            </a:endParaRPr>
          </a:p>
        </p:txBody>
      </p:sp>
      <p:pic>
        <p:nvPicPr>
          <p:cNvPr id="3" name="Picture 2">
            <a:extLst>
              <a:ext uri="{FF2B5EF4-FFF2-40B4-BE49-F238E27FC236}">
                <a16:creationId xmlns:a16="http://schemas.microsoft.com/office/drawing/2014/main" id="{BB12B3D4-331A-FB6C-4F00-C5E890323942}"/>
              </a:ext>
            </a:extLst>
          </p:cNvPr>
          <p:cNvPicPr>
            <a:picLocks noChangeAspect="1"/>
          </p:cNvPicPr>
          <p:nvPr/>
        </p:nvPicPr>
        <p:blipFill>
          <a:blip r:embed="rId3"/>
          <a:stretch>
            <a:fillRect/>
          </a:stretch>
        </p:blipFill>
        <p:spPr>
          <a:xfrm>
            <a:off x="1359891" y="1421915"/>
            <a:ext cx="6424217" cy="3871295"/>
          </a:xfrm>
          <a:prstGeom prst="rect">
            <a:avLst/>
          </a:prstGeom>
        </p:spPr>
      </p:pic>
    </p:spTree>
    <p:extLst>
      <p:ext uri="{BB962C8B-B14F-4D97-AF65-F5344CB8AC3E}">
        <p14:creationId xmlns:p14="http://schemas.microsoft.com/office/powerpoint/2010/main" val="16754154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7CEB2BAE-7688-7829-41E4-2E8F0BD070A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D03243F3-5D6F-E6B3-803C-A46174B96977}"/>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07CC6FE6-761F-90EA-74CF-74BB47A2867E}"/>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137</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E57F5D2D-EC8F-0DCB-312F-6BBF5A0C3129}"/>
              </a:ext>
            </a:extLst>
          </p:cNvPr>
          <p:cNvSpPr txBox="1"/>
          <p:nvPr/>
        </p:nvSpPr>
        <p:spPr>
          <a:xfrm>
            <a:off x="122842" y="1024741"/>
            <a:ext cx="8654566" cy="3831778"/>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The actual search for this pattern in the text given in Figure 7.3 proceeds as follows.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After the last B of the pattern fails to match its counterpart K in the text, the algorithm retrieves t1(K) = 6 from the bad-symbol table and shifts the pattern by d1 = max{t1(K) − 0, 1} = 6 positions to the right.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The new try successfully matches two pairs of characters. After the failure of the third comparison on the space character in the text, the algorithm retrieves t1( ) = 6 from the bad-symbol table and d2 = 5 from the good-suffix table to shift the pattern by max{d1, d2} = max{6 − 2, 5} = 5.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Note that on this iteration it is the good-suffix rule that leads to a farther shift of the pattern.</a:t>
            </a:r>
          </a:p>
        </p:txBody>
      </p:sp>
    </p:spTree>
    <p:extLst>
      <p:ext uri="{BB962C8B-B14F-4D97-AF65-F5344CB8AC3E}">
        <p14:creationId xmlns:p14="http://schemas.microsoft.com/office/powerpoint/2010/main" val="304027108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2CABBF0-971E-926F-5525-E601254CFD69}"/>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EB685FE0-E729-B0A9-9A8E-3808B3016559}"/>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F437EED3-8036-4FAA-E006-5893F99D4681}"/>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138</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44FE417A-4268-D0EC-7348-778ABA3FFBA6}"/>
              </a:ext>
            </a:extLst>
          </p:cNvPr>
          <p:cNvSpPr txBox="1"/>
          <p:nvPr/>
        </p:nvSpPr>
        <p:spPr>
          <a:xfrm>
            <a:off x="122842" y="1024741"/>
            <a:ext cx="8654566" cy="90020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endParaRPr kumimoji="0" lang="en-US" sz="1700" b="0" i="0" u="none" strike="noStrike" kern="0" cap="none" spc="0" normalizeH="0" baseline="0" noProof="0" dirty="0">
              <a:ln>
                <a:noFill/>
              </a:ln>
              <a:solidFill>
                <a:sysClr val="windowText" lastClr="000000"/>
              </a:solidFill>
              <a:effectLst/>
              <a:uLnTx/>
              <a:uFillTx/>
              <a:latin typeface="+mn-lt"/>
            </a:endParaRPr>
          </a:p>
        </p:txBody>
      </p:sp>
      <p:pic>
        <p:nvPicPr>
          <p:cNvPr id="3" name="Picture 2">
            <a:extLst>
              <a:ext uri="{FF2B5EF4-FFF2-40B4-BE49-F238E27FC236}">
                <a16:creationId xmlns:a16="http://schemas.microsoft.com/office/drawing/2014/main" id="{5A9A583C-AC03-806D-8244-AAC818F08947}"/>
              </a:ext>
            </a:extLst>
          </p:cNvPr>
          <p:cNvPicPr>
            <a:picLocks noChangeAspect="1"/>
          </p:cNvPicPr>
          <p:nvPr/>
        </p:nvPicPr>
        <p:blipFill>
          <a:blip r:embed="rId3"/>
          <a:stretch>
            <a:fillRect/>
          </a:stretch>
        </p:blipFill>
        <p:spPr>
          <a:xfrm>
            <a:off x="454103" y="1643978"/>
            <a:ext cx="8018355" cy="2869028"/>
          </a:xfrm>
          <a:prstGeom prst="rect">
            <a:avLst/>
          </a:prstGeom>
        </p:spPr>
      </p:pic>
    </p:spTree>
    <p:extLst>
      <p:ext uri="{BB962C8B-B14F-4D97-AF65-F5344CB8AC3E}">
        <p14:creationId xmlns:p14="http://schemas.microsoft.com/office/powerpoint/2010/main" val="238271535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A3317DCE-E48D-A6E5-E7FD-365BA4787A8C}"/>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5AEB7D93-A47C-5583-F82E-7F1A4AE46641}"/>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62A03AB4-91C1-2448-DDF5-55813DC6A369}"/>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139</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D312988D-9395-22AB-3DAF-8990914F1B7C}"/>
              </a:ext>
            </a:extLst>
          </p:cNvPr>
          <p:cNvSpPr txBox="1"/>
          <p:nvPr/>
        </p:nvSpPr>
        <p:spPr>
          <a:xfrm>
            <a:off x="185738" y="1158974"/>
            <a:ext cx="8654566" cy="3462446"/>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The next try successfully matches just one pair of B’s. After the failure of the next comparison on the space character in the text, the algorithm retrieves t1( ) = 6 from the bad-symbol table and d2 = 2 from the good-suffix table to shift the pattern by max{d1,d2} = max{6 − 1, 2} = 5.</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 Note that on this iteration it is the bad-symbol rule that leads to a farther shift of the pattern.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rPr>
              <a:t>The next try finds a matching substring in the text after successfully matching all six characters of the pattern with their counterparts in the text. </a:t>
            </a:r>
          </a:p>
        </p:txBody>
      </p:sp>
    </p:spTree>
    <p:extLst>
      <p:ext uri="{BB962C8B-B14F-4D97-AF65-F5344CB8AC3E}">
        <p14:creationId xmlns:p14="http://schemas.microsoft.com/office/powerpoint/2010/main" val="22025828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DCAF2F5-8F9E-0901-6278-AD58B88F852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990CA04-B4F3-5CE6-6E6D-215322DCBA0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Space and Time Trade-Offs</a:t>
            </a:r>
          </a:p>
        </p:txBody>
      </p:sp>
      <p:sp>
        <p:nvSpPr>
          <p:cNvPr id="369" name="Google Shape;369;p42">
            <a:extLst>
              <a:ext uri="{FF2B5EF4-FFF2-40B4-BE49-F238E27FC236}">
                <a16:creationId xmlns:a16="http://schemas.microsoft.com/office/drawing/2014/main" id="{FD1CEB37-01FA-1324-2786-1D02F1AAA6F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140</a:t>
            </a:fld>
            <a:endParaRPr kumimoji="0" sz="1800" b="0" i="0" u="none" strike="noStrike" kern="0" cap="none" spc="0" normalizeH="0" baseline="0" noProof="0">
              <a:ln>
                <a:noFill/>
              </a:ln>
              <a:solidFill>
                <a:sysClr val="windowText" lastClr="000000"/>
              </a:solidFill>
              <a:effectLst/>
              <a:uLnTx/>
              <a:uFillTx/>
            </a:endParaRPr>
          </a:p>
        </p:txBody>
      </p:sp>
      <p:sp>
        <p:nvSpPr>
          <p:cNvPr id="4" name="Google Shape;370;p42">
            <a:extLst>
              <a:ext uri="{FF2B5EF4-FFF2-40B4-BE49-F238E27FC236}">
                <a16:creationId xmlns:a16="http://schemas.microsoft.com/office/drawing/2014/main" id="{64DF69D5-4A19-CB39-73CE-E9BAF1C3EE55}"/>
              </a:ext>
            </a:extLst>
          </p:cNvPr>
          <p:cNvSpPr txBox="1"/>
          <p:nvPr/>
        </p:nvSpPr>
        <p:spPr>
          <a:xfrm>
            <a:off x="185738" y="1158974"/>
            <a:ext cx="8654566" cy="2469867"/>
          </a:xfrm>
          <a:prstGeom prst="rect">
            <a:avLst/>
          </a:prstGeom>
          <a:noFill/>
          <a:ln>
            <a:noFill/>
          </a:ln>
        </p:spPr>
        <p:txBody>
          <a:bodyPr spcFirstLastPara="1" wrap="square" lIns="91425" tIns="45700" rIns="91425" bIns="45700" anchor="t" anchorCtr="0">
            <a:spAutoFit/>
          </a:bodyPr>
          <a:lstStyle/>
          <a:p>
            <a:pPr marL="0" marR="0" lvl="0" indent="0" algn="just" defTabSz="914400" eaLnBrk="1" fontAlgn="auto" latinLnBrk="0" hangingPunct="1">
              <a:lnSpc>
                <a:spcPct val="150000"/>
              </a:lnSpc>
              <a:spcBef>
                <a:spcPts val="0"/>
              </a:spcBef>
              <a:spcAft>
                <a:spcPts val="0"/>
              </a:spcAft>
              <a:buClrTx/>
              <a:buSzPts val="1800"/>
              <a:buFontTx/>
              <a:buNone/>
              <a:tabLst/>
              <a:defRPr/>
            </a:pPr>
            <a:r>
              <a:rPr kumimoji="0" lang="en-IN" sz="1800" b="1" i="0" u="none" strike="noStrike" kern="0" cap="none" spc="0" normalizeH="0" baseline="0" noProof="0" dirty="0">
                <a:ln>
                  <a:noFill/>
                </a:ln>
                <a:solidFill>
                  <a:sysClr val="windowText" lastClr="000000"/>
                </a:solidFill>
                <a:effectLst/>
                <a:uLnTx/>
                <a:uFillTx/>
                <a:latin typeface="+mj-lt"/>
              </a:rPr>
              <a:t>Boyer-Moore Algorithm</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0" i="0" u="none" strike="noStrike" kern="0" cap="none" spc="0" normalizeH="0" baseline="0" noProof="0" dirty="0">
                <a:ln>
                  <a:noFill/>
                </a:ln>
                <a:solidFill>
                  <a:sysClr val="windowText" lastClr="000000"/>
                </a:solidFill>
                <a:effectLst/>
                <a:uLnTx/>
                <a:uFillTx/>
                <a:latin typeface="+mn-lt"/>
              </a:rPr>
              <a:t>When searching for the </a:t>
            </a:r>
            <a:r>
              <a:rPr kumimoji="0" lang="en-US" sz="1700" b="1" i="0" u="none" strike="noStrike" kern="0" cap="none" spc="0" normalizeH="0" baseline="0" noProof="0" dirty="0">
                <a:ln>
                  <a:noFill/>
                </a:ln>
                <a:solidFill>
                  <a:sysClr val="windowText" lastClr="000000"/>
                </a:solidFill>
                <a:effectLst/>
                <a:uLnTx/>
                <a:uFillTx/>
                <a:latin typeface="+mn-lt"/>
              </a:rPr>
              <a:t>first occurrence of the pattern, the worst-case efficiency of the Boyer-Moore algorithm is known to be linear</a:t>
            </a:r>
            <a:r>
              <a:rPr kumimoji="0" lang="en-US" sz="1700" b="0" i="0" u="none" strike="noStrike" kern="0" cap="none" spc="0" normalizeH="0" baseline="0" noProof="0" dirty="0">
                <a:ln>
                  <a:noFill/>
                </a:ln>
                <a:solidFill>
                  <a:sysClr val="windowText" lastClr="000000"/>
                </a:solidFill>
                <a:effectLst/>
                <a:uLnTx/>
                <a:uFillTx/>
                <a:latin typeface="+mn-lt"/>
              </a:rPr>
              <a:t>. </a:t>
            </a:r>
          </a:p>
          <a:p>
            <a:pPr marL="285750" marR="0" lvl="0" indent="-285750" algn="just" defTabSz="914400" eaLnBrk="1" fontAlgn="auto" latinLnBrk="0" hangingPunct="1">
              <a:lnSpc>
                <a:spcPct val="150000"/>
              </a:lnSpc>
              <a:spcBef>
                <a:spcPts val="0"/>
              </a:spcBef>
              <a:spcAft>
                <a:spcPts val="0"/>
              </a:spcAft>
              <a:buClrTx/>
              <a:buSzPts val="1800"/>
              <a:buFont typeface="Arial" panose="020B0604020202020204" pitchFamily="34" charset="0"/>
              <a:buChar char="•"/>
              <a:tabLst/>
              <a:defRPr/>
            </a:pPr>
            <a:r>
              <a:rPr kumimoji="0" lang="en-US" sz="1700" b="1" i="0" u="none" strike="noStrike" kern="0" cap="none" spc="0" normalizeH="0" baseline="0" noProof="0" dirty="0">
                <a:ln>
                  <a:noFill/>
                </a:ln>
                <a:solidFill>
                  <a:sysClr val="windowText" lastClr="000000"/>
                </a:solidFill>
                <a:effectLst/>
                <a:uLnTx/>
                <a:uFillTx/>
                <a:latin typeface="+mn-lt"/>
              </a:rPr>
              <a:t>Though this algorithm runs very fast, especially on large alphabets </a:t>
            </a:r>
            <a:r>
              <a:rPr kumimoji="0" lang="en-US" sz="1700" b="0" i="0" u="none" strike="noStrike" kern="0" cap="none" spc="0" normalizeH="0" baseline="0" noProof="0" dirty="0">
                <a:ln>
                  <a:noFill/>
                </a:ln>
                <a:solidFill>
                  <a:sysClr val="windowText" lastClr="000000"/>
                </a:solidFill>
                <a:effectLst/>
                <a:uLnTx/>
                <a:uFillTx/>
                <a:latin typeface="+mn-lt"/>
              </a:rPr>
              <a:t>(relative to the length of the pattern), </a:t>
            </a:r>
            <a:r>
              <a:rPr kumimoji="0" lang="en-US" sz="1700" b="1" i="0" u="none" strike="noStrike" kern="0" cap="none" spc="0" normalizeH="0" baseline="0" noProof="0" dirty="0">
                <a:ln>
                  <a:noFill/>
                </a:ln>
                <a:solidFill>
                  <a:sysClr val="windowText" lastClr="000000"/>
                </a:solidFill>
                <a:effectLst/>
                <a:uLnTx/>
                <a:uFillTx/>
                <a:latin typeface="+mn-lt"/>
              </a:rPr>
              <a:t>many people prefer </a:t>
            </a:r>
            <a:r>
              <a:rPr kumimoji="0" lang="en-US" sz="1700" b="0" i="0" u="none" strike="noStrike" kern="0" cap="none" spc="0" normalizeH="0" baseline="0" noProof="0" dirty="0">
                <a:ln>
                  <a:noFill/>
                </a:ln>
                <a:solidFill>
                  <a:sysClr val="windowText" lastClr="000000"/>
                </a:solidFill>
                <a:effectLst/>
                <a:uLnTx/>
                <a:uFillTx/>
                <a:latin typeface="+mn-lt"/>
              </a:rPr>
              <a:t>its simplified versions, such as </a:t>
            </a:r>
            <a:r>
              <a:rPr kumimoji="0" lang="en-US" sz="1700" b="1" i="0" u="none" strike="noStrike" kern="0" cap="none" spc="0" normalizeH="0" baseline="0" noProof="0" dirty="0">
                <a:ln>
                  <a:noFill/>
                </a:ln>
                <a:solidFill>
                  <a:sysClr val="windowText" lastClr="000000"/>
                </a:solidFill>
                <a:effectLst/>
                <a:uLnTx/>
                <a:uFillTx/>
                <a:latin typeface="+mn-lt"/>
              </a:rPr>
              <a:t>Horspool’s algorithm, when dealing with natural-language–like strings</a:t>
            </a:r>
            <a:r>
              <a:rPr kumimoji="0" lang="en-US" sz="1700" b="0" i="0" u="none" strike="noStrike" kern="0" cap="none" spc="0" normalizeH="0" baseline="0" noProof="0" dirty="0">
                <a:ln>
                  <a:noFill/>
                </a:ln>
                <a:solidFill>
                  <a:sysClr val="windowText" lastClr="000000"/>
                </a:solidFill>
                <a:effectLst/>
                <a:uLnTx/>
                <a:uFillTx/>
                <a:latin typeface="+mn-lt"/>
              </a:rPr>
              <a:t>.</a:t>
            </a:r>
          </a:p>
        </p:txBody>
      </p:sp>
    </p:spTree>
    <p:extLst>
      <p:ext uri="{BB962C8B-B14F-4D97-AF65-F5344CB8AC3E}">
        <p14:creationId xmlns:p14="http://schemas.microsoft.com/office/powerpoint/2010/main" val="171529321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367">
          <a:extLst>
            <a:ext uri="{FF2B5EF4-FFF2-40B4-BE49-F238E27FC236}">
              <a16:creationId xmlns:a16="http://schemas.microsoft.com/office/drawing/2014/main" id="{6DCAF2F5-8F9E-0901-6278-AD58B88F8528}"/>
            </a:ext>
          </a:extLst>
        </p:cNvPr>
        <p:cNvGrpSpPr/>
        <p:nvPr/>
      </p:nvGrpSpPr>
      <p:grpSpPr>
        <a:xfrm>
          <a:off x="0" y="0"/>
          <a:ext cx="0" cy="0"/>
          <a:chOff x="0" y="0"/>
          <a:chExt cx="0" cy="0"/>
        </a:xfrm>
      </p:grpSpPr>
      <p:sp>
        <p:nvSpPr>
          <p:cNvPr id="368" name="Google Shape;368;p42">
            <a:extLst>
              <a:ext uri="{FF2B5EF4-FFF2-40B4-BE49-F238E27FC236}">
                <a16:creationId xmlns:a16="http://schemas.microsoft.com/office/drawing/2014/main" id="{B990CA04-B4F3-5CE6-6E6D-215322DCBA0A}"/>
              </a:ext>
            </a:extLst>
          </p:cNvPr>
          <p:cNvSpPr txBox="1"/>
          <p:nvPr/>
        </p:nvSpPr>
        <p:spPr>
          <a:xfrm>
            <a:off x="185738" y="635794"/>
            <a:ext cx="8835420"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Arial"/>
                <a:ea typeface="Arial"/>
                <a:cs typeface="Arial"/>
                <a:sym typeface="Arial"/>
              </a:rPr>
              <a:t>Questions for practice</a:t>
            </a:r>
          </a:p>
        </p:txBody>
      </p:sp>
      <p:sp>
        <p:nvSpPr>
          <p:cNvPr id="369" name="Google Shape;369;p42">
            <a:extLst>
              <a:ext uri="{FF2B5EF4-FFF2-40B4-BE49-F238E27FC236}">
                <a16:creationId xmlns:a16="http://schemas.microsoft.com/office/drawing/2014/main" id="{FD1CEB37-01FA-1324-2786-1D02F1AAA6F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800" b="0" i="0" u="none" strike="noStrike" kern="0" cap="none" spc="0" normalizeH="0" baseline="0" noProof="0">
                <a:ln>
                  <a:noFill/>
                </a:ln>
                <a:solidFill>
                  <a:sysClr val="windowText" lastClr="000000"/>
                </a:solidFill>
                <a:effectLst/>
                <a:uLnTx/>
                <a:uFillTx/>
              </a:rPr>
              <a:pPr marL="0" marR="0" lvl="0" indent="0" algn="r" defTabSz="914400" rtl="0" eaLnBrk="1" fontAlgn="auto" latinLnBrk="0" hangingPunct="1">
                <a:lnSpc>
                  <a:spcPct val="100000"/>
                </a:lnSpc>
                <a:spcBef>
                  <a:spcPts val="0"/>
                </a:spcBef>
                <a:spcAft>
                  <a:spcPts val="0"/>
                </a:spcAft>
                <a:buClrTx/>
                <a:buSzPts val="1000"/>
                <a:buFontTx/>
                <a:buNone/>
                <a:tabLst/>
                <a:defRPr/>
              </a:pPr>
              <a:t>141</a:t>
            </a:fld>
            <a:endParaRPr kumimoji="0" sz="1800" b="0" i="0" u="none" strike="noStrike" kern="0" cap="none" spc="0" normalizeH="0" baseline="0" noProof="0">
              <a:ln>
                <a:noFill/>
              </a:ln>
              <a:solidFill>
                <a:sysClr val="windowText" lastClr="000000"/>
              </a:solidFill>
              <a:effectLst/>
              <a:uLnTx/>
              <a:uFillTx/>
            </a:endParaRPr>
          </a:p>
        </p:txBody>
      </p:sp>
      <p:pic>
        <p:nvPicPr>
          <p:cNvPr id="2" name="Picture 1"/>
          <p:cNvPicPr>
            <a:picLocks noChangeAspect="1"/>
          </p:cNvPicPr>
          <p:nvPr/>
        </p:nvPicPr>
        <p:blipFill>
          <a:blip r:embed="rId3"/>
          <a:stretch>
            <a:fillRect/>
          </a:stretch>
        </p:blipFill>
        <p:spPr>
          <a:xfrm>
            <a:off x="711303" y="1286028"/>
            <a:ext cx="7677150" cy="904875"/>
          </a:xfrm>
          <a:prstGeom prst="rect">
            <a:avLst/>
          </a:prstGeom>
        </p:spPr>
      </p:pic>
      <p:pic>
        <p:nvPicPr>
          <p:cNvPr id="3" name="Picture 2"/>
          <p:cNvPicPr>
            <a:picLocks noChangeAspect="1"/>
          </p:cNvPicPr>
          <p:nvPr/>
        </p:nvPicPr>
        <p:blipFill>
          <a:blip r:embed="rId4"/>
          <a:stretch>
            <a:fillRect/>
          </a:stretch>
        </p:blipFill>
        <p:spPr>
          <a:xfrm>
            <a:off x="1488619" y="2190903"/>
            <a:ext cx="6229657" cy="25638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6573143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3"/>
          <p:cNvSpPr txBox="1"/>
          <p:nvPr/>
        </p:nvSpPr>
        <p:spPr>
          <a:xfrm>
            <a:off x="3275402" y="2377325"/>
            <a:ext cx="216437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End of Module 3</a:t>
            </a:r>
            <a:endParaRPr/>
          </a:p>
        </p:txBody>
      </p:sp>
      <p:sp>
        <p:nvSpPr>
          <p:cNvPr id="377" name="Google Shape;377;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142</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TotalTime>
  <Words>10068</Words>
  <Application>Microsoft Office PowerPoint</Application>
  <PresentationFormat>On-screen Show (16:9)</PresentationFormat>
  <Paragraphs>833</Paragraphs>
  <Slides>142</Slides>
  <Notes>142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142</vt:i4>
      </vt:variant>
    </vt:vector>
  </HeadingPairs>
  <TitlesOfParts>
    <vt:vector size="150" baseType="lpstr">
      <vt:lpstr>Arial</vt:lpstr>
      <vt:lpstr>Cambria</vt:lpstr>
      <vt:lpstr>Noto Sans Symbols</vt:lpstr>
      <vt:lpstr>Open Sans Light</vt:lpstr>
      <vt:lpstr>Open Sans</vt:lpstr>
      <vt:lpstr>Times</vt:lpstr>
      <vt:lpstr>TimesTen-Roman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Roopashree S</dc:creator>
  <cp:lastModifiedBy>dell</cp:lastModifiedBy>
  <cp:revision>31</cp:revision>
  <dcterms:modified xsi:type="dcterms:W3CDTF">2025-04-13T12:53:59Z</dcterms:modified>
</cp:coreProperties>
</file>