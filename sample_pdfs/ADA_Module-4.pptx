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127"/>
  </p:notesMasterIdLst>
  <p:sldIdLst>
    <p:sldId id="256" r:id="rId2"/>
    <p:sldId id="257" r:id="rId3"/>
    <p:sldId id="313" r:id="rId4"/>
    <p:sldId id="314" r:id="rId5"/>
    <p:sldId id="315" r:id="rId6"/>
    <p:sldId id="316" r:id="rId7"/>
    <p:sldId id="317" r:id="rId8"/>
    <p:sldId id="320" r:id="rId9"/>
    <p:sldId id="321" r:id="rId10"/>
    <p:sldId id="322" r:id="rId11"/>
    <p:sldId id="339" r:id="rId12"/>
    <p:sldId id="323" r:id="rId13"/>
    <p:sldId id="324" r:id="rId14"/>
    <p:sldId id="326" r:id="rId15"/>
    <p:sldId id="327" r:id="rId16"/>
    <p:sldId id="328" r:id="rId17"/>
    <p:sldId id="329" r:id="rId18"/>
    <p:sldId id="330" r:id="rId19"/>
    <p:sldId id="331" r:id="rId20"/>
    <p:sldId id="332" r:id="rId21"/>
    <p:sldId id="333" r:id="rId22"/>
    <p:sldId id="334" r:id="rId23"/>
    <p:sldId id="335" r:id="rId24"/>
    <p:sldId id="336" r:id="rId25"/>
    <p:sldId id="337" r:id="rId26"/>
    <p:sldId id="338" r:id="rId27"/>
    <p:sldId id="340" r:id="rId28"/>
    <p:sldId id="341" r:id="rId29"/>
    <p:sldId id="342" r:id="rId30"/>
    <p:sldId id="343" r:id="rId31"/>
    <p:sldId id="344" r:id="rId32"/>
    <p:sldId id="345" r:id="rId33"/>
    <p:sldId id="346" r:id="rId34"/>
    <p:sldId id="347" r:id="rId35"/>
    <p:sldId id="348" r:id="rId36"/>
    <p:sldId id="349" r:id="rId37"/>
    <p:sldId id="350" r:id="rId38"/>
    <p:sldId id="351" r:id="rId39"/>
    <p:sldId id="352" r:id="rId40"/>
    <p:sldId id="354" r:id="rId41"/>
    <p:sldId id="353" r:id="rId42"/>
    <p:sldId id="355" r:id="rId43"/>
    <p:sldId id="356" r:id="rId44"/>
    <p:sldId id="357" r:id="rId45"/>
    <p:sldId id="358" r:id="rId46"/>
    <p:sldId id="359" r:id="rId47"/>
    <p:sldId id="360" r:id="rId48"/>
    <p:sldId id="361" r:id="rId49"/>
    <p:sldId id="362" r:id="rId50"/>
    <p:sldId id="363" r:id="rId51"/>
    <p:sldId id="364" r:id="rId52"/>
    <p:sldId id="365" r:id="rId53"/>
    <p:sldId id="366" r:id="rId54"/>
    <p:sldId id="367" r:id="rId55"/>
    <p:sldId id="368" r:id="rId56"/>
    <p:sldId id="369" r:id="rId57"/>
    <p:sldId id="370" r:id="rId58"/>
    <p:sldId id="371" r:id="rId59"/>
    <p:sldId id="372" r:id="rId60"/>
    <p:sldId id="373" r:id="rId61"/>
    <p:sldId id="374" r:id="rId62"/>
    <p:sldId id="375" r:id="rId63"/>
    <p:sldId id="376" r:id="rId64"/>
    <p:sldId id="377" r:id="rId65"/>
    <p:sldId id="378" r:id="rId66"/>
    <p:sldId id="379" r:id="rId67"/>
    <p:sldId id="380" r:id="rId68"/>
    <p:sldId id="381" r:id="rId69"/>
    <p:sldId id="382" r:id="rId70"/>
    <p:sldId id="383" r:id="rId71"/>
    <p:sldId id="384" r:id="rId72"/>
    <p:sldId id="385" r:id="rId73"/>
    <p:sldId id="386" r:id="rId74"/>
    <p:sldId id="387" r:id="rId75"/>
    <p:sldId id="388" r:id="rId76"/>
    <p:sldId id="389" r:id="rId77"/>
    <p:sldId id="390" r:id="rId78"/>
    <p:sldId id="391" r:id="rId79"/>
    <p:sldId id="392" r:id="rId80"/>
    <p:sldId id="393" r:id="rId81"/>
    <p:sldId id="394" r:id="rId82"/>
    <p:sldId id="395" r:id="rId83"/>
    <p:sldId id="396" r:id="rId84"/>
    <p:sldId id="397" r:id="rId85"/>
    <p:sldId id="398" r:id="rId86"/>
    <p:sldId id="399" r:id="rId87"/>
    <p:sldId id="400" r:id="rId88"/>
    <p:sldId id="401" r:id="rId89"/>
    <p:sldId id="402" r:id="rId90"/>
    <p:sldId id="403" r:id="rId91"/>
    <p:sldId id="404" r:id="rId92"/>
    <p:sldId id="405" r:id="rId93"/>
    <p:sldId id="406" r:id="rId94"/>
    <p:sldId id="407" r:id="rId95"/>
    <p:sldId id="408" r:id="rId96"/>
    <p:sldId id="409" r:id="rId97"/>
    <p:sldId id="410" r:id="rId98"/>
    <p:sldId id="411" r:id="rId99"/>
    <p:sldId id="412" r:id="rId100"/>
    <p:sldId id="413" r:id="rId101"/>
    <p:sldId id="414" r:id="rId102"/>
    <p:sldId id="415" r:id="rId103"/>
    <p:sldId id="416" r:id="rId104"/>
    <p:sldId id="417" r:id="rId105"/>
    <p:sldId id="418" r:id="rId106"/>
    <p:sldId id="419" r:id="rId107"/>
    <p:sldId id="420" r:id="rId108"/>
    <p:sldId id="421" r:id="rId109"/>
    <p:sldId id="422" r:id="rId110"/>
    <p:sldId id="423" r:id="rId111"/>
    <p:sldId id="424" r:id="rId112"/>
    <p:sldId id="425" r:id="rId113"/>
    <p:sldId id="426" r:id="rId114"/>
    <p:sldId id="427" r:id="rId115"/>
    <p:sldId id="428" r:id="rId116"/>
    <p:sldId id="429" r:id="rId117"/>
    <p:sldId id="430" r:id="rId118"/>
    <p:sldId id="431" r:id="rId119"/>
    <p:sldId id="432" r:id="rId120"/>
    <p:sldId id="433" r:id="rId121"/>
    <p:sldId id="434" r:id="rId122"/>
    <p:sldId id="435" r:id="rId123"/>
    <p:sldId id="436" r:id="rId124"/>
    <p:sldId id="437" r:id="rId125"/>
    <p:sldId id="298" r:id="rId126"/>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28" roundtripDataSignature="AMtx7miZcdNMQQlixAJeXSOsXK0zOU/1k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778" y="8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customschemas.google.com/relationships/presentationmetadata" Target="metadata"/><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presProps" Target="pres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viewProps" Target="view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tableStyles" Target="tableStyle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4" name="Google Shape;5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9" name="Google Shape;59;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4B8F9F9D-6FDA-57F7-F7D5-C148217894CD}"/>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87FC1949-2015-8DA3-F943-D88662F8D92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CEF763C5-A8A6-D663-2764-7B3619531A0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7593705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62F799D1-EBCD-8BAC-76E7-4FA892CD6493}"/>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4BBAF369-1DF7-B31E-01D2-4ADC201C06C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7EBB8A77-9439-B38F-D25E-03B5CE60E51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9541107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73A864E0-0B8B-D1AD-FD48-DD96733C92E0}"/>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4EA420DD-71A2-A35F-359A-62B04D9D7E8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C02CCE5C-DD3A-F232-5B2D-E1E64C35581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6895100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4BF6C404-4302-72A2-EFE8-CA430624263F}"/>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85237B9A-2567-8093-F6E8-085CA25FB6A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47105C9A-EDD9-1266-1136-A08FFAEFBE9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272870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426F8081-9358-DEA9-1BEC-649C1A54F225}"/>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1121408E-361D-AA39-BB9C-A76259E7165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2A473B74-85C2-0E8A-2EB5-B5E76EE4292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6980120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0AFA4935-4323-1650-7528-560049A6B099}"/>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9DA33541-7864-1E86-3896-0ECE04379F4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EA6CEF17-F73D-0607-8045-2BF2DA506FB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7255033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71F2B360-10C3-ACD1-7765-A56D0F9C48B3}"/>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F5286C6F-EC7B-1472-61A2-57631510430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94D29981-7B6C-1A37-4CC8-CCFF26748D3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4451236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486A6A8E-EA5F-7FF4-A371-0F2F9DC34605}"/>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8DA1C277-5796-6266-047D-AB681ACE260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5DBA86EF-2156-E4E9-1C18-F76422BA4AE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6749674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486A6A8E-EA5F-7FF4-A371-0F2F9DC34605}"/>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8DA1C277-5796-6266-047D-AB681ACE260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5DBA86EF-2156-E4E9-1C18-F76422BA4AE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818447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D6EE1B73-A921-EAD5-9D9C-DCD606EE19EB}"/>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7CA5BCC8-D5F6-2748-8DB4-464013FC71D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FA07B89F-BA91-BF74-433F-11F8DB512F7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8615556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1B67F707-0475-40EB-9021-74BC58A00D7C}"/>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746317F5-F085-5FD3-60C6-759556F4885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779B4E7C-C59B-213C-47ED-FEA6B94B980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9663092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3592B2DA-398C-7CBB-9FE5-C26E89E54EDB}"/>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DEEDAB0A-3B9D-9142-EAFF-4A3C41274B9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32F2BAFA-BEB7-703C-8824-70BEFCE4E5B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920972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DC3AF439-F592-98B1-B664-8874649D3110}"/>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477A5393-6A96-BBF7-00B1-D21E57B258C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9227C60E-6D0D-CE08-E197-FDF59A1F141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7770131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BB434761-AEF3-4DF4-8A63-0C54A2E20847}"/>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CADFC567-3999-A7E4-7EAE-9FF31663412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752C2B37-C29F-E5DC-ED4F-C9D5C0C31CA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5439442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A913CD83-4F27-2645-0154-534E89AA0EE9}"/>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AD290D05-789C-D463-D12F-16EB29CADA0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34215B7D-A783-9B80-3749-09DB052A420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02622259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6DC3273F-E651-B10E-380A-8C749A0E256B}"/>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2D5727E3-0A4F-498E-DBB6-6A8A0843ADD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D5F849ED-DFDF-592B-1ECD-B4FB560C8AC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8416003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2B245C83-3499-18E4-9791-B401C53F747D}"/>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E6C7DEE2-0C79-E766-47B2-3A4ED0ECD26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298515B8-E4B2-137A-9E5A-2066445961F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42186900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93716774-F23F-2D15-5E59-A9F86609E786}"/>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172D4590-28C9-74E6-BE51-B4C8A13C6C5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252F059C-AB04-A4A5-A414-7B27CDD2FC6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68942350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1F9CA359-2E59-BC79-ABB5-F2DE6654C74B}"/>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CF97A05B-9748-A7FF-5CEF-7226754259E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E116A163-A41E-D01B-50BE-39B1066E9D4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39278801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D32F7E17-D884-C35D-2294-579F46692DCE}"/>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166AAE24-10A0-5D16-6241-41886A4202B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5B5C1292-6B54-CD3F-F172-D374211C085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74061059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5D1D179B-813B-8D2A-53FD-CCD89AA186B9}"/>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87A98908-44D2-69C7-DB17-A6B69EDDB79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4EEDC01B-90E0-74EE-5172-A2420EC277E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78330646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F1646BCF-C0CA-1E46-535A-5E3026195357}"/>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BE3BE66E-D3A0-3845-E520-6E63FC4A11A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A171274E-304E-0A80-2652-3CE9D3F7A53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87785091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2A52E7DE-42AC-3660-3882-AFCD1ED6A285}"/>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03BD5A1C-E9CB-DD0B-FD09-7BDD3A0D729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ED8A394C-35A7-0D00-2E13-16D041E6FB9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30797068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A59C64B4-B4FC-2405-3FD0-1CDBFD523765}"/>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EFAD810C-7CFD-3D72-1622-215343026CD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9C7CD1AD-4A4E-0A90-9FFA-A4355CA6CFB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9455056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D32F7E17-D884-C35D-2294-579F46692DCE}"/>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166AAE24-10A0-5D16-6241-41886A4202B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5B5C1292-6B54-CD3F-F172-D374211C085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29785912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306A1B33-6B66-9158-C337-4936CF6DC13F}"/>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56321BFF-BD63-A969-371A-3E1A1B81B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E5CA4166-9D64-6507-2A05-4756545A125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52929971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B85972B1-B7EF-07BE-E575-42C973147694}"/>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AB81F982-E11A-2929-A6EB-8A0E420006B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855615D2-1B62-0558-E26A-BFB6D9E3B24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25079386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553344D3-AAD0-88EA-644C-A4BC8B44F0B8}"/>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BFEBA408-E7FA-E1B2-4164-230C05A4A46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ACB19351-B03C-D5B8-6CBB-FCBB8622E7E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01242092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74B030BD-874C-4426-9BB3-1BAA6E527C85}"/>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F35C616F-2114-6B00-2BFA-B0F9A9E1AA2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ECC3D815-561A-3DCD-B663-40289FAB93E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55134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23170D90-B4C6-3B7A-0FFA-B04D2C6C0C7B}"/>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7CFAD059-4D75-60DF-BB26-AB334DA9821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B7FE9F68-7610-7185-D62F-40BAB485B36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51635254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B3F81FDE-E317-8C4D-063C-7E9EE60B7B3F}"/>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C0C3EB27-527E-1BE9-78CB-EC15BAF0A30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9368BC08-0234-FE9E-5FD6-F68C91E572A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19658328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95B41DDD-28D9-8108-98D4-4A1385037923}"/>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4DFFD68B-C5F4-A479-D8D1-C4C911B88D2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EDBCFE2B-7630-A63B-2D14-DE063249750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84645641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8CEC7244-67C5-4954-0AF9-C0E235E718B5}"/>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084F0BF3-9042-9E95-B3BD-FF1270B6AF2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62E5128A-EB73-2FBE-9C55-F85CA6E494C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44708459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4EBCDF18-6270-D037-5A74-5A428A67C78B}"/>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C648F892-E4B2-B8EB-71A7-D2B090E7AEF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403023ED-115C-06B7-D299-E6DD3D7A2AD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7354333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0950F877-5C36-D3CF-8DA3-4F437CFCEA15}"/>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C759CFC0-D8E2-14FB-3DCF-292360DF799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1B1E7A24-0E0B-E5F9-2CCB-82E1CECDF8C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85354203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9D38A43B-7174-FFEC-A22A-4B2C2E2936F9}"/>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23477A65-C2FC-B6CB-29F0-E36D99D872A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3D9E6574-E510-C773-280D-777012C9A32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99765739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44ABCC68-3759-E4FF-89C6-788BA489995B}"/>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587300B4-6DE7-3E63-3C14-2C8C807605D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780B14B8-BB06-64BF-0F13-4EC4994E48B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70141581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44ABCC68-3759-E4FF-89C6-788BA489995B}"/>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587300B4-6DE7-3E63-3C14-2C8C807605D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780B14B8-BB06-64BF-0F13-4EC4994E48B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65250305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14EAAEC8-3261-23EC-7409-DD2D959CC328}"/>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13D7DF20-63B6-5508-049E-50BEFD6E50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09B68B7A-CD19-9698-D276-86779902BFF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37049400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9" name="Google Shape;59;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33519296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D32F7E17-D884-C35D-2294-579F46692DCE}"/>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166AAE24-10A0-5D16-6241-41886A4202B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5B5C1292-6B54-CD3F-F172-D374211C085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993633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AA895839-F7D9-882F-FE79-824E0142228B}"/>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D5C7F152-2C60-690B-992A-D5BA7916C8D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5DB15FEE-94EF-4BD9-586E-15925581493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71040377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994F9579-F8C0-40A3-3705-FE7A03E9F7AA}"/>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CD0EEA0F-8AA1-C755-EF1C-75893273013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3E23BCB7-A818-5977-E851-004E665E467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99664230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2A82AEB1-9D59-31BE-4F98-2796425D132D}"/>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2F5B58C1-4FC1-51AE-9249-AC095FDC30C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C4AB3B98-05F3-42DE-CE71-B29E4ED9A74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97188139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87DD7DBA-1546-D1BB-DF45-89345F91873C}"/>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AD942E10-6234-37F0-FC24-8217FDD5ABF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33D9C7D6-5E80-EA30-9D7C-18724FD30CD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76466038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12AEA2E2-56F0-9C64-9704-412D15EBB6D9}"/>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85D51122-FE84-C839-9390-013A1C8BDD3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2845C1E8-5A27-FECE-AE64-6AFABD63F32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29177329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93344022-A13B-4AB1-FFC7-7CF48875C9BA}"/>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722C09C4-C135-B28E-7F28-A03701AA621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96EF0200-CE9A-A489-A04F-2DC39F4E588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70717703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15FF4D9F-FEC6-C865-8FAE-4FBB5336A6F7}"/>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076595BC-5F6E-905F-F102-0C3635FEFE0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4DF09504-1A3E-06A4-1095-034D43FCBB5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25485677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F106C8F4-D1D6-8634-BE5D-B7376D39ABDF}"/>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39682F40-E604-65BD-B07E-9ABB556346E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78A0E4ED-B8C9-133D-1A5B-AF9BFCBAE54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28658040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EC395DFA-FC83-719D-924E-1AFF4F0CF705}"/>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9963F8C4-5013-9CC7-D039-58DC92BD285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0F71A6A1-60E1-2BC6-F845-1EA67A2B9F0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57130110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9" name="Google Shape;59;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61439708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0A0B658D-59A2-88AF-2C20-9B3F84FDC6B9}"/>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8065AE82-6F65-3FD8-0167-43AF95CF763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189CC2F0-9F2E-2622-DE3C-7BDA5370061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53810818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52A14800-904E-DB61-B413-E68F936A7D09}"/>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E8891874-A59D-5223-E7FF-91E6FF548D2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9B3EC003-4527-DFA8-823A-126F332219B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90634285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82394DD5-619C-97B3-D21F-0C2EA6D835FA}"/>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A4B25037-2233-427E-E830-936B0F1A8B1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B356C312-6CA7-0B78-3906-5A2DF64F902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51438857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ECCDF5EA-2C55-6D46-6566-1AF8A6BEE710}"/>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11759C69-55A2-B4C9-2E96-309CD91400E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52AF3A87-FEBE-AB05-8862-B5AAFB45C39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68123191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E628117B-DFA8-021E-441A-744225EA5974}"/>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FB1A2927-E299-E660-F64B-2FD97CE3572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8A15DDB7-651F-4A5D-BA3A-EFCCE19F2DB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49217884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0EA0FACE-6A0F-E48A-EFC3-4404963A2FE7}"/>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E1BBBA98-2B07-56D8-3219-4DE4F3B4E57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90C82FEF-3802-EB75-F65B-79805342FBC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86327761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03E714A4-B1E1-7268-345A-07556DFE2D44}"/>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1D364C68-34B5-CB6D-41E9-CF2B6B41D65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16F0659A-AD6A-9091-132F-F113344ADAA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76147536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9" name="Google Shape;59;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90285247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D32F7E17-D884-C35D-2294-579F46692DCE}"/>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166AAE24-10A0-5D16-6241-41886A4202B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5B5C1292-6B54-CD3F-F172-D374211C085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63563085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9" name="Google Shape;59;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82611747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A0F4B7E9-A477-81A4-5A8E-5C33BE01441C}"/>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DBE28407-FB01-610B-F38A-286C7C5320A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592CEF95-CF73-DED0-EC6A-89B3C7682DC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92718144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8F8647E6-EE78-750E-97A7-532E77D4BD48}"/>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B1F79C5A-1C23-B3A6-4146-62B764A04CE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1CC0CF44-4632-754A-3FD7-D78B542604C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4234451045"/>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C46E47E1-BB2A-98E7-3EF2-6322FBB56CC3}"/>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839BB132-205C-E3B5-5248-6B48E4D8E3B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1F2F1D1F-60E8-69F2-BD35-5CA99F0EADD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829886926"/>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DA4C1C02-0682-8391-E628-BE5437ED82EE}"/>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3B5F5EAF-BBF5-46AC-CEB4-D4C5984E753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BC27BBED-C1EA-918E-9569-2F6ED9052E0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57021732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B074E18B-AF11-A303-1F68-8ED27034467A}"/>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2B28A4BD-15F5-5D6B-91C3-FE51A5DD23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90E5EDFF-A53E-E0CF-7D99-C23A215066C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80867701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F9E41CEC-AD7B-6525-1EE3-581B5887081B}"/>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BAE9BA2B-A074-42D7-0CEE-04843F627EC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2C794AA9-5F55-D8C2-DC55-DC8A02AEE77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999507317"/>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E5627F35-AB53-BB2E-4461-2D5AB757B387}"/>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A8ACDD18-AE5A-0360-4C08-E45DB167FE0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69DA5E2C-42C9-DFF1-5102-AD43E373FA2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98901209"/>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5E858614-218E-EC8D-0BAA-B0EB7B30F3E9}"/>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EE3A38FC-A529-0EE3-300C-93B4C0A2141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B80A12E1-13C5-C792-07B4-C0C5C35D474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246487386"/>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0A397B83-7114-F943-5747-F8A246129112}"/>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02240DDD-9EAC-229A-C453-C9DFCA182D7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A82D4BEC-D7B7-1336-35EA-7913E5BE1E3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562859082"/>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0D293747-E68B-4842-8BDA-2B3312BE3FDF}"/>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2969E7D9-624B-761A-EE39-D746D344CF9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EA4FCE9F-3F26-F59F-5FB4-D1B3E2D450B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691669728"/>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A180871F-830C-91EF-DAB2-D3A9C1C8969A}"/>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CBC23E70-131F-C9EA-1AFD-09DD1260677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FE74DE79-3371-E844-758A-C5C25E38BF0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667676987"/>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050C7E2A-41BC-766A-AC67-547CC6669D66}"/>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EF4D0956-B78F-0C63-BA1F-3ED16342195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858E2A33-4F9C-FA4F-45E5-786B561E9BC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428243450"/>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093CBD3E-4BCA-88F6-21EA-A3C712CCE2BC}"/>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31B28662-5FD0-9870-D9BA-C923C4F58F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B533A154-0CC1-848B-8A4C-A3E7A379285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664273509"/>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BE3F767F-D878-AFCC-8755-F7E4580C3DF8}"/>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794F98A0-6D49-CF47-B544-F55DA258BE3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983C4F28-A5B4-034E-EFEC-B6F7BCA6899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530740014"/>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A5162D06-AEBB-C053-B784-F3F2E8CFF68D}"/>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137ABFC3-5B85-C687-EF94-1653271BD42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C09CFB81-F8D9-24DB-BDAE-26A9923E12A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635337625"/>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A599007B-10DF-89C8-E030-5C4414FDEF15}"/>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A6A7BB65-68CC-80CB-E222-CBB5851E55F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83713602-D191-0CCC-9725-D228B88CE67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972254112"/>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485248CF-AEF1-21ED-2F9D-18B69387EE3C}"/>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6FCD6519-06A3-2660-54F5-4CD833AE8CF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5389BC6F-5A57-BAA7-167E-E9DC2456279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526493180"/>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B73AF525-FA33-EF2E-3287-769DE87F3AD5}"/>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FA4EE6D1-A722-EE35-A436-8EE2215B079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57230AB6-DEAC-C784-0062-46EFA7CCC20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750900408"/>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37A7C20A-9E01-4043-9DD6-55525DAE8498}"/>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CC1239D6-889F-BF55-2059-47F3E9D9BE1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95D0A54F-0881-1575-FC20-167A6F229AB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552673048"/>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3569D194-AD67-479C-EE6D-53D90AB410B0}"/>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F6197A4D-3FD9-F7AA-65C5-3C24E2282A1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16417726-973C-AAC4-F8F2-A80A6259107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11524214"/>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F74C0446-7E82-35D4-A696-9850296D0196}"/>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FB9ACC23-284B-3A15-EE2E-B659B135825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241F94FF-7530-2FE0-4F67-7ADD7575921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999879370"/>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CBFACA15-1F2C-D41F-8DE7-AB4AB80A7707}"/>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7FB60F7C-AC0D-CC78-4F2F-2D9F8E59ACA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71578964-2E78-8A3C-549F-E77B677DE87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917729913"/>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75F9D4F1-9619-AD9B-1B73-BD2EA31A15AD}"/>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79A386E7-15B3-0F14-0388-0A850227A8E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D8804D3C-6367-B8DA-E44E-4CF4FDF6065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708384732"/>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F9C6B030-0288-9AEC-2500-D8FAAB3851B8}"/>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D2F3FE94-4590-8902-5EA2-CC053F364AE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07E567E2-BD18-C2F6-8D1A-B412E457E29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55829860"/>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FBCA2938-D759-13DA-79FE-6BD033BBF564}"/>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2BF83DFD-F464-BB2C-98C5-97FE39D6BDD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497FD2F0-00DD-3A69-A0EF-3FF099646C2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821767332"/>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8EE0E774-2363-73DE-D097-EB8CCF2131DD}"/>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F12F7C29-04F8-314A-BAAE-3C05F143A3F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B7ADA06F-323D-C4E4-5846-CCAF69BF496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412040286"/>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0CB7FBD3-D0AA-8460-F504-5E0AFF45559B}"/>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9FA385A9-65FE-3689-E968-7AC41D7CA0E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99C25135-E4D9-C74A-0B46-A3F16FC5FCE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4221373199"/>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ABB5A76A-CFF2-64E1-3CA7-133627535AB1}"/>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FD7A7222-1AA6-7035-DD90-E541B311EF0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4309354C-16B9-C07E-19C9-23A3C0E6EA3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666018078"/>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95597286-90D7-477D-F43A-BE69646AF242}"/>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BA1042F1-D8F8-27A0-9A21-9436644FFA3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B08E3005-402D-218F-7AFB-FA85FD412E7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993062385"/>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8EE88D5A-C1D7-B463-9188-38730640FE39}"/>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5EBB05F2-6887-E4CE-FD91-4D985FCCC49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6A74735F-9601-C5AC-0B07-9D290DDC495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510102583"/>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82550E98-3C1C-F94A-647E-DE9F02082316}"/>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9DC9B610-515B-5945-D59B-9CC087B707F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B0D430A7-69A6-7B55-95EA-277EB232C25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984953044"/>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56B96400-1C91-14D3-8AC9-C2F3506ABD24}"/>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2A0F072F-BAC9-BF8E-5080-48E5F2FA764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2D42C3D3-85B0-6277-C0D9-F839EF0B8E6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866399554"/>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1B54E1DB-F851-853A-BA72-BDCC8E8B9E46}"/>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A4D3B9EA-B2A7-E168-DF0F-CEE3E20CA32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CE0934CE-822F-027F-D982-E37E52B000C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25618742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59B6C288-E4E2-2CA2-76B9-93E1BAD10A4E}"/>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87548742-B80B-FF89-363B-3FC75DA2A55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65FB0D65-B476-3891-013C-2B635C5BACC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267675777"/>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20419C59-919B-0F6D-A6C8-5750AA0998F2}"/>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778CDDD7-5CD6-8D8C-6B27-B0FD89C972D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A13585FC-88AD-796D-ABD8-49DF844AD1B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20042391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98CE78B3-BFD8-963D-B18B-7B0C98EF03D2}"/>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861E35D4-7654-B3F1-B145-1139E23B341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DBF0655B-0BB8-5888-CEB3-60AEAE956F1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909222166"/>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9" name="Google Shape;59;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80364050"/>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A0F4B7E9-A477-81A4-5A8E-5C33BE01441C}"/>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DBE28407-FB01-610B-F38A-286C7C5320A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592CEF95-CF73-DED0-EC6A-89B3C7682DC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567038463"/>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8E9DA3C4-81B9-A783-4448-BFB8EF560CD2}"/>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21B57D09-9FB9-AF78-59D2-008250130F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D28CC0C1-6E38-AF1C-2C7D-3BAE6F731B7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419355279"/>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64CA0C29-1CF5-0F0A-719B-33332E53A825}"/>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FA84C108-49A7-E4A7-9061-D797DE6E035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7F527BE3-0786-493C-9BFE-6D67E462C26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676993895"/>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78A638B2-A7B9-D6A2-5191-9CAF1C07BA61}"/>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ECA4C32C-F45B-ADC6-7962-EF454F0DED0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0C6A96DA-E57E-8B3A-F187-6E317B926BE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450762059"/>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C34E5C55-1104-6425-9CD4-E78E372B7549}"/>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C0C6DA6D-B6F0-5685-7E6B-9AF1576DD48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BF6406E2-6D04-D89E-7A49-AFFEFEA446E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99633325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2E955339-D6D1-B31F-CBDD-039F1E4F3606}"/>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927AC232-A52E-F137-18BA-EB86145D6CE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CFE60D85-E60F-8DF3-3788-C01783159DE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96264712"/>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7217C32F-D246-051D-8597-DFB30049C5AF}"/>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81ED1A8C-679F-7421-2674-CBCEE2E5398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EBE2AFE3-6503-AF43-7A90-0FC7AB9B949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70194495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7341C8AA-38DA-7D48-1028-6DE6FD54EC8C}"/>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5D1A9BA5-64B9-7A57-F57D-5E8D92F7D3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5D389A90-95F1-45E3-7FAD-708AE0FC1B2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436930022"/>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4B118DAC-4B40-2022-09ED-AF669F6AFE5D}"/>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FAD5CEF3-6BB4-85D9-E80B-04E449D5CC4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DA702976-4B98-EE81-3205-D487FAE5488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746784969"/>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8EC53B3D-DE94-9D0E-59FC-C32AD11EAEF4}"/>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4DDB56AF-9EE6-8C05-2685-90C67CE7F01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4190DE24-AA35-94A1-A99D-A87E2ADA001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363645874"/>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1791CA63-2EC2-62D2-AB72-FAA3F8E51043}"/>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6B8772D5-2884-52AE-0E8F-1A1ABAE5E96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796E3C99-75A9-A226-5E47-C3669D6EA40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504161884"/>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3A146B28-BE64-41EB-25F0-95B43CBE0119}"/>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3FBF438D-D7CD-02BB-E5BE-B6955C93E27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BCE49845-598B-E326-9A45-8A509B3B922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692262820"/>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27BD6DE8-C8C7-F7EE-3C21-3BD402761E74}"/>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40244A94-B0D2-E487-E206-09CF3741AA8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67448E7A-1A1A-A4D3-9FB5-283C10BEBC7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852320837"/>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53E62288-2A6D-099B-8763-8A75432DDAA9}"/>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D3A10BCC-A774-5814-C3EA-453CD315F3E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833A0997-B652-E2D3-8134-7E2701D8FA5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261881544"/>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216C681C-E204-538E-9E28-205AF2CF6360}"/>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2906F65D-EFE2-1DF8-9E3A-2D69E3756E6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5DCF98AE-152A-9007-FB8E-891AD303808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958413180"/>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2330421A-45CA-1754-C8A2-CBEF35F5C571}"/>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852D27B0-88E9-E767-8548-40AB3CBFB13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41CE0FFB-EA9C-2B6B-6884-EB9B02F917E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085479110"/>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9" name="Google Shape;59;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60808180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2330421A-45CA-1754-C8A2-CBEF35F5C571}"/>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852D27B0-88E9-E767-8548-40AB3CBFB13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41CE0FFB-EA9C-2B6B-6884-EB9B02F917E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817970425"/>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2330421A-45CA-1754-C8A2-CBEF35F5C571}"/>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852D27B0-88E9-E767-8548-40AB3CBFB13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41CE0FFB-EA9C-2B6B-6884-EB9B02F917E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27302654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2330421A-45CA-1754-C8A2-CBEF35F5C571}"/>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852D27B0-88E9-E767-8548-40AB3CBFB13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41CE0FFB-EA9C-2B6B-6884-EB9B02F917E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626923275"/>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2330421A-45CA-1754-C8A2-CBEF35F5C571}"/>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852D27B0-88E9-E767-8548-40AB3CBFB13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41CE0FFB-EA9C-2B6B-6884-EB9B02F917E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448997267"/>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2330421A-45CA-1754-C8A2-CBEF35F5C571}"/>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852D27B0-88E9-E767-8548-40AB3CBFB13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41CE0FFB-EA9C-2B6B-6884-EB9B02F917E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075050897"/>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2330421A-45CA-1754-C8A2-CBEF35F5C571}"/>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852D27B0-88E9-E767-8548-40AB3CBFB13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41CE0FFB-EA9C-2B6B-6884-EB9B02F917E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812705516"/>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2330421A-45CA-1754-C8A2-CBEF35F5C571}"/>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852D27B0-88E9-E767-8548-40AB3CBFB13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41CE0FFB-EA9C-2B6B-6884-EB9B02F917E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602915729"/>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74" name="Google Shape;374;p4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
        <p:cNvGrpSpPr/>
        <p:nvPr/>
      </p:nvGrpSpPr>
      <p:grpSpPr>
        <a:xfrm>
          <a:off x="0" y="0"/>
          <a:ext cx="0" cy="0"/>
          <a:chOff x="0" y="0"/>
          <a:chExt cx="0" cy="0"/>
        </a:xfrm>
      </p:grpSpPr>
      <p:sp>
        <p:nvSpPr>
          <p:cNvPr id="13" name="Google Shape;13;p45"/>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4" name="Google Shape;14;p45"/>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5" name="Google Shape;15;p4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16" name="Google Shape;16;p45"/>
          <p:cNvPicPr preferRelativeResize="0"/>
          <p:nvPr/>
        </p:nvPicPr>
        <p:blipFill rotWithShape="1">
          <a:blip r:embed="rId2">
            <a:alphaModFix/>
          </a:blip>
          <a:srcRect/>
          <a:stretch/>
        </p:blipFill>
        <p:spPr>
          <a:xfrm>
            <a:off x="3463213" y="4730051"/>
            <a:ext cx="2217574" cy="33725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7"/>
        <p:cNvGrpSpPr/>
        <p:nvPr/>
      </p:nvGrpSpPr>
      <p:grpSpPr>
        <a:xfrm>
          <a:off x="0" y="0"/>
          <a:ext cx="0" cy="0"/>
          <a:chOff x="0" y="0"/>
          <a:chExt cx="0" cy="0"/>
        </a:xfrm>
      </p:grpSpPr>
      <p:sp>
        <p:nvSpPr>
          <p:cNvPr id="18" name="Google Shape;18;p46"/>
          <p:cNvSpPr txBox="1">
            <a:spLocks noGrp="1"/>
          </p:cNvSpPr>
          <p:nvPr>
            <p:ph type="title"/>
          </p:nvPr>
        </p:nvSpPr>
        <p:spPr>
          <a:xfrm>
            <a:off x="391725" y="934100"/>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9" name="Google Shape;19;p46"/>
          <p:cNvSpPr txBox="1">
            <a:spLocks noGrp="1"/>
          </p:cNvSpPr>
          <p:nvPr>
            <p:ph type="body" idx="1"/>
          </p:nvPr>
        </p:nvSpPr>
        <p:spPr>
          <a:xfrm>
            <a:off x="253250" y="1857500"/>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20" name="Google Shape;20;p4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21" name="Google Shape;21;p46"/>
          <p:cNvPicPr preferRelativeResize="0"/>
          <p:nvPr/>
        </p:nvPicPr>
        <p:blipFill rotWithShape="1">
          <a:blip r:embed="rId2">
            <a:alphaModFix/>
          </a:blip>
          <a:srcRect/>
          <a:stretch/>
        </p:blipFill>
        <p:spPr>
          <a:xfrm>
            <a:off x="6984000" y="414000"/>
            <a:ext cx="1974051" cy="30017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2"/>
        <p:cNvGrpSpPr/>
        <p:nvPr/>
      </p:nvGrpSpPr>
      <p:grpSpPr>
        <a:xfrm>
          <a:off x="0" y="0"/>
          <a:ext cx="0" cy="0"/>
          <a:chOff x="0" y="0"/>
          <a:chExt cx="0" cy="0"/>
        </a:xfrm>
      </p:grpSpPr>
      <p:sp>
        <p:nvSpPr>
          <p:cNvPr id="23" name="Google Shape;23;p47"/>
          <p:cNvSpPr txBox="1">
            <a:spLocks noGrp="1"/>
          </p:cNvSpPr>
          <p:nvPr>
            <p:ph type="title"/>
          </p:nvPr>
        </p:nvSpPr>
        <p:spPr>
          <a:xfrm>
            <a:off x="391725" y="776500"/>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4" name="Google Shape;24;p47"/>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5" name="Google Shape;25;p47"/>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6" name="Google Shape;26;p4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7"/>
        <p:cNvGrpSpPr/>
        <p:nvPr/>
      </p:nvGrpSpPr>
      <p:grpSpPr>
        <a:xfrm>
          <a:off x="0" y="0"/>
          <a:ext cx="0" cy="0"/>
          <a:chOff x="0" y="0"/>
          <a:chExt cx="0" cy="0"/>
        </a:xfrm>
      </p:grpSpPr>
      <p:sp>
        <p:nvSpPr>
          <p:cNvPr id="28" name="Google Shape;28;p48"/>
          <p:cNvSpPr txBox="1">
            <a:spLocks noGrp="1"/>
          </p:cNvSpPr>
          <p:nvPr>
            <p:ph type="title"/>
          </p:nvPr>
        </p:nvSpPr>
        <p:spPr>
          <a:xfrm>
            <a:off x="391725" y="776500"/>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9" name="Google Shape;29;p4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0"/>
        <p:cNvGrpSpPr/>
        <p:nvPr/>
      </p:nvGrpSpPr>
      <p:grpSpPr>
        <a:xfrm>
          <a:off x="0" y="0"/>
          <a:ext cx="0" cy="0"/>
          <a:chOff x="0" y="0"/>
          <a:chExt cx="0" cy="0"/>
        </a:xfrm>
      </p:grpSpPr>
      <p:sp>
        <p:nvSpPr>
          <p:cNvPr id="31" name="Google Shape;31;p49"/>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2" name="Google Shape;32;p49"/>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3" name="Google Shape;33;p4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4"/>
        <p:cNvGrpSpPr/>
        <p:nvPr/>
      </p:nvGrpSpPr>
      <p:grpSpPr>
        <a:xfrm>
          <a:off x="0" y="0"/>
          <a:ext cx="0" cy="0"/>
          <a:chOff x="0" y="0"/>
          <a:chExt cx="0" cy="0"/>
        </a:xfrm>
      </p:grpSpPr>
      <p:sp>
        <p:nvSpPr>
          <p:cNvPr id="35" name="Google Shape;35;p50"/>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6" name="Google Shape;36;p5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7"/>
        <p:cNvGrpSpPr/>
        <p:nvPr/>
      </p:nvGrpSpPr>
      <p:grpSpPr>
        <a:xfrm>
          <a:off x="0" y="0"/>
          <a:ext cx="0" cy="0"/>
          <a:chOff x="0" y="0"/>
          <a:chExt cx="0" cy="0"/>
        </a:xfrm>
      </p:grpSpPr>
      <p:sp>
        <p:nvSpPr>
          <p:cNvPr id="38" name="Google Shape;38;p51"/>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 name="Google Shape;39;p51"/>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40" name="Google Shape;40;p51"/>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1" name="Google Shape;41;p51"/>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2" name="Google Shape;42;p5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3"/>
        <p:cNvGrpSpPr/>
        <p:nvPr/>
      </p:nvGrpSpPr>
      <p:grpSpPr>
        <a:xfrm>
          <a:off x="0" y="0"/>
          <a:ext cx="0" cy="0"/>
          <a:chOff x="0" y="0"/>
          <a:chExt cx="0" cy="0"/>
        </a:xfrm>
      </p:grpSpPr>
      <p:sp>
        <p:nvSpPr>
          <p:cNvPr id="44" name="Google Shape;44;p52"/>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5" name="Google Shape;45;p5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6"/>
        <p:cNvGrpSpPr/>
        <p:nvPr/>
      </p:nvGrpSpPr>
      <p:grpSpPr>
        <a:xfrm>
          <a:off x="0" y="0"/>
          <a:ext cx="0" cy="0"/>
          <a:chOff x="0" y="0"/>
          <a:chExt cx="0" cy="0"/>
        </a:xfrm>
      </p:grpSpPr>
      <p:sp>
        <p:nvSpPr>
          <p:cNvPr id="47" name="Google Shape;47;p53"/>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8" name="Google Shape;48;p53"/>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9" name="Google Shape;49;p5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5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blipFill>
          <a:blip r:embed="rId12">
            <a:alphaModFix/>
          </a:blip>
          <a:stretch>
            <a:fillRect/>
          </a:stretch>
        </a:blipFill>
        <a:effectLst/>
      </p:bgPr>
    </p:bg>
    <p:spTree>
      <p:nvGrpSpPr>
        <p:cNvPr id="1" name="Shape 5"/>
        <p:cNvGrpSpPr/>
        <p:nvPr/>
      </p:nvGrpSpPr>
      <p:grpSpPr>
        <a:xfrm>
          <a:off x="0" y="0"/>
          <a:ext cx="0" cy="0"/>
          <a:chOff x="0" y="0"/>
          <a:chExt cx="0" cy="0"/>
        </a:xfrm>
      </p:grpSpPr>
      <p:sp>
        <p:nvSpPr>
          <p:cNvPr id="6" name="Google Shape;6;p44"/>
          <p:cNvSpPr txBox="1">
            <a:spLocks noGrp="1"/>
          </p:cNvSpPr>
          <p:nvPr>
            <p:ph type="title"/>
          </p:nvPr>
        </p:nvSpPr>
        <p:spPr>
          <a:xfrm>
            <a:off x="391725" y="776500"/>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44"/>
          <p:cNvSpPr txBox="1">
            <a:spLocks noGrp="1"/>
          </p:cNvSpPr>
          <p:nvPr>
            <p:ph type="body" idx="1"/>
          </p:nvPr>
        </p:nvSpPr>
        <p:spPr>
          <a:xfrm>
            <a:off x="311700" y="1506800"/>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4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9" name="Google Shape;9;p44"/>
          <p:cNvPicPr preferRelativeResize="0"/>
          <p:nvPr/>
        </p:nvPicPr>
        <p:blipFill rotWithShape="1">
          <a:blip r:embed="rId13">
            <a:alphaModFix/>
          </a:blip>
          <a:srcRect/>
          <a:stretch/>
        </p:blipFill>
        <p:spPr>
          <a:xfrm>
            <a:off x="216000" y="216000"/>
            <a:ext cx="2255043" cy="648000"/>
          </a:xfrm>
          <a:prstGeom prst="rect">
            <a:avLst/>
          </a:prstGeom>
          <a:noFill/>
          <a:ln>
            <a:noFill/>
          </a:ln>
        </p:spPr>
      </p:pic>
      <p:sp>
        <p:nvSpPr>
          <p:cNvPr id="10" name="Google Shape;10;p44"/>
          <p:cNvSpPr txBox="1"/>
          <p:nvPr/>
        </p:nvSpPr>
        <p:spPr>
          <a:xfrm>
            <a:off x="5990665" y="4897279"/>
            <a:ext cx="3161167" cy="23083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7F7F7F"/>
                </a:solidFill>
                <a:latin typeface="Arial"/>
                <a:ea typeface="Arial"/>
                <a:cs typeface="Arial"/>
                <a:sym typeface="Arial"/>
              </a:rPr>
              <a:t>Dr. Roopashree S, Shridevi A Desai,  Dept. of CSE</a:t>
            </a:r>
            <a:endParaRPr sz="900" b="0" i="0" u="none" strike="noStrike" cap="none">
              <a:solidFill>
                <a:srgbClr val="7F7F7F"/>
              </a:solidFill>
              <a:latin typeface="Arial"/>
              <a:ea typeface="Arial"/>
              <a:cs typeface="Arial"/>
              <a:sym typeface="Arial"/>
            </a:endParaRPr>
          </a:p>
        </p:txBody>
      </p:sp>
      <p:sp>
        <p:nvSpPr>
          <p:cNvPr id="11" name="Google Shape;11;p44"/>
          <p:cNvSpPr txBox="1"/>
          <p:nvPr/>
        </p:nvSpPr>
        <p:spPr>
          <a:xfrm>
            <a:off x="-7832" y="4917676"/>
            <a:ext cx="1505540" cy="2308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b="0" i="0" u="none" strike="noStrike" cap="none">
                <a:solidFill>
                  <a:srgbClr val="7F7F7F"/>
                </a:solidFill>
                <a:latin typeface="Arial"/>
                <a:ea typeface="Arial"/>
                <a:cs typeface="Arial"/>
                <a:sym typeface="Arial"/>
              </a:rPr>
              <a:t>ADA (BCS401): Module-1</a:t>
            </a:r>
            <a:endParaRPr sz="900" b="0" i="0" u="none" strike="noStrike" cap="none">
              <a:solidFill>
                <a:srgbClr val="7F7F7F"/>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8.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4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91.xml"/><Relationship Id="rId1" Type="http://schemas.openxmlformats.org/officeDocument/2006/relationships/slideLayout" Target="../slideLayouts/slideLayout2.xml"/><Relationship Id="rId4" Type="http://schemas.openxmlformats.org/officeDocument/2006/relationships/image" Target="../media/image59.png"/></Relationships>
</file>

<file path=ppt/slides/_rels/slide9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95.xml"/><Relationship Id="rId1" Type="http://schemas.openxmlformats.org/officeDocument/2006/relationships/slideLayout" Target="../slideLayouts/slideLayout2.xml"/><Relationship Id="rId5" Type="http://schemas.openxmlformats.org/officeDocument/2006/relationships/image" Target="../media/image59.png"/><Relationship Id="rId4" Type="http://schemas.openxmlformats.org/officeDocument/2006/relationships/image" Target="../media/image58.png"/></Relationships>
</file>

<file path=ppt/slides/_rels/slide96.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99.xml"/><Relationship Id="rId1" Type="http://schemas.openxmlformats.org/officeDocument/2006/relationships/slideLayout" Target="../slideLayouts/slideLayout2.xml"/><Relationship Id="rId4" Type="http://schemas.openxmlformats.org/officeDocument/2006/relationships/image" Target="../media/image63.png"/></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107.xml"/><Relationship Id="rId1" Type="http://schemas.openxmlformats.org/officeDocument/2006/relationships/slideLayout" Target="../slideLayouts/slideLayout2.xml"/><Relationship Id="rId5" Type="http://schemas.openxmlformats.org/officeDocument/2006/relationships/image" Target="../media/image68.png"/><Relationship Id="rId4" Type="http://schemas.openxmlformats.org/officeDocument/2006/relationships/image" Target="../media/image67.png"/></Relationships>
</file>

<file path=ppt/slides/_rels/slide108.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108.xml"/><Relationship Id="rId1" Type="http://schemas.openxmlformats.org/officeDocument/2006/relationships/slideLayout" Target="../slideLayouts/slideLayout2.xml"/><Relationship Id="rId4" Type="http://schemas.openxmlformats.org/officeDocument/2006/relationships/image" Target="../media/image70.png"/></Relationships>
</file>

<file path=ppt/slides/_rels/slide109.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109.xml"/><Relationship Id="rId1" Type="http://schemas.openxmlformats.org/officeDocument/2006/relationships/slideLayout" Target="../slideLayouts/slideLayout2.xml"/><Relationship Id="rId4" Type="http://schemas.openxmlformats.org/officeDocument/2006/relationships/image" Target="../media/image72.png"/></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114.xml"/><Relationship Id="rId1" Type="http://schemas.openxmlformats.org/officeDocument/2006/relationships/slideLayout" Target="../slideLayouts/slideLayout2.xml"/><Relationship Id="rId5" Type="http://schemas.openxmlformats.org/officeDocument/2006/relationships/image" Target="../media/image76.png"/><Relationship Id="rId4" Type="http://schemas.openxmlformats.org/officeDocument/2006/relationships/image" Target="../media/image75.png"/></Relationships>
</file>

<file path=ppt/slides/_rels/slide115.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124.xml"/><Relationship Id="rId1" Type="http://schemas.openxmlformats.org/officeDocument/2006/relationships/slideLayout" Target="../slideLayouts/slideLayout2.xml"/><Relationship Id="rId4" Type="http://schemas.openxmlformats.org/officeDocument/2006/relationships/image" Target="../media/image80.png"/></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p1"/>
          <p:cNvSpPr txBox="1"/>
          <p:nvPr/>
        </p:nvSpPr>
        <p:spPr>
          <a:xfrm>
            <a:off x="598737" y="1909917"/>
            <a:ext cx="8135560" cy="132343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4000" b="1" i="0" u="none" strike="noStrike" cap="none">
                <a:solidFill>
                  <a:srgbClr val="000000"/>
                </a:solidFill>
                <a:latin typeface="Arial"/>
                <a:ea typeface="Arial"/>
                <a:cs typeface="Arial"/>
                <a:sym typeface="Arial"/>
              </a:rPr>
              <a:t>Analysis &amp; Design of Algorithms</a:t>
            </a:r>
            <a:endParaRPr/>
          </a:p>
          <a:p>
            <a:pPr marL="0" marR="0" lvl="0" indent="0" algn="ctr" rtl="0">
              <a:lnSpc>
                <a:spcPct val="100000"/>
              </a:lnSpc>
              <a:spcBef>
                <a:spcPts val="0"/>
              </a:spcBef>
              <a:spcAft>
                <a:spcPts val="0"/>
              </a:spcAft>
              <a:buNone/>
            </a:pPr>
            <a:r>
              <a:rPr lang="en-US" sz="4000" b="1" i="0" u="none" strike="noStrike" cap="none">
                <a:solidFill>
                  <a:srgbClr val="000000"/>
                </a:solidFill>
                <a:latin typeface="Arial"/>
                <a:ea typeface="Arial"/>
                <a:cs typeface="Arial"/>
                <a:sym typeface="Arial"/>
              </a:rPr>
              <a:t>BCS401</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2"/>
          <p:cNvSpPr txBox="1"/>
          <p:nvPr/>
        </p:nvSpPr>
        <p:spPr>
          <a:xfrm>
            <a:off x="317091" y="1644446"/>
            <a:ext cx="8281220" cy="193899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3600" b="1" i="0" u="none" strike="noStrike" cap="none" dirty="0">
                <a:solidFill>
                  <a:srgbClr val="083C92"/>
                </a:solidFill>
                <a:latin typeface="Arial"/>
                <a:ea typeface="Arial"/>
                <a:cs typeface="Arial"/>
                <a:sym typeface="Arial"/>
              </a:rPr>
              <a:t>Module-4</a:t>
            </a:r>
            <a:endParaRPr dirty="0"/>
          </a:p>
          <a:p>
            <a:pPr marL="0" marR="0" lvl="0" indent="0" algn="ctr" rtl="0">
              <a:lnSpc>
                <a:spcPct val="100000"/>
              </a:lnSpc>
              <a:spcBef>
                <a:spcPts val="0"/>
              </a:spcBef>
              <a:spcAft>
                <a:spcPts val="0"/>
              </a:spcAft>
              <a:buNone/>
            </a:pPr>
            <a:endParaRPr sz="28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r>
              <a:rPr lang="en-US" sz="2800" b="1" i="0" u="none" strike="noStrike" cap="none" dirty="0">
                <a:solidFill>
                  <a:srgbClr val="000000"/>
                </a:solidFill>
                <a:latin typeface="Arial"/>
                <a:ea typeface="Arial"/>
                <a:cs typeface="Arial"/>
                <a:sym typeface="Arial"/>
              </a:rPr>
              <a:t>DYNAMIC PROGRAMMING, THE GREEDY METHOD</a:t>
            </a:r>
            <a:endParaRPr lang="en-US" dirty="0"/>
          </a:p>
        </p:txBody>
      </p:sp>
      <p:sp>
        <p:nvSpPr>
          <p:cNvPr id="62" name="Google Shape;62;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C712F8CA-994D-706E-7C25-267AC58B6A39}"/>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7F529037-1329-D6C6-C649-43EC70E8D035}"/>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2800" b="1" i="0" u="none" strike="noStrike" cap="none" dirty="0">
                <a:solidFill>
                  <a:srgbClr val="000000"/>
                </a:solidFill>
                <a:latin typeface="Arial"/>
                <a:ea typeface="Arial"/>
                <a:cs typeface="Arial"/>
                <a:sym typeface="Arial"/>
              </a:rPr>
              <a:t>DYNAMIC PROGRAMMING</a:t>
            </a:r>
          </a:p>
        </p:txBody>
      </p:sp>
      <p:sp>
        <p:nvSpPr>
          <p:cNvPr id="369" name="Google Shape;369;p42">
            <a:extLst>
              <a:ext uri="{FF2B5EF4-FFF2-40B4-BE49-F238E27FC236}">
                <a16:creationId xmlns:a16="http://schemas.microsoft.com/office/drawing/2014/main" id="{297A2FF5-C93B-F94C-FB30-63735B41E59A}"/>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t>3</a:t>
            </a:fld>
            <a:endParaRPr/>
          </a:p>
        </p:txBody>
      </p:sp>
      <p:sp>
        <p:nvSpPr>
          <p:cNvPr id="4" name="Google Shape;370;p42">
            <a:extLst>
              <a:ext uri="{FF2B5EF4-FFF2-40B4-BE49-F238E27FC236}">
                <a16:creationId xmlns:a16="http://schemas.microsoft.com/office/drawing/2014/main" id="{D3F97FB2-1037-5C98-88E5-931F7395349C}"/>
              </a:ext>
            </a:extLst>
          </p:cNvPr>
          <p:cNvSpPr txBox="1"/>
          <p:nvPr/>
        </p:nvSpPr>
        <p:spPr>
          <a:xfrm>
            <a:off x="154290" y="1042945"/>
            <a:ext cx="8647423" cy="4247276"/>
          </a:xfrm>
          <a:prstGeom prst="rect">
            <a:avLst/>
          </a:prstGeom>
          <a:noFill/>
          <a:ln>
            <a:noFill/>
          </a:ln>
        </p:spPr>
        <p:txBody>
          <a:bodyPr spcFirstLastPara="1" wrap="square" lIns="91425" tIns="45700" rIns="91425" bIns="45700" anchor="t" anchorCtr="0">
            <a:spAutoFit/>
          </a:bodyPr>
          <a:lstStyle/>
          <a:p>
            <a:pPr marL="285750" indent="-285750" algn="just">
              <a:lnSpc>
                <a:spcPct val="150000"/>
              </a:lnSpc>
              <a:buSzPts val="1800"/>
              <a:buFont typeface="Arial" panose="020B0604020202020204" pitchFamily="34" charset="0"/>
              <a:buChar char="•"/>
            </a:pPr>
            <a:r>
              <a:rPr lang="en-US" sz="1800" i="0" u="none" strike="noStrike" baseline="0" dirty="0">
                <a:latin typeface="+mn-lt"/>
              </a:rPr>
              <a:t>Dynamic programming is a technique for solving problems with overlapping sub problems. </a:t>
            </a:r>
          </a:p>
          <a:p>
            <a:pPr marL="285750" indent="-285750" algn="just">
              <a:lnSpc>
                <a:spcPct val="150000"/>
              </a:lnSpc>
              <a:buSzPts val="1800"/>
              <a:buFont typeface="Arial" panose="020B0604020202020204" pitchFamily="34" charset="0"/>
              <a:buChar char="•"/>
            </a:pPr>
            <a:r>
              <a:rPr lang="en-US" sz="1800" i="0" u="none" strike="noStrike" baseline="0" dirty="0">
                <a:latin typeface="+mn-lt"/>
              </a:rPr>
              <a:t>These subproblems arise from a recurrence relating a given problem’s solution to solutions of its smaller subproblems. </a:t>
            </a:r>
          </a:p>
          <a:p>
            <a:pPr marL="285750" indent="-285750" algn="just">
              <a:lnSpc>
                <a:spcPct val="150000"/>
              </a:lnSpc>
              <a:buSzPts val="1800"/>
              <a:buFont typeface="Arial" panose="020B0604020202020204" pitchFamily="34" charset="0"/>
              <a:buChar char="•"/>
            </a:pPr>
            <a:r>
              <a:rPr lang="en-US" sz="1800" i="0" u="none" strike="noStrike" baseline="0" dirty="0">
                <a:latin typeface="+mn-lt"/>
              </a:rPr>
              <a:t>Rather than solving overlapping subproblems again and again, dynamic programming suggests solving each of the smaller subproblems only once and recording the results in a table from which a solution to the original problem can then be obtained.</a:t>
            </a:r>
          </a:p>
          <a:p>
            <a:pPr marL="285750" indent="-285750" algn="just">
              <a:lnSpc>
                <a:spcPct val="150000"/>
              </a:lnSpc>
              <a:buSzPts val="1800"/>
              <a:buFont typeface="Arial" panose="020B0604020202020204" pitchFamily="34" charset="0"/>
              <a:buChar char="•"/>
            </a:pPr>
            <a:r>
              <a:rPr lang="en-US" sz="1800" dirty="0">
                <a:latin typeface="+mn-lt"/>
              </a:rPr>
              <a:t>This technique can be illustrated by revisiting the Fibonacci numbers discussed in Section 2.5.</a:t>
            </a:r>
          </a:p>
        </p:txBody>
      </p:sp>
    </p:spTree>
    <p:extLst>
      <p:ext uri="{BB962C8B-B14F-4D97-AF65-F5344CB8AC3E}">
        <p14:creationId xmlns:p14="http://schemas.microsoft.com/office/powerpoint/2010/main" val="36176827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23D9D768-51ED-4419-2800-986C883CCCDD}"/>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653F9B06-9F45-9647-AED2-8D5AC61D6339}"/>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2800" b="1" i="0" u="none" strike="noStrike" cap="none" dirty="0">
                <a:solidFill>
                  <a:srgbClr val="000000"/>
                </a:solidFill>
                <a:latin typeface="Arial"/>
                <a:ea typeface="Arial"/>
                <a:cs typeface="Arial"/>
                <a:sym typeface="Arial"/>
              </a:rPr>
              <a:t>DYNAMIC PROGRAMMING</a:t>
            </a:r>
          </a:p>
        </p:txBody>
      </p:sp>
      <p:sp>
        <p:nvSpPr>
          <p:cNvPr id="369" name="Google Shape;369;p42">
            <a:extLst>
              <a:ext uri="{FF2B5EF4-FFF2-40B4-BE49-F238E27FC236}">
                <a16:creationId xmlns:a16="http://schemas.microsoft.com/office/drawing/2014/main" id="{4D01DD98-C291-E16A-3C7B-52C799CAFE99}"/>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t>4</a:t>
            </a:fld>
            <a:endParaRPr/>
          </a:p>
        </p:txBody>
      </p:sp>
      <p:sp>
        <p:nvSpPr>
          <p:cNvPr id="4" name="Google Shape;370;p42">
            <a:extLst>
              <a:ext uri="{FF2B5EF4-FFF2-40B4-BE49-F238E27FC236}">
                <a16:creationId xmlns:a16="http://schemas.microsoft.com/office/drawing/2014/main" id="{AC6C8E1F-AFA1-AF00-63D0-874DA9B31FB7}"/>
              </a:ext>
            </a:extLst>
          </p:cNvPr>
          <p:cNvSpPr txBox="1"/>
          <p:nvPr/>
        </p:nvSpPr>
        <p:spPr>
          <a:xfrm>
            <a:off x="232258" y="1146184"/>
            <a:ext cx="8647423" cy="3416279"/>
          </a:xfrm>
          <a:prstGeom prst="rect">
            <a:avLst/>
          </a:prstGeom>
          <a:noFill/>
          <a:ln>
            <a:noFill/>
          </a:ln>
        </p:spPr>
        <p:txBody>
          <a:bodyPr spcFirstLastPara="1" wrap="square" lIns="91425" tIns="45700" rIns="91425" bIns="45700" anchor="t" anchorCtr="0">
            <a:spAutoFit/>
          </a:bodyPr>
          <a:lstStyle/>
          <a:p>
            <a:pPr marL="285750" indent="-285750" algn="just">
              <a:lnSpc>
                <a:spcPct val="150000"/>
              </a:lnSpc>
              <a:buSzPts val="1800"/>
              <a:buFont typeface="Arial" panose="020B0604020202020204" pitchFamily="34" charset="0"/>
              <a:buChar char="•"/>
            </a:pPr>
            <a:r>
              <a:rPr lang="en-US" sz="1800" dirty="0">
                <a:latin typeface="+mn-lt"/>
              </a:rPr>
              <a:t>The Fibonacci numbers are the elements of the sequence</a:t>
            </a:r>
          </a:p>
          <a:p>
            <a:pPr algn="ctr">
              <a:lnSpc>
                <a:spcPct val="150000"/>
              </a:lnSpc>
              <a:buSzPts val="1800"/>
            </a:pPr>
            <a:r>
              <a:rPr lang="en-US" sz="1800" dirty="0">
                <a:latin typeface="+mn-lt"/>
              </a:rPr>
              <a:t>0, 1, 1, 2, 3, 5, 8, 13, 21, 34, . . . ,</a:t>
            </a:r>
          </a:p>
          <a:p>
            <a:pPr marL="285750" indent="-285750" algn="just">
              <a:lnSpc>
                <a:spcPct val="150000"/>
              </a:lnSpc>
              <a:buSzPts val="1800"/>
              <a:buFont typeface="Arial" panose="020B0604020202020204" pitchFamily="34" charset="0"/>
              <a:buChar char="•"/>
            </a:pPr>
            <a:r>
              <a:rPr lang="en-US" sz="1800" dirty="0">
                <a:latin typeface="+mn-lt"/>
              </a:rPr>
              <a:t>which can be defined by the simple recurrence</a:t>
            </a:r>
          </a:p>
          <a:p>
            <a:pPr algn="ctr">
              <a:lnSpc>
                <a:spcPct val="150000"/>
              </a:lnSpc>
              <a:buSzPts val="1800"/>
            </a:pPr>
            <a:r>
              <a:rPr lang="en-US" sz="1800" dirty="0">
                <a:latin typeface="+mn-lt"/>
              </a:rPr>
              <a:t>F(n) = F(n − 1) + F(n − 2) for n &gt; 1                    (8.1)</a:t>
            </a:r>
          </a:p>
          <a:p>
            <a:pPr>
              <a:lnSpc>
                <a:spcPct val="150000"/>
              </a:lnSpc>
              <a:buSzPts val="1800"/>
            </a:pPr>
            <a:r>
              <a:rPr lang="en-US" sz="1800" dirty="0">
                <a:latin typeface="+mn-lt"/>
              </a:rPr>
              <a:t>     and two initial conditions</a:t>
            </a:r>
          </a:p>
          <a:p>
            <a:pPr algn="ctr">
              <a:lnSpc>
                <a:spcPct val="150000"/>
              </a:lnSpc>
              <a:buSzPts val="1800"/>
            </a:pPr>
            <a:r>
              <a:rPr lang="en-US" sz="1800" dirty="0">
                <a:latin typeface="+mn-lt"/>
              </a:rPr>
              <a:t>F(0) = 0, F(1) = 1.                                               (8.2)</a:t>
            </a:r>
          </a:p>
          <a:p>
            <a:pPr marL="285750" indent="-285750" algn="ctr">
              <a:lnSpc>
                <a:spcPct val="150000"/>
              </a:lnSpc>
              <a:buSzPts val="1800"/>
              <a:buFont typeface="Arial" panose="020B0604020202020204" pitchFamily="34" charset="0"/>
              <a:buChar char="•"/>
            </a:pPr>
            <a:r>
              <a:rPr lang="en-US" sz="1800" dirty="0">
                <a:latin typeface="+mn-lt"/>
              </a:rPr>
              <a:t>If we try to use recurrence (8.1) directly to compute the nth Fibonacci number</a:t>
            </a:r>
          </a:p>
          <a:p>
            <a:pPr algn="ctr">
              <a:lnSpc>
                <a:spcPct val="150000"/>
              </a:lnSpc>
              <a:buSzPts val="1800"/>
            </a:pPr>
            <a:r>
              <a:rPr lang="en-US" sz="1800" dirty="0">
                <a:latin typeface="+mn-lt"/>
              </a:rPr>
              <a:t>F(n), we would have to recompute the same values of this function many times</a:t>
            </a:r>
          </a:p>
        </p:txBody>
      </p:sp>
    </p:spTree>
    <p:extLst>
      <p:ext uri="{BB962C8B-B14F-4D97-AF65-F5344CB8AC3E}">
        <p14:creationId xmlns:p14="http://schemas.microsoft.com/office/powerpoint/2010/main" val="2781291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E0A92E93-8916-2A32-1493-607402937E0D}"/>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9CC5B68F-1A16-F64A-87F1-EC7351B26CD2}"/>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2800" b="1" i="0" u="none" strike="noStrike" cap="none" dirty="0">
                <a:solidFill>
                  <a:srgbClr val="000000"/>
                </a:solidFill>
                <a:latin typeface="Arial"/>
                <a:ea typeface="Arial"/>
                <a:cs typeface="Arial"/>
                <a:sym typeface="Arial"/>
              </a:rPr>
              <a:t>DYNAMIC PROGRAMMING</a:t>
            </a:r>
          </a:p>
        </p:txBody>
      </p:sp>
      <p:sp>
        <p:nvSpPr>
          <p:cNvPr id="369" name="Google Shape;369;p42">
            <a:extLst>
              <a:ext uri="{FF2B5EF4-FFF2-40B4-BE49-F238E27FC236}">
                <a16:creationId xmlns:a16="http://schemas.microsoft.com/office/drawing/2014/main" id="{DDBB9471-42F3-6FD6-2C9C-A7D82A84FCF6}"/>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t>5</a:t>
            </a:fld>
            <a:endParaRPr/>
          </a:p>
        </p:txBody>
      </p:sp>
      <p:sp>
        <p:nvSpPr>
          <p:cNvPr id="4" name="Google Shape;370;p42">
            <a:extLst>
              <a:ext uri="{FF2B5EF4-FFF2-40B4-BE49-F238E27FC236}">
                <a16:creationId xmlns:a16="http://schemas.microsoft.com/office/drawing/2014/main" id="{F5D231D6-9EB3-139C-BFED-7733635A2B4A}"/>
              </a:ext>
            </a:extLst>
          </p:cNvPr>
          <p:cNvSpPr txBox="1"/>
          <p:nvPr/>
        </p:nvSpPr>
        <p:spPr>
          <a:xfrm>
            <a:off x="232258" y="1146184"/>
            <a:ext cx="8647423" cy="3416279"/>
          </a:xfrm>
          <a:prstGeom prst="rect">
            <a:avLst/>
          </a:prstGeom>
          <a:noFill/>
          <a:ln>
            <a:noFill/>
          </a:ln>
        </p:spPr>
        <p:txBody>
          <a:bodyPr spcFirstLastPara="1" wrap="square" lIns="91425" tIns="45700" rIns="91425" bIns="45700" anchor="t" anchorCtr="0">
            <a:spAutoFit/>
          </a:bodyPr>
          <a:lstStyle/>
          <a:p>
            <a:pPr marL="285750" indent="-285750" algn="just">
              <a:lnSpc>
                <a:spcPct val="150000"/>
              </a:lnSpc>
              <a:buSzPts val="1800"/>
              <a:buFont typeface="Arial" panose="020B0604020202020204" pitchFamily="34" charset="0"/>
              <a:buChar char="•"/>
            </a:pPr>
            <a:r>
              <a:rPr lang="en-US" sz="1800" dirty="0">
                <a:latin typeface="+mn-lt"/>
              </a:rPr>
              <a:t>Note that the problem of computing F(n) is expressed in terms of its smaller and overlapping subproblems of computing F(n − 1) and F(n − 2). </a:t>
            </a:r>
          </a:p>
          <a:p>
            <a:pPr marL="285750" indent="-285750" algn="just">
              <a:lnSpc>
                <a:spcPct val="150000"/>
              </a:lnSpc>
              <a:buSzPts val="1800"/>
              <a:buFont typeface="Arial" panose="020B0604020202020204" pitchFamily="34" charset="0"/>
              <a:buChar char="•"/>
            </a:pPr>
            <a:r>
              <a:rPr lang="en-US" sz="1800" dirty="0">
                <a:latin typeface="+mn-lt"/>
              </a:rPr>
              <a:t>We can simply fill elements of a one-dimensional array with the n + 1 consecutive values of F(n) by starting, in view of initial conditions (8.2), with 0 and 1 and using equation (8.1) as the rule for producing all the other elements.</a:t>
            </a:r>
          </a:p>
          <a:p>
            <a:pPr marL="285750" indent="-285750" algn="just">
              <a:lnSpc>
                <a:spcPct val="150000"/>
              </a:lnSpc>
              <a:buSzPts val="1800"/>
              <a:buFont typeface="Arial" panose="020B0604020202020204" pitchFamily="34" charset="0"/>
              <a:buChar char="•"/>
            </a:pPr>
            <a:r>
              <a:rPr lang="en-US" sz="1800" dirty="0">
                <a:latin typeface="+mn-lt"/>
              </a:rPr>
              <a:t> Obviously, the last element of this array will contain F(n). </a:t>
            </a:r>
          </a:p>
          <a:p>
            <a:pPr marL="285750" indent="-285750" algn="just">
              <a:lnSpc>
                <a:spcPct val="150000"/>
              </a:lnSpc>
              <a:buSzPts val="1800"/>
              <a:buFont typeface="Arial" panose="020B0604020202020204" pitchFamily="34" charset="0"/>
              <a:buChar char="•"/>
            </a:pPr>
            <a:r>
              <a:rPr lang="en-US" sz="1800" dirty="0">
                <a:latin typeface="+mn-lt"/>
              </a:rPr>
              <a:t>Note that we can avoid using an extra array to accomplish this task by recording the values of just the last two elements of the Fibonacci sequence.</a:t>
            </a:r>
          </a:p>
        </p:txBody>
      </p:sp>
    </p:spTree>
    <p:extLst>
      <p:ext uri="{BB962C8B-B14F-4D97-AF65-F5344CB8AC3E}">
        <p14:creationId xmlns:p14="http://schemas.microsoft.com/office/powerpoint/2010/main" val="3324591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8BBED827-44F4-19BE-F060-8AF13C2D7797}"/>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C7584E9F-92F0-5F29-9730-B2D8080D7157}"/>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2800" b="1" i="0" u="none" strike="noStrike" cap="none" dirty="0">
                <a:solidFill>
                  <a:srgbClr val="000000"/>
                </a:solidFill>
                <a:latin typeface="Arial"/>
                <a:ea typeface="Arial"/>
                <a:cs typeface="Arial"/>
                <a:sym typeface="Arial"/>
              </a:rPr>
              <a:t>DYNAMIC PROGRAMMING</a:t>
            </a:r>
          </a:p>
        </p:txBody>
      </p:sp>
      <p:sp>
        <p:nvSpPr>
          <p:cNvPr id="369" name="Google Shape;369;p42">
            <a:extLst>
              <a:ext uri="{FF2B5EF4-FFF2-40B4-BE49-F238E27FC236}">
                <a16:creationId xmlns:a16="http://schemas.microsoft.com/office/drawing/2014/main" id="{B3880E69-7791-DC10-BB7C-07F35001A8D6}"/>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t>6</a:t>
            </a:fld>
            <a:endParaRPr/>
          </a:p>
        </p:txBody>
      </p:sp>
      <p:sp>
        <p:nvSpPr>
          <p:cNvPr id="4" name="Google Shape;370;p42">
            <a:extLst>
              <a:ext uri="{FF2B5EF4-FFF2-40B4-BE49-F238E27FC236}">
                <a16:creationId xmlns:a16="http://schemas.microsoft.com/office/drawing/2014/main" id="{459DEDD4-18C4-3807-F5EB-DE5FE721CAA9}"/>
              </a:ext>
            </a:extLst>
          </p:cNvPr>
          <p:cNvSpPr txBox="1"/>
          <p:nvPr/>
        </p:nvSpPr>
        <p:spPr>
          <a:xfrm>
            <a:off x="248288" y="1158974"/>
            <a:ext cx="8647423" cy="3624029"/>
          </a:xfrm>
          <a:prstGeom prst="rect">
            <a:avLst/>
          </a:prstGeom>
          <a:noFill/>
          <a:ln>
            <a:noFill/>
          </a:ln>
        </p:spPr>
        <p:txBody>
          <a:bodyPr spcFirstLastPara="1" wrap="square" lIns="91425" tIns="45700" rIns="91425" bIns="45700" anchor="t" anchorCtr="0">
            <a:spAutoFit/>
          </a:bodyPr>
          <a:lstStyle/>
          <a:p>
            <a:pPr marL="285750" indent="-285750" algn="just">
              <a:lnSpc>
                <a:spcPct val="150000"/>
              </a:lnSpc>
              <a:buSzPts val="1800"/>
              <a:buFont typeface="Arial" panose="020B0604020202020204" pitchFamily="34" charset="0"/>
              <a:buChar char="•"/>
            </a:pPr>
            <a:r>
              <a:rPr lang="en-US" sz="1700" dirty="0">
                <a:latin typeface="+mn-lt"/>
              </a:rPr>
              <a:t>Thus, although a straightforward application of dynamic programming can be interpreted as a special variety of space-for-time trade-off, a dynamic programming algorithm can sometimes be refined to avoid using extra space.</a:t>
            </a:r>
          </a:p>
          <a:p>
            <a:pPr marL="285750" indent="-285750" algn="just">
              <a:lnSpc>
                <a:spcPct val="150000"/>
              </a:lnSpc>
              <a:buSzPts val="1800"/>
              <a:buFont typeface="Arial" panose="020B0604020202020204" pitchFamily="34" charset="0"/>
              <a:buChar char="•"/>
            </a:pPr>
            <a:r>
              <a:rPr lang="en-US" sz="1700" dirty="0">
                <a:latin typeface="+mn-lt"/>
              </a:rPr>
              <a:t>Certain algorithms compute the nth Fibonacci number without computing all the preceding elements of this sequence.</a:t>
            </a:r>
          </a:p>
          <a:p>
            <a:pPr marL="285750" indent="-285750" algn="just">
              <a:lnSpc>
                <a:spcPct val="150000"/>
              </a:lnSpc>
              <a:buSzPts val="1800"/>
              <a:buFont typeface="Arial" panose="020B0604020202020204" pitchFamily="34" charset="0"/>
              <a:buChar char="•"/>
            </a:pPr>
            <a:r>
              <a:rPr lang="en-US" sz="1700" dirty="0">
                <a:latin typeface="+mn-lt"/>
              </a:rPr>
              <a:t>It is typical of an algorithm based on the classic bottom-up dynamic programming approach, however, to solve all smaller subproblems of a given problem. </a:t>
            </a:r>
          </a:p>
          <a:p>
            <a:pPr marL="285750" indent="-285750" algn="just">
              <a:lnSpc>
                <a:spcPct val="150000"/>
              </a:lnSpc>
              <a:buSzPts val="1800"/>
              <a:buFont typeface="Arial" panose="020B0604020202020204" pitchFamily="34" charset="0"/>
              <a:buChar char="•"/>
            </a:pPr>
            <a:r>
              <a:rPr lang="en-US" sz="1700" dirty="0">
                <a:latin typeface="+mn-lt"/>
              </a:rPr>
              <a:t>One variation of the dynamic programming approach seeks to avoid solving unnecessary subproblems.</a:t>
            </a:r>
          </a:p>
        </p:txBody>
      </p:sp>
    </p:spTree>
    <p:extLst>
      <p:ext uri="{BB962C8B-B14F-4D97-AF65-F5344CB8AC3E}">
        <p14:creationId xmlns:p14="http://schemas.microsoft.com/office/powerpoint/2010/main" val="14926535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165BFB48-A810-401D-94F2-5C025E417856}"/>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FF4F77FD-F6AF-95C7-16E5-83425CB66EF8}"/>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2800" b="1" i="0" u="none" strike="noStrike" cap="none" dirty="0">
                <a:solidFill>
                  <a:srgbClr val="000000"/>
                </a:solidFill>
                <a:latin typeface="Arial"/>
                <a:ea typeface="Arial"/>
                <a:cs typeface="Arial"/>
                <a:sym typeface="Arial"/>
              </a:rPr>
              <a:t>DYNAMIC PROGRAMMING</a:t>
            </a:r>
          </a:p>
        </p:txBody>
      </p:sp>
      <p:sp>
        <p:nvSpPr>
          <p:cNvPr id="369" name="Google Shape;369;p42">
            <a:extLst>
              <a:ext uri="{FF2B5EF4-FFF2-40B4-BE49-F238E27FC236}">
                <a16:creationId xmlns:a16="http://schemas.microsoft.com/office/drawing/2014/main" id="{49F3A8C7-751B-1D9D-628D-98F0BB927B74}"/>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t>7</a:t>
            </a:fld>
            <a:endParaRPr/>
          </a:p>
        </p:txBody>
      </p:sp>
      <p:sp>
        <p:nvSpPr>
          <p:cNvPr id="4" name="Google Shape;370;p42">
            <a:extLst>
              <a:ext uri="{FF2B5EF4-FFF2-40B4-BE49-F238E27FC236}">
                <a16:creationId xmlns:a16="http://schemas.microsoft.com/office/drawing/2014/main" id="{84364E43-2F6F-28D5-3BC2-9935808C7948}"/>
              </a:ext>
            </a:extLst>
          </p:cNvPr>
          <p:cNvSpPr txBox="1"/>
          <p:nvPr/>
        </p:nvSpPr>
        <p:spPr>
          <a:xfrm>
            <a:off x="232258" y="1146184"/>
            <a:ext cx="8647423" cy="3416279"/>
          </a:xfrm>
          <a:prstGeom prst="rect">
            <a:avLst/>
          </a:prstGeom>
          <a:noFill/>
          <a:ln>
            <a:noFill/>
          </a:ln>
        </p:spPr>
        <p:txBody>
          <a:bodyPr spcFirstLastPara="1" wrap="square" lIns="91425" tIns="45700" rIns="91425" bIns="45700" anchor="t" anchorCtr="0">
            <a:spAutoFit/>
          </a:bodyPr>
          <a:lstStyle/>
          <a:p>
            <a:pPr marL="285750" indent="-285750" algn="just">
              <a:lnSpc>
                <a:spcPct val="150000"/>
              </a:lnSpc>
              <a:buSzPts val="1800"/>
              <a:buFont typeface="Arial" panose="020B0604020202020204" pitchFamily="34" charset="0"/>
              <a:buChar char="•"/>
            </a:pPr>
            <a:r>
              <a:rPr lang="en-US" sz="1800" dirty="0">
                <a:latin typeface="+mn-lt"/>
              </a:rPr>
              <a:t>This technique, illustrated in Section 8.2, exploits so-called </a:t>
            </a:r>
            <a:r>
              <a:rPr lang="en-US" sz="1800" b="1" dirty="0">
                <a:latin typeface="+mn-lt"/>
              </a:rPr>
              <a:t>memory functions</a:t>
            </a:r>
            <a:r>
              <a:rPr lang="en-US" sz="1800" dirty="0">
                <a:latin typeface="+mn-lt"/>
              </a:rPr>
              <a:t> and can be considered a </a:t>
            </a:r>
            <a:r>
              <a:rPr lang="en-US" sz="1800" b="1" dirty="0">
                <a:latin typeface="+mn-lt"/>
              </a:rPr>
              <a:t>top-down variation of dynamic programming</a:t>
            </a:r>
            <a:r>
              <a:rPr lang="en-US" sz="1800" dirty="0">
                <a:latin typeface="+mn-lt"/>
              </a:rPr>
              <a:t>.</a:t>
            </a:r>
          </a:p>
          <a:p>
            <a:pPr marL="285750" indent="-285750" algn="just">
              <a:lnSpc>
                <a:spcPct val="150000"/>
              </a:lnSpc>
              <a:buSzPts val="1800"/>
              <a:buFont typeface="Arial" panose="020B0604020202020204" pitchFamily="34" charset="0"/>
              <a:buChar char="•"/>
            </a:pPr>
            <a:r>
              <a:rPr lang="en-US" sz="1800" dirty="0">
                <a:latin typeface="+mn-lt"/>
              </a:rPr>
              <a:t>Whether one uses the classical bottom-up version of dynamic programming or its top-down variation, the crucial step in designing such an algorithm remains the same: </a:t>
            </a:r>
            <a:r>
              <a:rPr lang="en-US" sz="1800" b="1" dirty="0">
                <a:latin typeface="+mn-lt"/>
              </a:rPr>
              <a:t>deriving a recurrence relating a solution to the problem to solutions to its smaller subproblems. </a:t>
            </a:r>
          </a:p>
          <a:p>
            <a:pPr marL="285750" indent="-285750" algn="just">
              <a:lnSpc>
                <a:spcPct val="150000"/>
              </a:lnSpc>
              <a:buSzPts val="1800"/>
              <a:buFont typeface="Arial" panose="020B0604020202020204" pitchFamily="34" charset="0"/>
              <a:buChar char="•"/>
            </a:pPr>
            <a:r>
              <a:rPr lang="en-US" sz="1800" dirty="0">
                <a:latin typeface="+mn-lt"/>
              </a:rPr>
              <a:t>The immediate availability of equation (8.1) for computing the nth Fibonacci number is one of the few exceptions to this rule.</a:t>
            </a:r>
          </a:p>
        </p:txBody>
      </p:sp>
    </p:spTree>
    <p:extLst>
      <p:ext uri="{BB962C8B-B14F-4D97-AF65-F5344CB8AC3E}">
        <p14:creationId xmlns:p14="http://schemas.microsoft.com/office/powerpoint/2010/main" val="946237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CCF06542-80F3-5A52-7ED6-456A4459A1CA}"/>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E3A30D42-190C-DE4F-AAE3-F053E242FFD2}"/>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2800" b="1" i="0" u="none" strike="noStrike" cap="none" dirty="0">
                <a:solidFill>
                  <a:srgbClr val="000000"/>
                </a:solidFill>
                <a:latin typeface="Arial"/>
                <a:ea typeface="Arial"/>
                <a:cs typeface="Arial"/>
                <a:sym typeface="Arial"/>
              </a:rPr>
              <a:t>DYNAMIC PROGRAMMING</a:t>
            </a:r>
          </a:p>
        </p:txBody>
      </p:sp>
      <p:sp>
        <p:nvSpPr>
          <p:cNvPr id="369" name="Google Shape;369;p42">
            <a:extLst>
              <a:ext uri="{FF2B5EF4-FFF2-40B4-BE49-F238E27FC236}">
                <a16:creationId xmlns:a16="http://schemas.microsoft.com/office/drawing/2014/main" id="{B8EA74FC-F3EA-D0A2-238D-CDC9788DE421}"/>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t>8</a:t>
            </a:fld>
            <a:endParaRPr/>
          </a:p>
        </p:txBody>
      </p:sp>
      <p:sp>
        <p:nvSpPr>
          <p:cNvPr id="4" name="Google Shape;370;p42">
            <a:extLst>
              <a:ext uri="{FF2B5EF4-FFF2-40B4-BE49-F238E27FC236}">
                <a16:creationId xmlns:a16="http://schemas.microsoft.com/office/drawing/2014/main" id="{226E94F3-48B2-D7F0-8AD0-DBDA49E1DE20}"/>
              </a:ext>
            </a:extLst>
          </p:cNvPr>
          <p:cNvSpPr txBox="1"/>
          <p:nvPr/>
        </p:nvSpPr>
        <p:spPr>
          <a:xfrm>
            <a:off x="232258" y="1146184"/>
            <a:ext cx="8647423" cy="3416279"/>
          </a:xfrm>
          <a:prstGeom prst="rect">
            <a:avLst/>
          </a:prstGeom>
          <a:noFill/>
          <a:ln>
            <a:noFill/>
          </a:ln>
        </p:spPr>
        <p:txBody>
          <a:bodyPr spcFirstLastPara="1" wrap="square" lIns="91425" tIns="45700" rIns="91425" bIns="45700" anchor="t" anchorCtr="0">
            <a:spAutoFit/>
          </a:bodyPr>
          <a:lstStyle/>
          <a:p>
            <a:pPr algn="just">
              <a:lnSpc>
                <a:spcPct val="150000"/>
              </a:lnSpc>
              <a:buSzPts val="1800"/>
            </a:pPr>
            <a:r>
              <a:rPr lang="en-US" sz="1800" b="1" dirty="0">
                <a:latin typeface="+mn-lt"/>
              </a:rPr>
              <a:t>Three Basic </a:t>
            </a:r>
            <a:r>
              <a:rPr lang="en-US" sz="1800" b="1" dirty="0">
                <a:latin typeface="+mj-lt"/>
              </a:rPr>
              <a:t>Examples</a:t>
            </a:r>
          </a:p>
          <a:p>
            <a:pPr algn="just">
              <a:lnSpc>
                <a:spcPct val="150000"/>
              </a:lnSpc>
              <a:buSzPts val="1800"/>
            </a:pPr>
            <a:r>
              <a:rPr lang="en-US" sz="1800" dirty="0">
                <a:latin typeface="+mj-lt"/>
              </a:rPr>
              <a:t>The goal of this section is to introduce dynamic programming via three typical examples.</a:t>
            </a:r>
          </a:p>
          <a:p>
            <a:pPr algn="just">
              <a:lnSpc>
                <a:spcPct val="150000"/>
              </a:lnSpc>
              <a:buSzPts val="1800"/>
            </a:pPr>
            <a:r>
              <a:rPr lang="en-IN" sz="1800" b="1" i="0" u="none" strike="noStrike" baseline="0" dirty="0">
                <a:latin typeface="+mn-lt"/>
              </a:rPr>
              <a:t>EXAMPLE 1 </a:t>
            </a:r>
            <a:r>
              <a:rPr lang="en-IN" sz="1800" b="0" i="1" u="none" strike="noStrike" baseline="0" dirty="0">
                <a:latin typeface="+mn-lt"/>
              </a:rPr>
              <a:t>Coin-row problem</a:t>
            </a:r>
          </a:p>
          <a:p>
            <a:pPr marL="285750" indent="-285750" algn="just">
              <a:lnSpc>
                <a:spcPct val="150000"/>
              </a:lnSpc>
              <a:buSzPts val="1800"/>
              <a:buFont typeface="Arial" panose="020B0604020202020204" pitchFamily="34" charset="0"/>
              <a:buChar char="•"/>
            </a:pPr>
            <a:r>
              <a:rPr lang="en-US" sz="1800" dirty="0">
                <a:latin typeface="+mn-lt"/>
              </a:rPr>
              <a:t>There is a row of n coins whose values are some positive integers c</a:t>
            </a:r>
            <a:r>
              <a:rPr lang="en-US" sz="1800" baseline="-25000" dirty="0">
                <a:latin typeface="+mn-lt"/>
              </a:rPr>
              <a:t>1</a:t>
            </a:r>
            <a:r>
              <a:rPr lang="en-US" sz="1800" dirty="0">
                <a:latin typeface="+mn-lt"/>
              </a:rPr>
              <a:t>, c</a:t>
            </a:r>
            <a:r>
              <a:rPr lang="en-US" sz="1800" baseline="-25000" dirty="0">
                <a:latin typeface="+mn-lt"/>
              </a:rPr>
              <a:t>2</a:t>
            </a:r>
            <a:r>
              <a:rPr lang="en-US" sz="1800" dirty="0">
                <a:latin typeface="+mn-lt"/>
              </a:rPr>
              <a:t>, . . . , </a:t>
            </a:r>
            <a:r>
              <a:rPr lang="en-US" sz="1800" dirty="0" err="1">
                <a:latin typeface="+mn-lt"/>
              </a:rPr>
              <a:t>c</a:t>
            </a:r>
            <a:r>
              <a:rPr lang="en-US" sz="1800" baseline="-25000" dirty="0" err="1">
                <a:latin typeface="+mn-lt"/>
              </a:rPr>
              <a:t>n</a:t>
            </a:r>
            <a:r>
              <a:rPr lang="en-US" sz="1800" dirty="0">
                <a:latin typeface="+mn-lt"/>
              </a:rPr>
              <a:t>, not necessarily distinct. </a:t>
            </a:r>
          </a:p>
          <a:p>
            <a:pPr marL="285750" indent="-285750" algn="just">
              <a:lnSpc>
                <a:spcPct val="150000"/>
              </a:lnSpc>
              <a:buSzPts val="1800"/>
              <a:buFont typeface="Arial" panose="020B0604020202020204" pitchFamily="34" charset="0"/>
              <a:buChar char="•"/>
            </a:pPr>
            <a:r>
              <a:rPr lang="en-US" sz="1800" dirty="0">
                <a:latin typeface="+mn-lt"/>
              </a:rPr>
              <a:t>The goal is to pick up the maximum amount of money subject to the constraint that no two coins adjacent in the initial row can be picked up.</a:t>
            </a:r>
          </a:p>
        </p:txBody>
      </p:sp>
    </p:spTree>
    <p:extLst>
      <p:ext uri="{BB962C8B-B14F-4D97-AF65-F5344CB8AC3E}">
        <p14:creationId xmlns:p14="http://schemas.microsoft.com/office/powerpoint/2010/main" val="34387909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0F0B76C8-D521-C96B-1CB6-7068D87E6863}"/>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238F57A4-0213-18A9-2504-8B6C497624E3}"/>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2800" b="1" i="0" u="none" strike="noStrike" cap="none" dirty="0">
                <a:solidFill>
                  <a:srgbClr val="000000"/>
                </a:solidFill>
                <a:latin typeface="Arial"/>
                <a:ea typeface="Arial"/>
                <a:cs typeface="Arial"/>
                <a:sym typeface="Arial"/>
              </a:rPr>
              <a:t>DYNAMIC PROGRAMMING</a:t>
            </a:r>
          </a:p>
        </p:txBody>
      </p:sp>
      <p:sp>
        <p:nvSpPr>
          <p:cNvPr id="369" name="Google Shape;369;p42">
            <a:extLst>
              <a:ext uri="{FF2B5EF4-FFF2-40B4-BE49-F238E27FC236}">
                <a16:creationId xmlns:a16="http://schemas.microsoft.com/office/drawing/2014/main" id="{4030D4B0-327D-69C2-F553-28CE65EB5432}"/>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t>9</a:t>
            </a:fld>
            <a:endParaRPr/>
          </a:p>
        </p:txBody>
      </p:sp>
      <p:sp>
        <p:nvSpPr>
          <p:cNvPr id="4" name="Google Shape;370;p42">
            <a:extLst>
              <a:ext uri="{FF2B5EF4-FFF2-40B4-BE49-F238E27FC236}">
                <a16:creationId xmlns:a16="http://schemas.microsoft.com/office/drawing/2014/main" id="{BFABCA77-C93D-8799-2058-9587634AFA06}"/>
              </a:ext>
            </a:extLst>
          </p:cNvPr>
          <p:cNvSpPr txBox="1"/>
          <p:nvPr/>
        </p:nvSpPr>
        <p:spPr>
          <a:xfrm>
            <a:off x="232258" y="1146184"/>
            <a:ext cx="8647423" cy="3831778"/>
          </a:xfrm>
          <a:prstGeom prst="rect">
            <a:avLst/>
          </a:prstGeom>
          <a:noFill/>
          <a:ln>
            <a:noFill/>
          </a:ln>
        </p:spPr>
        <p:txBody>
          <a:bodyPr spcFirstLastPara="1" wrap="square" lIns="91425" tIns="45700" rIns="91425" bIns="45700" anchor="t" anchorCtr="0">
            <a:spAutoFit/>
          </a:bodyPr>
          <a:lstStyle/>
          <a:p>
            <a:pPr algn="just">
              <a:lnSpc>
                <a:spcPct val="150000"/>
              </a:lnSpc>
              <a:buSzPts val="1800"/>
            </a:pPr>
            <a:r>
              <a:rPr lang="en-IN" sz="1800" b="1" i="0" u="none" strike="noStrike" baseline="0" dirty="0">
                <a:latin typeface="+mn-lt"/>
              </a:rPr>
              <a:t>EXAMPLE 1 </a:t>
            </a:r>
            <a:r>
              <a:rPr lang="en-IN" sz="1800" b="0" i="1" u="none" strike="noStrike" baseline="0" dirty="0">
                <a:latin typeface="+mn-lt"/>
              </a:rPr>
              <a:t>Coin-row problem</a:t>
            </a:r>
          </a:p>
          <a:p>
            <a:pPr marL="285750" indent="-285750" algn="just">
              <a:lnSpc>
                <a:spcPct val="150000"/>
              </a:lnSpc>
              <a:buSzPts val="1800"/>
              <a:buFont typeface="Arial" panose="020B0604020202020204" pitchFamily="34" charset="0"/>
              <a:buChar char="•"/>
            </a:pPr>
            <a:r>
              <a:rPr lang="en-US" sz="1800" dirty="0">
                <a:latin typeface="+mj-lt"/>
              </a:rPr>
              <a:t>Let </a:t>
            </a:r>
            <a:r>
              <a:rPr lang="en-US" sz="1800" i="1" dirty="0">
                <a:latin typeface="+mj-lt"/>
              </a:rPr>
              <a:t>F(n)</a:t>
            </a:r>
            <a:r>
              <a:rPr lang="en-US" sz="1800" dirty="0">
                <a:latin typeface="+mj-lt"/>
              </a:rPr>
              <a:t> be the maximum amount that can be picked up from the row of n coins. </a:t>
            </a:r>
          </a:p>
          <a:p>
            <a:pPr marL="285750" indent="-285750" algn="just">
              <a:lnSpc>
                <a:spcPct val="150000"/>
              </a:lnSpc>
              <a:buSzPts val="1800"/>
              <a:buFont typeface="Arial" panose="020B0604020202020204" pitchFamily="34" charset="0"/>
              <a:buChar char="•"/>
            </a:pPr>
            <a:r>
              <a:rPr lang="en-US" sz="1800" dirty="0">
                <a:latin typeface="+mj-lt"/>
              </a:rPr>
              <a:t>To derive a recurrence for </a:t>
            </a:r>
            <a:r>
              <a:rPr lang="en-US" sz="1800" i="1" dirty="0">
                <a:latin typeface="+mj-lt"/>
              </a:rPr>
              <a:t>F(n)</a:t>
            </a:r>
            <a:r>
              <a:rPr lang="en-US" sz="1800" dirty="0">
                <a:latin typeface="+mj-lt"/>
              </a:rPr>
              <a:t>, we partition all the allowed coin selections into two groups: those that include the last coin and those without it. </a:t>
            </a:r>
          </a:p>
          <a:p>
            <a:pPr marL="285750" indent="-285750" algn="just">
              <a:lnSpc>
                <a:spcPct val="150000"/>
              </a:lnSpc>
              <a:buSzPts val="1800"/>
              <a:buFont typeface="Arial" panose="020B0604020202020204" pitchFamily="34" charset="0"/>
              <a:buChar char="•"/>
            </a:pPr>
            <a:r>
              <a:rPr lang="en-US" sz="1800" dirty="0">
                <a:latin typeface="+mj-lt"/>
              </a:rPr>
              <a:t>The largest amount we can get from the first group is equal to </a:t>
            </a:r>
            <a:r>
              <a:rPr lang="en-US" sz="1800" dirty="0" err="1">
                <a:latin typeface="+mj-lt"/>
              </a:rPr>
              <a:t>c</a:t>
            </a:r>
            <a:r>
              <a:rPr lang="en-US" sz="1800" baseline="-25000" dirty="0" err="1">
                <a:latin typeface="+mj-lt"/>
              </a:rPr>
              <a:t>n</a:t>
            </a:r>
            <a:r>
              <a:rPr lang="en-US" sz="1800" dirty="0">
                <a:latin typeface="+mj-lt"/>
              </a:rPr>
              <a:t> + F(n − 2)—the value of the nth coin plus the maximum amount we can pick up from the first n − 2 coins. </a:t>
            </a:r>
          </a:p>
          <a:p>
            <a:pPr marL="285750" indent="-285750" algn="just">
              <a:lnSpc>
                <a:spcPct val="150000"/>
              </a:lnSpc>
              <a:buSzPts val="1800"/>
              <a:buFont typeface="Arial" panose="020B0604020202020204" pitchFamily="34" charset="0"/>
              <a:buChar char="•"/>
            </a:pPr>
            <a:r>
              <a:rPr lang="en-US" sz="1800" dirty="0">
                <a:latin typeface="+mj-lt"/>
              </a:rPr>
              <a:t>The maximum amount we can get from the second group is equal to F(n − 1) by the definition of F(n).</a:t>
            </a:r>
          </a:p>
        </p:txBody>
      </p:sp>
    </p:spTree>
    <p:extLst>
      <p:ext uri="{BB962C8B-B14F-4D97-AF65-F5344CB8AC3E}">
        <p14:creationId xmlns:p14="http://schemas.microsoft.com/office/powerpoint/2010/main" val="37319143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097A1BA1-CAE5-A048-0195-5500EB46E9F4}"/>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4F0BDD8F-C42A-01AF-6B4F-96D261EBEAAF}"/>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2800" b="1" i="0" u="none" strike="noStrike" cap="none" dirty="0">
                <a:solidFill>
                  <a:srgbClr val="000000"/>
                </a:solidFill>
                <a:latin typeface="Arial"/>
                <a:ea typeface="Arial"/>
                <a:cs typeface="Arial"/>
                <a:sym typeface="Arial"/>
              </a:rPr>
              <a:t>DYNAMIC PROGRAMMING</a:t>
            </a:r>
          </a:p>
        </p:txBody>
      </p:sp>
      <p:sp>
        <p:nvSpPr>
          <p:cNvPr id="369" name="Google Shape;369;p42">
            <a:extLst>
              <a:ext uri="{FF2B5EF4-FFF2-40B4-BE49-F238E27FC236}">
                <a16:creationId xmlns:a16="http://schemas.microsoft.com/office/drawing/2014/main" id="{9988CFF5-8CC0-7885-BE83-BEE21115B152}"/>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t>10</a:t>
            </a:fld>
            <a:endParaRPr/>
          </a:p>
        </p:txBody>
      </p:sp>
      <p:sp>
        <p:nvSpPr>
          <p:cNvPr id="4" name="Google Shape;370;p42">
            <a:extLst>
              <a:ext uri="{FF2B5EF4-FFF2-40B4-BE49-F238E27FC236}">
                <a16:creationId xmlns:a16="http://schemas.microsoft.com/office/drawing/2014/main" id="{3E8EE04D-9312-6D29-4890-14C2D73D1521}"/>
              </a:ext>
            </a:extLst>
          </p:cNvPr>
          <p:cNvSpPr txBox="1"/>
          <p:nvPr/>
        </p:nvSpPr>
        <p:spPr>
          <a:xfrm>
            <a:off x="232258" y="1146184"/>
            <a:ext cx="8647423" cy="2469867"/>
          </a:xfrm>
          <a:prstGeom prst="rect">
            <a:avLst/>
          </a:prstGeom>
          <a:noFill/>
          <a:ln>
            <a:noFill/>
          </a:ln>
        </p:spPr>
        <p:txBody>
          <a:bodyPr spcFirstLastPara="1" wrap="square" lIns="91425" tIns="45700" rIns="91425" bIns="45700" anchor="t" anchorCtr="0">
            <a:spAutoFit/>
          </a:bodyPr>
          <a:lstStyle/>
          <a:p>
            <a:pPr algn="just">
              <a:lnSpc>
                <a:spcPct val="150000"/>
              </a:lnSpc>
              <a:buSzPts val="1800"/>
            </a:pPr>
            <a:r>
              <a:rPr lang="en-IN" sz="1800" b="1" i="0" u="none" strike="noStrike" baseline="0" dirty="0">
                <a:latin typeface="+mn-lt"/>
              </a:rPr>
              <a:t>EXAMPLE 1 </a:t>
            </a:r>
            <a:r>
              <a:rPr lang="en-IN" sz="1800" b="0" i="1" u="none" strike="noStrike" baseline="0" dirty="0">
                <a:latin typeface="+mn-lt"/>
              </a:rPr>
              <a:t>Coin-row problem</a:t>
            </a:r>
          </a:p>
          <a:p>
            <a:pPr marL="285750" indent="-285750" algn="just">
              <a:lnSpc>
                <a:spcPct val="150000"/>
              </a:lnSpc>
              <a:buSzPts val="1800"/>
              <a:buFont typeface="Arial" panose="020B0604020202020204" pitchFamily="34" charset="0"/>
              <a:buChar char="•"/>
            </a:pPr>
            <a:r>
              <a:rPr lang="en-US" sz="1700" dirty="0">
                <a:latin typeface="+mj-lt"/>
              </a:rPr>
              <a:t>Thus, we have the following recurrence subject to the obvious initial conditions:</a:t>
            </a:r>
          </a:p>
          <a:p>
            <a:pPr algn="just">
              <a:lnSpc>
                <a:spcPct val="150000"/>
              </a:lnSpc>
              <a:buSzPts val="1800"/>
            </a:pPr>
            <a:endParaRPr lang="en-US" sz="1700" dirty="0">
              <a:latin typeface="+mj-lt"/>
            </a:endParaRPr>
          </a:p>
          <a:p>
            <a:pPr algn="just">
              <a:lnSpc>
                <a:spcPct val="150000"/>
              </a:lnSpc>
              <a:buSzPts val="1800"/>
            </a:pPr>
            <a:endParaRPr lang="en-US" sz="1700" dirty="0">
              <a:latin typeface="+mj-lt"/>
            </a:endParaRPr>
          </a:p>
          <a:p>
            <a:pPr marL="285750" indent="-285750" algn="just">
              <a:lnSpc>
                <a:spcPct val="150000"/>
              </a:lnSpc>
              <a:buSzPts val="1800"/>
              <a:buFont typeface="Arial" panose="020B0604020202020204" pitchFamily="34" charset="0"/>
              <a:buChar char="•"/>
            </a:pPr>
            <a:r>
              <a:rPr lang="en-US" sz="1700" dirty="0">
                <a:latin typeface="+mj-lt"/>
              </a:rPr>
              <a:t>We can compute F(n) by filling the one-row table left to right in the manner similar to the way it was done for the nth Fibonacci number by Algorithm Fib(n).</a:t>
            </a:r>
          </a:p>
        </p:txBody>
      </p:sp>
      <p:pic>
        <p:nvPicPr>
          <p:cNvPr id="3" name="Picture 2">
            <a:extLst>
              <a:ext uri="{FF2B5EF4-FFF2-40B4-BE49-F238E27FC236}">
                <a16:creationId xmlns:a16="http://schemas.microsoft.com/office/drawing/2014/main" id="{B6A4F2DF-CC92-15C9-5956-1FDC746D8D94}"/>
              </a:ext>
            </a:extLst>
          </p:cNvPr>
          <p:cNvPicPr>
            <a:picLocks noChangeAspect="1"/>
          </p:cNvPicPr>
          <p:nvPr/>
        </p:nvPicPr>
        <p:blipFill>
          <a:blip r:embed="rId3"/>
          <a:stretch>
            <a:fillRect/>
          </a:stretch>
        </p:blipFill>
        <p:spPr>
          <a:xfrm>
            <a:off x="702302" y="2049801"/>
            <a:ext cx="6943806" cy="675422"/>
          </a:xfrm>
          <a:prstGeom prst="rect">
            <a:avLst/>
          </a:prstGeom>
        </p:spPr>
      </p:pic>
    </p:spTree>
    <p:extLst>
      <p:ext uri="{BB962C8B-B14F-4D97-AF65-F5344CB8AC3E}">
        <p14:creationId xmlns:p14="http://schemas.microsoft.com/office/powerpoint/2010/main" val="8418365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097A1BA1-CAE5-A048-0195-5500EB46E9F4}"/>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4F0BDD8F-C42A-01AF-6B4F-96D261EBEAAF}"/>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2800" b="1" i="0" u="none" strike="noStrike" cap="none" dirty="0">
                <a:solidFill>
                  <a:srgbClr val="000000"/>
                </a:solidFill>
                <a:latin typeface="Arial"/>
                <a:ea typeface="Arial"/>
                <a:cs typeface="Arial"/>
                <a:sym typeface="Arial"/>
              </a:rPr>
              <a:t>DYNAMIC PROGRAMMING</a:t>
            </a:r>
          </a:p>
        </p:txBody>
      </p:sp>
      <p:sp>
        <p:nvSpPr>
          <p:cNvPr id="369" name="Google Shape;369;p42">
            <a:extLst>
              <a:ext uri="{FF2B5EF4-FFF2-40B4-BE49-F238E27FC236}">
                <a16:creationId xmlns:a16="http://schemas.microsoft.com/office/drawing/2014/main" id="{9988CFF5-8CC0-7885-BE83-BEE21115B152}"/>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t>11</a:t>
            </a:fld>
            <a:endParaRPr/>
          </a:p>
        </p:txBody>
      </p:sp>
      <p:sp>
        <p:nvSpPr>
          <p:cNvPr id="4" name="Google Shape;370;p42">
            <a:extLst>
              <a:ext uri="{FF2B5EF4-FFF2-40B4-BE49-F238E27FC236}">
                <a16:creationId xmlns:a16="http://schemas.microsoft.com/office/drawing/2014/main" id="{3E8EE04D-9312-6D29-4890-14C2D73D1521}"/>
              </a:ext>
            </a:extLst>
          </p:cNvPr>
          <p:cNvSpPr txBox="1"/>
          <p:nvPr/>
        </p:nvSpPr>
        <p:spPr>
          <a:xfrm>
            <a:off x="232258" y="1146184"/>
            <a:ext cx="8647423" cy="900206"/>
          </a:xfrm>
          <a:prstGeom prst="rect">
            <a:avLst/>
          </a:prstGeom>
          <a:noFill/>
          <a:ln>
            <a:noFill/>
          </a:ln>
        </p:spPr>
        <p:txBody>
          <a:bodyPr spcFirstLastPara="1" wrap="square" lIns="91425" tIns="45700" rIns="91425" bIns="45700" anchor="t" anchorCtr="0">
            <a:spAutoFit/>
          </a:bodyPr>
          <a:lstStyle/>
          <a:p>
            <a:pPr algn="just">
              <a:lnSpc>
                <a:spcPct val="150000"/>
              </a:lnSpc>
              <a:buSzPts val="1800"/>
            </a:pPr>
            <a:r>
              <a:rPr lang="en-IN" sz="1800" b="1" i="0" u="none" strike="noStrike" baseline="0" dirty="0">
                <a:latin typeface="+mn-lt"/>
              </a:rPr>
              <a:t>EXAMPLE 1 </a:t>
            </a:r>
            <a:r>
              <a:rPr lang="en-IN" sz="1800" b="0" i="1" u="none" strike="noStrike" baseline="0" dirty="0">
                <a:latin typeface="+mn-lt"/>
              </a:rPr>
              <a:t>Coin-row problem</a:t>
            </a:r>
          </a:p>
          <a:p>
            <a:pPr marL="285750" indent="-285750" algn="just">
              <a:lnSpc>
                <a:spcPct val="150000"/>
              </a:lnSpc>
              <a:buSzPts val="1800"/>
              <a:buFont typeface="Arial" panose="020B0604020202020204" pitchFamily="34" charset="0"/>
              <a:buChar char="•"/>
            </a:pPr>
            <a:endParaRPr lang="en-US" sz="1700" dirty="0">
              <a:latin typeface="+mj-lt"/>
            </a:endParaRPr>
          </a:p>
        </p:txBody>
      </p:sp>
      <p:pic>
        <p:nvPicPr>
          <p:cNvPr id="6" name="Picture 5">
            <a:extLst>
              <a:ext uri="{FF2B5EF4-FFF2-40B4-BE49-F238E27FC236}">
                <a16:creationId xmlns:a16="http://schemas.microsoft.com/office/drawing/2014/main" id="{A7FD1226-1D49-1917-4323-E9B74056762E}"/>
              </a:ext>
            </a:extLst>
          </p:cNvPr>
          <p:cNvPicPr>
            <a:picLocks noChangeAspect="1"/>
          </p:cNvPicPr>
          <p:nvPr/>
        </p:nvPicPr>
        <p:blipFill>
          <a:blip r:embed="rId3"/>
          <a:stretch>
            <a:fillRect/>
          </a:stretch>
        </p:blipFill>
        <p:spPr>
          <a:xfrm>
            <a:off x="1222474" y="1773263"/>
            <a:ext cx="7455646" cy="2769240"/>
          </a:xfrm>
          <a:prstGeom prst="rect">
            <a:avLst/>
          </a:prstGeom>
        </p:spPr>
      </p:pic>
    </p:spTree>
    <p:extLst>
      <p:ext uri="{BB962C8B-B14F-4D97-AF65-F5344CB8AC3E}">
        <p14:creationId xmlns:p14="http://schemas.microsoft.com/office/powerpoint/2010/main" val="25155479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0664533C-F81D-7393-AAF6-3B0C6048BA48}"/>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2012C3B3-5E85-6AB8-8019-C20E93551766}"/>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2800" b="1" i="0" u="none" strike="noStrike" cap="none" dirty="0">
                <a:solidFill>
                  <a:srgbClr val="000000"/>
                </a:solidFill>
                <a:latin typeface="Arial"/>
                <a:ea typeface="Arial"/>
                <a:cs typeface="Arial"/>
                <a:sym typeface="Arial"/>
              </a:rPr>
              <a:t>DYNAMIC PROGRAMMING</a:t>
            </a:r>
          </a:p>
        </p:txBody>
      </p:sp>
      <p:sp>
        <p:nvSpPr>
          <p:cNvPr id="369" name="Google Shape;369;p42">
            <a:extLst>
              <a:ext uri="{FF2B5EF4-FFF2-40B4-BE49-F238E27FC236}">
                <a16:creationId xmlns:a16="http://schemas.microsoft.com/office/drawing/2014/main" id="{4F4D6983-D125-AD40-7065-20471E7E22C3}"/>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t>12</a:t>
            </a:fld>
            <a:endParaRPr/>
          </a:p>
        </p:txBody>
      </p:sp>
      <p:sp>
        <p:nvSpPr>
          <p:cNvPr id="4" name="Google Shape;370;p42">
            <a:extLst>
              <a:ext uri="{FF2B5EF4-FFF2-40B4-BE49-F238E27FC236}">
                <a16:creationId xmlns:a16="http://schemas.microsoft.com/office/drawing/2014/main" id="{C11D5F2C-E370-EF28-85EC-C54C96FD0875}"/>
              </a:ext>
            </a:extLst>
          </p:cNvPr>
          <p:cNvSpPr txBox="1"/>
          <p:nvPr/>
        </p:nvSpPr>
        <p:spPr>
          <a:xfrm>
            <a:off x="232258" y="1146184"/>
            <a:ext cx="8647423" cy="4662775"/>
          </a:xfrm>
          <a:prstGeom prst="rect">
            <a:avLst/>
          </a:prstGeom>
          <a:noFill/>
          <a:ln>
            <a:noFill/>
          </a:ln>
        </p:spPr>
        <p:txBody>
          <a:bodyPr spcFirstLastPara="1" wrap="square" lIns="91425" tIns="45700" rIns="91425" bIns="45700" anchor="t" anchorCtr="0">
            <a:spAutoFit/>
          </a:bodyPr>
          <a:lstStyle/>
          <a:p>
            <a:pPr algn="just">
              <a:lnSpc>
                <a:spcPct val="150000"/>
              </a:lnSpc>
              <a:buSzPts val="1800"/>
            </a:pPr>
            <a:r>
              <a:rPr lang="en-IN" sz="1800" b="1" i="0" u="none" strike="noStrike" baseline="0" dirty="0">
                <a:latin typeface="+mn-lt"/>
              </a:rPr>
              <a:t>EXAMPLE 1 </a:t>
            </a:r>
            <a:r>
              <a:rPr lang="en-IN" sz="1800" b="0" i="1" u="none" strike="noStrike" baseline="0" dirty="0">
                <a:latin typeface="+mn-lt"/>
              </a:rPr>
              <a:t>Coin-row problem</a:t>
            </a:r>
          </a:p>
          <a:p>
            <a:pPr marL="285750" indent="-285750" algn="just">
              <a:lnSpc>
                <a:spcPct val="150000"/>
              </a:lnSpc>
              <a:buSzPts val="1800"/>
              <a:buFont typeface="Arial" panose="020B0604020202020204" pitchFamily="34" charset="0"/>
              <a:buChar char="•"/>
            </a:pPr>
            <a:r>
              <a:rPr lang="en-US" sz="1800" dirty="0">
                <a:latin typeface="+mj-lt"/>
              </a:rPr>
              <a:t>The application of the algorithm to the coin row of denominations 5, 1, 2, 10,6, 2 is shown in Figure 8.1. </a:t>
            </a:r>
          </a:p>
          <a:p>
            <a:pPr marL="285750" indent="-285750" algn="just">
              <a:lnSpc>
                <a:spcPct val="150000"/>
              </a:lnSpc>
              <a:buSzPts val="1800"/>
              <a:buFont typeface="Arial" panose="020B0604020202020204" pitchFamily="34" charset="0"/>
              <a:buChar char="•"/>
            </a:pPr>
            <a:r>
              <a:rPr lang="en-US" sz="1800" dirty="0">
                <a:latin typeface="+mj-lt"/>
              </a:rPr>
              <a:t>It yields the maximum amount of 17. It is worth pointing out that, in fact, we also solved the problem for the first </a:t>
            </a:r>
            <a:r>
              <a:rPr lang="en-US" sz="1800" dirty="0" err="1">
                <a:latin typeface="+mj-lt"/>
              </a:rPr>
              <a:t>i</a:t>
            </a:r>
            <a:r>
              <a:rPr lang="en-US" sz="1800" dirty="0">
                <a:latin typeface="+mj-lt"/>
              </a:rPr>
              <a:t> coins in the row given for every 1≤ </a:t>
            </a:r>
            <a:r>
              <a:rPr lang="en-US" sz="1800" dirty="0" err="1">
                <a:latin typeface="+mj-lt"/>
              </a:rPr>
              <a:t>i</a:t>
            </a:r>
            <a:r>
              <a:rPr lang="en-US" sz="1800" dirty="0">
                <a:latin typeface="+mj-lt"/>
              </a:rPr>
              <a:t> ≤ 6. </a:t>
            </a:r>
          </a:p>
          <a:p>
            <a:pPr marL="285750" indent="-285750" algn="just">
              <a:lnSpc>
                <a:spcPct val="150000"/>
              </a:lnSpc>
              <a:buSzPts val="1800"/>
              <a:buFont typeface="Arial" panose="020B0604020202020204" pitchFamily="34" charset="0"/>
              <a:buChar char="•"/>
            </a:pPr>
            <a:r>
              <a:rPr lang="en-US" sz="1800" dirty="0">
                <a:latin typeface="+mj-lt"/>
              </a:rPr>
              <a:t>For example, for </a:t>
            </a:r>
            <a:r>
              <a:rPr lang="en-US" sz="1800" dirty="0" err="1">
                <a:latin typeface="+mj-lt"/>
              </a:rPr>
              <a:t>i</a:t>
            </a:r>
            <a:r>
              <a:rPr lang="en-US" sz="1800" dirty="0">
                <a:latin typeface="+mj-lt"/>
              </a:rPr>
              <a:t> = 3, the maximum amount is F(3) = 7.</a:t>
            </a:r>
          </a:p>
          <a:p>
            <a:pPr marL="285750" indent="-285750" algn="just">
              <a:lnSpc>
                <a:spcPct val="150000"/>
              </a:lnSpc>
              <a:buSzPts val="1800"/>
              <a:buFont typeface="Arial" panose="020B0604020202020204" pitchFamily="34" charset="0"/>
              <a:buChar char="•"/>
            </a:pPr>
            <a:r>
              <a:rPr lang="en-US" sz="1800" dirty="0">
                <a:latin typeface="+mj-lt"/>
              </a:rPr>
              <a:t>To find the coins with the maximum total value found, we need to backtrace the computations to see which of the two possibilities—</a:t>
            </a:r>
            <a:r>
              <a:rPr lang="en-US" sz="1800" dirty="0" err="1">
                <a:latin typeface="+mj-lt"/>
              </a:rPr>
              <a:t>c</a:t>
            </a:r>
            <a:r>
              <a:rPr lang="en-US" sz="1800" baseline="-25000" dirty="0" err="1">
                <a:latin typeface="+mj-lt"/>
              </a:rPr>
              <a:t>n</a:t>
            </a:r>
            <a:r>
              <a:rPr lang="en-US" sz="1800" dirty="0">
                <a:latin typeface="+mj-lt"/>
              </a:rPr>
              <a:t> + F(n − 2) or F(n − 1)—produced the maxima in formula (8.3).</a:t>
            </a:r>
          </a:p>
          <a:p>
            <a:pPr marL="285750" indent="-285750" algn="just">
              <a:lnSpc>
                <a:spcPct val="150000"/>
              </a:lnSpc>
              <a:buSzPts val="1800"/>
              <a:buFont typeface="Arial" panose="020B0604020202020204" pitchFamily="34" charset="0"/>
              <a:buChar char="•"/>
            </a:pPr>
            <a:endParaRPr lang="en-US" sz="1800" dirty="0">
              <a:latin typeface="+mj-lt"/>
            </a:endParaRPr>
          </a:p>
          <a:p>
            <a:pPr marL="285750" indent="-285750" algn="just">
              <a:lnSpc>
                <a:spcPct val="150000"/>
              </a:lnSpc>
              <a:buSzPts val="1800"/>
              <a:buFont typeface="Arial" panose="020B0604020202020204" pitchFamily="34" charset="0"/>
              <a:buChar char="•"/>
            </a:pPr>
            <a:endParaRPr lang="en-US" sz="1800" dirty="0">
              <a:latin typeface="+mj-lt"/>
            </a:endParaRPr>
          </a:p>
        </p:txBody>
      </p:sp>
    </p:spTree>
    <p:extLst>
      <p:ext uri="{BB962C8B-B14F-4D97-AF65-F5344CB8AC3E}">
        <p14:creationId xmlns:p14="http://schemas.microsoft.com/office/powerpoint/2010/main" val="856838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6AB674FA-55D0-9A5B-86E4-899A7389CE54}"/>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08A4B88D-E076-AAC2-B5CD-5B5CD43E1256}"/>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2800" b="1" i="0" u="none" strike="noStrike" cap="none" dirty="0">
                <a:solidFill>
                  <a:srgbClr val="000000"/>
                </a:solidFill>
                <a:latin typeface="Arial"/>
                <a:ea typeface="Arial"/>
                <a:cs typeface="Arial"/>
                <a:sym typeface="Arial"/>
              </a:rPr>
              <a:t>DYNAMIC PROGRAMMING</a:t>
            </a:r>
          </a:p>
        </p:txBody>
      </p:sp>
      <p:sp>
        <p:nvSpPr>
          <p:cNvPr id="369" name="Google Shape;369;p42">
            <a:extLst>
              <a:ext uri="{FF2B5EF4-FFF2-40B4-BE49-F238E27FC236}">
                <a16:creationId xmlns:a16="http://schemas.microsoft.com/office/drawing/2014/main" id="{D3D6E176-4644-058F-E7A9-CB8AEA88AC7E}"/>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t>13</a:t>
            </a:fld>
            <a:endParaRPr/>
          </a:p>
        </p:txBody>
      </p:sp>
      <p:sp>
        <p:nvSpPr>
          <p:cNvPr id="4" name="Google Shape;370;p42">
            <a:extLst>
              <a:ext uri="{FF2B5EF4-FFF2-40B4-BE49-F238E27FC236}">
                <a16:creationId xmlns:a16="http://schemas.microsoft.com/office/drawing/2014/main" id="{37EB0C3C-4FBA-248B-875E-EB8D8FCE5DD8}"/>
              </a:ext>
            </a:extLst>
          </p:cNvPr>
          <p:cNvSpPr txBox="1"/>
          <p:nvPr/>
        </p:nvSpPr>
        <p:spPr>
          <a:xfrm>
            <a:off x="232258" y="1146184"/>
            <a:ext cx="8647423" cy="1338788"/>
          </a:xfrm>
          <a:prstGeom prst="rect">
            <a:avLst/>
          </a:prstGeom>
          <a:noFill/>
          <a:ln>
            <a:noFill/>
          </a:ln>
        </p:spPr>
        <p:txBody>
          <a:bodyPr spcFirstLastPara="1" wrap="square" lIns="91425" tIns="45700" rIns="91425" bIns="45700" anchor="t" anchorCtr="0">
            <a:spAutoFit/>
          </a:bodyPr>
          <a:lstStyle/>
          <a:p>
            <a:pPr algn="just">
              <a:lnSpc>
                <a:spcPct val="150000"/>
              </a:lnSpc>
              <a:buSzPts val="1800"/>
            </a:pPr>
            <a:r>
              <a:rPr lang="en-IN" sz="1800" b="1" i="0" u="none" strike="noStrike" baseline="0" dirty="0">
                <a:latin typeface="+mn-lt"/>
              </a:rPr>
              <a:t>EXAMPLE 1 </a:t>
            </a:r>
            <a:r>
              <a:rPr lang="en-IN" sz="1800" b="0" i="1" u="none" strike="noStrike" baseline="0" dirty="0">
                <a:latin typeface="+mn-lt"/>
              </a:rPr>
              <a:t>Coin-row problem</a:t>
            </a:r>
          </a:p>
          <a:p>
            <a:pPr marL="285750" indent="-285750" algn="just">
              <a:lnSpc>
                <a:spcPct val="150000"/>
              </a:lnSpc>
              <a:buSzPts val="1800"/>
              <a:buFont typeface="Arial" panose="020B0604020202020204" pitchFamily="34" charset="0"/>
              <a:buChar char="•"/>
            </a:pPr>
            <a:endParaRPr lang="en-US" sz="1800" dirty="0">
              <a:latin typeface="+mj-lt"/>
            </a:endParaRPr>
          </a:p>
          <a:p>
            <a:pPr marL="285750" indent="-285750" algn="just">
              <a:lnSpc>
                <a:spcPct val="150000"/>
              </a:lnSpc>
              <a:buSzPts val="1800"/>
              <a:buFont typeface="Arial" panose="020B0604020202020204" pitchFamily="34" charset="0"/>
              <a:buChar char="•"/>
            </a:pPr>
            <a:endParaRPr lang="en-US" sz="1800" dirty="0">
              <a:latin typeface="+mj-lt"/>
            </a:endParaRPr>
          </a:p>
        </p:txBody>
      </p:sp>
      <p:pic>
        <p:nvPicPr>
          <p:cNvPr id="7" name="Picture 6">
            <a:extLst>
              <a:ext uri="{FF2B5EF4-FFF2-40B4-BE49-F238E27FC236}">
                <a16:creationId xmlns:a16="http://schemas.microsoft.com/office/drawing/2014/main" id="{6C7BC120-16D5-93C5-574D-A64F0A60541F}"/>
              </a:ext>
            </a:extLst>
          </p:cNvPr>
          <p:cNvPicPr>
            <a:picLocks noChangeAspect="1"/>
          </p:cNvPicPr>
          <p:nvPr/>
        </p:nvPicPr>
        <p:blipFill>
          <a:blip r:embed="rId3"/>
          <a:stretch>
            <a:fillRect/>
          </a:stretch>
        </p:blipFill>
        <p:spPr>
          <a:xfrm>
            <a:off x="232258" y="1736319"/>
            <a:ext cx="4248082" cy="2484900"/>
          </a:xfrm>
          <a:prstGeom prst="rect">
            <a:avLst/>
          </a:prstGeom>
        </p:spPr>
      </p:pic>
      <p:pic>
        <p:nvPicPr>
          <p:cNvPr id="9" name="Picture 8">
            <a:extLst>
              <a:ext uri="{FF2B5EF4-FFF2-40B4-BE49-F238E27FC236}">
                <a16:creationId xmlns:a16="http://schemas.microsoft.com/office/drawing/2014/main" id="{F1F58F3E-8127-F0C8-6B31-6A81990C8879}"/>
              </a:ext>
            </a:extLst>
          </p:cNvPr>
          <p:cNvPicPr>
            <a:picLocks noChangeAspect="1"/>
          </p:cNvPicPr>
          <p:nvPr/>
        </p:nvPicPr>
        <p:blipFill>
          <a:blip r:embed="rId4"/>
          <a:stretch>
            <a:fillRect/>
          </a:stretch>
        </p:blipFill>
        <p:spPr>
          <a:xfrm>
            <a:off x="4475123" y="1736319"/>
            <a:ext cx="4237311" cy="2484900"/>
          </a:xfrm>
          <a:prstGeom prst="rect">
            <a:avLst/>
          </a:prstGeom>
        </p:spPr>
      </p:pic>
      <p:pic>
        <p:nvPicPr>
          <p:cNvPr id="11" name="Picture 10">
            <a:extLst>
              <a:ext uri="{FF2B5EF4-FFF2-40B4-BE49-F238E27FC236}">
                <a16:creationId xmlns:a16="http://schemas.microsoft.com/office/drawing/2014/main" id="{8144D2F7-9D01-C539-84C0-951D83D53131}"/>
              </a:ext>
            </a:extLst>
          </p:cNvPr>
          <p:cNvPicPr>
            <a:picLocks noChangeAspect="1"/>
          </p:cNvPicPr>
          <p:nvPr/>
        </p:nvPicPr>
        <p:blipFill>
          <a:blip r:embed="rId5"/>
          <a:stretch>
            <a:fillRect/>
          </a:stretch>
        </p:blipFill>
        <p:spPr>
          <a:xfrm>
            <a:off x="1558908" y="4356566"/>
            <a:ext cx="5227773" cy="441998"/>
          </a:xfrm>
          <a:prstGeom prst="rect">
            <a:avLst/>
          </a:prstGeom>
        </p:spPr>
      </p:pic>
    </p:spTree>
    <p:extLst>
      <p:ext uri="{BB962C8B-B14F-4D97-AF65-F5344CB8AC3E}">
        <p14:creationId xmlns:p14="http://schemas.microsoft.com/office/powerpoint/2010/main" val="927447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F3430103-FF22-701C-5806-4F90A361D5A2}"/>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5CABFFB8-2908-AB3A-5027-C0CC1738B0A6}"/>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2800" b="1" i="0" u="none" strike="noStrike" cap="none" dirty="0">
                <a:solidFill>
                  <a:srgbClr val="000000"/>
                </a:solidFill>
                <a:latin typeface="Arial"/>
                <a:ea typeface="Arial"/>
                <a:cs typeface="Arial"/>
                <a:sym typeface="Arial"/>
              </a:rPr>
              <a:t>DYNAMIC PROGRAMMING</a:t>
            </a:r>
          </a:p>
        </p:txBody>
      </p:sp>
      <p:sp>
        <p:nvSpPr>
          <p:cNvPr id="369" name="Google Shape;369;p42">
            <a:extLst>
              <a:ext uri="{FF2B5EF4-FFF2-40B4-BE49-F238E27FC236}">
                <a16:creationId xmlns:a16="http://schemas.microsoft.com/office/drawing/2014/main" id="{E924EA67-7CB4-3FB7-6CB8-06A845AF0751}"/>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t>14</a:t>
            </a:fld>
            <a:endParaRPr/>
          </a:p>
        </p:txBody>
      </p:sp>
      <p:sp>
        <p:nvSpPr>
          <p:cNvPr id="4" name="Google Shape;370;p42">
            <a:extLst>
              <a:ext uri="{FF2B5EF4-FFF2-40B4-BE49-F238E27FC236}">
                <a16:creationId xmlns:a16="http://schemas.microsoft.com/office/drawing/2014/main" id="{B7A8D01A-ED3E-E990-807D-33660F049228}"/>
              </a:ext>
            </a:extLst>
          </p:cNvPr>
          <p:cNvSpPr txBox="1"/>
          <p:nvPr/>
        </p:nvSpPr>
        <p:spPr>
          <a:xfrm>
            <a:off x="232258" y="1146184"/>
            <a:ext cx="8647423" cy="3831778"/>
          </a:xfrm>
          <a:prstGeom prst="rect">
            <a:avLst/>
          </a:prstGeom>
          <a:noFill/>
          <a:ln>
            <a:noFill/>
          </a:ln>
        </p:spPr>
        <p:txBody>
          <a:bodyPr spcFirstLastPara="1" wrap="square" lIns="91425" tIns="45700" rIns="91425" bIns="45700" anchor="t" anchorCtr="0">
            <a:spAutoFit/>
          </a:bodyPr>
          <a:lstStyle/>
          <a:p>
            <a:pPr algn="just">
              <a:lnSpc>
                <a:spcPct val="150000"/>
              </a:lnSpc>
              <a:buSzPts val="1800"/>
            </a:pPr>
            <a:r>
              <a:rPr lang="en-IN" sz="1800" b="1" i="0" u="none" strike="noStrike" baseline="0" dirty="0">
                <a:latin typeface="+mn-lt"/>
              </a:rPr>
              <a:t>EXAMPLE 1 </a:t>
            </a:r>
            <a:r>
              <a:rPr lang="en-IN" sz="1800" b="0" i="1" u="none" strike="noStrike" baseline="0" dirty="0">
                <a:latin typeface="+mn-lt"/>
              </a:rPr>
              <a:t>Coin-row problem</a:t>
            </a:r>
          </a:p>
          <a:p>
            <a:pPr marL="285750" indent="-285750" algn="just">
              <a:lnSpc>
                <a:spcPct val="150000"/>
              </a:lnSpc>
              <a:buSzPts val="1800"/>
              <a:buFont typeface="Arial" panose="020B0604020202020204" pitchFamily="34" charset="0"/>
              <a:buChar char="•"/>
            </a:pPr>
            <a:r>
              <a:rPr lang="en-US" sz="1800" dirty="0">
                <a:latin typeface="+mj-lt"/>
              </a:rPr>
              <a:t>In the last application of the formula, it was the sum c6 + F(4), which means that the coin c</a:t>
            </a:r>
            <a:r>
              <a:rPr lang="en-US" sz="1800" baseline="-25000" dirty="0">
                <a:latin typeface="+mj-lt"/>
              </a:rPr>
              <a:t>6</a:t>
            </a:r>
            <a:r>
              <a:rPr lang="en-US" sz="1800" dirty="0">
                <a:latin typeface="+mj-lt"/>
              </a:rPr>
              <a:t> = 2 is a part of an optimal solution.</a:t>
            </a:r>
          </a:p>
          <a:p>
            <a:pPr marL="285750" indent="-285750" algn="just">
              <a:lnSpc>
                <a:spcPct val="150000"/>
              </a:lnSpc>
              <a:buSzPts val="1800"/>
              <a:buFont typeface="Arial" panose="020B0604020202020204" pitchFamily="34" charset="0"/>
              <a:buChar char="•"/>
            </a:pPr>
            <a:r>
              <a:rPr lang="en-US" sz="1800" dirty="0">
                <a:latin typeface="+mj-lt"/>
              </a:rPr>
              <a:t> Moving to computing F(4), the maximum was produced by the sum c</a:t>
            </a:r>
            <a:r>
              <a:rPr lang="en-US" sz="1800" baseline="-25000" dirty="0">
                <a:latin typeface="+mj-lt"/>
              </a:rPr>
              <a:t>4</a:t>
            </a:r>
            <a:r>
              <a:rPr lang="en-US" sz="1800" dirty="0">
                <a:latin typeface="+mj-lt"/>
              </a:rPr>
              <a:t> + F(2), which means that the coin c</a:t>
            </a:r>
            <a:r>
              <a:rPr lang="en-US" sz="1800" baseline="-25000" dirty="0">
                <a:latin typeface="+mj-lt"/>
              </a:rPr>
              <a:t>4</a:t>
            </a:r>
            <a:r>
              <a:rPr lang="en-US" sz="1800" dirty="0">
                <a:latin typeface="+mj-lt"/>
              </a:rPr>
              <a:t> = 10 is a part of an optimal solution as well. </a:t>
            </a:r>
          </a:p>
          <a:p>
            <a:pPr marL="285750" indent="-285750" algn="just">
              <a:lnSpc>
                <a:spcPct val="150000"/>
              </a:lnSpc>
              <a:buSzPts val="1800"/>
              <a:buFont typeface="Arial" panose="020B0604020202020204" pitchFamily="34" charset="0"/>
              <a:buChar char="•"/>
            </a:pPr>
            <a:r>
              <a:rPr lang="en-US" sz="1800" dirty="0">
                <a:latin typeface="+mj-lt"/>
              </a:rPr>
              <a:t>Finally, the maximum in computing F(2) was produced by F(1), implying that the coin c</a:t>
            </a:r>
            <a:r>
              <a:rPr lang="en-US" sz="1800" baseline="-25000" dirty="0">
                <a:latin typeface="+mj-lt"/>
              </a:rPr>
              <a:t>2</a:t>
            </a:r>
            <a:r>
              <a:rPr lang="en-US" sz="1800" dirty="0">
                <a:latin typeface="+mj-lt"/>
              </a:rPr>
              <a:t> is not the part of an optimal solution and the coin c</a:t>
            </a:r>
            <a:r>
              <a:rPr lang="en-US" sz="1800" baseline="-25000" dirty="0">
                <a:latin typeface="+mj-lt"/>
              </a:rPr>
              <a:t>1</a:t>
            </a:r>
            <a:r>
              <a:rPr lang="en-US" sz="1800" dirty="0">
                <a:latin typeface="+mj-lt"/>
              </a:rPr>
              <a:t>= 5 is. </a:t>
            </a:r>
          </a:p>
          <a:p>
            <a:pPr marL="285750" indent="-285750" algn="just">
              <a:lnSpc>
                <a:spcPct val="150000"/>
              </a:lnSpc>
              <a:buSzPts val="1800"/>
              <a:buFont typeface="Arial" panose="020B0604020202020204" pitchFamily="34" charset="0"/>
              <a:buChar char="•"/>
            </a:pPr>
            <a:r>
              <a:rPr lang="en-US" sz="1800" dirty="0">
                <a:latin typeface="+mj-lt"/>
              </a:rPr>
              <a:t>Thus, the optimal solution is {c1, c4, c6}.</a:t>
            </a:r>
          </a:p>
          <a:p>
            <a:pPr marL="285750" indent="-285750" algn="just">
              <a:lnSpc>
                <a:spcPct val="150000"/>
              </a:lnSpc>
              <a:buSzPts val="1800"/>
              <a:buFont typeface="Arial" panose="020B0604020202020204" pitchFamily="34" charset="0"/>
              <a:buChar char="•"/>
            </a:pPr>
            <a:endParaRPr lang="en-US" sz="1800" dirty="0">
              <a:latin typeface="+mj-lt"/>
            </a:endParaRPr>
          </a:p>
        </p:txBody>
      </p:sp>
    </p:spTree>
    <p:extLst>
      <p:ext uri="{BB962C8B-B14F-4D97-AF65-F5344CB8AC3E}">
        <p14:creationId xmlns:p14="http://schemas.microsoft.com/office/powerpoint/2010/main" val="42917081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7B92A066-A881-C0AD-E256-F06924500F8F}"/>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A7416DEB-461B-2674-2868-EBEF3192CA55}"/>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2800" b="1" i="0" u="none" strike="noStrike" cap="none" dirty="0">
                <a:solidFill>
                  <a:srgbClr val="000000"/>
                </a:solidFill>
                <a:latin typeface="Arial"/>
                <a:ea typeface="Arial"/>
                <a:cs typeface="Arial"/>
                <a:sym typeface="Arial"/>
              </a:rPr>
              <a:t>DYNAMIC PROGRAMMING</a:t>
            </a:r>
          </a:p>
        </p:txBody>
      </p:sp>
      <p:sp>
        <p:nvSpPr>
          <p:cNvPr id="369" name="Google Shape;369;p42">
            <a:extLst>
              <a:ext uri="{FF2B5EF4-FFF2-40B4-BE49-F238E27FC236}">
                <a16:creationId xmlns:a16="http://schemas.microsoft.com/office/drawing/2014/main" id="{1E742434-849F-3379-0EEA-94CF2823F7F2}"/>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t>15</a:t>
            </a:fld>
            <a:endParaRPr/>
          </a:p>
        </p:txBody>
      </p:sp>
      <p:sp>
        <p:nvSpPr>
          <p:cNvPr id="4" name="Google Shape;370;p42">
            <a:extLst>
              <a:ext uri="{FF2B5EF4-FFF2-40B4-BE49-F238E27FC236}">
                <a16:creationId xmlns:a16="http://schemas.microsoft.com/office/drawing/2014/main" id="{93EE2175-B75A-F281-77B3-1518DD90AEEF}"/>
              </a:ext>
            </a:extLst>
          </p:cNvPr>
          <p:cNvSpPr txBox="1"/>
          <p:nvPr/>
        </p:nvSpPr>
        <p:spPr>
          <a:xfrm>
            <a:off x="248288" y="1050319"/>
            <a:ext cx="8647423" cy="4039527"/>
          </a:xfrm>
          <a:prstGeom prst="rect">
            <a:avLst/>
          </a:prstGeom>
          <a:noFill/>
          <a:ln>
            <a:noFill/>
          </a:ln>
        </p:spPr>
        <p:txBody>
          <a:bodyPr spcFirstLastPara="1" wrap="square" lIns="91425" tIns="45700" rIns="91425" bIns="45700" anchor="t" anchorCtr="0">
            <a:spAutoFit/>
          </a:bodyPr>
          <a:lstStyle/>
          <a:p>
            <a:pPr algn="just">
              <a:lnSpc>
                <a:spcPct val="150000"/>
              </a:lnSpc>
              <a:buSzPts val="1800"/>
            </a:pPr>
            <a:r>
              <a:rPr lang="en-IN" sz="1800" b="1" i="0" u="none" strike="noStrike" baseline="0" dirty="0">
                <a:latin typeface="+mn-lt"/>
              </a:rPr>
              <a:t>EXAMPLE 1 </a:t>
            </a:r>
            <a:r>
              <a:rPr lang="en-IN" sz="1800" b="0" i="1" u="none" strike="noStrike" baseline="0" dirty="0">
                <a:latin typeface="+mn-lt"/>
              </a:rPr>
              <a:t>Coin-row problem</a:t>
            </a:r>
          </a:p>
          <a:p>
            <a:pPr marL="285750" indent="-285750" algn="just">
              <a:lnSpc>
                <a:spcPct val="150000"/>
              </a:lnSpc>
              <a:buSzPts val="1800"/>
              <a:buFont typeface="Arial" panose="020B0604020202020204" pitchFamily="34" charset="0"/>
              <a:buChar char="•"/>
            </a:pPr>
            <a:r>
              <a:rPr lang="en-US" sz="1700" dirty="0">
                <a:latin typeface="+mj-lt"/>
              </a:rPr>
              <a:t>To avoid repeating the same computations during the </a:t>
            </a:r>
            <a:r>
              <a:rPr lang="en-US" sz="1700" dirty="0" err="1">
                <a:latin typeface="+mj-lt"/>
              </a:rPr>
              <a:t>backtracing</a:t>
            </a:r>
            <a:r>
              <a:rPr lang="en-US" sz="1700" dirty="0">
                <a:latin typeface="+mj-lt"/>
              </a:rPr>
              <a:t>, the information about which of the two terms in (8.3) was larger can be recorded in an extra array when the values of F are computed.</a:t>
            </a:r>
          </a:p>
          <a:p>
            <a:pPr marL="285750" indent="-285750" algn="just">
              <a:lnSpc>
                <a:spcPct val="150000"/>
              </a:lnSpc>
              <a:buSzPts val="1800"/>
              <a:buFont typeface="Arial" panose="020B0604020202020204" pitchFamily="34" charset="0"/>
              <a:buChar char="•"/>
            </a:pPr>
            <a:r>
              <a:rPr lang="en-US" sz="1700" dirty="0">
                <a:latin typeface="+mj-lt"/>
              </a:rPr>
              <a:t>Using the </a:t>
            </a:r>
            <a:r>
              <a:rPr lang="en-US" sz="1700" dirty="0" err="1">
                <a:latin typeface="+mj-lt"/>
              </a:rPr>
              <a:t>CoinRow</a:t>
            </a:r>
            <a:r>
              <a:rPr lang="en-US" sz="1700" dirty="0">
                <a:latin typeface="+mj-lt"/>
              </a:rPr>
              <a:t> to find F(n), the largest amount of money that can be picked up, as well as the coins composing an optimal set, clearly takes (n) time and(n) space. </a:t>
            </a:r>
          </a:p>
          <a:p>
            <a:pPr marL="285750" indent="-285750" algn="just">
              <a:lnSpc>
                <a:spcPct val="150000"/>
              </a:lnSpc>
              <a:buSzPts val="1800"/>
              <a:buFont typeface="Arial" panose="020B0604020202020204" pitchFamily="34" charset="0"/>
              <a:buChar char="•"/>
            </a:pPr>
            <a:r>
              <a:rPr lang="en-US" sz="1700" dirty="0">
                <a:latin typeface="+mj-lt"/>
              </a:rPr>
              <a:t>This is by far superior to the alternatives: the straightforward top-down application of recurrence (8.3) and solving the problem by exhaustive search. </a:t>
            </a:r>
          </a:p>
          <a:p>
            <a:pPr marL="285750" indent="-285750" algn="just">
              <a:lnSpc>
                <a:spcPct val="150000"/>
              </a:lnSpc>
              <a:buSzPts val="1800"/>
              <a:buFont typeface="Arial" panose="020B0604020202020204" pitchFamily="34" charset="0"/>
              <a:buChar char="•"/>
            </a:pPr>
            <a:r>
              <a:rPr lang="en-US" sz="1700" dirty="0">
                <a:latin typeface="+mj-lt"/>
              </a:rPr>
              <a:t>Consider the general instance of the following well-known problem. Give change for amount n using the minimum number of coins of denominations d1&lt;d2 &lt; . . .&lt;dm. </a:t>
            </a:r>
          </a:p>
        </p:txBody>
      </p:sp>
    </p:spTree>
    <p:extLst>
      <p:ext uri="{BB962C8B-B14F-4D97-AF65-F5344CB8AC3E}">
        <p14:creationId xmlns:p14="http://schemas.microsoft.com/office/powerpoint/2010/main" val="18501321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E277DE86-7AB3-8F7E-7109-0793D92D7587}"/>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36F19E71-9FE0-3456-F15E-BC51216763E9}"/>
              </a:ext>
            </a:extLst>
          </p:cNvPr>
          <p:cNvSpPr txBox="1"/>
          <p:nvPr/>
        </p:nvSpPr>
        <p:spPr>
          <a:xfrm>
            <a:off x="138259" y="623004"/>
            <a:ext cx="8835420" cy="52318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2800" b="1" i="0" u="none" strike="noStrike" cap="none" dirty="0">
                <a:solidFill>
                  <a:srgbClr val="000000"/>
                </a:solidFill>
                <a:latin typeface="Arial"/>
                <a:ea typeface="Arial"/>
                <a:cs typeface="Arial"/>
                <a:sym typeface="Arial"/>
              </a:rPr>
              <a:t>DYNAMIC PROGRAMMING</a:t>
            </a:r>
          </a:p>
        </p:txBody>
      </p:sp>
      <p:sp>
        <p:nvSpPr>
          <p:cNvPr id="369" name="Google Shape;369;p42">
            <a:extLst>
              <a:ext uri="{FF2B5EF4-FFF2-40B4-BE49-F238E27FC236}">
                <a16:creationId xmlns:a16="http://schemas.microsoft.com/office/drawing/2014/main" id="{06654C35-5C43-D26C-7F0C-BF03CFCBC884}"/>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t>16</a:t>
            </a:fld>
            <a:endParaRPr/>
          </a:p>
        </p:txBody>
      </p:sp>
      <p:sp>
        <p:nvSpPr>
          <p:cNvPr id="4" name="Google Shape;370;p42">
            <a:extLst>
              <a:ext uri="{FF2B5EF4-FFF2-40B4-BE49-F238E27FC236}">
                <a16:creationId xmlns:a16="http://schemas.microsoft.com/office/drawing/2014/main" id="{4B9E541A-12E4-902D-6D10-C6CA290A2D7A}"/>
              </a:ext>
            </a:extLst>
          </p:cNvPr>
          <p:cNvSpPr txBox="1"/>
          <p:nvPr/>
        </p:nvSpPr>
        <p:spPr>
          <a:xfrm>
            <a:off x="232257" y="1042945"/>
            <a:ext cx="8647423" cy="4154943"/>
          </a:xfrm>
          <a:prstGeom prst="rect">
            <a:avLst/>
          </a:prstGeom>
          <a:noFill/>
          <a:ln>
            <a:noFill/>
          </a:ln>
        </p:spPr>
        <p:txBody>
          <a:bodyPr spcFirstLastPara="1" wrap="square" lIns="91425" tIns="45700" rIns="91425" bIns="45700" anchor="t" anchorCtr="0">
            <a:spAutoFit/>
          </a:bodyPr>
          <a:lstStyle/>
          <a:p>
            <a:pPr algn="just">
              <a:lnSpc>
                <a:spcPct val="150000"/>
              </a:lnSpc>
              <a:buSzPts val="1800"/>
            </a:pPr>
            <a:r>
              <a:rPr lang="en-IN" sz="1600" b="1" i="0" u="none" strike="noStrike" baseline="0" dirty="0">
                <a:latin typeface="Univers-Bold"/>
              </a:rPr>
              <a:t>EXAMPLE 2 </a:t>
            </a:r>
            <a:r>
              <a:rPr lang="en-IN" sz="1600" b="0" i="1" u="none" strike="noStrike" baseline="0" dirty="0">
                <a:latin typeface="TimesTen-Italic"/>
              </a:rPr>
              <a:t>Change-making problem </a:t>
            </a:r>
          </a:p>
          <a:p>
            <a:pPr marL="285750" indent="-285750" algn="just">
              <a:lnSpc>
                <a:spcPct val="150000"/>
              </a:lnSpc>
              <a:buSzPts val="1800"/>
              <a:buFont typeface="Arial" panose="020B0604020202020204" pitchFamily="34" charset="0"/>
              <a:buChar char="•"/>
            </a:pPr>
            <a:r>
              <a:rPr lang="en-US" sz="1600" dirty="0">
                <a:latin typeface="+mj-lt"/>
              </a:rPr>
              <a:t>For the coin denominations used in the United States, as for those used in most if not all other countries, there is a very simple and efficient algorithm discussed in the next chapter. </a:t>
            </a:r>
          </a:p>
          <a:p>
            <a:pPr marL="285750" indent="-285750" algn="just">
              <a:lnSpc>
                <a:spcPct val="150000"/>
              </a:lnSpc>
              <a:buSzPts val="1800"/>
              <a:buFont typeface="Arial" panose="020B0604020202020204" pitchFamily="34" charset="0"/>
              <a:buChar char="•"/>
            </a:pPr>
            <a:r>
              <a:rPr lang="en-US" sz="1600" dirty="0">
                <a:latin typeface="+mj-lt"/>
              </a:rPr>
              <a:t>Here, we consider a dynamic programming algorithm for the general case, assuming availability of unlimited quantities of coins for each of the m denominations d1&lt; d2 &lt; . . . &lt; dm where d1 = 1.</a:t>
            </a:r>
          </a:p>
          <a:p>
            <a:pPr marL="285750" indent="-285750" algn="just">
              <a:lnSpc>
                <a:spcPct val="150000"/>
              </a:lnSpc>
              <a:buSzPts val="1800"/>
              <a:buFont typeface="Arial" panose="020B0604020202020204" pitchFamily="34" charset="0"/>
              <a:buChar char="•"/>
            </a:pPr>
            <a:r>
              <a:rPr lang="en-US" sz="1600" dirty="0">
                <a:latin typeface="+mj-lt"/>
              </a:rPr>
              <a:t>Therefore, we can consider all such denominations and select the one minimizing F(n − </a:t>
            </a:r>
            <a:r>
              <a:rPr lang="en-US" sz="1600" dirty="0" err="1">
                <a:latin typeface="+mj-lt"/>
              </a:rPr>
              <a:t>dj</a:t>
            </a:r>
            <a:r>
              <a:rPr lang="en-US" sz="1600" dirty="0">
                <a:latin typeface="+mj-lt"/>
              </a:rPr>
              <a:t> ) + 1. </a:t>
            </a:r>
          </a:p>
          <a:p>
            <a:pPr marL="285750" indent="-285750" algn="just">
              <a:lnSpc>
                <a:spcPct val="150000"/>
              </a:lnSpc>
              <a:buSzPts val="1800"/>
              <a:buFont typeface="Arial" panose="020B0604020202020204" pitchFamily="34" charset="0"/>
              <a:buChar char="•"/>
            </a:pPr>
            <a:r>
              <a:rPr lang="en-US" sz="1600" dirty="0">
                <a:latin typeface="+mj-lt"/>
              </a:rPr>
              <a:t>Since 1 is a constant, we can, of course, find the smallest F(n − </a:t>
            </a:r>
            <a:r>
              <a:rPr lang="en-US" sz="1600" dirty="0" err="1">
                <a:latin typeface="+mj-lt"/>
              </a:rPr>
              <a:t>dj</a:t>
            </a:r>
            <a:r>
              <a:rPr lang="en-US" sz="1600" dirty="0">
                <a:latin typeface="+mj-lt"/>
              </a:rPr>
              <a:t> ) first and then add 1 to it. </a:t>
            </a:r>
          </a:p>
          <a:p>
            <a:pPr marL="285750" indent="-285750" algn="just">
              <a:lnSpc>
                <a:spcPct val="150000"/>
              </a:lnSpc>
              <a:buSzPts val="1800"/>
              <a:buFont typeface="Arial" panose="020B0604020202020204" pitchFamily="34" charset="0"/>
              <a:buChar char="•"/>
            </a:pPr>
            <a:r>
              <a:rPr lang="en-US" sz="1600" dirty="0">
                <a:latin typeface="+mj-lt"/>
              </a:rPr>
              <a:t>Hence, we have the following recurrence for F(n):</a:t>
            </a:r>
          </a:p>
        </p:txBody>
      </p:sp>
    </p:spTree>
    <p:extLst>
      <p:ext uri="{BB962C8B-B14F-4D97-AF65-F5344CB8AC3E}">
        <p14:creationId xmlns:p14="http://schemas.microsoft.com/office/powerpoint/2010/main" val="28124877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17D6A2E7-B462-CAB8-E1FD-6E7948C35A2B}"/>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ABC0A368-6C5D-9208-C8D1-697E42D2ECFF}"/>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2800" b="1" i="0" u="none" strike="noStrike" cap="none" dirty="0">
                <a:solidFill>
                  <a:srgbClr val="000000"/>
                </a:solidFill>
                <a:latin typeface="Arial"/>
                <a:ea typeface="Arial"/>
                <a:cs typeface="Arial"/>
                <a:sym typeface="Arial"/>
              </a:rPr>
              <a:t>DYNAMIC PROGRAMMING</a:t>
            </a:r>
          </a:p>
        </p:txBody>
      </p:sp>
      <p:sp>
        <p:nvSpPr>
          <p:cNvPr id="369" name="Google Shape;369;p42">
            <a:extLst>
              <a:ext uri="{FF2B5EF4-FFF2-40B4-BE49-F238E27FC236}">
                <a16:creationId xmlns:a16="http://schemas.microsoft.com/office/drawing/2014/main" id="{D67A420D-94F6-901B-6DDB-D76ACFAB47A0}"/>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t>17</a:t>
            </a:fld>
            <a:endParaRPr/>
          </a:p>
        </p:txBody>
      </p:sp>
      <p:sp>
        <p:nvSpPr>
          <p:cNvPr id="4" name="Google Shape;370;p42">
            <a:extLst>
              <a:ext uri="{FF2B5EF4-FFF2-40B4-BE49-F238E27FC236}">
                <a16:creationId xmlns:a16="http://schemas.microsoft.com/office/drawing/2014/main" id="{DF1CF74A-E288-451F-75BF-C0B9F694BED5}"/>
              </a:ext>
            </a:extLst>
          </p:cNvPr>
          <p:cNvSpPr txBox="1"/>
          <p:nvPr/>
        </p:nvSpPr>
        <p:spPr>
          <a:xfrm>
            <a:off x="154290" y="1081890"/>
            <a:ext cx="8647423" cy="5239856"/>
          </a:xfrm>
          <a:prstGeom prst="rect">
            <a:avLst/>
          </a:prstGeom>
          <a:noFill/>
          <a:ln>
            <a:noFill/>
          </a:ln>
        </p:spPr>
        <p:txBody>
          <a:bodyPr spcFirstLastPara="1" wrap="square" lIns="91425" tIns="45700" rIns="91425" bIns="45700" anchor="t" anchorCtr="0">
            <a:spAutoFit/>
          </a:bodyPr>
          <a:lstStyle/>
          <a:p>
            <a:pPr algn="just">
              <a:lnSpc>
                <a:spcPct val="150000"/>
              </a:lnSpc>
              <a:buSzPts val="1800"/>
            </a:pPr>
            <a:r>
              <a:rPr lang="en-IN" sz="1800" b="1" i="0" u="none" strike="noStrike" baseline="0" dirty="0">
                <a:latin typeface="Univers-Bold"/>
              </a:rPr>
              <a:t>EXAMPLE 2 </a:t>
            </a:r>
            <a:r>
              <a:rPr lang="en-IN" sz="1800" b="0" i="1" u="none" strike="noStrike" baseline="0" dirty="0">
                <a:latin typeface="TimesTen-Italic"/>
              </a:rPr>
              <a:t>Change-making problem </a:t>
            </a:r>
          </a:p>
          <a:p>
            <a:pPr marL="285750" indent="-285750" algn="just">
              <a:lnSpc>
                <a:spcPct val="150000"/>
              </a:lnSpc>
              <a:buSzPts val="1800"/>
              <a:buFont typeface="Arial" panose="020B0604020202020204" pitchFamily="34" charset="0"/>
              <a:buChar char="•"/>
            </a:pPr>
            <a:endParaRPr lang="en-US" sz="1700" dirty="0">
              <a:latin typeface="+mj-lt"/>
            </a:endParaRPr>
          </a:p>
          <a:p>
            <a:pPr marL="285750" indent="-285750" algn="just">
              <a:lnSpc>
                <a:spcPct val="150000"/>
              </a:lnSpc>
              <a:buSzPts val="1800"/>
              <a:buFont typeface="Arial" panose="020B0604020202020204" pitchFamily="34" charset="0"/>
              <a:buChar char="•"/>
            </a:pPr>
            <a:endParaRPr lang="en-US" sz="1700" dirty="0">
              <a:latin typeface="+mj-lt"/>
            </a:endParaRPr>
          </a:p>
          <a:p>
            <a:pPr marL="285750" indent="-285750" algn="just">
              <a:lnSpc>
                <a:spcPct val="150000"/>
              </a:lnSpc>
              <a:buSzPts val="1800"/>
              <a:buFont typeface="Arial" panose="020B0604020202020204" pitchFamily="34" charset="0"/>
              <a:buChar char="•"/>
            </a:pPr>
            <a:r>
              <a:rPr lang="en-US" sz="1700" dirty="0">
                <a:latin typeface="+mj-lt"/>
              </a:rPr>
              <a:t>Let F(n) be the minimum number of coins whose values add up to n; it is convenient to define F(0) = 0. </a:t>
            </a:r>
          </a:p>
          <a:p>
            <a:pPr marL="285750" indent="-285750" algn="just">
              <a:lnSpc>
                <a:spcPct val="150000"/>
              </a:lnSpc>
              <a:buSzPts val="1800"/>
              <a:buFont typeface="Arial" panose="020B0604020202020204" pitchFamily="34" charset="0"/>
              <a:buChar char="•"/>
            </a:pPr>
            <a:r>
              <a:rPr lang="en-US" sz="1700" dirty="0">
                <a:latin typeface="+mj-lt"/>
              </a:rPr>
              <a:t>The amount n can only be obtained by adding one coin of denomination </a:t>
            </a:r>
            <a:r>
              <a:rPr lang="en-US" sz="1700" dirty="0" err="1">
                <a:latin typeface="+mj-lt"/>
              </a:rPr>
              <a:t>dj</a:t>
            </a:r>
            <a:r>
              <a:rPr lang="en-US" sz="1700" dirty="0">
                <a:latin typeface="+mj-lt"/>
              </a:rPr>
              <a:t> to the amount n − </a:t>
            </a:r>
            <a:r>
              <a:rPr lang="en-US" sz="1700" dirty="0" err="1">
                <a:latin typeface="+mj-lt"/>
              </a:rPr>
              <a:t>dj</a:t>
            </a:r>
            <a:r>
              <a:rPr lang="en-US" sz="1700" dirty="0">
                <a:latin typeface="+mj-lt"/>
              </a:rPr>
              <a:t> for j = 1, 2, . . . , m such that n ≥ </a:t>
            </a:r>
            <a:r>
              <a:rPr lang="en-US" sz="1700" dirty="0" err="1">
                <a:latin typeface="+mj-lt"/>
              </a:rPr>
              <a:t>dj</a:t>
            </a:r>
            <a:r>
              <a:rPr lang="en-US" sz="1700" dirty="0">
                <a:latin typeface="+mj-lt"/>
              </a:rPr>
              <a:t> .</a:t>
            </a:r>
          </a:p>
          <a:p>
            <a:pPr marL="285750" indent="-285750" algn="just">
              <a:lnSpc>
                <a:spcPct val="150000"/>
              </a:lnSpc>
              <a:buSzPts val="1800"/>
              <a:buFont typeface="Arial" panose="020B0604020202020204" pitchFamily="34" charset="0"/>
              <a:buChar char="•"/>
            </a:pPr>
            <a:r>
              <a:rPr lang="en-US" sz="1700" dirty="0">
                <a:latin typeface="+mj-lt"/>
              </a:rPr>
              <a:t>We can compute F(n) by filling a one-row table left to right in the manner similar to the way it was done above for the coin-row problem, but computing a table entry here requires finding the minimum of up to m numbers.</a:t>
            </a:r>
          </a:p>
          <a:p>
            <a:pPr algn="just">
              <a:lnSpc>
                <a:spcPct val="150000"/>
              </a:lnSpc>
              <a:buSzPts val="1800"/>
            </a:pPr>
            <a:endParaRPr lang="en-US" sz="1700" dirty="0">
              <a:latin typeface="+mj-lt"/>
            </a:endParaRPr>
          </a:p>
          <a:p>
            <a:pPr marL="285750" indent="-285750" algn="just">
              <a:lnSpc>
                <a:spcPct val="150000"/>
              </a:lnSpc>
              <a:buSzPts val="1800"/>
              <a:buFont typeface="Arial" panose="020B0604020202020204" pitchFamily="34" charset="0"/>
              <a:buChar char="•"/>
            </a:pPr>
            <a:endParaRPr lang="en-US" sz="1700" dirty="0">
              <a:latin typeface="+mj-lt"/>
            </a:endParaRPr>
          </a:p>
          <a:p>
            <a:pPr marL="285750" indent="-285750" algn="just">
              <a:lnSpc>
                <a:spcPct val="150000"/>
              </a:lnSpc>
              <a:buSzPts val="1800"/>
              <a:buFont typeface="Arial" panose="020B0604020202020204" pitchFamily="34" charset="0"/>
              <a:buChar char="•"/>
            </a:pPr>
            <a:endParaRPr lang="en-US" sz="1800" dirty="0">
              <a:latin typeface="+mj-lt"/>
            </a:endParaRPr>
          </a:p>
        </p:txBody>
      </p:sp>
      <p:pic>
        <p:nvPicPr>
          <p:cNvPr id="3" name="Picture 2">
            <a:extLst>
              <a:ext uri="{FF2B5EF4-FFF2-40B4-BE49-F238E27FC236}">
                <a16:creationId xmlns:a16="http://schemas.microsoft.com/office/drawing/2014/main" id="{8BE705A9-96B1-CD7C-AC5B-974B8B1436C0}"/>
              </a:ext>
            </a:extLst>
          </p:cNvPr>
          <p:cNvPicPr>
            <a:picLocks noChangeAspect="1"/>
          </p:cNvPicPr>
          <p:nvPr/>
        </p:nvPicPr>
        <p:blipFill>
          <a:blip r:embed="rId3"/>
          <a:stretch>
            <a:fillRect/>
          </a:stretch>
        </p:blipFill>
        <p:spPr>
          <a:xfrm>
            <a:off x="2015613" y="1605070"/>
            <a:ext cx="4830098" cy="610597"/>
          </a:xfrm>
          <a:prstGeom prst="rect">
            <a:avLst/>
          </a:prstGeom>
        </p:spPr>
      </p:pic>
    </p:spTree>
    <p:extLst>
      <p:ext uri="{BB962C8B-B14F-4D97-AF65-F5344CB8AC3E}">
        <p14:creationId xmlns:p14="http://schemas.microsoft.com/office/powerpoint/2010/main" val="31617565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3FF12363-CE26-7243-A175-81CF791C0E2D}"/>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276B0269-6CD7-0E3E-C8F5-C8ABAEF565B9}"/>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2800" b="1" i="0" u="none" strike="noStrike" cap="none" dirty="0">
                <a:solidFill>
                  <a:srgbClr val="000000"/>
                </a:solidFill>
                <a:latin typeface="Arial"/>
                <a:ea typeface="Arial"/>
                <a:cs typeface="Arial"/>
                <a:sym typeface="Arial"/>
              </a:rPr>
              <a:t>DYNAMIC PROGRAMMING</a:t>
            </a:r>
          </a:p>
        </p:txBody>
      </p:sp>
      <p:sp>
        <p:nvSpPr>
          <p:cNvPr id="369" name="Google Shape;369;p42">
            <a:extLst>
              <a:ext uri="{FF2B5EF4-FFF2-40B4-BE49-F238E27FC236}">
                <a16:creationId xmlns:a16="http://schemas.microsoft.com/office/drawing/2014/main" id="{98DF6BC5-4F5C-E361-2610-3BC605C5B1D9}"/>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t>18</a:t>
            </a:fld>
            <a:endParaRPr/>
          </a:p>
        </p:txBody>
      </p:sp>
      <p:sp>
        <p:nvSpPr>
          <p:cNvPr id="4" name="Google Shape;370;p42">
            <a:extLst>
              <a:ext uri="{FF2B5EF4-FFF2-40B4-BE49-F238E27FC236}">
                <a16:creationId xmlns:a16="http://schemas.microsoft.com/office/drawing/2014/main" id="{2ADFD26E-78C1-42A7-A263-1175A170B944}"/>
              </a:ext>
            </a:extLst>
          </p:cNvPr>
          <p:cNvSpPr txBox="1"/>
          <p:nvPr/>
        </p:nvSpPr>
        <p:spPr>
          <a:xfrm>
            <a:off x="154290" y="1081890"/>
            <a:ext cx="8647423" cy="923289"/>
          </a:xfrm>
          <a:prstGeom prst="rect">
            <a:avLst/>
          </a:prstGeom>
          <a:noFill/>
          <a:ln>
            <a:noFill/>
          </a:ln>
        </p:spPr>
        <p:txBody>
          <a:bodyPr spcFirstLastPara="1" wrap="square" lIns="91425" tIns="45700" rIns="91425" bIns="45700" anchor="t" anchorCtr="0">
            <a:spAutoFit/>
          </a:bodyPr>
          <a:lstStyle/>
          <a:p>
            <a:pPr algn="just">
              <a:lnSpc>
                <a:spcPct val="150000"/>
              </a:lnSpc>
              <a:buSzPts val="1800"/>
            </a:pPr>
            <a:r>
              <a:rPr lang="en-IN" sz="1800" b="1" i="0" u="none" strike="noStrike" baseline="0" dirty="0">
                <a:latin typeface="Univers-Bold"/>
              </a:rPr>
              <a:t>EXAMPLE 2 </a:t>
            </a:r>
            <a:r>
              <a:rPr lang="en-IN" sz="1800" b="0" i="1" u="none" strike="noStrike" baseline="0" dirty="0">
                <a:latin typeface="TimesTen-Italic"/>
              </a:rPr>
              <a:t>Change-making problem </a:t>
            </a:r>
          </a:p>
          <a:p>
            <a:pPr marL="285750" indent="-285750" algn="just">
              <a:lnSpc>
                <a:spcPct val="150000"/>
              </a:lnSpc>
              <a:buSzPts val="1800"/>
              <a:buFont typeface="Arial" panose="020B0604020202020204" pitchFamily="34" charset="0"/>
              <a:buChar char="•"/>
            </a:pPr>
            <a:endParaRPr lang="en-US" sz="1800" dirty="0">
              <a:latin typeface="+mj-lt"/>
            </a:endParaRPr>
          </a:p>
        </p:txBody>
      </p:sp>
      <p:pic>
        <p:nvPicPr>
          <p:cNvPr id="5" name="Picture 4">
            <a:extLst>
              <a:ext uri="{FF2B5EF4-FFF2-40B4-BE49-F238E27FC236}">
                <a16:creationId xmlns:a16="http://schemas.microsoft.com/office/drawing/2014/main" id="{0CC8116D-8F83-6117-B623-C75768484B50}"/>
              </a:ext>
            </a:extLst>
          </p:cNvPr>
          <p:cNvPicPr>
            <a:picLocks noChangeAspect="1"/>
          </p:cNvPicPr>
          <p:nvPr/>
        </p:nvPicPr>
        <p:blipFill>
          <a:blip r:embed="rId3"/>
          <a:stretch>
            <a:fillRect/>
          </a:stretch>
        </p:blipFill>
        <p:spPr>
          <a:xfrm>
            <a:off x="1784116" y="1523954"/>
            <a:ext cx="5452036" cy="3357762"/>
          </a:xfrm>
          <a:prstGeom prst="rect">
            <a:avLst/>
          </a:prstGeom>
        </p:spPr>
      </p:pic>
    </p:spTree>
    <p:extLst>
      <p:ext uri="{BB962C8B-B14F-4D97-AF65-F5344CB8AC3E}">
        <p14:creationId xmlns:p14="http://schemas.microsoft.com/office/powerpoint/2010/main" val="17636148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A45F11D7-12C6-F40A-E997-70340CA1AB7C}"/>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B1255316-F589-8243-B294-9A3F50B08AC8}"/>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2800" b="1" i="0" u="none" strike="noStrike" cap="none" dirty="0">
                <a:solidFill>
                  <a:srgbClr val="000000"/>
                </a:solidFill>
                <a:latin typeface="Arial"/>
                <a:ea typeface="Arial"/>
                <a:cs typeface="Arial"/>
                <a:sym typeface="Arial"/>
              </a:rPr>
              <a:t>DYNAMIC PROGRAMMING</a:t>
            </a:r>
          </a:p>
        </p:txBody>
      </p:sp>
      <p:sp>
        <p:nvSpPr>
          <p:cNvPr id="369" name="Google Shape;369;p42">
            <a:extLst>
              <a:ext uri="{FF2B5EF4-FFF2-40B4-BE49-F238E27FC236}">
                <a16:creationId xmlns:a16="http://schemas.microsoft.com/office/drawing/2014/main" id="{8FB36C27-5303-D4A3-AAA2-0635F41C1DD7}"/>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t>19</a:t>
            </a:fld>
            <a:endParaRPr/>
          </a:p>
        </p:txBody>
      </p:sp>
      <p:sp>
        <p:nvSpPr>
          <p:cNvPr id="4" name="Google Shape;370;p42">
            <a:extLst>
              <a:ext uri="{FF2B5EF4-FFF2-40B4-BE49-F238E27FC236}">
                <a16:creationId xmlns:a16="http://schemas.microsoft.com/office/drawing/2014/main" id="{41106014-2642-F499-63A4-00B7606AFD6A}"/>
              </a:ext>
            </a:extLst>
          </p:cNvPr>
          <p:cNvSpPr txBox="1"/>
          <p:nvPr/>
        </p:nvSpPr>
        <p:spPr>
          <a:xfrm>
            <a:off x="154290" y="1024740"/>
            <a:ext cx="8647423" cy="2885365"/>
          </a:xfrm>
          <a:prstGeom prst="rect">
            <a:avLst/>
          </a:prstGeom>
          <a:noFill/>
          <a:ln>
            <a:noFill/>
          </a:ln>
        </p:spPr>
        <p:txBody>
          <a:bodyPr spcFirstLastPara="1" wrap="square" lIns="91425" tIns="45700" rIns="91425" bIns="45700" anchor="t" anchorCtr="0">
            <a:spAutoFit/>
          </a:bodyPr>
          <a:lstStyle/>
          <a:p>
            <a:pPr algn="just">
              <a:lnSpc>
                <a:spcPct val="150000"/>
              </a:lnSpc>
              <a:buSzPts val="1800"/>
            </a:pPr>
            <a:r>
              <a:rPr lang="en-IN" sz="1800" b="1" i="0" u="none" strike="noStrike" baseline="0" dirty="0">
                <a:latin typeface="Univers-Bold"/>
              </a:rPr>
              <a:t>EXAMPLE 2 </a:t>
            </a:r>
            <a:r>
              <a:rPr lang="en-IN" sz="1800" b="0" i="1" u="none" strike="noStrike" baseline="0" dirty="0">
                <a:latin typeface="TimesTen-Italic"/>
              </a:rPr>
              <a:t>Change-making problem </a:t>
            </a:r>
          </a:p>
          <a:p>
            <a:pPr algn="just">
              <a:lnSpc>
                <a:spcPct val="150000"/>
              </a:lnSpc>
              <a:buSzPts val="1800"/>
            </a:pPr>
            <a:r>
              <a:rPr lang="en-US" sz="1700" dirty="0">
                <a:latin typeface="+mj-lt"/>
              </a:rPr>
              <a:t>The application of the algorithm to amount n = 6 and denominations 1, 3,4 is shown in Figure 8.2. </a:t>
            </a:r>
          </a:p>
          <a:p>
            <a:pPr algn="just">
              <a:lnSpc>
                <a:spcPct val="150000"/>
              </a:lnSpc>
              <a:buSzPts val="1800"/>
            </a:pPr>
            <a:r>
              <a:rPr lang="en-US" sz="1700" dirty="0">
                <a:latin typeface="+mj-lt"/>
              </a:rPr>
              <a:t>The answer it yields is two coins. The time and space efficiencies of the algorithm are obviously O(nm) and O(n), respectively.</a:t>
            </a:r>
          </a:p>
          <a:p>
            <a:pPr marL="285750" indent="-285750" algn="just">
              <a:lnSpc>
                <a:spcPct val="150000"/>
              </a:lnSpc>
              <a:buSzPts val="1800"/>
              <a:buFont typeface="Arial" panose="020B0604020202020204" pitchFamily="34" charset="0"/>
              <a:buChar char="•"/>
            </a:pPr>
            <a:endParaRPr lang="en-US" sz="1700" dirty="0">
              <a:latin typeface="+mj-lt"/>
            </a:endParaRPr>
          </a:p>
          <a:p>
            <a:pPr marL="285750" indent="-285750" algn="just">
              <a:lnSpc>
                <a:spcPct val="150000"/>
              </a:lnSpc>
              <a:buSzPts val="1800"/>
              <a:buFont typeface="Arial" panose="020B0604020202020204" pitchFamily="34" charset="0"/>
              <a:buChar char="•"/>
            </a:pPr>
            <a:endParaRPr lang="en-US" sz="1800" dirty="0">
              <a:latin typeface="+mj-lt"/>
            </a:endParaRPr>
          </a:p>
        </p:txBody>
      </p:sp>
      <p:pic>
        <p:nvPicPr>
          <p:cNvPr id="5" name="Picture 4">
            <a:extLst>
              <a:ext uri="{FF2B5EF4-FFF2-40B4-BE49-F238E27FC236}">
                <a16:creationId xmlns:a16="http://schemas.microsoft.com/office/drawing/2014/main" id="{743AE8C3-0BB9-D4FF-4AEB-4926173F9BA7}"/>
              </a:ext>
            </a:extLst>
          </p:cNvPr>
          <p:cNvPicPr>
            <a:picLocks noChangeAspect="1"/>
          </p:cNvPicPr>
          <p:nvPr/>
        </p:nvPicPr>
        <p:blipFill>
          <a:blip r:embed="rId3"/>
          <a:stretch>
            <a:fillRect/>
          </a:stretch>
        </p:blipFill>
        <p:spPr>
          <a:xfrm>
            <a:off x="154290" y="2589002"/>
            <a:ext cx="4404742" cy="2179509"/>
          </a:xfrm>
          <a:prstGeom prst="rect">
            <a:avLst/>
          </a:prstGeom>
        </p:spPr>
      </p:pic>
      <p:pic>
        <p:nvPicPr>
          <p:cNvPr id="7" name="Picture 6">
            <a:extLst>
              <a:ext uri="{FF2B5EF4-FFF2-40B4-BE49-F238E27FC236}">
                <a16:creationId xmlns:a16="http://schemas.microsoft.com/office/drawing/2014/main" id="{29B5C028-2463-FF7C-87B1-08089CF0EDAE}"/>
              </a:ext>
            </a:extLst>
          </p:cNvPr>
          <p:cNvPicPr>
            <a:picLocks noChangeAspect="1"/>
          </p:cNvPicPr>
          <p:nvPr/>
        </p:nvPicPr>
        <p:blipFill>
          <a:blip r:embed="rId4"/>
          <a:stretch>
            <a:fillRect/>
          </a:stretch>
        </p:blipFill>
        <p:spPr>
          <a:xfrm>
            <a:off x="4628142" y="2926493"/>
            <a:ext cx="4267570" cy="1447925"/>
          </a:xfrm>
          <a:prstGeom prst="rect">
            <a:avLst/>
          </a:prstGeom>
        </p:spPr>
      </p:pic>
      <p:pic>
        <p:nvPicPr>
          <p:cNvPr id="9" name="Picture 8">
            <a:extLst>
              <a:ext uri="{FF2B5EF4-FFF2-40B4-BE49-F238E27FC236}">
                <a16:creationId xmlns:a16="http://schemas.microsoft.com/office/drawing/2014/main" id="{FF37E50A-EFB3-685A-6280-29211AD8ABF5}"/>
              </a:ext>
            </a:extLst>
          </p:cNvPr>
          <p:cNvPicPr>
            <a:picLocks noChangeAspect="1"/>
          </p:cNvPicPr>
          <p:nvPr/>
        </p:nvPicPr>
        <p:blipFill>
          <a:blip r:embed="rId5"/>
          <a:stretch>
            <a:fillRect/>
          </a:stretch>
        </p:blipFill>
        <p:spPr>
          <a:xfrm>
            <a:off x="1499975" y="4724496"/>
            <a:ext cx="4915326" cy="396274"/>
          </a:xfrm>
          <a:prstGeom prst="rect">
            <a:avLst/>
          </a:prstGeom>
        </p:spPr>
      </p:pic>
    </p:spTree>
    <p:extLst>
      <p:ext uri="{BB962C8B-B14F-4D97-AF65-F5344CB8AC3E}">
        <p14:creationId xmlns:p14="http://schemas.microsoft.com/office/powerpoint/2010/main" val="16036536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D1CB3A54-BB31-84F5-BA01-C201A06EA6D6}"/>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DB5A0698-F803-FC25-18DE-060E09B69CB2}"/>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2800" b="1" i="0" u="none" strike="noStrike" cap="none" dirty="0">
                <a:solidFill>
                  <a:srgbClr val="000000"/>
                </a:solidFill>
                <a:latin typeface="Arial"/>
                <a:ea typeface="Arial"/>
                <a:cs typeface="Arial"/>
                <a:sym typeface="Arial"/>
              </a:rPr>
              <a:t>DYNAMIC PROGRAMMING</a:t>
            </a:r>
          </a:p>
        </p:txBody>
      </p:sp>
      <p:sp>
        <p:nvSpPr>
          <p:cNvPr id="369" name="Google Shape;369;p42">
            <a:extLst>
              <a:ext uri="{FF2B5EF4-FFF2-40B4-BE49-F238E27FC236}">
                <a16:creationId xmlns:a16="http://schemas.microsoft.com/office/drawing/2014/main" id="{A910FB75-2233-981D-5BBC-827A3653391E}"/>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t>20</a:t>
            </a:fld>
            <a:endParaRPr/>
          </a:p>
        </p:txBody>
      </p:sp>
      <p:sp>
        <p:nvSpPr>
          <p:cNvPr id="4" name="Google Shape;370;p42">
            <a:extLst>
              <a:ext uri="{FF2B5EF4-FFF2-40B4-BE49-F238E27FC236}">
                <a16:creationId xmlns:a16="http://schemas.microsoft.com/office/drawing/2014/main" id="{F7B72CB1-48BD-7FB0-69C2-7175F346DCD4}"/>
              </a:ext>
            </a:extLst>
          </p:cNvPr>
          <p:cNvSpPr txBox="1"/>
          <p:nvPr/>
        </p:nvSpPr>
        <p:spPr>
          <a:xfrm>
            <a:off x="154290" y="1081890"/>
            <a:ext cx="8647423" cy="4062610"/>
          </a:xfrm>
          <a:prstGeom prst="rect">
            <a:avLst/>
          </a:prstGeom>
          <a:noFill/>
          <a:ln>
            <a:noFill/>
          </a:ln>
        </p:spPr>
        <p:txBody>
          <a:bodyPr spcFirstLastPara="1" wrap="square" lIns="91425" tIns="45700" rIns="91425" bIns="45700" anchor="t" anchorCtr="0">
            <a:spAutoFit/>
          </a:bodyPr>
          <a:lstStyle/>
          <a:p>
            <a:pPr algn="just">
              <a:lnSpc>
                <a:spcPct val="150000"/>
              </a:lnSpc>
              <a:buSzPts val="1800"/>
            </a:pPr>
            <a:r>
              <a:rPr lang="en-IN" sz="1800" b="1" i="0" u="none" strike="noStrike" baseline="0" dirty="0">
                <a:latin typeface="Univers-Bold"/>
              </a:rPr>
              <a:t>EXAMPLE 2 </a:t>
            </a:r>
            <a:r>
              <a:rPr lang="en-IN" sz="1800" b="0" i="1" u="none" strike="noStrike" baseline="0" dirty="0">
                <a:latin typeface="TimesTen-Italic"/>
              </a:rPr>
              <a:t>Change-making problem </a:t>
            </a:r>
          </a:p>
          <a:p>
            <a:pPr marL="285750" indent="-285750" algn="just">
              <a:lnSpc>
                <a:spcPct val="150000"/>
              </a:lnSpc>
              <a:buSzPts val="1800"/>
              <a:buFont typeface="Arial" panose="020B0604020202020204" pitchFamily="34" charset="0"/>
              <a:buChar char="•"/>
            </a:pPr>
            <a:r>
              <a:rPr lang="en-US" sz="1700" dirty="0">
                <a:latin typeface="+mj-lt"/>
              </a:rPr>
              <a:t>To find the coins of an optimal solution, we need to backtrace the computations to see which of the denominations produced the minima in formula (8.4). </a:t>
            </a:r>
          </a:p>
          <a:p>
            <a:pPr marL="285750" indent="-285750" algn="just">
              <a:lnSpc>
                <a:spcPct val="150000"/>
              </a:lnSpc>
              <a:buSzPts val="1800"/>
              <a:buFont typeface="Arial" panose="020B0604020202020204" pitchFamily="34" charset="0"/>
              <a:buChar char="•"/>
            </a:pPr>
            <a:r>
              <a:rPr lang="en-US" sz="1700" dirty="0">
                <a:latin typeface="+mj-lt"/>
              </a:rPr>
              <a:t>For the instance considered, the last application of the formula (for n = 6), the minimum was produced by d2 = 3. </a:t>
            </a:r>
          </a:p>
          <a:p>
            <a:pPr marL="285750" indent="-285750" algn="just">
              <a:lnSpc>
                <a:spcPct val="150000"/>
              </a:lnSpc>
              <a:buSzPts val="1800"/>
              <a:buFont typeface="Arial" panose="020B0604020202020204" pitchFamily="34" charset="0"/>
              <a:buChar char="•"/>
            </a:pPr>
            <a:r>
              <a:rPr lang="en-US" sz="1700" dirty="0">
                <a:latin typeface="+mj-lt"/>
              </a:rPr>
              <a:t>The second minimum (for n = 6 − 3) was also produced for a coin of that denomination. </a:t>
            </a:r>
          </a:p>
          <a:p>
            <a:pPr marL="285750" indent="-285750" algn="just">
              <a:lnSpc>
                <a:spcPct val="150000"/>
              </a:lnSpc>
              <a:buSzPts val="1800"/>
              <a:buFont typeface="Arial" panose="020B0604020202020204" pitchFamily="34" charset="0"/>
              <a:buChar char="•"/>
            </a:pPr>
            <a:r>
              <a:rPr lang="en-US" sz="1700" dirty="0">
                <a:latin typeface="+mj-lt"/>
              </a:rPr>
              <a:t>Thus, the minimum-coin set for n = 6 is two 3’s.</a:t>
            </a:r>
          </a:p>
          <a:p>
            <a:pPr marL="285750" indent="-285750" algn="just">
              <a:lnSpc>
                <a:spcPct val="150000"/>
              </a:lnSpc>
              <a:buSzPts val="1800"/>
              <a:buFont typeface="Arial" panose="020B0604020202020204" pitchFamily="34" charset="0"/>
              <a:buChar char="•"/>
            </a:pPr>
            <a:endParaRPr lang="en-US" sz="1700" dirty="0">
              <a:latin typeface="+mj-lt"/>
            </a:endParaRPr>
          </a:p>
          <a:p>
            <a:pPr marL="285750" indent="-285750" algn="just">
              <a:lnSpc>
                <a:spcPct val="150000"/>
              </a:lnSpc>
              <a:buSzPts val="1800"/>
              <a:buFont typeface="Arial" panose="020B0604020202020204" pitchFamily="34" charset="0"/>
              <a:buChar char="•"/>
            </a:pPr>
            <a:endParaRPr lang="en-US" sz="1800" dirty="0">
              <a:latin typeface="+mj-lt"/>
            </a:endParaRPr>
          </a:p>
        </p:txBody>
      </p:sp>
    </p:spTree>
    <p:extLst>
      <p:ext uri="{BB962C8B-B14F-4D97-AF65-F5344CB8AC3E}">
        <p14:creationId xmlns:p14="http://schemas.microsoft.com/office/powerpoint/2010/main" val="24993877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F26470C3-19E6-D85C-2CC1-7F9F64C62874}"/>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E03F2DAB-C59A-3C8F-55A3-7A1DBF48A534}"/>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2800" b="1" i="0" u="none" strike="noStrike" cap="none" dirty="0">
                <a:solidFill>
                  <a:srgbClr val="000000"/>
                </a:solidFill>
                <a:latin typeface="Arial"/>
                <a:ea typeface="Arial"/>
                <a:cs typeface="Arial"/>
                <a:sym typeface="Arial"/>
              </a:rPr>
              <a:t>DYNAMIC PROGRAMMING</a:t>
            </a:r>
          </a:p>
        </p:txBody>
      </p:sp>
      <p:sp>
        <p:nvSpPr>
          <p:cNvPr id="369" name="Google Shape;369;p42">
            <a:extLst>
              <a:ext uri="{FF2B5EF4-FFF2-40B4-BE49-F238E27FC236}">
                <a16:creationId xmlns:a16="http://schemas.microsoft.com/office/drawing/2014/main" id="{5FBEF929-03D9-0D35-204C-81950F88D80F}"/>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t>21</a:t>
            </a:fld>
            <a:endParaRPr/>
          </a:p>
        </p:txBody>
      </p:sp>
      <p:sp>
        <p:nvSpPr>
          <p:cNvPr id="4" name="Google Shape;370;p42">
            <a:extLst>
              <a:ext uri="{FF2B5EF4-FFF2-40B4-BE49-F238E27FC236}">
                <a16:creationId xmlns:a16="http://schemas.microsoft.com/office/drawing/2014/main" id="{F1F1B404-DEB2-05F6-75BB-D1B8F14EEAB2}"/>
              </a:ext>
            </a:extLst>
          </p:cNvPr>
          <p:cNvSpPr txBox="1"/>
          <p:nvPr/>
        </p:nvSpPr>
        <p:spPr>
          <a:xfrm>
            <a:off x="154290" y="1081890"/>
            <a:ext cx="8647423" cy="3647112"/>
          </a:xfrm>
          <a:prstGeom prst="rect">
            <a:avLst/>
          </a:prstGeom>
          <a:noFill/>
          <a:ln>
            <a:noFill/>
          </a:ln>
        </p:spPr>
        <p:txBody>
          <a:bodyPr spcFirstLastPara="1" wrap="square" lIns="91425" tIns="45700" rIns="91425" bIns="45700" anchor="t" anchorCtr="0">
            <a:spAutoFit/>
          </a:bodyPr>
          <a:lstStyle/>
          <a:p>
            <a:pPr algn="just">
              <a:lnSpc>
                <a:spcPct val="150000"/>
              </a:lnSpc>
              <a:buSzPts val="1800"/>
            </a:pPr>
            <a:r>
              <a:rPr lang="en-IN" sz="1800" b="1" i="0" u="none" strike="noStrike" baseline="0" dirty="0">
                <a:latin typeface="Univers-Bold"/>
              </a:rPr>
              <a:t>EXAMPLE 3 </a:t>
            </a:r>
            <a:r>
              <a:rPr lang="en-IN" sz="1800" b="0" i="1" u="none" strike="noStrike" baseline="0" dirty="0">
                <a:latin typeface="TimesTen-Italic"/>
              </a:rPr>
              <a:t>Coin-collecting problem</a:t>
            </a:r>
          </a:p>
          <a:p>
            <a:pPr marL="285750" indent="-285750" algn="just">
              <a:lnSpc>
                <a:spcPct val="150000"/>
              </a:lnSpc>
              <a:buSzPts val="1800"/>
              <a:buFont typeface="Arial" panose="020B0604020202020204" pitchFamily="34" charset="0"/>
              <a:buChar char="•"/>
            </a:pPr>
            <a:r>
              <a:rPr lang="en-US" sz="1700" dirty="0">
                <a:latin typeface="+mj-lt"/>
              </a:rPr>
              <a:t>Several coins are placed in cells of an n × m board, no more than one coin per cell. </a:t>
            </a:r>
          </a:p>
          <a:p>
            <a:pPr marL="285750" indent="-285750" algn="just">
              <a:lnSpc>
                <a:spcPct val="150000"/>
              </a:lnSpc>
              <a:buSzPts val="1800"/>
              <a:buFont typeface="Arial" panose="020B0604020202020204" pitchFamily="34" charset="0"/>
              <a:buChar char="•"/>
            </a:pPr>
            <a:r>
              <a:rPr lang="en-US" sz="1700" dirty="0" err="1">
                <a:latin typeface="+mj-lt"/>
              </a:rPr>
              <a:t>Arobot</a:t>
            </a:r>
            <a:r>
              <a:rPr lang="en-US" sz="1700" dirty="0">
                <a:latin typeface="+mj-lt"/>
              </a:rPr>
              <a:t>, located in the upper left cell of the board, needs to collect as many of the coins as possible and bring them to the bottom right cell. </a:t>
            </a:r>
          </a:p>
          <a:p>
            <a:pPr marL="285750" indent="-285750" algn="just">
              <a:lnSpc>
                <a:spcPct val="150000"/>
              </a:lnSpc>
              <a:buSzPts val="1800"/>
              <a:buFont typeface="Arial" panose="020B0604020202020204" pitchFamily="34" charset="0"/>
              <a:buChar char="•"/>
            </a:pPr>
            <a:r>
              <a:rPr lang="en-US" sz="1700" dirty="0">
                <a:latin typeface="+mj-lt"/>
              </a:rPr>
              <a:t>On each step, the robot can move either one cell to the right or one cell down from its current location.</a:t>
            </a:r>
          </a:p>
          <a:p>
            <a:pPr marL="285750" indent="-285750" algn="just">
              <a:lnSpc>
                <a:spcPct val="150000"/>
              </a:lnSpc>
              <a:buSzPts val="1800"/>
              <a:buFont typeface="Arial" panose="020B0604020202020204" pitchFamily="34" charset="0"/>
              <a:buChar char="•"/>
            </a:pPr>
            <a:r>
              <a:rPr lang="en-US" sz="1700" dirty="0">
                <a:latin typeface="+mj-lt"/>
              </a:rPr>
              <a:t>When the robot visits a cell with a coin, it always picks up that coin. </a:t>
            </a:r>
          </a:p>
          <a:p>
            <a:pPr marL="285750" indent="-285750" algn="just">
              <a:lnSpc>
                <a:spcPct val="150000"/>
              </a:lnSpc>
              <a:buSzPts val="1800"/>
              <a:buFont typeface="Arial" panose="020B0604020202020204" pitchFamily="34" charset="0"/>
              <a:buChar char="•"/>
            </a:pPr>
            <a:r>
              <a:rPr lang="en-US" sz="1700" dirty="0">
                <a:latin typeface="+mj-lt"/>
              </a:rPr>
              <a:t>Design an algorithm to find the maximum number of coins the robot can collect and a path it needs to follow to do this.</a:t>
            </a:r>
          </a:p>
        </p:txBody>
      </p:sp>
    </p:spTree>
    <p:extLst>
      <p:ext uri="{BB962C8B-B14F-4D97-AF65-F5344CB8AC3E}">
        <p14:creationId xmlns:p14="http://schemas.microsoft.com/office/powerpoint/2010/main" val="24171957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E00D3222-A87D-DD23-0F53-9A2BBA1DCA34}"/>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B6A73F60-1F9B-9D96-C8D6-7AC57E91ADFD}"/>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2800" b="1" i="0" u="none" strike="noStrike" cap="none" dirty="0">
                <a:solidFill>
                  <a:srgbClr val="000000"/>
                </a:solidFill>
                <a:latin typeface="Arial"/>
                <a:ea typeface="Arial"/>
                <a:cs typeface="Arial"/>
                <a:sym typeface="Arial"/>
              </a:rPr>
              <a:t>DYNAMIC PROGRAMMING</a:t>
            </a:r>
          </a:p>
        </p:txBody>
      </p:sp>
      <p:sp>
        <p:nvSpPr>
          <p:cNvPr id="369" name="Google Shape;369;p42">
            <a:extLst>
              <a:ext uri="{FF2B5EF4-FFF2-40B4-BE49-F238E27FC236}">
                <a16:creationId xmlns:a16="http://schemas.microsoft.com/office/drawing/2014/main" id="{3DB1F6C9-9331-2CB5-B207-0C1E08DF5204}"/>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t>22</a:t>
            </a:fld>
            <a:endParaRPr/>
          </a:p>
        </p:txBody>
      </p:sp>
      <p:sp>
        <p:nvSpPr>
          <p:cNvPr id="4" name="Google Shape;370;p42">
            <a:extLst>
              <a:ext uri="{FF2B5EF4-FFF2-40B4-BE49-F238E27FC236}">
                <a16:creationId xmlns:a16="http://schemas.microsoft.com/office/drawing/2014/main" id="{3D213601-E97C-3D76-4488-C103B8631B84}"/>
              </a:ext>
            </a:extLst>
          </p:cNvPr>
          <p:cNvSpPr txBox="1"/>
          <p:nvPr/>
        </p:nvSpPr>
        <p:spPr>
          <a:xfrm>
            <a:off x="154290" y="897384"/>
            <a:ext cx="8761110" cy="4431942"/>
          </a:xfrm>
          <a:prstGeom prst="rect">
            <a:avLst/>
          </a:prstGeom>
          <a:noFill/>
          <a:ln>
            <a:noFill/>
          </a:ln>
        </p:spPr>
        <p:txBody>
          <a:bodyPr spcFirstLastPara="1" wrap="square" lIns="91425" tIns="45700" rIns="91425" bIns="45700" anchor="t" anchorCtr="0">
            <a:spAutoFit/>
          </a:bodyPr>
          <a:lstStyle/>
          <a:p>
            <a:pPr algn="just">
              <a:lnSpc>
                <a:spcPct val="150000"/>
              </a:lnSpc>
              <a:buSzPts val="1800"/>
            </a:pPr>
            <a:r>
              <a:rPr lang="en-IN" sz="1800" b="1" i="0" u="none" strike="noStrike" baseline="0" dirty="0">
                <a:latin typeface="Univers-Bold"/>
              </a:rPr>
              <a:t>EXAMPLE 3 </a:t>
            </a:r>
            <a:r>
              <a:rPr lang="en-IN" sz="1800" b="0" i="1" u="none" strike="noStrike" baseline="0" dirty="0">
                <a:latin typeface="TimesTen-Italic"/>
              </a:rPr>
              <a:t>Coin-collecting problem</a:t>
            </a:r>
          </a:p>
          <a:p>
            <a:pPr marL="285750" indent="-285750" algn="just">
              <a:lnSpc>
                <a:spcPct val="150000"/>
              </a:lnSpc>
              <a:buSzPts val="1800"/>
              <a:buFont typeface="Arial" panose="020B0604020202020204" pitchFamily="34" charset="0"/>
              <a:buChar char="•"/>
            </a:pPr>
            <a:r>
              <a:rPr lang="en-US" sz="1700" dirty="0">
                <a:latin typeface="+mj-lt"/>
              </a:rPr>
              <a:t>Let F(</a:t>
            </a:r>
            <a:r>
              <a:rPr lang="en-US" sz="1700" dirty="0" err="1">
                <a:latin typeface="+mj-lt"/>
              </a:rPr>
              <a:t>i</a:t>
            </a:r>
            <a:r>
              <a:rPr lang="en-US" sz="1700" dirty="0">
                <a:latin typeface="+mj-lt"/>
              </a:rPr>
              <a:t>, j) be the largest number of coins the robot can collect and bring to the cell (</a:t>
            </a:r>
            <a:r>
              <a:rPr lang="en-US" sz="1700" dirty="0" err="1">
                <a:latin typeface="+mj-lt"/>
              </a:rPr>
              <a:t>i</a:t>
            </a:r>
            <a:r>
              <a:rPr lang="en-US" sz="1700" dirty="0">
                <a:latin typeface="+mj-lt"/>
              </a:rPr>
              <a:t>, j ) in the </a:t>
            </a:r>
            <a:r>
              <a:rPr lang="en-US" sz="1700" dirty="0" err="1">
                <a:latin typeface="+mj-lt"/>
              </a:rPr>
              <a:t>ith</a:t>
            </a:r>
            <a:r>
              <a:rPr lang="en-US" sz="1700" dirty="0">
                <a:latin typeface="+mj-lt"/>
              </a:rPr>
              <a:t> row and </a:t>
            </a:r>
            <a:r>
              <a:rPr lang="en-US" sz="1700" dirty="0" err="1">
                <a:latin typeface="+mj-lt"/>
              </a:rPr>
              <a:t>jth</a:t>
            </a:r>
            <a:r>
              <a:rPr lang="en-US" sz="1700" dirty="0">
                <a:latin typeface="+mj-lt"/>
              </a:rPr>
              <a:t> column of the board. </a:t>
            </a:r>
          </a:p>
          <a:p>
            <a:pPr marL="285750" indent="-285750" algn="just">
              <a:lnSpc>
                <a:spcPct val="150000"/>
              </a:lnSpc>
              <a:buSzPts val="1800"/>
              <a:buFont typeface="Arial" panose="020B0604020202020204" pitchFamily="34" charset="0"/>
              <a:buChar char="•"/>
            </a:pPr>
            <a:r>
              <a:rPr lang="en-US" sz="1700" dirty="0">
                <a:latin typeface="+mj-lt"/>
              </a:rPr>
              <a:t>It can reach this cell either from the adjacent cell (</a:t>
            </a:r>
            <a:r>
              <a:rPr lang="en-US" sz="1700" dirty="0" err="1">
                <a:latin typeface="+mj-lt"/>
              </a:rPr>
              <a:t>i</a:t>
            </a:r>
            <a:r>
              <a:rPr lang="en-US" sz="1700" dirty="0">
                <a:latin typeface="+mj-lt"/>
              </a:rPr>
              <a:t> − 1, j) above it or from the adjacent cell (</a:t>
            </a:r>
            <a:r>
              <a:rPr lang="en-US" sz="1700" dirty="0" err="1">
                <a:latin typeface="+mj-lt"/>
              </a:rPr>
              <a:t>i</a:t>
            </a:r>
            <a:r>
              <a:rPr lang="en-US" sz="1700" dirty="0">
                <a:latin typeface="+mj-lt"/>
              </a:rPr>
              <a:t>, j − 1) to the left of it. </a:t>
            </a:r>
          </a:p>
          <a:p>
            <a:pPr marL="285750" indent="-285750" algn="just">
              <a:lnSpc>
                <a:spcPct val="150000"/>
              </a:lnSpc>
              <a:buSzPts val="1800"/>
              <a:buFont typeface="Arial" panose="020B0604020202020204" pitchFamily="34" charset="0"/>
              <a:buChar char="•"/>
            </a:pPr>
            <a:r>
              <a:rPr lang="en-US" sz="1700" dirty="0">
                <a:latin typeface="+mj-lt"/>
              </a:rPr>
              <a:t>The largest numbers of coins that can be brought to these cells are F(</a:t>
            </a:r>
            <a:r>
              <a:rPr lang="en-US" sz="1700" dirty="0" err="1">
                <a:latin typeface="+mj-lt"/>
              </a:rPr>
              <a:t>i</a:t>
            </a:r>
            <a:r>
              <a:rPr lang="en-US" sz="1700" dirty="0">
                <a:latin typeface="+mj-lt"/>
              </a:rPr>
              <a:t> − 1, j) and F(</a:t>
            </a:r>
            <a:r>
              <a:rPr lang="en-US" sz="1700" dirty="0" err="1">
                <a:latin typeface="+mj-lt"/>
              </a:rPr>
              <a:t>i</a:t>
            </a:r>
            <a:r>
              <a:rPr lang="en-US" sz="1700" dirty="0">
                <a:latin typeface="+mj-lt"/>
              </a:rPr>
              <a:t>, j − 1), respectively.</a:t>
            </a:r>
          </a:p>
          <a:p>
            <a:pPr marL="285750" indent="-285750" algn="just">
              <a:lnSpc>
                <a:spcPct val="150000"/>
              </a:lnSpc>
              <a:buSzPts val="1800"/>
              <a:buFont typeface="Arial" panose="020B0604020202020204" pitchFamily="34" charset="0"/>
              <a:buChar char="•"/>
            </a:pPr>
            <a:r>
              <a:rPr lang="en-US" sz="1700" dirty="0">
                <a:latin typeface="+mj-lt"/>
              </a:rPr>
              <a:t>Of course, there are no adjacent cells above the cells in the first row, and there are no adjacent cells to the left of the cells in the first column. </a:t>
            </a:r>
          </a:p>
          <a:p>
            <a:pPr marL="285750" indent="-285750" algn="just">
              <a:lnSpc>
                <a:spcPct val="150000"/>
              </a:lnSpc>
              <a:buSzPts val="1800"/>
              <a:buFont typeface="Arial" panose="020B0604020202020204" pitchFamily="34" charset="0"/>
              <a:buChar char="•"/>
            </a:pPr>
            <a:r>
              <a:rPr lang="en-US" sz="1700" dirty="0">
                <a:latin typeface="+mj-lt"/>
              </a:rPr>
              <a:t>For those cells, we assume that F(</a:t>
            </a:r>
            <a:r>
              <a:rPr lang="en-US" sz="1700" dirty="0" err="1">
                <a:latin typeface="+mj-lt"/>
              </a:rPr>
              <a:t>i</a:t>
            </a:r>
            <a:r>
              <a:rPr lang="en-US" sz="1700" dirty="0">
                <a:latin typeface="+mj-lt"/>
              </a:rPr>
              <a:t> − 1, j) and F(</a:t>
            </a:r>
            <a:r>
              <a:rPr lang="en-US" sz="1700" dirty="0" err="1">
                <a:latin typeface="+mj-lt"/>
              </a:rPr>
              <a:t>i</a:t>
            </a:r>
            <a:r>
              <a:rPr lang="en-US" sz="1700" dirty="0">
                <a:latin typeface="+mj-lt"/>
              </a:rPr>
              <a:t>, j − 1) are equal to 0 for their nonexistent neighbors. </a:t>
            </a:r>
          </a:p>
        </p:txBody>
      </p:sp>
    </p:spTree>
    <p:extLst>
      <p:ext uri="{BB962C8B-B14F-4D97-AF65-F5344CB8AC3E}">
        <p14:creationId xmlns:p14="http://schemas.microsoft.com/office/powerpoint/2010/main" val="24947705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4734748D-3666-1FA6-FE65-4720C5997F0A}"/>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46583154-6B3D-A531-0270-28C866A5F23B}"/>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2800" b="1" i="0" u="none" strike="noStrike" cap="none" dirty="0">
                <a:solidFill>
                  <a:srgbClr val="000000"/>
                </a:solidFill>
                <a:latin typeface="Arial"/>
                <a:ea typeface="Arial"/>
                <a:cs typeface="Arial"/>
                <a:sym typeface="Arial"/>
              </a:rPr>
              <a:t>DYNAMIC PROGRAMMING</a:t>
            </a:r>
          </a:p>
        </p:txBody>
      </p:sp>
      <p:sp>
        <p:nvSpPr>
          <p:cNvPr id="369" name="Google Shape;369;p42">
            <a:extLst>
              <a:ext uri="{FF2B5EF4-FFF2-40B4-BE49-F238E27FC236}">
                <a16:creationId xmlns:a16="http://schemas.microsoft.com/office/drawing/2014/main" id="{9933BCD3-7063-B71A-38B8-8A9E86FDC970}"/>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t>23</a:t>
            </a:fld>
            <a:endParaRPr/>
          </a:p>
        </p:txBody>
      </p:sp>
      <p:sp>
        <p:nvSpPr>
          <p:cNvPr id="4" name="Google Shape;370;p42">
            <a:extLst>
              <a:ext uri="{FF2B5EF4-FFF2-40B4-BE49-F238E27FC236}">
                <a16:creationId xmlns:a16="http://schemas.microsoft.com/office/drawing/2014/main" id="{42F22A92-FF33-3C3F-DEDB-084356184E70}"/>
              </a:ext>
            </a:extLst>
          </p:cNvPr>
          <p:cNvSpPr txBox="1"/>
          <p:nvPr/>
        </p:nvSpPr>
        <p:spPr>
          <a:xfrm>
            <a:off x="154290" y="1081890"/>
            <a:ext cx="8761110" cy="4824357"/>
          </a:xfrm>
          <a:prstGeom prst="rect">
            <a:avLst/>
          </a:prstGeom>
          <a:noFill/>
          <a:ln>
            <a:noFill/>
          </a:ln>
        </p:spPr>
        <p:txBody>
          <a:bodyPr spcFirstLastPara="1" wrap="square" lIns="91425" tIns="45700" rIns="91425" bIns="45700" anchor="t" anchorCtr="0">
            <a:spAutoFit/>
          </a:bodyPr>
          <a:lstStyle/>
          <a:p>
            <a:pPr algn="just">
              <a:lnSpc>
                <a:spcPct val="150000"/>
              </a:lnSpc>
              <a:buSzPts val="1800"/>
            </a:pPr>
            <a:r>
              <a:rPr lang="en-IN" sz="1800" b="1" i="0" u="none" strike="noStrike" baseline="0" dirty="0">
                <a:latin typeface="Univers-Bold"/>
              </a:rPr>
              <a:t>EXAMPLE 3 </a:t>
            </a:r>
            <a:r>
              <a:rPr lang="en-IN" sz="1800" b="0" i="1" u="none" strike="noStrike" baseline="0" dirty="0">
                <a:latin typeface="TimesTen-Italic"/>
              </a:rPr>
              <a:t>Coin-collecting problem</a:t>
            </a:r>
          </a:p>
          <a:p>
            <a:pPr marL="285750" indent="-285750" algn="just">
              <a:lnSpc>
                <a:spcPct val="150000"/>
              </a:lnSpc>
              <a:buSzPts val="1800"/>
              <a:buFont typeface="Arial" panose="020B0604020202020204" pitchFamily="34" charset="0"/>
              <a:buChar char="•"/>
            </a:pPr>
            <a:r>
              <a:rPr lang="en-US" sz="1700" dirty="0">
                <a:latin typeface="+mj-lt"/>
              </a:rPr>
              <a:t>Therefore, the largest number of coins the robot can bring to cell (</a:t>
            </a:r>
            <a:r>
              <a:rPr lang="en-US" sz="1700" dirty="0" err="1">
                <a:latin typeface="+mj-lt"/>
              </a:rPr>
              <a:t>i</a:t>
            </a:r>
            <a:r>
              <a:rPr lang="en-US" sz="1700" dirty="0">
                <a:latin typeface="+mj-lt"/>
              </a:rPr>
              <a:t>, j ) is the maximum of these two numbers plus one possible coin at cell (</a:t>
            </a:r>
            <a:r>
              <a:rPr lang="en-US" sz="1700" dirty="0" err="1">
                <a:latin typeface="+mj-lt"/>
              </a:rPr>
              <a:t>i</a:t>
            </a:r>
            <a:r>
              <a:rPr lang="en-US" sz="1700" dirty="0">
                <a:latin typeface="+mj-lt"/>
              </a:rPr>
              <a:t>, j ) itself. In other words, we have the following formula for F(</a:t>
            </a:r>
            <a:r>
              <a:rPr lang="en-US" sz="1700" dirty="0" err="1">
                <a:latin typeface="+mj-lt"/>
              </a:rPr>
              <a:t>i</a:t>
            </a:r>
            <a:r>
              <a:rPr lang="en-US" sz="1700" dirty="0">
                <a:latin typeface="+mj-lt"/>
              </a:rPr>
              <a:t>, j):</a:t>
            </a:r>
          </a:p>
          <a:p>
            <a:pPr marL="285750" indent="-285750" algn="just">
              <a:lnSpc>
                <a:spcPct val="150000"/>
              </a:lnSpc>
              <a:buSzPts val="1800"/>
              <a:buFont typeface="Arial" panose="020B0604020202020204" pitchFamily="34" charset="0"/>
              <a:buChar char="•"/>
            </a:pPr>
            <a:endParaRPr lang="en-US" sz="1700" dirty="0">
              <a:latin typeface="+mj-lt"/>
            </a:endParaRPr>
          </a:p>
          <a:p>
            <a:pPr algn="just">
              <a:lnSpc>
                <a:spcPct val="150000"/>
              </a:lnSpc>
              <a:buSzPts val="1800"/>
            </a:pPr>
            <a:endParaRPr lang="en-US" sz="1700" dirty="0">
              <a:latin typeface="+mj-lt"/>
            </a:endParaRPr>
          </a:p>
          <a:p>
            <a:pPr algn="ctr">
              <a:lnSpc>
                <a:spcPct val="150000"/>
              </a:lnSpc>
              <a:buSzPts val="1800"/>
            </a:pPr>
            <a:r>
              <a:rPr lang="en-US" sz="1700" dirty="0">
                <a:latin typeface="+mj-lt"/>
              </a:rPr>
              <a:t>where </a:t>
            </a:r>
            <a:r>
              <a:rPr lang="en-US" sz="1700" dirty="0" err="1">
                <a:latin typeface="+mj-lt"/>
              </a:rPr>
              <a:t>cij</a:t>
            </a:r>
            <a:r>
              <a:rPr lang="en-US" sz="1700" dirty="0">
                <a:latin typeface="+mj-lt"/>
              </a:rPr>
              <a:t> = 1 if there is a coin in cell (</a:t>
            </a:r>
            <a:r>
              <a:rPr lang="en-US" sz="1700" dirty="0" err="1">
                <a:latin typeface="+mj-lt"/>
              </a:rPr>
              <a:t>i</a:t>
            </a:r>
            <a:r>
              <a:rPr lang="en-US" sz="1700" dirty="0">
                <a:latin typeface="+mj-lt"/>
              </a:rPr>
              <a:t>, j ), and </a:t>
            </a:r>
            <a:r>
              <a:rPr lang="en-US" sz="1700" dirty="0" err="1">
                <a:latin typeface="+mj-lt"/>
              </a:rPr>
              <a:t>cij</a:t>
            </a:r>
            <a:r>
              <a:rPr lang="en-US" sz="1700" dirty="0">
                <a:latin typeface="+mj-lt"/>
              </a:rPr>
              <a:t> = 0 otherwise.</a:t>
            </a:r>
          </a:p>
          <a:p>
            <a:pPr marL="285750" indent="-285750" algn="just">
              <a:lnSpc>
                <a:spcPct val="150000"/>
              </a:lnSpc>
              <a:buSzPts val="1800"/>
              <a:buFont typeface="Arial" panose="020B0604020202020204" pitchFamily="34" charset="0"/>
              <a:buChar char="•"/>
            </a:pPr>
            <a:r>
              <a:rPr lang="en-US" sz="1700" dirty="0">
                <a:latin typeface="+mj-lt"/>
              </a:rPr>
              <a:t>Using these formulas, we can fill in the n × </a:t>
            </a:r>
            <a:r>
              <a:rPr lang="en-US" sz="1700" dirty="0" err="1">
                <a:latin typeface="+mj-lt"/>
              </a:rPr>
              <a:t>mtable</a:t>
            </a:r>
            <a:r>
              <a:rPr lang="en-US" sz="1700" dirty="0">
                <a:latin typeface="+mj-lt"/>
              </a:rPr>
              <a:t> of F(</a:t>
            </a:r>
            <a:r>
              <a:rPr lang="en-US" sz="1700" dirty="0" err="1">
                <a:latin typeface="+mj-lt"/>
              </a:rPr>
              <a:t>i</a:t>
            </a:r>
            <a:r>
              <a:rPr lang="en-US" sz="1700" dirty="0">
                <a:latin typeface="+mj-lt"/>
              </a:rPr>
              <a:t>, j) values either row by row or column by column, as is typical for dynamic programming algorithms involving two-dimensional tables.</a:t>
            </a:r>
          </a:p>
          <a:p>
            <a:pPr marL="285750" indent="-285750" algn="just">
              <a:lnSpc>
                <a:spcPct val="150000"/>
              </a:lnSpc>
              <a:buSzPts val="1800"/>
              <a:buFont typeface="Arial" panose="020B0604020202020204" pitchFamily="34" charset="0"/>
              <a:buChar char="•"/>
            </a:pPr>
            <a:endParaRPr lang="en-US" sz="1700" dirty="0">
              <a:latin typeface="+mj-lt"/>
            </a:endParaRPr>
          </a:p>
          <a:p>
            <a:pPr marL="285750" indent="-285750" algn="just">
              <a:lnSpc>
                <a:spcPct val="150000"/>
              </a:lnSpc>
              <a:buSzPts val="1800"/>
              <a:buFont typeface="Arial" panose="020B0604020202020204" pitchFamily="34" charset="0"/>
              <a:buChar char="•"/>
            </a:pPr>
            <a:endParaRPr lang="en-US" sz="1700" dirty="0">
              <a:latin typeface="+mj-lt"/>
            </a:endParaRPr>
          </a:p>
        </p:txBody>
      </p:sp>
      <p:pic>
        <p:nvPicPr>
          <p:cNvPr id="3" name="Picture 2">
            <a:extLst>
              <a:ext uri="{FF2B5EF4-FFF2-40B4-BE49-F238E27FC236}">
                <a16:creationId xmlns:a16="http://schemas.microsoft.com/office/drawing/2014/main" id="{CF018AB8-2CA4-5B2C-8386-54FBDEDBE6C8}"/>
              </a:ext>
            </a:extLst>
          </p:cNvPr>
          <p:cNvPicPr>
            <a:picLocks noChangeAspect="1"/>
          </p:cNvPicPr>
          <p:nvPr/>
        </p:nvPicPr>
        <p:blipFill>
          <a:blip r:embed="rId3"/>
          <a:stretch>
            <a:fillRect/>
          </a:stretch>
        </p:blipFill>
        <p:spPr>
          <a:xfrm>
            <a:off x="1269392" y="2678399"/>
            <a:ext cx="6530906" cy="701101"/>
          </a:xfrm>
          <a:prstGeom prst="rect">
            <a:avLst/>
          </a:prstGeom>
        </p:spPr>
      </p:pic>
    </p:spTree>
    <p:extLst>
      <p:ext uri="{BB962C8B-B14F-4D97-AF65-F5344CB8AC3E}">
        <p14:creationId xmlns:p14="http://schemas.microsoft.com/office/powerpoint/2010/main" val="31986632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861332D9-0B89-11CD-A8AE-A5B83E9B6704}"/>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2A050CE4-542B-D9ED-EB67-AAB27050FDD6}"/>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2800" b="1" i="0" u="none" strike="noStrike" cap="none" dirty="0">
                <a:solidFill>
                  <a:srgbClr val="000000"/>
                </a:solidFill>
                <a:latin typeface="Arial"/>
                <a:ea typeface="Arial"/>
                <a:cs typeface="Arial"/>
                <a:sym typeface="Arial"/>
              </a:rPr>
              <a:t>DYNAMIC PROGRAMMING</a:t>
            </a:r>
          </a:p>
        </p:txBody>
      </p:sp>
      <p:sp>
        <p:nvSpPr>
          <p:cNvPr id="369" name="Google Shape;369;p42">
            <a:extLst>
              <a:ext uri="{FF2B5EF4-FFF2-40B4-BE49-F238E27FC236}">
                <a16:creationId xmlns:a16="http://schemas.microsoft.com/office/drawing/2014/main" id="{76E1B59A-1213-3115-860D-CC1B10FB200B}"/>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t>24</a:t>
            </a:fld>
            <a:endParaRPr/>
          </a:p>
        </p:txBody>
      </p:sp>
      <p:sp>
        <p:nvSpPr>
          <p:cNvPr id="4" name="Google Shape;370;p42">
            <a:extLst>
              <a:ext uri="{FF2B5EF4-FFF2-40B4-BE49-F238E27FC236}">
                <a16:creationId xmlns:a16="http://schemas.microsoft.com/office/drawing/2014/main" id="{D783C0F9-032B-4C37-7A09-C459DEF03E21}"/>
              </a:ext>
            </a:extLst>
          </p:cNvPr>
          <p:cNvSpPr txBox="1"/>
          <p:nvPr/>
        </p:nvSpPr>
        <p:spPr>
          <a:xfrm>
            <a:off x="154290" y="1059768"/>
            <a:ext cx="8761110" cy="1292621"/>
          </a:xfrm>
          <a:prstGeom prst="rect">
            <a:avLst/>
          </a:prstGeom>
          <a:noFill/>
          <a:ln>
            <a:noFill/>
          </a:ln>
        </p:spPr>
        <p:txBody>
          <a:bodyPr spcFirstLastPara="1" wrap="square" lIns="91425" tIns="45700" rIns="91425" bIns="45700" anchor="t" anchorCtr="0">
            <a:spAutoFit/>
          </a:bodyPr>
          <a:lstStyle/>
          <a:p>
            <a:pPr algn="just">
              <a:lnSpc>
                <a:spcPct val="150000"/>
              </a:lnSpc>
              <a:buSzPts val="1800"/>
            </a:pPr>
            <a:r>
              <a:rPr lang="en-IN" sz="1800" b="1" i="0" u="none" strike="noStrike" baseline="0" dirty="0">
                <a:latin typeface="Univers-Bold"/>
              </a:rPr>
              <a:t>EXAMPLE 3 </a:t>
            </a:r>
            <a:r>
              <a:rPr lang="en-IN" sz="1800" b="0" i="1" u="none" strike="noStrike" baseline="0" dirty="0">
                <a:latin typeface="TimesTen-Italic"/>
              </a:rPr>
              <a:t>Coin-collecting problem</a:t>
            </a:r>
          </a:p>
          <a:p>
            <a:pPr marL="285750" indent="-285750" algn="just">
              <a:lnSpc>
                <a:spcPct val="150000"/>
              </a:lnSpc>
              <a:buSzPts val="1800"/>
              <a:buFont typeface="Arial" panose="020B0604020202020204" pitchFamily="34" charset="0"/>
              <a:buChar char="•"/>
            </a:pPr>
            <a:endParaRPr lang="en-US" sz="1700" dirty="0">
              <a:latin typeface="+mj-lt"/>
            </a:endParaRPr>
          </a:p>
          <a:p>
            <a:pPr marL="285750" indent="-285750" algn="just">
              <a:lnSpc>
                <a:spcPct val="150000"/>
              </a:lnSpc>
              <a:buSzPts val="1800"/>
              <a:buFont typeface="Arial" panose="020B0604020202020204" pitchFamily="34" charset="0"/>
              <a:buChar char="•"/>
            </a:pPr>
            <a:endParaRPr lang="en-US" sz="1700" dirty="0">
              <a:latin typeface="+mj-lt"/>
            </a:endParaRPr>
          </a:p>
        </p:txBody>
      </p:sp>
      <p:pic>
        <p:nvPicPr>
          <p:cNvPr id="5" name="Picture 4">
            <a:extLst>
              <a:ext uri="{FF2B5EF4-FFF2-40B4-BE49-F238E27FC236}">
                <a16:creationId xmlns:a16="http://schemas.microsoft.com/office/drawing/2014/main" id="{B5DA283D-8950-579E-2727-5C4B1E2002E4}"/>
              </a:ext>
            </a:extLst>
          </p:cNvPr>
          <p:cNvPicPr>
            <a:picLocks noChangeAspect="1"/>
          </p:cNvPicPr>
          <p:nvPr/>
        </p:nvPicPr>
        <p:blipFill>
          <a:blip r:embed="rId3"/>
          <a:stretch>
            <a:fillRect/>
          </a:stretch>
        </p:blipFill>
        <p:spPr>
          <a:xfrm>
            <a:off x="1319900" y="1474839"/>
            <a:ext cx="6134678" cy="3385178"/>
          </a:xfrm>
          <a:prstGeom prst="rect">
            <a:avLst/>
          </a:prstGeom>
        </p:spPr>
      </p:pic>
    </p:spTree>
    <p:extLst>
      <p:ext uri="{BB962C8B-B14F-4D97-AF65-F5344CB8AC3E}">
        <p14:creationId xmlns:p14="http://schemas.microsoft.com/office/powerpoint/2010/main" val="17462851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C6C317E0-C1D8-3BA5-F287-B04C91BC9273}"/>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230FF24C-8A04-D96A-0671-060991D08C69}"/>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2800" b="1" i="0" u="none" strike="noStrike" cap="none" dirty="0">
                <a:solidFill>
                  <a:srgbClr val="000000"/>
                </a:solidFill>
                <a:latin typeface="Arial"/>
                <a:ea typeface="Arial"/>
                <a:cs typeface="Arial"/>
                <a:sym typeface="Arial"/>
              </a:rPr>
              <a:t>DYNAMIC PROGRAMMING</a:t>
            </a:r>
          </a:p>
        </p:txBody>
      </p:sp>
      <p:sp>
        <p:nvSpPr>
          <p:cNvPr id="369" name="Google Shape;369;p42">
            <a:extLst>
              <a:ext uri="{FF2B5EF4-FFF2-40B4-BE49-F238E27FC236}">
                <a16:creationId xmlns:a16="http://schemas.microsoft.com/office/drawing/2014/main" id="{E5D80EDC-00D0-DEB3-4ED5-497816D45136}"/>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t>25</a:t>
            </a:fld>
            <a:endParaRPr/>
          </a:p>
        </p:txBody>
      </p:sp>
      <p:sp>
        <p:nvSpPr>
          <p:cNvPr id="4" name="Google Shape;370;p42">
            <a:extLst>
              <a:ext uri="{FF2B5EF4-FFF2-40B4-BE49-F238E27FC236}">
                <a16:creationId xmlns:a16="http://schemas.microsoft.com/office/drawing/2014/main" id="{37741B2E-5785-E663-79CD-FAAFE31213FC}"/>
              </a:ext>
            </a:extLst>
          </p:cNvPr>
          <p:cNvSpPr txBox="1"/>
          <p:nvPr/>
        </p:nvSpPr>
        <p:spPr>
          <a:xfrm>
            <a:off x="154290" y="1015523"/>
            <a:ext cx="8761110" cy="4316526"/>
          </a:xfrm>
          <a:prstGeom prst="rect">
            <a:avLst/>
          </a:prstGeom>
          <a:noFill/>
          <a:ln>
            <a:noFill/>
          </a:ln>
        </p:spPr>
        <p:txBody>
          <a:bodyPr spcFirstLastPara="1" wrap="square" lIns="91425" tIns="45700" rIns="91425" bIns="45700" anchor="t" anchorCtr="0">
            <a:spAutoFit/>
          </a:bodyPr>
          <a:lstStyle/>
          <a:p>
            <a:pPr algn="just">
              <a:lnSpc>
                <a:spcPct val="150000"/>
              </a:lnSpc>
              <a:buSzPts val="1800"/>
            </a:pPr>
            <a:r>
              <a:rPr lang="en-IN" sz="1800" b="1" i="0" u="none" strike="noStrike" baseline="0" dirty="0">
                <a:latin typeface="Univers-Bold"/>
              </a:rPr>
              <a:t>EXAMPLE 3 </a:t>
            </a:r>
            <a:r>
              <a:rPr lang="en-IN" sz="1800" b="0" i="1" u="none" strike="noStrike" baseline="0" dirty="0">
                <a:latin typeface="TimesTen-Italic"/>
              </a:rPr>
              <a:t>Coin-collecting problem</a:t>
            </a:r>
          </a:p>
          <a:p>
            <a:pPr marL="285750" indent="-285750" algn="just">
              <a:lnSpc>
                <a:spcPct val="150000"/>
              </a:lnSpc>
              <a:buSzPts val="1800"/>
              <a:buFont typeface="Arial" panose="020B0604020202020204" pitchFamily="34" charset="0"/>
              <a:buChar char="•"/>
            </a:pPr>
            <a:r>
              <a:rPr lang="en-US" sz="1700" dirty="0">
                <a:latin typeface="+mj-lt"/>
              </a:rPr>
              <a:t>The algorithm is illustrated in Figure 8.3b for the coin setup in Figure 8.3a. </a:t>
            </a:r>
          </a:p>
          <a:p>
            <a:pPr marL="285750" indent="-285750" algn="just">
              <a:lnSpc>
                <a:spcPct val="150000"/>
              </a:lnSpc>
              <a:buSzPts val="1800"/>
              <a:buFont typeface="Arial" panose="020B0604020202020204" pitchFamily="34" charset="0"/>
              <a:buChar char="•"/>
            </a:pPr>
            <a:r>
              <a:rPr lang="en-US" sz="1700" dirty="0">
                <a:latin typeface="+mj-lt"/>
              </a:rPr>
              <a:t>Since computing the value of F(</a:t>
            </a:r>
            <a:r>
              <a:rPr lang="en-US" sz="1700" dirty="0" err="1">
                <a:latin typeface="+mj-lt"/>
              </a:rPr>
              <a:t>i</a:t>
            </a:r>
            <a:r>
              <a:rPr lang="en-US" sz="1700" dirty="0">
                <a:latin typeface="+mj-lt"/>
              </a:rPr>
              <a:t>, j) by formula (8.5) for each cell of the table takes constant time, the time efficiency of the algorithm is           </a:t>
            </a:r>
          </a:p>
          <a:p>
            <a:pPr marL="285750" indent="-285750" algn="just">
              <a:lnSpc>
                <a:spcPct val="150000"/>
              </a:lnSpc>
              <a:buSzPts val="1800"/>
              <a:buFont typeface="Arial" panose="020B0604020202020204" pitchFamily="34" charset="0"/>
              <a:buChar char="•"/>
            </a:pPr>
            <a:r>
              <a:rPr lang="en-US" sz="1700" dirty="0">
                <a:latin typeface="+mj-lt"/>
              </a:rPr>
              <a:t>Its space efficiency is, obviously, also</a:t>
            </a:r>
          </a:p>
          <a:p>
            <a:pPr marL="285750" indent="-285750" algn="just">
              <a:lnSpc>
                <a:spcPct val="150000"/>
              </a:lnSpc>
              <a:buSzPts val="1800"/>
              <a:buFont typeface="Arial" panose="020B0604020202020204" pitchFamily="34" charset="0"/>
              <a:buChar char="•"/>
            </a:pPr>
            <a:r>
              <a:rPr lang="en-US" sz="1700" dirty="0">
                <a:latin typeface="+mj-lt"/>
              </a:rPr>
              <a:t>Tracing the computations backward makes it possible to get an optimal path:  </a:t>
            </a:r>
          </a:p>
          <a:p>
            <a:pPr marL="285750" indent="-285750" algn="just">
              <a:lnSpc>
                <a:spcPct val="150000"/>
              </a:lnSpc>
              <a:buSzPts val="1800"/>
              <a:buFont typeface="Arial" panose="020B0604020202020204" pitchFamily="34" charset="0"/>
              <a:buChar char="•"/>
            </a:pPr>
            <a:r>
              <a:rPr lang="en-US" sz="1600" dirty="0">
                <a:latin typeface="+mj-lt"/>
              </a:rPr>
              <a:t>if F(</a:t>
            </a:r>
            <a:r>
              <a:rPr lang="en-US" sz="1600" dirty="0" err="1">
                <a:latin typeface="+mj-lt"/>
              </a:rPr>
              <a:t>i</a:t>
            </a:r>
            <a:r>
              <a:rPr lang="en-US" sz="1600" dirty="0">
                <a:latin typeface="+mj-lt"/>
              </a:rPr>
              <a:t> − 1, j) &gt; F(</a:t>
            </a:r>
            <a:r>
              <a:rPr lang="en-US" sz="1600" dirty="0" err="1">
                <a:latin typeface="+mj-lt"/>
              </a:rPr>
              <a:t>i</a:t>
            </a:r>
            <a:r>
              <a:rPr lang="en-US" sz="1600" dirty="0">
                <a:latin typeface="+mj-lt"/>
              </a:rPr>
              <a:t>, j − 1), an optimal path to cell (</a:t>
            </a:r>
            <a:r>
              <a:rPr lang="en-US" sz="1600" dirty="0" err="1">
                <a:latin typeface="+mj-lt"/>
              </a:rPr>
              <a:t>i</a:t>
            </a:r>
            <a:r>
              <a:rPr lang="en-US" sz="1600" dirty="0">
                <a:latin typeface="+mj-lt"/>
              </a:rPr>
              <a:t>, j ) must come down from the adjacent cell above it; if F(</a:t>
            </a:r>
            <a:r>
              <a:rPr lang="en-US" sz="1600" dirty="0" err="1">
                <a:latin typeface="+mj-lt"/>
              </a:rPr>
              <a:t>i</a:t>
            </a:r>
            <a:r>
              <a:rPr lang="en-US" sz="1600" dirty="0">
                <a:latin typeface="+mj-lt"/>
              </a:rPr>
              <a:t> − 1, j) &lt; F(</a:t>
            </a:r>
            <a:r>
              <a:rPr lang="en-US" sz="1600" dirty="0" err="1">
                <a:latin typeface="+mj-lt"/>
              </a:rPr>
              <a:t>i</a:t>
            </a:r>
            <a:r>
              <a:rPr lang="en-US" sz="1600" dirty="0">
                <a:latin typeface="+mj-lt"/>
              </a:rPr>
              <a:t>, j − 1), an optimal path to cell (</a:t>
            </a:r>
            <a:r>
              <a:rPr lang="en-US" sz="1600" dirty="0" err="1">
                <a:latin typeface="+mj-lt"/>
              </a:rPr>
              <a:t>i</a:t>
            </a:r>
            <a:r>
              <a:rPr lang="en-US" sz="1600" dirty="0">
                <a:latin typeface="+mj-lt"/>
              </a:rPr>
              <a:t>, j ) must come from the adjacent cell on the left; and if F(</a:t>
            </a:r>
            <a:r>
              <a:rPr lang="en-US" sz="1600" dirty="0" err="1">
                <a:latin typeface="+mj-lt"/>
              </a:rPr>
              <a:t>i</a:t>
            </a:r>
            <a:r>
              <a:rPr lang="en-US" sz="1600" dirty="0">
                <a:latin typeface="+mj-lt"/>
              </a:rPr>
              <a:t> − 1, j) = F(</a:t>
            </a:r>
            <a:r>
              <a:rPr lang="en-US" sz="1600" dirty="0" err="1">
                <a:latin typeface="+mj-lt"/>
              </a:rPr>
              <a:t>i</a:t>
            </a:r>
            <a:r>
              <a:rPr lang="en-US" sz="1600" dirty="0">
                <a:latin typeface="+mj-lt"/>
              </a:rPr>
              <a:t>, j − 1), it can reach cell (</a:t>
            </a:r>
            <a:r>
              <a:rPr lang="en-US" sz="1600" dirty="0" err="1">
                <a:latin typeface="+mj-lt"/>
              </a:rPr>
              <a:t>i</a:t>
            </a:r>
            <a:r>
              <a:rPr lang="en-US" sz="1600" dirty="0">
                <a:latin typeface="+mj-lt"/>
              </a:rPr>
              <a:t>, j ) from either direction. </a:t>
            </a:r>
          </a:p>
          <a:p>
            <a:pPr marL="285750" indent="-285750" algn="just">
              <a:lnSpc>
                <a:spcPct val="150000"/>
              </a:lnSpc>
              <a:buSzPts val="1800"/>
              <a:buFont typeface="Arial" panose="020B0604020202020204" pitchFamily="34" charset="0"/>
              <a:buChar char="•"/>
            </a:pPr>
            <a:r>
              <a:rPr lang="en-US" sz="1600" dirty="0">
                <a:latin typeface="+mj-lt"/>
              </a:rPr>
              <a:t>This yields two optimal paths for the instance in Figure 8.3a, which are shown in Figure 8.3c. </a:t>
            </a:r>
          </a:p>
        </p:txBody>
      </p:sp>
      <p:pic>
        <p:nvPicPr>
          <p:cNvPr id="5" name="Picture 4">
            <a:extLst>
              <a:ext uri="{FF2B5EF4-FFF2-40B4-BE49-F238E27FC236}">
                <a16:creationId xmlns:a16="http://schemas.microsoft.com/office/drawing/2014/main" id="{3DA7CA0D-4447-21A1-DFC9-C83EB65B3EDB}"/>
              </a:ext>
            </a:extLst>
          </p:cNvPr>
          <p:cNvPicPr>
            <a:picLocks noChangeAspect="1"/>
          </p:cNvPicPr>
          <p:nvPr/>
        </p:nvPicPr>
        <p:blipFill>
          <a:blip r:embed="rId3"/>
          <a:stretch>
            <a:fillRect/>
          </a:stretch>
        </p:blipFill>
        <p:spPr>
          <a:xfrm>
            <a:off x="8831553" y="2439878"/>
            <a:ext cx="624894" cy="236240"/>
          </a:xfrm>
          <a:prstGeom prst="rect">
            <a:avLst/>
          </a:prstGeom>
        </p:spPr>
      </p:pic>
      <p:pic>
        <p:nvPicPr>
          <p:cNvPr id="7" name="Picture 6">
            <a:extLst>
              <a:ext uri="{FF2B5EF4-FFF2-40B4-BE49-F238E27FC236}">
                <a16:creationId xmlns:a16="http://schemas.microsoft.com/office/drawing/2014/main" id="{9A93A10B-7ABE-C372-FF80-8B436EFC2A81}"/>
              </a:ext>
            </a:extLst>
          </p:cNvPr>
          <p:cNvPicPr>
            <a:picLocks noChangeAspect="1"/>
          </p:cNvPicPr>
          <p:nvPr/>
        </p:nvPicPr>
        <p:blipFill>
          <a:blip r:embed="rId3"/>
          <a:stretch>
            <a:fillRect/>
          </a:stretch>
        </p:blipFill>
        <p:spPr>
          <a:xfrm>
            <a:off x="5855110" y="2439878"/>
            <a:ext cx="624894" cy="236240"/>
          </a:xfrm>
          <a:prstGeom prst="rect">
            <a:avLst/>
          </a:prstGeom>
        </p:spPr>
      </p:pic>
    </p:spTree>
    <p:extLst>
      <p:ext uri="{BB962C8B-B14F-4D97-AF65-F5344CB8AC3E}">
        <p14:creationId xmlns:p14="http://schemas.microsoft.com/office/powerpoint/2010/main" val="10324964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9479D165-7B52-2DBE-713F-FC9E8603DB5A}"/>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B18336EA-27AB-D1A3-1D7C-F3E2D4827F13}"/>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2800" b="1" i="0" u="none" strike="noStrike" cap="none" dirty="0">
                <a:solidFill>
                  <a:srgbClr val="000000"/>
                </a:solidFill>
                <a:latin typeface="Arial"/>
                <a:ea typeface="Arial"/>
                <a:cs typeface="Arial"/>
                <a:sym typeface="Arial"/>
              </a:rPr>
              <a:t>DYNAMIC PROGRAMMING</a:t>
            </a:r>
          </a:p>
        </p:txBody>
      </p:sp>
      <p:sp>
        <p:nvSpPr>
          <p:cNvPr id="369" name="Google Shape;369;p42">
            <a:extLst>
              <a:ext uri="{FF2B5EF4-FFF2-40B4-BE49-F238E27FC236}">
                <a16:creationId xmlns:a16="http://schemas.microsoft.com/office/drawing/2014/main" id="{D50E801C-73A7-64E5-7999-A2EF4F558043}"/>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t>26</a:t>
            </a:fld>
            <a:endParaRPr/>
          </a:p>
        </p:txBody>
      </p:sp>
      <p:sp>
        <p:nvSpPr>
          <p:cNvPr id="4" name="Google Shape;370;p42">
            <a:extLst>
              <a:ext uri="{FF2B5EF4-FFF2-40B4-BE49-F238E27FC236}">
                <a16:creationId xmlns:a16="http://schemas.microsoft.com/office/drawing/2014/main" id="{C2A7E323-577D-0DD0-60D0-23C4679D7DC1}"/>
              </a:ext>
            </a:extLst>
          </p:cNvPr>
          <p:cNvSpPr txBox="1"/>
          <p:nvPr/>
        </p:nvSpPr>
        <p:spPr>
          <a:xfrm>
            <a:off x="154290" y="1081890"/>
            <a:ext cx="8761110" cy="1292621"/>
          </a:xfrm>
          <a:prstGeom prst="rect">
            <a:avLst/>
          </a:prstGeom>
          <a:noFill/>
          <a:ln>
            <a:noFill/>
          </a:ln>
        </p:spPr>
        <p:txBody>
          <a:bodyPr spcFirstLastPara="1" wrap="square" lIns="91425" tIns="45700" rIns="91425" bIns="45700" anchor="t" anchorCtr="0">
            <a:spAutoFit/>
          </a:bodyPr>
          <a:lstStyle/>
          <a:p>
            <a:pPr algn="just">
              <a:lnSpc>
                <a:spcPct val="150000"/>
              </a:lnSpc>
              <a:buSzPts val="1800"/>
            </a:pPr>
            <a:r>
              <a:rPr lang="en-IN" sz="1800" b="1" i="0" u="none" strike="noStrike" baseline="0" dirty="0">
                <a:latin typeface="Univers-Bold"/>
              </a:rPr>
              <a:t>EXAMPLE 3 </a:t>
            </a:r>
            <a:r>
              <a:rPr lang="en-IN" sz="1800" b="0" i="1" u="none" strike="noStrike" baseline="0" dirty="0">
                <a:latin typeface="TimesTen-Italic"/>
              </a:rPr>
              <a:t>Coin-collecting problem</a:t>
            </a:r>
          </a:p>
          <a:p>
            <a:pPr marL="285750" indent="-285750" algn="just">
              <a:lnSpc>
                <a:spcPct val="150000"/>
              </a:lnSpc>
              <a:buSzPts val="1800"/>
              <a:buFont typeface="Arial" panose="020B0604020202020204" pitchFamily="34" charset="0"/>
              <a:buChar char="•"/>
            </a:pPr>
            <a:r>
              <a:rPr lang="en-US" sz="1700" dirty="0">
                <a:latin typeface="+mj-lt"/>
              </a:rPr>
              <a:t>If ties are ignored, one optimal path can be obtained in              time.</a:t>
            </a:r>
          </a:p>
          <a:p>
            <a:pPr marL="285750" indent="-285750" algn="just">
              <a:lnSpc>
                <a:spcPct val="150000"/>
              </a:lnSpc>
              <a:buSzPts val="1800"/>
              <a:buFont typeface="Arial" panose="020B0604020202020204" pitchFamily="34" charset="0"/>
              <a:buChar char="•"/>
            </a:pPr>
            <a:endParaRPr lang="en-US" sz="1700" dirty="0">
              <a:latin typeface="+mj-lt"/>
            </a:endParaRPr>
          </a:p>
        </p:txBody>
      </p:sp>
      <p:pic>
        <p:nvPicPr>
          <p:cNvPr id="3" name="Picture 2">
            <a:extLst>
              <a:ext uri="{FF2B5EF4-FFF2-40B4-BE49-F238E27FC236}">
                <a16:creationId xmlns:a16="http://schemas.microsoft.com/office/drawing/2014/main" id="{02A41172-53B1-BEAA-6D7D-16590CC3DB4D}"/>
              </a:ext>
            </a:extLst>
          </p:cNvPr>
          <p:cNvPicPr>
            <a:picLocks noChangeAspect="1"/>
          </p:cNvPicPr>
          <p:nvPr/>
        </p:nvPicPr>
        <p:blipFill>
          <a:blip r:embed="rId3"/>
          <a:stretch>
            <a:fillRect/>
          </a:stretch>
        </p:blipFill>
        <p:spPr>
          <a:xfrm>
            <a:off x="5771638" y="1661536"/>
            <a:ext cx="815411" cy="213378"/>
          </a:xfrm>
          <a:prstGeom prst="rect">
            <a:avLst/>
          </a:prstGeom>
        </p:spPr>
      </p:pic>
      <p:pic>
        <p:nvPicPr>
          <p:cNvPr id="8" name="Picture 7">
            <a:extLst>
              <a:ext uri="{FF2B5EF4-FFF2-40B4-BE49-F238E27FC236}">
                <a16:creationId xmlns:a16="http://schemas.microsoft.com/office/drawing/2014/main" id="{309AEC71-0770-298A-4A57-8C95443596FE}"/>
              </a:ext>
            </a:extLst>
          </p:cNvPr>
          <p:cNvPicPr>
            <a:picLocks noChangeAspect="1"/>
          </p:cNvPicPr>
          <p:nvPr/>
        </p:nvPicPr>
        <p:blipFill>
          <a:blip r:embed="rId4"/>
          <a:stretch>
            <a:fillRect/>
          </a:stretch>
        </p:blipFill>
        <p:spPr>
          <a:xfrm>
            <a:off x="0" y="2019183"/>
            <a:ext cx="2987299" cy="2705334"/>
          </a:xfrm>
          <a:prstGeom prst="rect">
            <a:avLst/>
          </a:prstGeom>
        </p:spPr>
      </p:pic>
      <p:pic>
        <p:nvPicPr>
          <p:cNvPr id="10" name="Picture 9">
            <a:extLst>
              <a:ext uri="{FF2B5EF4-FFF2-40B4-BE49-F238E27FC236}">
                <a16:creationId xmlns:a16="http://schemas.microsoft.com/office/drawing/2014/main" id="{4ABF5B1C-1B09-EB27-8123-A0D84AB09889}"/>
              </a:ext>
            </a:extLst>
          </p:cNvPr>
          <p:cNvPicPr>
            <a:picLocks noChangeAspect="1"/>
          </p:cNvPicPr>
          <p:nvPr/>
        </p:nvPicPr>
        <p:blipFill>
          <a:blip r:embed="rId5"/>
          <a:stretch>
            <a:fillRect/>
          </a:stretch>
        </p:blipFill>
        <p:spPr>
          <a:xfrm>
            <a:off x="3055498" y="2019183"/>
            <a:ext cx="2895851" cy="2682472"/>
          </a:xfrm>
          <a:prstGeom prst="rect">
            <a:avLst/>
          </a:prstGeom>
        </p:spPr>
      </p:pic>
      <p:pic>
        <p:nvPicPr>
          <p:cNvPr id="12" name="Picture 11">
            <a:extLst>
              <a:ext uri="{FF2B5EF4-FFF2-40B4-BE49-F238E27FC236}">
                <a16:creationId xmlns:a16="http://schemas.microsoft.com/office/drawing/2014/main" id="{3A866C55-2020-FA28-A855-38E57CC748D5}"/>
              </a:ext>
            </a:extLst>
          </p:cNvPr>
          <p:cNvPicPr>
            <a:picLocks noChangeAspect="1"/>
          </p:cNvPicPr>
          <p:nvPr/>
        </p:nvPicPr>
        <p:blipFill>
          <a:blip r:embed="rId6"/>
          <a:stretch>
            <a:fillRect/>
          </a:stretch>
        </p:blipFill>
        <p:spPr>
          <a:xfrm>
            <a:off x="5951349" y="1996321"/>
            <a:ext cx="2941575" cy="2705334"/>
          </a:xfrm>
          <a:prstGeom prst="rect">
            <a:avLst/>
          </a:prstGeom>
        </p:spPr>
      </p:pic>
      <p:pic>
        <p:nvPicPr>
          <p:cNvPr id="14" name="Picture 13">
            <a:extLst>
              <a:ext uri="{FF2B5EF4-FFF2-40B4-BE49-F238E27FC236}">
                <a16:creationId xmlns:a16="http://schemas.microsoft.com/office/drawing/2014/main" id="{23E9B0BF-BFFF-B415-0714-0122C8CCBC8E}"/>
              </a:ext>
            </a:extLst>
          </p:cNvPr>
          <p:cNvPicPr>
            <a:picLocks noChangeAspect="1"/>
          </p:cNvPicPr>
          <p:nvPr/>
        </p:nvPicPr>
        <p:blipFill>
          <a:blip r:embed="rId7"/>
          <a:stretch>
            <a:fillRect/>
          </a:stretch>
        </p:blipFill>
        <p:spPr>
          <a:xfrm>
            <a:off x="807403" y="4701655"/>
            <a:ext cx="6614733" cy="541067"/>
          </a:xfrm>
          <a:prstGeom prst="rect">
            <a:avLst/>
          </a:prstGeom>
        </p:spPr>
      </p:pic>
    </p:spTree>
    <p:extLst>
      <p:ext uri="{BB962C8B-B14F-4D97-AF65-F5344CB8AC3E}">
        <p14:creationId xmlns:p14="http://schemas.microsoft.com/office/powerpoint/2010/main" val="11452253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E00D3222-A87D-DD23-0F53-9A2BBA1DCA34}"/>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B6A73F60-1F9B-9D96-C8D6-7AC57E91ADFD}"/>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DYNAMIC PROGRAMMING</a:t>
            </a:r>
          </a:p>
        </p:txBody>
      </p:sp>
      <p:sp>
        <p:nvSpPr>
          <p:cNvPr id="369" name="Google Shape;369;p42">
            <a:extLst>
              <a:ext uri="{FF2B5EF4-FFF2-40B4-BE49-F238E27FC236}">
                <a16:creationId xmlns:a16="http://schemas.microsoft.com/office/drawing/2014/main" id="{3DB1F6C9-9331-2CB5-B207-0C1E08DF5204}"/>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27</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3D213601-E97C-3D76-4488-C103B8631B84}"/>
              </a:ext>
            </a:extLst>
          </p:cNvPr>
          <p:cNvSpPr txBox="1"/>
          <p:nvPr/>
        </p:nvSpPr>
        <p:spPr>
          <a:xfrm>
            <a:off x="154290" y="1081890"/>
            <a:ext cx="8761110" cy="4039527"/>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US" sz="1800" b="1" i="0" u="none" strike="noStrike" kern="0" cap="none" spc="0" normalizeH="0" baseline="0" noProof="0" dirty="0">
                <a:ln>
                  <a:noFill/>
                </a:ln>
                <a:solidFill>
                  <a:sysClr val="windowText" lastClr="000000"/>
                </a:solidFill>
                <a:effectLst/>
                <a:uLnTx/>
                <a:uFillTx/>
                <a:latin typeface="+mj-lt"/>
              </a:rPr>
              <a:t>The Knapsack Problem and Memory Functions</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j-lt"/>
              </a:rPr>
              <a:t>We start this section with designing a dynamic programming algorithm for the knapsack problem: given n items of known weights w1, . . . , </a:t>
            </a:r>
            <a:r>
              <a:rPr kumimoji="0" lang="en-US" sz="1700" b="0" i="0" u="none" strike="noStrike" kern="0" cap="none" spc="0" normalizeH="0" baseline="0" noProof="0" dirty="0" err="1">
                <a:ln>
                  <a:noFill/>
                </a:ln>
                <a:solidFill>
                  <a:sysClr val="windowText" lastClr="000000"/>
                </a:solidFill>
                <a:effectLst/>
                <a:uLnTx/>
                <a:uFillTx/>
                <a:latin typeface="+mj-lt"/>
              </a:rPr>
              <a:t>wn</a:t>
            </a:r>
            <a:r>
              <a:rPr kumimoji="0" lang="en-US" sz="1700" b="0" i="0" u="none" strike="noStrike" kern="0" cap="none" spc="0" normalizeH="0" baseline="0" noProof="0" dirty="0">
                <a:ln>
                  <a:noFill/>
                </a:ln>
                <a:solidFill>
                  <a:sysClr val="windowText" lastClr="000000"/>
                </a:solidFill>
                <a:effectLst/>
                <a:uLnTx/>
                <a:uFillTx/>
                <a:latin typeface="+mj-lt"/>
              </a:rPr>
              <a:t> and values v1, . . . , </a:t>
            </a:r>
            <a:r>
              <a:rPr kumimoji="0" lang="en-US" sz="1700" b="0" i="0" u="none" strike="noStrike" kern="0" cap="none" spc="0" normalizeH="0" baseline="0" noProof="0" dirty="0" err="1">
                <a:ln>
                  <a:noFill/>
                </a:ln>
                <a:solidFill>
                  <a:sysClr val="windowText" lastClr="000000"/>
                </a:solidFill>
                <a:effectLst/>
                <a:uLnTx/>
                <a:uFillTx/>
                <a:latin typeface="+mj-lt"/>
              </a:rPr>
              <a:t>vn</a:t>
            </a:r>
            <a:r>
              <a:rPr kumimoji="0" lang="en-US" sz="1700" b="0" i="0" u="none" strike="noStrike" kern="0" cap="none" spc="0" normalizeH="0" baseline="0" noProof="0" dirty="0">
                <a:ln>
                  <a:noFill/>
                </a:ln>
                <a:solidFill>
                  <a:sysClr val="windowText" lastClr="000000"/>
                </a:solidFill>
                <a:effectLst/>
                <a:uLnTx/>
                <a:uFillTx/>
                <a:latin typeface="+mj-lt"/>
              </a:rPr>
              <a:t> and a knapsack of capacity W, find the most valuable subset of the items that fit into the knapsack.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j-lt"/>
              </a:rPr>
              <a:t>We assume here that all the weights and the knapsack capacity are positive integers; the item values do not have to be integers.</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j-lt"/>
              </a:rPr>
              <a:t>To design a dynamic programming algorithm, we need to derive a recurrence relation that expresses a solution to an instance of the knapsack problem in terms of solutions to its smaller sub instances. </a:t>
            </a:r>
          </a:p>
        </p:txBody>
      </p:sp>
    </p:spTree>
    <p:extLst>
      <p:ext uri="{BB962C8B-B14F-4D97-AF65-F5344CB8AC3E}">
        <p14:creationId xmlns:p14="http://schemas.microsoft.com/office/powerpoint/2010/main" val="30258666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66D13EE3-DD46-5526-D5B8-34240B61025D}"/>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0478908C-71D9-EE98-07F4-02F8D9EF9E14}"/>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DYNAMIC PROGRAMMING</a:t>
            </a:r>
          </a:p>
        </p:txBody>
      </p:sp>
      <p:sp>
        <p:nvSpPr>
          <p:cNvPr id="369" name="Google Shape;369;p42">
            <a:extLst>
              <a:ext uri="{FF2B5EF4-FFF2-40B4-BE49-F238E27FC236}">
                <a16:creationId xmlns:a16="http://schemas.microsoft.com/office/drawing/2014/main" id="{9A4AB67C-B135-7ED9-E465-8CF9E2F56ABB}"/>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28</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52E4F21E-56F8-30E2-1334-071BC37439E5}"/>
              </a:ext>
            </a:extLst>
          </p:cNvPr>
          <p:cNvSpPr txBox="1"/>
          <p:nvPr/>
        </p:nvSpPr>
        <p:spPr>
          <a:xfrm>
            <a:off x="154290" y="1081890"/>
            <a:ext cx="8761110" cy="4039527"/>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US" sz="1800" b="1" i="0" u="none" strike="noStrike" kern="0" cap="none" spc="0" normalizeH="0" baseline="0" noProof="0" dirty="0">
                <a:ln>
                  <a:noFill/>
                </a:ln>
                <a:solidFill>
                  <a:sysClr val="windowText" lastClr="000000"/>
                </a:solidFill>
                <a:effectLst/>
                <a:uLnTx/>
                <a:uFillTx/>
                <a:latin typeface="+mj-lt"/>
              </a:rPr>
              <a:t>The Knapsack Problem and Memory Functions</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j-lt"/>
              </a:rPr>
              <a:t>Let us consider an instance defined by the first </a:t>
            </a:r>
            <a:r>
              <a:rPr kumimoji="0" lang="en-US" sz="1700" b="0" i="0" u="none" strike="noStrike" kern="0" cap="none" spc="0" normalizeH="0" baseline="0" noProof="0" dirty="0" err="1">
                <a:ln>
                  <a:noFill/>
                </a:ln>
                <a:solidFill>
                  <a:sysClr val="windowText" lastClr="000000"/>
                </a:solidFill>
                <a:effectLst/>
                <a:uLnTx/>
                <a:uFillTx/>
                <a:latin typeface="+mj-lt"/>
              </a:rPr>
              <a:t>i</a:t>
            </a:r>
            <a:r>
              <a:rPr kumimoji="0" lang="en-US" sz="1700" b="0" i="0" u="none" strike="noStrike" kern="0" cap="none" spc="0" normalizeH="0" baseline="0" noProof="0" dirty="0">
                <a:ln>
                  <a:noFill/>
                </a:ln>
                <a:solidFill>
                  <a:sysClr val="windowText" lastClr="000000"/>
                </a:solidFill>
                <a:effectLst/>
                <a:uLnTx/>
                <a:uFillTx/>
                <a:latin typeface="+mj-lt"/>
              </a:rPr>
              <a:t> items, 1≤ </a:t>
            </a:r>
            <a:r>
              <a:rPr kumimoji="0" lang="en-US" sz="1700" b="0" i="0" u="none" strike="noStrike" kern="0" cap="none" spc="0" normalizeH="0" baseline="0" noProof="0" dirty="0" err="1">
                <a:ln>
                  <a:noFill/>
                </a:ln>
                <a:solidFill>
                  <a:sysClr val="windowText" lastClr="000000"/>
                </a:solidFill>
                <a:effectLst/>
                <a:uLnTx/>
                <a:uFillTx/>
                <a:latin typeface="+mj-lt"/>
              </a:rPr>
              <a:t>i</a:t>
            </a:r>
            <a:r>
              <a:rPr kumimoji="0" lang="en-US" sz="1700" b="0" i="0" u="none" strike="noStrike" kern="0" cap="none" spc="0" normalizeH="0" baseline="0" noProof="0" dirty="0">
                <a:ln>
                  <a:noFill/>
                </a:ln>
                <a:solidFill>
                  <a:sysClr val="windowText" lastClr="000000"/>
                </a:solidFill>
                <a:effectLst/>
                <a:uLnTx/>
                <a:uFillTx/>
                <a:latin typeface="+mj-lt"/>
              </a:rPr>
              <a:t> ≤ n, with weights w1, . . . , </a:t>
            </a:r>
            <a:r>
              <a:rPr kumimoji="0" lang="en-US" sz="1700" b="0" i="0" u="none" strike="noStrike" kern="0" cap="none" spc="0" normalizeH="0" baseline="0" noProof="0" dirty="0" err="1">
                <a:ln>
                  <a:noFill/>
                </a:ln>
                <a:solidFill>
                  <a:sysClr val="windowText" lastClr="000000"/>
                </a:solidFill>
                <a:effectLst/>
                <a:uLnTx/>
                <a:uFillTx/>
                <a:latin typeface="+mj-lt"/>
              </a:rPr>
              <a:t>wi</a:t>
            </a:r>
            <a:r>
              <a:rPr kumimoji="0" lang="en-US" sz="1700" b="0" i="0" u="none" strike="noStrike" kern="0" cap="none" spc="0" normalizeH="0" baseline="0" noProof="0" dirty="0">
                <a:ln>
                  <a:noFill/>
                </a:ln>
                <a:solidFill>
                  <a:sysClr val="windowText" lastClr="000000"/>
                </a:solidFill>
                <a:effectLst/>
                <a:uLnTx/>
                <a:uFillTx/>
                <a:latin typeface="+mj-lt"/>
              </a:rPr>
              <a:t>, values v1, . . . , vi , and knapsack capacity j, 1 ≤ j ≤ W.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j-lt"/>
              </a:rPr>
              <a:t>Let F(</a:t>
            </a:r>
            <a:r>
              <a:rPr kumimoji="0" lang="en-US" sz="1700" b="0" i="0" u="none" strike="noStrike" kern="0" cap="none" spc="0" normalizeH="0" baseline="0" noProof="0" dirty="0" err="1">
                <a:ln>
                  <a:noFill/>
                </a:ln>
                <a:solidFill>
                  <a:sysClr val="windowText" lastClr="000000"/>
                </a:solidFill>
                <a:effectLst/>
                <a:uLnTx/>
                <a:uFillTx/>
                <a:latin typeface="+mj-lt"/>
              </a:rPr>
              <a:t>i</a:t>
            </a:r>
            <a:r>
              <a:rPr kumimoji="0" lang="en-US" sz="1700" b="0" i="0" u="none" strike="noStrike" kern="0" cap="none" spc="0" normalizeH="0" baseline="0" noProof="0" dirty="0">
                <a:ln>
                  <a:noFill/>
                </a:ln>
                <a:solidFill>
                  <a:sysClr val="windowText" lastClr="000000"/>
                </a:solidFill>
                <a:effectLst/>
                <a:uLnTx/>
                <a:uFillTx/>
                <a:latin typeface="+mj-lt"/>
              </a:rPr>
              <a:t>, j) be the value of an optimal solution to this instance, i.e., the value of the most valuable subset of the first </a:t>
            </a:r>
            <a:r>
              <a:rPr kumimoji="0" lang="en-US" sz="1700" b="0" i="0" u="none" strike="noStrike" kern="0" cap="none" spc="0" normalizeH="0" baseline="0" noProof="0" dirty="0" err="1">
                <a:ln>
                  <a:noFill/>
                </a:ln>
                <a:solidFill>
                  <a:sysClr val="windowText" lastClr="000000"/>
                </a:solidFill>
                <a:effectLst/>
                <a:uLnTx/>
                <a:uFillTx/>
                <a:latin typeface="+mj-lt"/>
              </a:rPr>
              <a:t>i</a:t>
            </a:r>
            <a:r>
              <a:rPr kumimoji="0" lang="en-US" sz="1700" b="0" i="0" u="none" strike="noStrike" kern="0" cap="none" spc="0" normalizeH="0" baseline="0" noProof="0" dirty="0">
                <a:ln>
                  <a:noFill/>
                </a:ln>
                <a:solidFill>
                  <a:sysClr val="windowText" lastClr="000000"/>
                </a:solidFill>
                <a:effectLst/>
                <a:uLnTx/>
                <a:uFillTx/>
                <a:latin typeface="+mj-lt"/>
              </a:rPr>
              <a:t> items that fit into the knapsack of capacity j.</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j-lt"/>
              </a:rPr>
              <a:t>We can divide all the subsets of the first </a:t>
            </a:r>
            <a:r>
              <a:rPr kumimoji="0" lang="en-US" sz="1700" b="0" i="0" u="none" strike="noStrike" kern="0" cap="none" spc="0" normalizeH="0" baseline="0" noProof="0" dirty="0" err="1">
                <a:ln>
                  <a:noFill/>
                </a:ln>
                <a:solidFill>
                  <a:sysClr val="windowText" lastClr="000000"/>
                </a:solidFill>
                <a:effectLst/>
                <a:uLnTx/>
                <a:uFillTx/>
                <a:latin typeface="+mj-lt"/>
              </a:rPr>
              <a:t>i</a:t>
            </a:r>
            <a:r>
              <a:rPr kumimoji="0" lang="en-US" sz="1700" b="0" i="0" u="none" strike="noStrike" kern="0" cap="none" spc="0" normalizeH="0" baseline="0" noProof="0" dirty="0">
                <a:ln>
                  <a:noFill/>
                </a:ln>
                <a:solidFill>
                  <a:sysClr val="windowText" lastClr="000000"/>
                </a:solidFill>
                <a:effectLst/>
                <a:uLnTx/>
                <a:uFillTx/>
                <a:latin typeface="+mj-lt"/>
              </a:rPr>
              <a:t> items that fit the knapsack of capacity j into two categories: those that do not include the </a:t>
            </a:r>
            <a:r>
              <a:rPr kumimoji="0" lang="en-US" sz="1700" b="0" i="0" u="none" strike="noStrike" kern="0" cap="none" spc="0" normalizeH="0" baseline="0" noProof="0" dirty="0" err="1">
                <a:ln>
                  <a:noFill/>
                </a:ln>
                <a:solidFill>
                  <a:sysClr val="windowText" lastClr="000000"/>
                </a:solidFill>
                <a:effectLst/>
                <a:uLnTx/>
                <a:uFillTx/>
                <a:latin typeface="+mj-lt"/>
              </a:rPr>
              <a:t>ith</a:t>
            </a:r>
            <a:r>
              <a:rPr kumimoji="0" lang="en-US" sz="1700" b="0" i="0" u="none" strike="noStrike" kern="0" cap="none" spc="0" normalizeH="0" baseline="0" noProof="0" dirty="0">
                <a:ln>
                  <a:noFill/>
                </a:ln>
                <a:solidFill>
                  <a:sysClr val="windowText" lastClr="000000"/>
                </a:solidFill>
                <a:effectLst/>
                <a:uLnTx/>
                <a:uFillTx/>
                <a:latin typeface="+mj-lt"/>
              </a:rPr>
              <a:t> item and those that do. Note the following:</a:t>
            </a:r>
          </a:p>
          <a:p>
            <a:pPr marL="342900" marR="0" lvl="0" indent="-342900" algn="just" defTabSz="914400" eaLnBrk="1" fontAlgn="auto" latinLnBrk="0" hangingPunct="1">
              <a:lnSpc>
                <a:spcPct val="150000"/>
              </a:lnSpc>
              <a:spcBef>
                <a:spcPts val="0"/>
              </a:spcBef>
              <a:spcAft>
                <a:spcPts val="0"/>
              </a:spcAft>
              <a:buClrTx/>
              <a:buSzPts val="1800"/>
              <a:buFont typeface="Wingdings" panose="05000000000000000000" pitchFamily="2" charset="2"/>
              <a:buChar char="Ø"/>
              <a:tabLst/>
              <a:defRPr/>
            </a:pPr>
            <a:r>
              <a:rPr kumimoji="0" lang="en-US" sz="1700" b="0" i="0" u="none" strike="noStrike" kern="0" cap="none" spc="0" normalizeH="0" baseline="0" noProof="0" dirty="0">
                <a:ln>
                  <a:noFill/>
                </a:ln>
                <a:solidFill>
                  <a:sysClr val="windowText" lastClr="000000"/>
                </a:solidFill>
                <a:effectLst/>
                <a:uLnTx/>
                <a:uFillTx/>
                <a:latin typeface="+mj-lt"/>
              </a:rPr>
              <a:t> Among the subsets that do not include the </a:t>
            </a:r>
            <a:r>
              <a:rPr kumimoji="0" lang="en-US" sz="1700" b="0" i="0" u="none" strike="noStrike" kern="0" cap="none" spc="0" normalizeH="0" baseline="0" noProof="0" dirty="0" err="1">
                <a:ln>
                  <a:noFill/>
                </a:ln>
                <a:solidFill>
                  <a:sysClr val="windowText" lastClr="000000"/>
                </a:solidFill>
                <a:effectLst/>
                <a:uLnTx/>
                <a:uFillTx/>
                <a:latin typeface="+mj-lt"/>
              </a:rPr>
              <a:t>ith</a:t>
            </a:r>
            <a:r>
              <a:rPr kumimoji="0" lang="en-US" sz="1700" b="0" i="0" u="none" strike="noStrike" kern="0" cap="none" spc="0" normalizeH="0" baseline="0" noProof="0" dirty="0">
                <a:ln>
                  <a:noFill/>
                </a:ln>
                <a:solidFill>
                  <a:sysClr val="windowText" lastClr="000000"/>
                </a:solidFill>
                <a:effectLst/>
                <a:uLnTx/>
                <a:uFillTx/>
                <a:latin typeface="+mj-lt"/>
              </a:rPr>
              <a:t> item, the value of an optimal subset is, by definition, F(</a:t>
            </a:r>
            <a:r>
              <a:rPr kumimoji="0" lang="en-US" sz="1700" b="0" i="0" u="none" strike="noStrike" kern="0" cap="none" spc="0" normalizeH="0" baseline="0" noProof="0" dirty="0" err="1">
                <a:ln>
                  <a:noFill/>
                </a:ln>
                <a:solidFill>
                  <a:sysClr val="windowText" lastClr="000000"/>
                </a:solidFill>
                <a:effectLst/>
                <a:uLnTx/>
                <a:uFillTx/>
                <a:latin typeface="+mj-lt"/>
              </a:rPr>
              <a:t>i</a:t>
            </a:r>
            <a:r>
              <a:rPr kumimoji="0" lang="en-US" sz="1700" b="0" i="0" u="none" strike="noStrike" kern="0" cap="none" spc="0" normalizeH="0" baseline="0" noProof="0" dirty="0">
                <a:ln>
                  <a:noFill/>
                </a:ln>
                <a:solidFill>
                  <a:sysClr val="windowText" lastClr="000000"/>
                </a:solidFill>
                <a:effectLst/>
                <a:uLnTx/>
                <a:uFillTx/>
                <a:latin typeface="+mj-lt"/>
              </a:rPr>
              <a:t> − 1, j).</a:t>
            </a:r>
          </a:p>
        </p:txBody>
      </p:sp>
    </p:spTree>
    <p:extLst>
      <p:ext uri="{BB962C8B-B14F-4D97-AF65-F5344CB8AC3E}">
        <p14:creationId xmlns:p14="http://schemas.microsoft.com/office/powerpoint/2010/main" val="1732302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83F88F44-6218-011D-F98F-65050ECFB3EA}"/>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12653147-E2DC-A05A-25EA-98A38BD6D634}"/>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DYNAMIC PROGRAMMING</a:t>
            </a:r>
          </a:p>
        </p:txBody>
      </p:sp>
      <p:sp>
        <p:nvSpPr>
          <p:cNvPr id="369" name="Google Shape;369;p42">
            <a:extLst>
              <a:ext uri="{FF2B5EF4-FFF2-40B4-BE49-F238E27FC236}">
                <a16:creationId xmlns:a16="http://schemas.microsoft.com/office/drawing/2014/main" id="{69B71DF4-CAF4-3318-9113-FB9CFE4582F2}"/>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29</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C1EFD958-1AC9-0A55-4297-D2514953A6FF}"/>
              </a:ext>
            </a:extLst>
          </p:cNvPr>
          <p:cNvSpPr txBox="1"/>
          <p:nvPr/>
        </p:nvSpPr>
        <p:spPr>
          <a:xfrm>
            <a:off x="154290" y="1081890"/>
            <a:ext cx="8761110" cy="4039527"/>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US" sz="1800" b="1" i="0" u="none" strike="noStrike" kern="0" cap="none" spc="0" normalizeH="0" baseline="0" noProof="0" dirty="0">
                <a:ln>
                  <a:noFill/>
                </a:ln>
                <a:solidFill>
                  <a:sysClr val="windowText" lastClr="000000"/>
                </a:solidFill>
                <a:effectLst/>
                <a:uLnTx/>
                <a:uFillTx/>
                <a:latin typeface="+mj-lt"/>
              </a:rPr>
              <a:t>The Knapsack Problem and Memory Functions</a:t>
            </a:r>
          </a:p>
          <a:p>
            <a:pPr marL="285750" marR="0" lvl="0" indent="-285750" algn="just" defTabSz="914400" eaLnBrk="1" fontAlgn="auto" latinLnBrk="0" hangingPunct="1">
              <a:lnSpc>
                <a:spcPct val="150000"/>
              </a:lnSpc>
              <a:spcBef>
                <a:spcPts val="0"/>
              </a:spcBef>
              <a:spcAft>
                <a:spcPts val="0"/>
              </a:spcAft>
              <a:buClrTx/>
              <a:buSzPts val="1800"/>
              <a:buFont typeface="Wingdings" panose="05000000000000000000" pitchFamily="2" charset="2"/>
              <a:buChar char="Ø"/>
              <a:tabLst/>
              <a:defRPr/>
            </a:pPr>
            <a:r>
              <a:rPr kumimoji="0" lang="en-US" sz="1700" b="0" i="0" u="none" strike="noStrike" kern="0" cap="none" spc="0" normalizeH="0" baseline="0" noProof="0" dirty="0">
                <a:ln>
                  <a:noFill/>
                </a:ln>
                <a:solidFill>
                  <a:sysClr val="windowText" lastClr="000000"/>
                </a:solidFill>
                <a:effectLst/>
                <a:uLnTx/>
                <a:uFillTx/>
                <a:latin typeface="+mj-lt"/>
              </a:rPr>
              <a:t>Among the subsets that do include the </a:t>
            </a:r>
            <a:r>
              <a:rPr kumimoji="0" lang="en-US" sz="1700" b="0" i="0" u="none" strike="noStrike" kern="0" cap="none" spc="0" normalizeH="0" baseline="0" noProof="0" dirty="0" err="1">
                <a:ln>
                  <a:noFill/>
                </a:ln>
                <a:solidFill>
                  <a:sysClr val="windowText" lastClr="000000"/>
                </a:solidFill>
                <a:effectLst/>
                <a:uLnTx/>
                <a:uFillTx/>
                <a:latin typeface="+mj-lt"/>
              </a:rPr>
              <a:t>ith</a:t>
            </a:r>
            <a:r>
              <a:rPr kumimoji="0" lang="en-US" sz="1700" b="0" i="0" u="none" strike="noStrike" kern="0" cap="none" spc="0" normalizeH="0" baseline="0" noProof="0" dirty="0">
                <a:ln>
                  <a:noFill/>
                </a:ln>
                <a:solidFill>
                  <a:sysClr val="windowText" lastClr="000000"/>
                </a:solidFill>
                <a:effectLst/>
                <a:uLnTx/>
                <a:uFillTx/>
                <a:latin typeface="+mj-lt"/>
              </a:rPr>
              <a:t> item (hence, j − </a:t>
            </a:r>
            <a:r>
              <a:rPr kumimoji="0" lang="en-US" sz="1700" b="0" i="0" u="none" strike="noStrike" kern="0" cap="none" spc="0" normalizeH="0" baseline="0" noProof="0" dirty="0" err="1">
                <a:ln>
                  <a:noFill/>
                </a:ln>
                <a:solidFill>
                  <a:sysClr val="windowText" lastClr="000000"/>
                </a:solidFill>
                <a:effectLst/>
                <a:uLnTx/>
                <a:uFillTx/>
                <a:latin typeface="+mj-lt"/>
              </a:rPr>
              <a:t>wi</a:t>
            </a:r>
            <a:r>
              <a:rPr kumimoji="0" lang="en-US" sz="1700" b="0" i="0" u="none" strike="noStrike" kern="0" cap="none" spc="0" normalizeH="0" baseline="0" noProof="0" dirty="0">
                <a:ln>
                  <a:noFill/>
                </a:ln>
                <a:solidFill>
                  <a:sysClr val="windowText" lastClr="000000"/>
                </a:solidFill>
                <a:effectLst/>
                <a:uLnTx/>
                <a:uFillTx/>
                <a:latin typeface="+mj-lt"/>
              </a:rPr>
              <a:t> ≥ 0), an optimal subset is made up of this item and an optimal subset of the first </a:t>
            </a:r>
            <a:r>
              <a:rPr kumimoji="0" lang="en-US" sz="1700" b="0" i="0" u="none" strike="noStrike" kern="0" cap="none" spc="0" normalizeH="0" baseline="0" noProof="0" dirty="0" err="1">
                <a:ln>
                  <a:noFill/>
                </a:ln>
                <a:solidFill>
                  <a:sysClr val="windowText" lastClr="000000"/>
                </a:solidFill>
                <a:effectLst/>
                <a:uLnTx/>
                <a:uFillTx/>
                <a:latin typeface="+mj-lt"/>
              </a:rPr>
              <a:t>i</a:t>
            </a:r>
            <a:r>
              <a:rPr kumimoji="0" lang="en-US" sz="1700" b="0" i="0" u="none" strike="noStrike" kern="0" cap="none" spc="0" normalizeH="0" baseline="0" noProof="0" dirty="0">
                <a:ln>
                  <a:noFill/>
                </a:ln>
                <a:solidFill>
                  <a:sysClr val="windowText" lastClr="000000"/>
                </a:solidFill>
                <a:effectLst/>
                <a:uLnTx/>
                <a:uFillTx/>
                <a:latin typeface="+mj-lt"/>
              </a:rPr>
              <a:t> − 1 items that fits into the knapsack of capacity j − </a:t>
            </a:r>
            <a:r>
              <a:rPr kumimoji="0" lang="en-US" sz="1700" b="0" i="0" u="none" strike="noStrike" kern="0" cap="none" spc="0" normalizeH="0" baseline="0" noProof="0" dirty="0" err="1">
                <a:ln>
                  <a:noFill/>
                </a:ln>
                <a:solidFill>
                  <a:sysClr val="windowText" lastClr="000000"/>
                </a:solidFill>
                <a:effectLst/>
                <a:uLnTx/>
                <a:uFillTx/>
                <a:latin typeface="+mj-lt"/>
              </a:rPr>
              <a:t>wi</a:t>
            </a:r>
            <a:r>
              <a:rPr kumimoji="0" lang="en-US" sz="1700" b="0" i="0" u="none" strike="noStrike" kern="0" cap="none" spc="0" normalizeH="0" baseline="0" noProof="0" dirty="0">
                <a:ln>
                  <a:noFill/>
                </a:ln>
                <a:solidFill>
                  <a:sysClr val="windowText" lastClr="000000"/>
                </a:solidFill>
                <a:effectLst/>
                <a:uLnTx/>
                <a:uFillTx/>
                <a:latin typeface="+mj-lt"/>
              </a:rPr>
              <a:t> . </a:t>
            </a:r>
          </a:p>
          <a:p>
            <a:pPr marL="285750" marR="0" lvl="0" indent="-285750" algn="just" defTabSz="914400" eaLnBrk="1" fontAlgn="auto" latinLnBrk="0" hangingPunct="1">
              <a:lnSpc>
                <a:spcPct val="150000"/>
              </a:lnSpc>
              <a:spcBef>
                <a:spcPts val="0"/>
              </a:spcBef>
              <a:spcAft>
                <a:spcPts val="0"/>
              </a:spcAft>
              <a:buClrTx/>
              <a:buSzPts val="1800"/>
              <a:buFont typeface="Wingdings" panose="05000000000000000000" pitchFamily="2" charset="2"/>
              <a:buChar char="Ø"/>
              <a:tabLst/>
              <a:defRPr/>
            </a:pPr>
            <a:r>
              <a:rPr kumimoji="0" lang="en-US" sz="1700" b="0" i="0" u="none" strike="noStrike" kern="0" cap="none" spc="0" normalizeH="0" baseline="0" noProof="0" dirty="0">
                <a:ln>
                  <a:noFill/>
                </a:ln>
                <a:solidFill>
                  <a:sysClr val="windowText" lastClr="000000"/>
                </a:solidFill>
                <a:effectLst/>
                <a:uLnTx/>
                <a:uFillTx/>
                <a:latin typeface="+mj-lt"/>
              </a:rPr>
              <a:t>The value of such an optimal subset is vi + F(</a:t>
            </a:r>
            <a:r>
              <a:rPr kumimoji="0" lang="en-US" sz="1700" b="0" i="0" u="none" strike="noStrike" kern="0" cap="none" spc="0" normalizeH="0" baseline="0" noProof="0" dirty="0" err="1">
                <a:ln>
                  <a:noFill/>
                </a:ln>
                <a:solidFill>
                  <a:sysClr val="windowText" lastClr="000000"/>
                </a:solidFill>
                <a:effectLst/>
                <a:uLnTx/>
                <a:uFillTx/>
                <a:latin typeface="+mj-lt"/>
              </a:rPr>
              <a:t>i</a:t>
            </a:r>
            <a:r>
              <a:rPr kumimoji="0" lang="en-US" sz="1700" b="0" i="0" u="none" strike="noStrike" kern="0" cap="none" spc="0" normalizeH="0" baseline="0" noProof="0" dirty="0">
                <a:ln>
                  <a:noFill/>
                </a:ln>
                <a:solidFill>
                  <a:sysClr val="windowText" lastClr="000000"/>
                </a:solidFill>
                <a:effectLst/>
                <a:uLnTx/>
                <a:uFillTx/>
                <a:latin typeface="+mj-lt"/>
              </a:rPr>
              <a:t> − 1, j − </a:t>
            </a:r>
            <a:r>
              <a:rPr kumimoji="0" lang="en-US" sz="1700" b="0" i="0" u="none" strike="noStrike" kern="0" cap="none" spc="0" normalizeH="0" baseline="0" noProof="0" dirty="0" err="1">
                <a:ln>
                  <a:noFill/>
                </a:ln>
                <a:solidFill>
                  <a:sysClr val="windowText" lastClr="000000"/>
                </a:solidFill>
                <a:effectLst/>
                <a:uLnTx/>
                <a:uFillTx/>
                <a:latin typeface="+mj-lt"/>
              </a:rPr>
              <a:t>wi</a:t>
            </a:r>
            <a:r>
              <a:rPr kumimoji="0" lang="en-US" sz="1700" b="0" i="0" u="none" strike="noStrike" kern="0" cap="none" spc="0" normalizeH="0" baseline="0" noProof="0" dirty="0">
                <a:ln>
                  <a:noFill/>
                </a:ln>
                <a:solidFill>
                  <a:sysClr val="windowText" lastClr="000000"/>
                </a:solidFill>
                <a:effectLst/>
                <a:uLnTx/>
                <a:uFillTx/>
                <a:latin typeface="+mj-lt"/>
              </a:rPr>
              <a:t>).</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j-lt"/>
              </a:rPr>
              <a:t>Thus, the value of an optimal solution among all feasible subsets of the first I items is the maximum of these two values.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j-lt"/>
              </a:rPr>
              <a:t>Of course, if the </a:t>
            </a:r>
            <a:r>
              <a:rPr kumimoji="0" lang="en-US" sz="1700" b="0" i="0" u="none" strike="noStrike" kern="0" cap="none" spc="0" normalizeH="0" baseline="0" noProof="0" dirty="0" err="1">
                <a:ln>
                  <a:noFill/>
                </a:ln>
                <a:solidFill>
                  <a:sysClr val="windowText" lastClr="000000"/>
                </a:solidFill>
                <a:effectLst/>
                <a:uLnTx/>
                <a:uFillTx/>
                <a:latin typeface="+mj-lt"/>
              </a:rPr>
              <a:t>ith</a:t>
            </a:r>
            <a:r>
              <a:rPr kumimoji="0" lang="en-US" sz="1700" b="0" i="0" u="none" strike="noStrike" kern="0" cap="none" spc="0" normalizeH="0" baseline="0" noProof="0" dirty="0">
                <a:ln>
                  <a:noFill/>
                </a:ln>
                <a:solidFill>
                  <a:sysClr val="windowText" lastClr="000000"/>
                </a:solidFill>
                <a:effectLst/>
                <a:uLnTx/>
                <a:uFillTx/>
                <a:latin typeface="+mj-lt"/>
              </a:rPr>
              <a:t> item does not fit into the knapsack, the value of an optimal subset selected from the first </a:t>
            </a:r>
            <a:r>
              <a:rPr kumimoji="0" lang="en-US" sz="1700" b="0" i="0" u="none" strike="noStrike" kern="0" cap="none" spc="0" normalizeH="0" baseline="0" noProof="0" dirty="0" err="1">
                <a:ln>
                  <a:noFill/>
                </a:ln>
                <a:solidFill>
                  <a:sysClr val="windowText" lastClr="000000"/>
                </a:solidFill>
                <a:effectLst/>
                <a:uLnTx/>
                <a:uFillTx/>
                <a:latin typeface="+mj-lt"/>
              </a:rPr>
              <a:t>i</a:t>
            </a:r>
            <a:r>
              <a:rPr kumimoji="0" lang="en-US" sz="1700" b="0" i="0" u="none" strike="noStrike" kern="0" cap="none" spc="0" normalizeH="0" baseline="0" noProof="0" dirty="0">
                <a:ln>
                  <a:noFill/>
                </a:ln>
                <a:solidFill>
                  <a:sysClr val="windowText" lastClr="000000"/>
                </a:solidFill>
                <a:effectLst/>
                <a:uLnTx/>
                <a:uFillTx/>
                <a:latin typeface="+mj-lt"/>
              </a:rPr>
              <a:t> items is the same as the value of an optimal subset selected from the first </a:t>
            </a:r>
            <a:r>
              <a:rPr kumimoji="0" lang="en-US" sz="1700" b="0" i="0" u="none" strike="noStrike" kern="0" cap="none" spc="0" normalizeH="0" baseline="0" noProof="0" dirty="0" err="1">
                <a:ln>
                  <a:noFill/>
                </a:ln>
                <a:solidFill>
                  <a:sysClr val="windowText" lastClr="000000"/>
                </a:solidFill>
                <a:effectLst/>
                <a:uLnTx/>
                <a:uFillTx/>
                <a:latin typeface="+mj-lt"/>
              </a:rPr>
              <a:t>i</a:t>
            </a:r>
            <a:r>
              <a:rPr kumimoji="0" lang="en-US" sz="1700" b="0" i="0" u="none" strike="noStrike" kern="0" cap="none" spc="0" normalizeH="0" baseline="0" noProof="0" dirty="0">
                <a:ln>
                  <a:noFill/>
                </a:ln>
                <a:solidFill>
                  <a:sysClr val="windowText" lastClr="000000"/>
                </a:solidFill>
                <a:effectLst/>
                <a:uLnTx/>
                <a:uFillTx/>
                <a:latin typeface="+mj-lt"/>
              </a:rPr>
              <a:t> − 1 items. </a:t>
            </a:r>
          </a:p>
        </p:txBody>
      </p:sp>
    </p:spTree>
    <p:extLst>
      <p:ext uri="{BB962C8B-B14F-4D97-AF65-F5344CB8AC3E}">
        <p14:creationId xmlns:p14="http://schemas.microsoft.com/office/powerpoint/2010/main" val="9479763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72D24CF5-BF6F-FD3A-EE4D-EDBE5C006752}"/>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FDDED56B-6F48-6199-C780-D4307929A994}"/>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DYNAMIC PROGRAMMING</a:t>
            </a:r>
          </a:p>
        </p:txBody>
      </p:sp>
      <p:sp>
        <p:nvSpPr>
          <p:cNvPr id="369" name="Google Shape;369;p42">
            <a:extLst>
              <a:ext uri="{FF2B5EF4-FFF2-40B4-BE49-F238E27FC236}">
                <a16:creationId xmlns:a16="http://schemas.microsoft.com/office/drawing/2014/main" id="{CD4816E6-BBC8-B446-53A6-3CA4B4C11918}"/>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30</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3E515A28-7CEC-0020-2F0A-EC1BE77AE6C3}"/>
              </a:ext>
            </a:extLst>
          </p:cNvPr>
          <p:cNvSpPr txBox="1"/>
          <p:nvPr/>
        </p:nvSpPr>
        <p:spPr>
          <a:xfrm>
            <a:off x="154290" y="1081890"/>
            <a:ext cx="8761110" cy="5216772"/>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US" sz="1800" b="1" i="0" u="none" strike="noStrike" kern="0" cap="none" spc="0" normalizeH="0" baseline="0" noProof="0" dirty="0">
                <a:ln>
                  <a:noFill/>
                </a:ln>
                <a:solidFill>
                  <a:sysClr val="windowText" lastClr="000000"/>
                </a:solidFill>
                <a:effectLst/>
                <a:uLnTx/>
                <a:uFillTx/>
                <a:latin typeface="+mj-lt"/>
              </a:rPr>
              <a:t>The Knapsack Problem and Memory Functions</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j-lt"/>
              </a:rPr>
              <a:t>These observations lead to the following recurrence:</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endParaRPr kumimoji="0" lang="en-US" sz="1700" b="0" i="0" u="none" strike="noStrike" kern="0" cap="none" spc="0" normalizeH="0" baseline="0" noProof="0" dirty="0">
              <a:ln>
                <a:noFill/>
              </a:ln>
              <a:solidFill>
                <a:sysClr val="windowText" lastClr="000000"/>
              </a:solidFill>
              <a:effectLst/>
              <a:uLnTx/>
              <a:uFillTx/>
              <a:latin typeface="+mj-lt"/>
            </a:endParaRPr>
          </a:p>
          <a:p>
            <a:pPr marL="0" marR="0" lvl="0" indent="0" algn="just" defTabSz="914400" eaLnBrk="1" fontAlgn="auto" latinLnBrk="0" hangingPunct="1">
              <a:lnSpc>
                <a:spcPct val="150000"/>
              </a:lnSpc>
              <a:spcBef>
                <a:spcPts val="0"/>
              </a:spcBef>
              <a:spcAft>
                <a:spcPts val="0"/>
              </a:spcAft>
              <a:buClrTx/>
              <a:buSzPts val="1800"/>
              <a:buFontTx/>
              <a:buNone/>
              <a:tabLst/>
              <a:defRPr/>
            </a:pPr>
            <a:endParaRPr kumimoji="0" lang="en-US" sz="1700" b="0" i="0" u="none" strike="noStrike" kern="0" cap="none" spc="0" normalizeH="0" baseline="0" noProof="0" dirty="0">
              <a:ln>
                <a:noFill/>
              </a:ln>
              <a:solidFill>
                <a:sysClr val="windowText" lastClr="000000"/>
              </a:solidFill>
              <a:effectLst/>
              <a:uLnTx/>
              <a:uFillTx/>
              <a:latin typeface="+mj-lt"/>
            </a:endParaRPr>
          </a:p>
          <a:p>
            <a:pPr marL="0" marR="0" lvl="0" indent="0" algn="just" defTabSz="914400" eaLnBrk="1" fontAlgn="auto" latinLnBrk="0" hangingPunct="1">
              <a:lnSpc>
                <a:spcPct val="150000"/>
              </a:lnSpc>
              <a:spcBef>
                <a:spcPts val="0"/>
              </a:spcBef>
              <a:spcAft>
                <a:spcPts val="0"/>
              </a:spcAft>
              <a:buClrTx/>
              <a:buSzPts val="1800"/>
              <a:buFontTx/>
              <a:buNone/>
              <a:tabLst/>
              <a:defRPr/>
            </a:pPr>
            <a:endParaRPr kumimoji="0" lang="en-US" sz="1700" b="0" i="0" u="none" strike="noStrike" kern="0" cap="none" spc="0" normalizeH="0" baseline="0" noProof="0" dirty="0">
              <a:ln>
                <a:noFill/>
              </a:ln>
              <a:solidFill>
                <a:sysClr val="windowText" lastClr="000000"/>
              </a:solidFill>
              <a:effectLst/>
              <a:uLnTx/>
              <a:uFillTx/>
              <a:latin typeface="+mj-lt"/>
            </a:endParaRP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endParaRPr kumimoji="0" lang="en-US" sz="1700" b="0" i="0" u="none" strike="noStrike" kern="0" cap="none" spc="0" normalizeH="0" baseline="0" noProof="0" dirty="0">
              <a:ln>
                <a:noFill/>
              </a:ln>
              <a:solidFill>
                <a:sysClr val="windowText" lastClr="000000"/>
              </a:solidFill>
              <a:effectLst/>
              <a:uLnTx/>
              <a:uFillTx/>
              <a:latin typeface="+mj-lt"/>
            </a:endParaRP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j-lt"/>
              </a:rPr>
              <a:t>Our goal is to find F(n, W), the maximal value of a subset of the n given items that fit into the knapsack of capacity W, and an optimal subset itself.</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j-lt"/>
              </a:rPr>
              <a:t>Figure 8.4 illustrates the values involved in equations (8.6) and (8.7). </a:t>
            </a:r>
          </a:p>
          <a:p>
            <a:pPr marL="0" marR="0" lvl="0" indent="0" algn="just" defTabSz="914400" eaLnBrk="1" fontAlgn="auto" latinLnBrk="0" hangingPunct="1">
              <a:lnSpc>
                <a:spcPct val="150000"/>
              </a:lnSpc>
              <a:spcBef>
                <a:spcPts val="0"/>
              </a:spcBef>
              <a:spcAft>
                <a:spcPts val="0"/>
              </a:spcAft>
              <a:buClrTx/>
              <a:buSzPts val="1800"/>
              <a:buFontTx/>
              <a:buNone/>
              <a:tabLst/>
              <a:defRPr/>
            </a:pPr>
            <a:endParaRPr kumimoji="0" lang="en-US" sz="1700" b="0" i="0" u="none" strike="noStrike" kern="0" cap="none" spc="0" normalizeH="0" baseline="0" noProof="0" dirty="0">
              <a:ln>
                <a:noFill/>
              </a:ln>
              <a:solidFill>
                <a:sysClr val="windowText" lastClr="000000"/>
              </a:solidFill>
              <a:effectLst/>
              <a:uLnTx/>
              <a:uFillTx/>
              <a:latin typeface="+mj-lt"/>
            </a:endParaRPr>
          </a:p>
          <a:p>
            <a:pPr marL="0" marR="0" lvl="0" indent="0" algn="just" defTabSz="914400" eaLnBrk="1" fontAlgn="auto" latinLnBrk="0" hangingPunct="1">
              <a:lnSpc>
                <a:spcPct val="150000"/>
              </a:lnSpc>
              <a:spcBef>
                <a:spcPts val="0"/>
              </a:spcBef>
              <a:spcAft>
                <a:spcPts val="0"/>
              </a:spcAft>
              <a:buClrTx/>
              <a:buSzPts val="1800"/>
              <a:buFontTx/>
              <a:buNone/>
              <a:tabLst/>
              <a:defRPr/>
            </a:pPr>
            <a:endParaRPr kumimoji="0" lang="en-US" sz="1700" b="0" i="0" u="none" strike="noStrike" kern="0" cap="none" spc="0" normalizeH="0" baseline="0" noProof="0" dirty="0">
              <a:ln>
                <a:noFill/>
              </a:ln>
              <a:solidFill>
                <a:sysClr val="windowText" lastClr="000000"/>
              </a:solidFill>
              <a:effectLst/>
              <a:uLnTx/>
              <a:uFillTx/>
              <a:latin typeface="+mj-lt"/>
            </a:endParaRPr>
          </a:p>
          <a:p>
            <a:pPr marL="0" marR="0" lvl="0" indent="0" algn="just" defTabSz="914400" eaLnBrk="1" fontAlgn="auto" latinLnBrk="0" hangingPunct="1">
              <a:lnSpc>
                <a:spcPct val="150000"/>
              </a:lnSpc>
              <a:spcBef>
                <a:spcPts val="0"/>
              </a:spcBef>
              <a:spcAft>
                <a:spcPts val="0"/>
              </a:spcAft>
              <a:buClrTx/>
              <a:buSzPts val="1800"/>
              <a:buFontTx/>
              <a:buNone/>
              <a:tabLst/>
              <a:defRPr/>
            </a:pPr>
            <a:endParaRPr kumimoji="0" lang="en-US" sz="1700" b="0" i="0" u="none" strike="noStrike" kern="0" cap="none" spc="0" normalizeH="0" baseline="0" noProof="0" dirty="0">
              <a:ln>
                <a:noFill/>
              </a:ln>
              <a:solidFill>
                <a:sysClr val="windowText" lastClr="000000"/>
              </a:solidFill>
              <a:effectLst/>
              <a:uLnTx/>
              <a:uFillTx/>
              <a:latin typeface="+mj-lt"/>
            </a:endParaRPr>
          </a:p>
          <a:p>
            <a:pPr marL="0" marR="0" lvl="0" indent="0" algn="just" defTabSz="914400" eaLnBrk="1" fontAlgn="auto" latinLnBrk="0" hangingPunct="1">
              <a:lnSpc>
                <a:spcPct val="150000"/>
              </a:lnSpc>
              <a:spcBef>
                <a:spcPts val="0"/>
              </a:spcBef>
              <a:spcAft>
                <a:spcPts val="0"/>
              </a:spcAft>
              <a:buClrTx/>
              <a:buSzPts val="1800"/>
              <a:buFontTx/>
              <a:buNone/>
              <a:tabLst/>
              <a:defRPr/>
            </a:pPr>
            <a:endParaRPr kumimoji="0" lang="en-US" sz="1700" b="0" i="0" u="none" strike="noStrike" kern="0" cap="none" spc="0" normalizeH="0" baseline="0" noProof="0" dirty="0">
              <a:ln>
                <a:noFill/>
              </a:ln>
              <a:solidFill>
                <a:sysClr val="windowText" lastClr="000000"/>
              </a:solidFill>
              <a:effectLst/>
              <a:uLnTx/>
              <a:uFillTx/>
              <a:latin typeface="+mj-lt"/>
            </a:endParaRPr>
          </a:p>
        </p:txBody>
      </p:sp>
      <p:pic>
        <p:nvPicPr>
          <p:cNvPr id="3" name="Picture 2">
            <a:extLst>
              <a:ext uri="{FF2B5EF4-FFF2-40B4-BE49-F238E27FC236}">
                <a16:creationId xmlns:a16="http://schemas.microsoft.com/office/drawing/2014/main" id="{65373F71-6205-E76D-7DB8-B36BC7973677}"/>
              </a:ext>
            </a:extLst>
          </p:cNvPr>
          <p:cNvPicPr>
            <a:picLocks noChangeAspect="1"/>
          </p:cNvPicPr>
          <p:nvPr/>
        </p:nvPicPr>
        <p:blipFill>
          <a:blip r:embed="rId3"/>
          <a:stretch>
            <a:fillRect/>
          </a:stretch>
        </p:blipFill>
        <p:spPr>
          <a:xfrm>
            <a:off x="881641" y="2054777"/>
            <a:ext cx="7028543" cy="1329724"/>
          </a:xfrm>
          <a:prstGeom prst="rect">
            <a:avLst/>
          </a:prstGeom>
        </p:spPr>
      </p:pic>
    </p:spTree>
    <p:extLst>
      <p:ext uri="{BB962C8B-B14F-4D97-AF65-F5344CB8AC3E}">
        <p14:creationId xmlns:p14="http://schemas.microsoft.com/office/powerpoint/2010/main" val="18252022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BF4E1DAE-647D-1278-7227-E2C5B624644F}"/>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63A4043D-56AF-CAD2-6FA4-C3F786288C00}"/>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DYNAMIC PROGRAMMING</a:t>
            </a:r>
          </a:p>
        </p:txBody>
      </p:sp>
      <p:sp>
        <p:nvSpPr>
          <p:cNvPr id="369" name="Google Shape;369;p42">
            <a:extLst>
              <a:ext uri="{FF2B5EF4-FFF2-40B4-BE49-F238E27FC236}">
                <a16:creationId xmlns:a16="http://schemas.microsoft.com/office/drawing/2014/main" id="{3B31FAA1-A7E1-F513-7373-D9D571E691F1}"/>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31</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90954CA4-7480-7800-8997-431B60034C0B}"/>
              </a:ext>
            </a:extLst>
          </p:cNvPr>
          <p:cNvSpPr txBox="1"/>
          <p:nvPr/>
        </p:nvSpPr>
        <p:spPr>
          <a:xfrm>
            <a:off x="154290" y="1081890"/>
            <a:ext cx="8761110" cy="3254697"/>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US" sz="1800" b="1" i="0" u="none" strike="noStrike" kern="0" cap="none" spc="0" normalizeH="0" baseline="0" noProof="0" dirty="0">
                <a:ln>
                  <a:noFill/>
                </a:ln>
                <a:solidFill>
                  <a:sysClr val="windowText" lastClr="000000"/>
                </a:solidFill>
                <a:effectLst/>
                <a:uLnTx/>
                <a:uFillTx/>
                <a:latin typeface="+mj-lt"/>
              </a:rPr>
              <a:t>The Knapsack Problem and Memory Functions</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j-lt"/>
              </a:rPr>
              <a:t>For </a:t>
            </a:r>
            <a:r>
              <a:rPr kumimoji="0" lang="en-US" sz="1700" b="0" i="0" u="none" strike="noStrike" kern="0" cap="none" spc="0" normalizeH="0" baseline="0" noProof="0" dirty="0" err="1">
                <a:ln>
                  <a:noFill/>
                </a:ln>
                <a:solidFill>
                  <a:sysClr val="windowText" lastClr="000000"/>
                </a:solidFill>
                <a:effectLst/>
                <a:uLnTx/>
                <a:uFillTx/>
                <a:latin typeface="+mj-lt"/>
              </a:rPr>
              <a:t>i</a:t>
            </a:r>
            <a:r>
              <a:rPr kumimoji="0" lang="en-US" sz="1700" b="0" i="0" u="none" strike="noStrike" kern="0" cap="none" spc="0" normalizeH="0" baseline="0" noProof="0" dirty="0">
                <a:ln>
                  <a:noFill/>
                </a:ln>
                <a:solidFill>
                  <a:sysClr val="windowText" lastClr="000000"/>
                </a:solidFill>
                <a:effectLst/>
                <a:uLnTx/>
                <a:uFillTx/>
                <a:latin typeface="+mj-lt"/>
              </a:rPr>
              <a:t>, j &gt; 0, to compute the entry in the </a:t>
            </a:r>
            <a:r>
              <a:rPr kumimoji="0" lang="en-US" sz="1700" b="0" i="0" u="none" strike="noStrike" kern="0" cap="none" spc="0" normalizeH="0" baseline="0" noProof="0" dirty="0" err="1">
                <a:ln>
                  <a:noFill/>
                </a:ln>
                <a:solidFill>
                  <a:sysClr val="windowText" lastClr="000000"/>
                </a:solidFill>
                <a:effectLst/>
                <a:uLnTx/>
                <a:uFillTx/>
                <a:latin typeface="+mj-lt"/>
              </a:rPr>
              <a:t>ith</a:t>
            </a:r>
            <a:r>
              <a:rPr kumimoji="0" lang="en-US" sz="1700" b="0" i="0" u="none" strike="noStrike" kern="0" cap="none" spc="0" normalizeH="0" baseline="0" noProof="0" dirty="0">
                <a:ln>
                  <a:noFill/>
                </a:ln>
                <a:solidFill>
                  <a:sysClr val="windowText" lastClr="000000"/>
                </a:solidFill>
                <a:effectLst/>
                <a:uLnTx/>
                <a:uFillTx/>
                <a:latin typeface="+mj-lt"/>
              </a:rPr>
              <a:t> row and the </a:t>
            </a:r>
            <a:r>
              <a:rPr kumimoji="0" lang="en-US" sz="1700" b="0" i="0" u="none" strike="noStrike" kern="0" cap="none" spc="0" normalizeH="0" baseline="0" noProof="0" dirty="0" err="1">
                <a:ln>
                  <a:noFill/>
                </a:ln>
                <a:solidFill>
                  <a:sysClr val="windowText" lastClr="000000"/>
                </a:solidFill>
                <a:effectLst/>
                <a:uLnTx/>
                <a:uFillTx/>
                <a:latin typeface="+mj-lt"/>
              </a:rPr>
              <a:t>jth</a:t>
            </a:r>
            <a:r>
              <a:rPr kumimoji="0" lang="en-US" sz="1700" b="0" i="0" u="none" strike="noStrike" kern="0" cap="none" spc="0" normalizeH="0" baseline="0" noProof="0" dirty="0">
                <a:ln>
                  <a:noFill/>
                </a:ln>
                <a:solidFill>
                  <a:sysClr val="windowText" lastClr="000000"/>
                </a:solidFill>
                <a:effectLst/>
                <a:uLnTx/>
                <a:uFillTx/>
                <a:latin typeface="+mj-lt"/>
              </a:rPr>
              <a:t> column, F(</a:t>
            </a:r>
            <a:r>
              <a:rPr kumimoji="0" lang="en-US" sz="1700" b="0" i="0" u="none" strike="noStrike" kern="0" cap="none" spc="0" normalizeH="0" baseline="0" noProof="0" dirty="0" err="1">
                <a:ln>
                  <a:noFill/>
                </a:ln>
                <a:solidFill>
                  <a:sysClr val="windowText" lastClr="000000"/>
                </a:solidFill>
                <a:effectLst/>
                <a:uLnTx/>
                <a:uFillTx/>
                <a:latin typeface="+mj-lt"/>
              </a:rPr>
              <a:t>i</a:t>
            </a:r>
            <a:r>
              <a:rPr kumimoji="0" lang="en-US" sz="1700" b="0" i="0" u="none" strike="noStrike" kern="0" cap="none" spc="0" normalizeH="0" baseline="0" noProof="0" dirty="0">
                <a:ln>
                  <a:noFill/>
                </a:ln>
                <a:solidFill>
                  <a:sysClr val="windowText" lastClr="000000"/>
                </a:solidFill>
                <a:effectLst/>
                <a:uLnTx/>
                <a:uFillTx/>
                <a:latin typeface="+mj-lt"/>
              </a:rPr>
              <a:t>, j), we compute the maximum of the entry in the previous row and the same column and the sum of vi and the entry in the previous row and </a:t>
            </a:r>
            <a:r>
              <a:rPr kumimoji="0" lang="en-US" sz="1700" b="0" i="0" u="none" strike="noStrike" kern="0" cap="none" spc="0" normalizeH="0" baseline="0" noProof="0" dirty="0" err="1">
                <a:ln>
                  <a:noFill/>
                </a:ln>
                <a:solidFill>
                  <a:sysClr val="windowText" lastClr="000000"/>
                </a:solidFill>
                <a:effectLst/>
                <a:uLnTx/>
                <a:uFillTx/>
                <a:latin typeface="+mj-lt"/>
              </a:rPr>
              <a:t>wi</a:t>
            </a:r>
            <a:r>
              <a:rPr kumimoji="0" lang="en-US" sz="1700" b="0" i="0" u="none" strike="noStrike" kern="0" cap="none" spc="0" normalizeH="0" baseline="0" noProof="0" dirty="0">
                <a:ln>
                  <a:noFill/>
                </a:ln>
                <a:solidFill>
                  <a:sysClr val="windowText" lastClr="000000"/>
                </a:solidFill>
                <a:effectLst/>
                <a:uLnTx/>
                <a:uFillTx/>
                <a:latin typeface="+mj-lt"/>
              </a:rPr>
              <a:t> columns to the left.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j-lt"/>
              </a:rPr>
              <a:t>The table can be filled either row by row or column by column.</a:t>
            </a:r>
          </a:p>
          <a:p>
            <a:pPr marL="0" marR="0" lvl="0" indent="0" algn="just" defTabSz="914400" eaLnBrk="1" fontAlgn="auto" latinLnBrk="0" hangingPunct="1">
              <a:lnSpc>
                <a:spcPct val="150000"/>
              </a:lnSpc>
              <a:spcBef>
                <a:spcPts val="0"/>
              </a:spcBef>
              <a:spcAft>
                <a:spcPts val="0"/>
              </a:spcAft>
              <a:buClrTx/>
              <a:buSzPts val="1800"/>
              <a:buFontTx/>
              <a:buNone/>
              <a:tabLst/>
              <a:defRPr/>
            </a:pPr>
            <a:endParaRPr kumimoji="0" lang="en-US" sz="1700" b="0" i="0" u="none" strike="noStrike" kern="0" cap="none" spc="0" normalizeH="0" baseline="0" noProof="0" dirty="0">
              <a:ln>
                <a:noFill/>
              </a:ln>
              <a:solidFill>
                <a:sysClr val="windowText" lastClr="000000"/>
              </a:solidFill>
              <a:effectLst/>
              <a:uLnTx/>
              <a:uFillTx/>
              <a:latin typeface="+mj-lt"/>
            </a:endParaRPr>
          </a:p>
          <a:p>
            <a:pPr marL="0" marR="0" lvl="0" indent="0" algn="just" defTabSz="914400" eaLnBrk="1" fontAlgn="auto" latinLnBrk="0" hangingPunct="1">
              <a:lnSpc>
                <a:spcPct val="150000"/>
              </a:lnSpc>
              <a:spcBef>
                <a:spcPts val="0"/>
              </a:spcBef>
              <a:spcAft>
                <a:spcPts val="0"/>
              </a:spcAft>
              <a:buClrTx/>
              <a:buSzPts val="1800"/>
              <a:buFontTx/>
              <a:buNone/>
              <a:tabLst/>
              <a:defRPr/>
            </a:pPr>
            <a:endParaRPr kumimoji="0" lang="en-US" sz="1700" b="0" i="0" u="none" strike="noStrike" kern="0" cap="none" spc="0" normalizeH="0" baseline="0" noProof="0" dirty="0">
              <a:ln>
                <a:noFill/>
              </a:ln>
              <a:solidFill>
                <a:sysClr val="windowText" lastClr="000000"/>
              </a:solidFill>
              <a:effectLst/>
              <a:uLnTx/>
              <a:uFillTx/>
              <a:latin typeface="+mj-lt"/>
            </a:endParaRPr>
          </a:p>
          <a:p>
            <a:pPr marL="0" marR="0" lvl="0" indent="0" algn="just" defTabSz="914400" eaLnBrk="1" fontAlgn="auto" latinLnBrk="0" hangingPunct="1">
              <a:lnSpc>
                <a:spcPct val="150000"/>
              </a:lnSpc>
              <a:spcBef>
                <a:spcPts val="0"/>
              </a:spcBef>
              <a:spcAft>
                <a:spcPts val="0"/>
              </a:spcAft>
              <a:buClrTx/>
              <a:buSzPts val="1800"/>
              <a:buFontTx/>
              <a:buNone/>
              <a:tabLst/>
              <a:defRPr/>
            </a:pPr>
            <a:endParaRPr kumimoji="0" lang="en-US" sz="1700" b="0" i="0" u="none" strike="noStrike" kern="0" cap="none" spc="0" normalizeH="0" baseline="0" noProof="0" dirty="0">
              <a:ln>
                <a:noFill/>
              </a:ln>
              <a:solidFill>
                <a:sysClr val="windowText" lastClr="000000"/>
              </a:solidFill>
              <a:effectLst/>
              <a:uLnTx/>
              <a:uFillTx/>
              <a:latin typeface="+mj-lt"/>
            </a:endParaRPr>
          </a:p>
        </p:txBody>
      </p:sp>
      <p:pic>
        <p:nvPicPr>
          <p:cNvPr id="5" name="Picture 4">
            <a:extLst>
              <a:ext uri="{FF2B5EF4-FFF2-40B4-BE49-F238E27FC236}">
                <a16:creationId xmlns:a16="http://schemas.microsoft.com/office/drawing/2014/main" id="{F38EF898-32D4-6D24-465E-38B4EB6DD37E}"/>
              </a:ext>
            </a:extLst>
          </p:cNvPr>
          <p:cNvPicPr>
            <a:picLocks noChangeAspect="1"/>
          </p:cNvPicPr>
          <p:nvPr/>
        </p:nvPicPr>
        <p:blipFill>
          <a:blip r:embed="rId3"/>
          <a:stretch>
            <a:fillRect/>
          </a:stretch>
        </p:blipFill>
        <p:spPr>
          <a:xfrm>
            <a:off x="1763831" y="3168230"/>
            <a:ext cx="4587638" cy="1691787"/>
          </a:xfrm>
          <a:prstGeom prst="rect">
            <a:avLst/>
          </a:prstGeom>
        </p:spPr>
      </p:pic>
    </p:spTree>
    <p:extLst>
      <p:ext uri="{BB962C8B-B14F-4D97-AF65-F5344CB8AC3E}">
        <p14:creationId xmlns:p14="http://schemas.microsoft.com/office/powerpoint/2010/main" val="10015115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9B23B489-0DE5-E1B6-A38E-13B757A25ADC}"/>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2DEE9C8D-9347-5F52-D174-164F59F8CA5A}"/>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DYNAMIC PROGRAMMING</a:t>
            </a:r>
          </a:p>
        </p:txBody>
      </p:sp>
      <p:sp>
        <p:nvSpPr>
          <p:cNvPr id="369" name="Google Shape;369;p42">
            <a:extLst>
              <a:ext uri="{FF2B5EF4-FFF2-40B4-BE49-F238E27FC236}">
                <a16:creationId xmlns:a16="http://schemas.microsoft.com/office/drawing/2014/main" id="{1A9C70AD-0553-3E59-AAEA-C2744CA53DED}"/>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32</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C1E9ACF7-964F-168A-14C3-D340C191C70B}"/>
              </a:ext>
            </a:extLst>
          </p:cNvPr>
          <p:cNvSpPr txBox="1"/>
          <p:nvPr/>
        </p:nvSpPr>
        <p:spPr>
          <a:xfrm>
            <a:off x="154290" y="1081890"/>
            <a:ext cx="8761110" cy="4431942"/>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US" sz="1800" b="1" i="0" u="none" strike="noStrike" kern="0" cap="none" spc="0" normalizeH="0" baseline="0" noProof="0" dirty="0">
                <a:ln>
                  <a:noFill/>
                </a:ln>
                <a:solidFill>
                  <a:sysClr val="windowText" lastClr="000000"/>
                </a:solidFill>
                <a:effectLst/>
                <a:uLnTx/>
                <a:uFillTx/>
                <a:latin typeface="+mj-lt"/>
              </a:rPr>
              <a:t>The Knapsack Problem and Memory Functions</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j-lt"/>
              </a:rPr>
              <a:t>EXAMPLE 1 Let us consider the instance given by the following data:</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endParaRPr kumimoji="0" lang="en-US" sz="1700" b="0" i="0" u="none" strike="noStrike" kern="0" cap="none" spc="0" normalizeH="0" baseline="0" noProof="0" dirty="0">
              <a:ln>
                <a:noFill/>
              </a:ln>
              <a:solidFill>
                <a:sysClr val="windowText" lastClr="000000"/>
              </a:solidFill>
              <a:effectLst/>
              <a:uLnTx/>
              <a:uFillTx/>
              <a:latin typeface="+mj-lt"/>
            </a:endParaRP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endParaRPr kumimoji="0" lang="en-US" sz="1700" b="0" i="0" u="none" strike="noStrike" kern="0" cap="none" spc="0" normalizeH="0" baseline="0" noProof="0" dirty="0">
              <a:ln>
                <a:noFill/>
              </a:ln>
              <a:solidFill>
                <a:sysClr val="windowText" lastClr="000000"/>
              </a:solidFill>
              <a:effectLst/>
              <a:uLnTx/>
              <a:uFillTx/>
              <a:latin typeface="+mj-lt"/>
            </a:endParaRP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endParaRPr kumimoji="0" lang="en-US" sz="1700" b="0" i="0" u="none" strike="noStrike" kern="0" cap="none" spc="0" normalizeH="0" baseline="0" noProof="0" dirty="0">
              <a:ln>
                <a:noFill/>
              </a:ln>
              <a:solidFill>
                <a:sysClr val="windowText" lastClr="000000"/>
              </a:solidFill>
              <a:effectLst/>
              <a:uLnTx/>
              <a:uFillTx/>
              <a:latin typeface="+mj-lt"/>
            </a:endParaRP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j-lt"/>
              </a:rPr>
              <a:t>The dynamic programming table, filled by applying formulas (8.6) and (8.7),is shown in Figure 8.5.</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endParaRPr kumimoji="0" lang="en-US" sz="1700" b="0" i="0" u="none" strike="noStrike" kern="0" cap="none" spc="0" normalizeH="0" baseline="0" noProof="0" dirty="0">
              <a:ln>
                <a:noFill/>
              </a:ln>
              <a:solidFill>
                <a:sysClr val="windowText" lastClr="000000"/>
              </a:solidFill>
              <a:effectLst/>
              <a:uLnTx/>
              <a:uFillTx/>
              <a:latin typeface="+mj-lt"/>
            </a:endParaRP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endParaRPr kumimoji="0" lang="en-US" sz="1700" b="0" i="0" u="none" strike="noStrike" kern="0" cap="none" spc="0" normalizeH="0" baseline="0" noProof="0" dirty="0">
              <a:ln>
                <a:noFill/>
              </a:ln>
              <a:solidFill>
                <a:sysClr val="windowText" lastClr="000000"/>
              </a:solidFill>
              <a:effectLst/>
              <a:uLnTx/>
              <a:uFillTx/>
              <a:latin typeface="+mj-lt"/>
            </a:endParaRPr>
          </a:p>
          <a:p>
            <a:pPr marL="0" marR="0" lvl="0" indent="0" algn="just" defTabSz="914400" eaLnBrk="1" fontAlgn="auto" latinLnBrk="0" hangingPunct="1">
              <a:lnSpc>
                <a:spcPct val="150000"/>
              </a:lnSpc>
              <a:spcBef>
                <a:spcPts val="0"/>
              </a:spcBef>
              <a:spcAft>
                <a:spcPts val="0"/>
              </a:spcAft>
              <a:buClrTx/>
              <a:buSzPts val="1800"/>
              <a:buFontTx/>
              <a:buNone/>
              <a:tabLst/>
              <a:defRPr/>
            </a:pPr>
            <a:endParaRPr kumimoji="0" lang="en-US" sz="1700" b="0" i="0" u="none" strike="noStrike" kern="0" cap="none" spc="0" normalizeH="0" baseline="0" noProof="0" dirty="0">
              <a:ln>
                <a:noFill/>
              </a:ln>
              <a:solidFill>
                <a:sysClr val="windowText" lastClr="000000"/>
              </a:solidFill>
              <a:effectLst/>
              <a:uLnTx/>
              <a:uFillTx/>
              <a:latin typeface="+mj-lt"/>
            </a:endParaRPr>
          </a:p>
          <a:p>
            <a:pPr marL="0" marR="0" lvl="0" indent="0" algn="just" defTabSz="914400" eaLnBrk="1" fontAlgn="auto" latinLnBrk="0" hangingPunct="1">
              <a:lnSpc>
                <a:spcPct val="150000"/>
              </a:lnSpc>
              <a:spcBef>
                <a:spcPts val="0"/>
              </a:spcBef>
              <a:spcAft>
                <a:spcPts val="0"/>
              </a:spcAft>
              <a:buClrTx/>
              <a:buSzPts val="1800"/>
              <a:buFontTx/>
              <a:buNone/>
              <a:tabLst/>
              <a:defRPr/>
            </a:pPr>
            <a:endParaRPr kumimoji="0" lang="en-US" sz="1700" b="0" i="0" u="none" strike="noStrike" kern="0" cap="none" spc="0" normalizeH="0" baseline="0" noProof="0" dirty="0">
              <a:ln>
                <a:noFill/>
              </a:ln>
              <a:solidFill>
                <a:sysClr val="windowText" lastClr="000000"/>
              </a:solidFill>
              <a:effectLst/>
              <a:uLnTx/>
              <a:uFillTx/>
              <a:latin typeface="+mj-lt"/>
            </a:endParaRPr>
          </a:p>
        </p:txBody>
      </p:sp>
      <p:pic>
        <p:nvPicPr>
          <p:cNvPr id="3" name="Picture 2">
            <a:extLst>
              <a:ext uri="{FF2B5EF4-FFF2-40B4-BE49-F238E27FC236}">
                <a16:creationId xmlns:a16="http://schemas.microsoft.com/office/drawing/2014/main" id="{06653456-5823-6A96-F6D0-83673B7968AE}"/>
              </a:ext>
            </a:extLst>
          </p:cNvPr>
          <p:cNvPicPr>
            <a:picLocks noChangeAspect="1"/>
          </p:cNvPicPr>
          <p:nvPr/>
        </p:nvPicPr>
        <p:blipFill>
          <a:blip r:embed="rId3"/>
          <a:stretch>
            <a:fillRect/>
          </a:stretch>
        </p:blipFill>
        <p:spPr>
          <a:xfrm>
            <a:off x="2948799" y="1974487"/>
            <a:ext cx="3246401" cy="1051651"/>
          </a:xfrm>
          <a:prstGeom prst="rect">
            <a:avLst/>
          </a:prstGeom>
        </p:spPr>
      </p:pic>
      <p:pic>
        <p:nvPicPr>
          <p:cNvPr id="9" name="Picture 8">
            <a:extLst>
              <a:ext uri="{FF2B5EF4-FFF2-40B4-BE49-F238E27FC236}">
                <a16:creationId xmlns:a16="http://schemas.microsoft.com/office/drawing/2014/main" id="{EE3BB991-2914-833F-A31B-A438C3DD9BF3}"/>
              </a:ext>
            </a:extLst>
          </p:cNvPr>
          <p:cNvPicPr>
            <a:picLocks noChangeAspect="1"/>
          </p:cNvPicPr>
          <p:nvPr/>
        </p:nvPicPr>
        <p:blipFill>
          <a:blip r:embed="rId4"/>
          <a:stretch>
            <a:fillRect/>
          </a:stretch>
        </p:blipFill>
        <p:spPr>
          <a:xfrm>
            <a:off x="1589472" y="3427990"/>
            <a:ext cx="5052498" cy="1729890"/>
          </a:xfrm>
          <a:prstGeom prst="rect">
            <a:avLst/>
          </a:prstGeom>
        </p:spPr>
      </p:pic>
    </p:spTree>
    <p:extLst>
      <p:ext uri="{BB962C8B-B14F-4D97-AF65-F5344CB8AC3E}">
        <p14:creationId xmlns:p14="http://schemas.microsoft.com/office/powerpoint/2010/main" val="21007232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D4BB2D04-9E4E-F9EE-7FBD-4C248391BCB3}"/>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CAF4F514-249D-E581-9789-2E8F438D4EB9}"/>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DYNAMIC PROGRAMMING</a:t>
            </a:r>
          </a:p>
        </p:txBody>
      </p:sp>
      <p:sp>
        <p:nvSpPr>
          <p:cNvPr id="369" name="Google Shape;369;p42">
            <a:extLst>
              <a:ext uri="{FF2B5EF4-FFF2-40B4-BE49-F238E27FC236}">
                <a16:creationId xmlns:a16="http://schemas.microsoft.com/office/drawing/2014/main" id="{6BDA5C14-2359-E13D-5F74-464409916B61}"/>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33</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4B9EBA7F-F389-DD78-1D83-779F08DEB7A8}"/>
              </a:ext>
            </a:extLst>
          </p:cNvPr>
          <p:cNvSpPr txBox="1"/>
          <p:nvPr/>
        </p:nvSpPr>
        <p:spPr>
          <a:xfrm>
            <a:off x="154290" y="1081890"/>
            <a:ext cx="8761110" cy="4039527"/>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US" sz="1800" b="1" i="0" u="none" strike="noStrike" kern="0" cap="none" spc="0" normalizeH="0" baseline="0" noProof="0" dirty="0">
                <a:ln>
                  <a:noFill/>
                </a:ln>
                <a:solidFill>
                  <a:sysClr val="windowText" lastClr="000000"/>
                </a:solidFill>
                <a:effectLst/>
                <a:uLnTx/>
                <a:uFillTx/>
                <a:latin typeface="+mj-lt"/>
              </a:rPr>
              <a:t>The Knapsack Problem and Memory Functions</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j-lt"/>
              </a:rPr>
              <a:t>Thus, the maximal value is F(4, 5) = $37.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j-lt"/>
              </a:rPr>
              <a:t>We can find the composition of an optimal subset by backtracking the computations of this entry in the table.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j-lt"/>
              </a:rPr>
              <a:t>Since F(4, 5) &gt; F(3, 5), item 4 has to be included in an optimal solution along with an optimal subset for filling 5 − 2 = 3 remaining units of the knapsack capacity.</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j-lt"/>
              </a:rPr>
              <a:t>The value of the latter is F(3, 3).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j-lt"/>
              </a:rPr>
              <a:t>Since F(3, 3) = F(2, 3), item 3 need not be in an optimal subset. Since F(2, 3) &gt; F(1, 3), item 2 is a part of an optimal selection, which leaves element F(1, 3 − 1) to specify its remaining composition. </a:t>
            </a:r>
          </a:p>
        </p:txBody>
      </p:sp>
    </p:spTree>
    <p:extLst>
      <p:ext uri="{BB962C8B-B14F-4D97-AF65-F5344CB8AC3E}">
        <p14:creationId xmlns:p14="http://schemas.microsoft.com/office/powerpoint/2010/main" val="33055963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B63CCA58-BBE2-8E6A-2F2C-BAF40D664E39}"/>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30721AA9-DEB5-A481-7918-98AEF49A1E0F}"/>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DYNAMIC PROGRAMMING</a:t>
            </a:r>
          </a:p>
        </p:txBody>
      </p:sp>
      <p:sp>
        <p:nvSpPr>
          <p:cNvPr id="369" name="Google Shape;369;p42">
            <a:extLst>
              <a:ext uri="{FF2B5EF4-FFF2-40B4-BE49-F238E27FC236}">
                <a16:creationId xmlns:a16="http://schemas.microsoft.com/office/drawing/2014/main" id="{429D856D-1E53-0123-FB50-A5D645F4C3FC}"/>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34</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392D4D6C-F533-CCAE-4888-29C832DDA4AA}"/>
              </a:ext>
            </a:extLst>
          </p:cNvPr>
          <p:cNvSpPr txBox="1"/>
          <p:nvPr/>
        </p:nvSpPr>
        <p:spPr>
          <a:xfrm>
            <a:off x="154290" y="1081890"/>
            <a:ext cx="8761110" cy="2885365"/>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US" sz="1800" b="1" i="0" u="none" strike="noStrike" kern="0" cap="none" spc="0" normalizeH="0" baseline="0" noProof="0" dirty="0">
                <a:ln>
                  <a:noFill/>
                </a:ln>
                <a:solidFill>
                  <a:sysClr val="windowText" lastClr="000000"/>
                </a:solidFill>
                <a:effectLst/>
                <a:uLnTx/>
                <a:uFillTx/>
                <a:latin typeface="+mj-lt"/>
              </a:rPr>
              <a:t>The Knapsack Problem and Memory Functions</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j-lt"/>
              </a:rPr>
              <a:t>Similarly, since F(1, 2) &gt; F(0, 2), item 1 is the final part of the optimal solution {item 1,item 2, item 4}.</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j-lt"/>
              </a:rPr>
              <a:t>The time efficiency and space efficiency of this algorithm are both in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j-lt"/>
              </a:rPr>
              <a:t>The time needed to find the composition of an optimal solution is in O(n). You are asked to prove these assertions in the exercises.</a:t>
            </a:r>
          </a:p>
          <a:p>
            <a:pPr marL="0" marR="0" lvl="0" indent="0" algn="just" defTabSz="914400" eaLnBrk="1" fontAlgn="auto" latinLnBrk="0" hangingPunct="1">
              <a:lnSpc>
                <a:spcPct val="150000"/>
              </a:lnSpc>
              <a:spcBef>
                <a:spcPts val="0"/>
              </a:spcBef>
              <a:spcAft>
                <a:spcPts val="0"/>
              </a:spcAft>
              <a:buClrTx/>
              <a:buSzPts val="1800"/>
              <a:buFontTx/>
              <a:buNone/>
              <a:tabLst/>
              <a:defRPr/>
            </a:pPr>
            <a:endParaRPr kumimoji="0" lang="en-US" sz="1800" b="1" i="0" u="none" strike="noStrike" kern="0" cap="none" spc="0" normalizeH="0" baseline="0" noProof="0" dirty="0">
              <a:ln>
                <a:noFill/>
              </a:ln>
              <a:solidFill>
                <a:sysClr val="windowText" lastClr="000000"/>
              </a:solidFill>
              <a:effectLst/>
              <a:uLnTx/>
              <a:uFillTx/>
              <a:latin typeface="+mj-lt"/>
            </a:endParaRPr>
          </a:p>
        </p:txBody>
      </p:sp>
      <p:pic>
        <p:nvPicPr>
          <p:cNvPr id="5" name="Picture 4">
            <a:extLst>
              <a:ext uri="{FF2B5EF4-FFF2-40B4-BE49-F238E27FC236}">
                <a16:creationId xmlns:a16="http://schemas.microsoft.com/office/drawing/2014/main" id="{D09ECF45-81EE-598D-7AA5-5D3399160DC0}"/>
              </a:ext>
            </a:extLst>
          </p:cNvPr>
          <p:cNvPicPr>
            <a:picLocks noChangeAspect="1"/>
          </p:cNvPicPr>
          <p:nvPr/>
        </p:nvPicPr>
        <p:blipFill>
          <a:blip r:embed="rId3"/>
          <a:stretch>
            <a:fillRect/>
          </a:stretch>
        </p:blipFill>
        <p:spPr>
          <a:xfrm>
            <a:off x="7437102" y="2431804"/>
            <a:ext cx="441998" cy="262621"/>
          </a:xfrm>
          <a:prstGeom prst="rect">
            <a:avLst/>
          </a:prstGeom>
        </p:spPr>
      </p:pic>
    </p:spTree>
    <p:extLst>
      <p:ext uri="{BB962C8B-B14F-4D97-AF65-F5344CB8AC3E}">
        <p14:creationId xmlns:p14="http://schemas.microsoft.com/office/powerpoint/2010/main" val="4425993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29390790-7F59-2D2D-E6B2-EF48DD12934D}"/>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C4428C08-14BF-A102-9B88-4E11ADA9335D}"/>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DYNAMIC PROGRAMMING</a:t>
            </a:r>
          </a:p>
        </p:txBody>
      </p:sp>
      <p:sp>
        <p:nvSpPr>
          <p:cNvPr id="369" name="Google Shape;369;p42">
            <a:extLst>
              <a:ext uri="{FF2B5EF4-FFF2-40B4-BE49-F238E27FC236}">
                <a16:creationId xmlns:a16="http://schemas.microsoft.com/office/drawing/2014/main" id="{8FAB217D-6A7D-A1B3-283C-4B8968FB34C3}"/>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35</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BC1DA382-F39E-C91B-7543-91A795D66756}"/>
              </a:ext>
            </a:extLst>
          </p:cNvPr>
          <p:cNvSpPr txBox="1"/>
          <p:nvPr/>
        </p:nvSpPr>
        <p:spPr>
          <a:xfrm>
            <a:off x="154290" y="941933"/>
            <a:ext cx="8761110" cy="4662775"/>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US" sz="1800" b="1" i="0" u="none" strike="noStrike" kern="0" cap="none" spc="0" normalizeH="0" baseline="0" noProof="0" dirty="0">
                <a:ln>
                  <a:noFill/>
                </a:ln>
                <a:solidFill>
                  <a:sysClr val="windowText" lastClr="000000"/>
                </a:solidFill>
                <a:effectLst/>
                <a:uLnTx/>
                <a:uFillTx/>
                <a:latin typeface="+mj-lt"/>
              </a:rPr>
              <a:t>Memory Functions</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latin typeface="+mj-lt"/>
              </a:rPr>
              <a:t>As we discussed at the beginning of this chapter and illustrated in subsequent sections, dynamic programming deals with problems whose solutions satisfy a recurrence relation with overlapping subproblems.</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latin typeface="+mj-lt"/>
              </a:rPr>
              <a:t>The direct top-down approach to finding a solution to such a recurrence leads to an algorithm that solves common subproblems more than once and hence is very inefficient (typically, exponential or worse).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latin typeface="+mj-lt"/>
              </a:rPr>
              <a:t>The classic dynamic programming approach, on the other hand, works bottom up: it fills a table with solutions to all smaller subproblems, but each of them is solved only once. </a:t>
            </a:r>
            <a:endParaRPr kumimoji="0" lang="en-US" sz="1800" b="1" i="0" u="none" strike="noStrike" kern="0" cap="none" spc="0" normalizeH="0" baseline="0" noProof="0" dirty="0">
              <a:ln>
                <a:noFill/>
              </a:ln>
              <a:solidFill>
                <a:sysClr val="windowText" lastClr="000000"/>
              </a:solidFill>
              <a:effectLst/>
              <a:uLnTx/>
              <a:uFillTx/>
              <a:latin typeface="+mj-lt"/>
            </a:endParaRPr>
          </a:p>
          <a:p>
            <a:pPr marL="0" marR="0" lvl="0" indent="0" algn="just" defTabSz="914400" eaLnBrk="1" fontAlgn="auto" latinLnBrk="0" hangingPunct="1">
              <a:lnSpc>
                <a:spcPct val="150000"/>
              </a:lnSpc>
              <a:spcBef>
                <a:spcPts val="0"/>
              </a:spcBef>
              <a:spcAft>
                <a:spcPts val="0"/>
              </a:spcAft>
              <a:buClrTx/>
              <a:buSzPts val="1800"/>
              <a:buFontTx/>
              <a:buNone/>
              <a:tabLst/>
              <a:defRPr/>
            </a:pPr>
            <a:endParaRPr kumimoji="0" lang="en-US" sz="1800" b="1" i="0" u="none" strike="noStrike" kern="0" cap="none" spc="0" normalizeH="0" baseline="0" noProof="0" dirty="0">
              <a:ln>
                <a:noFill/>
              </a:ln>
              <a:solidFill>
                <a:sysClr val="windowText" lastClr="000000"/>
              </a:solidFill>
              <a:effectLst/>
              <a:uLnTx/>
              <a:uFillTx/>
              <a:latin typeface="+mj-lt"/>
            </a:endParaRPr>
          </a:p>
        </p:txBody>
      </p:sp>
    </p:spTree>
    <p:extLst>
      <p:ext uri="{BB962C8B-B14F-4D97-AF65-F5344CB8AC3E}">
        <p14:creationId xmlns:p14="http://schemas.microsoft.com/office/powerpoint/2010/main" val="153086297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F429504E-AFAE-A86A-C8E2-C639F1DE6F75}"/>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2F1E2153-7536-0E6C-B0BC-19B7D1C5BE86}"/>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DYNAMIC PROGRAMMING</a:t>
            </a:r>
          </a:p>
        </p:txBody>
      </p:sp>
      <p:sp>
        <p:nvSpPr>
          <p:cNvPr id="369" name="Google Shape;369;p42">
            <a:extLst>
              <a:ext uri="{FF2B5EF4-FFF2-40B4-BE49-F238E27FC236}">
                <a16:creationId xmlns:a16="http://schemas.microsoft.com/office/drawing/2014/main" id="{82EFC1F2-0D9C-F15F-2827-6111D2C3A702}"/>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36</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B81C7DF8-B162-DDF5-6684-B216B76B7A08}"/>
              </a:ext>
            </a:extLst>
          </p:cNvPr>
          <p:cNvSpPr txBox="1"/>
          <p:nvPr/>
        </p:nvSpPr>
        <p:spPr>
          <a:xfrm>
            <a:off x="154290" y="941933"/>
            <a:ext cx="8761110" cy="4201110"/>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US" sz="1800" b="1" i="0" u="none" strike="noStrike" kern="0" cap="none" spc="0" normalizeH="0" baseline="0" noProof="0" dirty="0">
                <a:ln>
                  <a:noFill/>
                </a:ln>
                <a:solidFill>
                  <a:sysClr val="windowText" lastClr="000000"/>
                </a:solidFill>
                <a:effectLst/>
                <a:uLnTx/>
                <a:uFillTx/>
                <a:latin typeface="+mj-lt"/>
              </a:rPr>
              <a:t>Memory Functions</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600" b="0" i="0" u="none" strike="noStrike" kern="0" cap="none" spc="0" normalizeH="0" baseline="0" noProof="0" dirty="0">
                <a:ln>
                  <a:noFill/>
                </a:ln>
                <a:solidFill>
                  <a:sysClr val="windowText" lastClr="000000"/>
                </a:solidFill>
                <a:effectLst/>
                <a:uLnTx/>
                <a:uFillTx/>
                <a:latin typeface="+mj-lt"/>
              </a:rPr>
              <a:t>An unsatisfying aspect of this approach is that solutions to some of these smaller subproblems are often not necessary for getting a solution to the problem given.</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600" b="0" i="0" u="none" strike="noStrike" kern="0" cap="none" spc="0" normalizeH="0" baseline="0" noProof="0" dirty="0">
                <a:ln>
                  <a:noFill/>
                </a:ln>
                <a:solidFill>
                  <a:sysClr val="windowText" lastClr="000000"/>
                </a:solidFill>
                <a:effectLst/>
                <a:uLnTx/>
                <a:uFillTx/>
                <a:latin typeface="+mj-lt"/>
              </a:rPr>
              <a:t>Since this drawback is not present in the top-down approach, it is natural to try to combine the strengths of the top-down and bottom-up approaches.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600" b="0" i="0" u="none" strike="noStrike" kern="0" cap="none" spc="0" normalizeH="0" baseline="0" noProof="0" dirty="0">
                <a:ln>
                  <a:noFill/>
                </a:ln>
                <a:solidFill>
                  <a:sysClr val="windowText" lastClr="000000"/>
                </a:solidFill>
                <a:effectLst/>
                <a:uLnTx/>
                <a:uFillTx/>
                <a:latin typeface="+mj-lt"/>
              </a:rPr>
              <a:t>The goal is to get a method that solves only subproblems that are necessary and does so only once.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600" b="0" i="0" u="none" strike="noStrike" kern="0" cap="none" spc="0" normalizeH="0" baseline="0" noProof="0" dirty="0">
                <a:ln>
                  <a:noFill/>
                </a:ln>
                <a:solidFill>
                  <a:sysClr val="windowText" lastClr="000000"/>
                </a:solidFill>
                <a:effectLst/>
                <a:uLnTx/>
                <a:uFillTx/>
                <a:latin typeface="+mj-lt"/>
              </a:rPr>
              <a:t>Such a method exists; it is based on using </a:t>
            </a:r>
            <a:r>
              <a:rPr kumimoji="0" lang="en-US" sz="1600" b="0" i="1" u="none" strike="noStrike" kern="0" cap="none" spc="0" normalizeH="0" baseline="0" noProof="0" dirty="0">
                <a:ln>
                  <a:noFill/>
                </a:ln>
                <a:solidFill>
                  <a:sysClr val="windowText" lastClr="000000"/>
                </a:solidFill>
                <a:effectLst/>
                <a:uLnTx/>
                <a:uFillTx/>
                <a:latin typeface="+mj-lt"/>
              </a:rPr>
              <a:t>memory functions</a:t>
            </a:r>
            <a:r>
              <a:rPr kumimoji="0" lang="en-US" sz="1600" b="0" i="0" u="none" strike="noStrike" kern="0" cap="none" spc="0" normalizeH="0" baseline="0" noProof="0" dirty="0">
                <a:ln>
                  <a:noFill/>
                </a:ln>
                <a:solidFill>
                  <a:sysClr val="windowText" lastClr="000000"/>
                </a:solidFill>
                <a:effectLst/>
                <a:uLnTx/>
                <a:uFillTx/>
                <a:latin typeface="+mj-lt"/>
              </a:rPr>
              <a:t>.</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600" b="0" i="0" u="none" strike="noStrike" kern="0" cap="none" spc="0" normalizeH="0" baseline="0" noProof="0" dirty="0">
                <a:ln>
                  <a:noFill/>
                </a:ln>
                <a:solidFill>
                  <a:sysClr val="windowText" lastClr="000000"/>
                </a:solidFill>
                <a:effectLst/>
                <a:uLnTx/>
                <a:uFillTx/>
                <a:latin typeface="+mj-lt"/>
              </a:rPr>
              <a:t>This method solves a given problem in the top-down manner but, in addition, maintains a table of the kind that would have been used by a bottom-up dynamic programming algorithm. </a:t>
            </a:r>
            <a:endParaRPr kumimoji="0" lang="en-US" sz="1800" b="1" i="0" u="none" strike="noStrike" kern="0" cap="none" spc="0" normalizeH="0" baseline="0" noProof="0" dirty="0">
              <a:ln>
                <a:noFill/>
              </a:ln>
              <a:solidFill>
                <a:sysClr val="windowText" lastClr="000000"/>
              </a:solidFill>
              <a:effectLst/>
              <a:uLnTx/>
              <a:uFillTx/>
              <a:latin typeface="+mj-lt"/>
            </a:endParaRPr>
          </a:p>
        </p:txBody>
      </p:sp>
    </p:spTree>
    <p:extLst>
      <p:ext uri="{BB962C8B-B14F-4D97-AF65-F5344CB8AC3E}">
        <p14:creationId xmlns:p14="http://schemas.microsoft.com/office/powerpoint/2010/main" val="409664453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716CF55C-9660-60DB-C0E0-C9D8BEEAF882}"/>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66E1CE34-026E-44F0-919D-55FFD20F6F4A}"/>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DYNAMIC PROGRAMMING</a:t>
            </a:r>
          </a:p>
        </p:txBody>
      </p:sp>
      <p:sp>
        <p:nvSpPr>
          <p:cNvPr id="369" name="Google Shape;369;p42">
            <a:extLst>
              <a:ext uri="{FF2B5EF4-FFF2-40B4-BE49-F238E27FC236}">
                <a16:creationId xmlns:a16="http://schemas.microsoft.com/office/drawing/2014/main" id="{DDD9D43D-4547-C95A-7B3D-F6B7D95D1BD6}"/>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37</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6C479C14-0AA6-0E84-9E19-50AAB43581D1}"/>
              </a:ext>
            </a:extLst>
          </p:cNvPr>
          <p:cNvSpPr txBox="1"/>
          <p:nvPr/>
        </p:nvSpPr>
        <p:spPr>
          <a:xfrm>
            <a:off x="154290" y="941933"/>
            <a:ext cx="8761110" cy="4662775"/>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US" sz="1800" b="1" i="0" u="none" strike="noStrike" kern="0" cap="none" spc="0" normalizeH="0" baseline="0" noProof="0" dirty="0">
                <a:ln>
                  <a:noFill/>
                </a:ln>
                <a:solidFill>
                  <a:sysClr val="windowText" lastClr="000000"/>
                </a:solidFill>
                <a:effectLst/>
                <a:uLnTx/>
                <a:uFillTx/>
                <a:latin typeface="+mj-lt"/>
              </a:rPr>
              <a:t>Memory Functions</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latin typeface="+mj-lt"/>
              </a:rPr>
              <a:t>Initially, all the table’s entries are initialized with a special “null” symbol to indicate that they have not yet been calculated.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latin typeface="+mj-lt"/>
              </a:rPr>
              <a:t>Thereafter, whenever a new value needs to be calculated, the method checks the corresponding entry in the table first: if this entry is not “null,” it is simply retrieved from the table; otherwise, it is computed by the recursive call whose result is then recorded in the table.</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latin typeface="+mj-lt"/>
              </a:rPr>
              <a:t>The following algorithm implements this idea for the knapsack problem. After initializing the table, the recursive function needs to be called with </a:t>
            </a:r>
            <a:r>
              <a:rPr kumimoji="0" lang="en-US" sz="1800" b="0" i="0" u="none" strike="noStrike" kern="0" cap="none" spc="0" normalizeH="0" baseline="0" noProof="0" dirty="0" err="1">
                <a:ln>
                  <a:noFill/>
                </a:ln>
                <a:solidFill>
                  <a:sysClr val="windowText" lastClr="000000"/>
                </a:solidFill>
                <a:effectLst/>
                <a:uLnTx/>
                <a:uFillTx/>
                <a:latin typeface="+mj-lt"/>
              </a:rPr>
              <a:t>i</a:t>
            </a:r>
            <a:r>
              <a:rPr kumimoji="0" lang="en-US" sz="1800" b="0" i="0" u="none" strike="noStrike" kern="0" cap="none" spc="0" normalizeH="0" baseline="0" noProof="0" dirty="0">
                <a:ln>
                  <a:noFill/>
                </a:ln>
                <a:solidFill>
                  <a:sysClr val="windowText" lastClr="000000"/>
                </a:solidFill>
                <a:effectLst/>
                <a:uLnTx/>
                <a:uFillTx/>
                <a:latin typeface="+mj-lt"/>
              </a:rPr>
              <a:t> = n (the number of items) and j = W (the knapsack capacity).</a:t>
            </a:r>
          </a:p>
          <a:p>
            <a:pPr marL="0" marR="0" lvl="0" indent="0" algn="just" defTabSz="914400" eaLnBrk="1" fontAlgn="auto" latinLnBrk="0" hangingPunct="1">
              <a:lnSpc>
                <a:spcPct val="150000"/>
              </a:lnSpc>
              <a:spcBef>
                <a:spcPts val="0"/>
              </a:spcBef>
              <a:spcAft>
                <a:spcPts val="0"/>
              </a:spcAft>
              <a:buClrTx/>
              <a:buSzPts val="1800"/>
              <a:buFontTx/>
              <a:buNone/>
              <a:tabLst/>
              <a:defRPr/>
            </a:pPr>
            <a:endParaRPr kumimoji="0" lang="en-US" sz="1800" b="1" i="0" u="none" strike="noStrike" kern="0" cap="none" spc="0" normalizeH="0" baseline="0" noProof="0" dirty="0">
              <a:ln>
                <a:noFill/>
              </a:ln>
              <a:solidFill>
                <a:sysClr val="windowText" lastClr="000000"/>
              </a:solidFill>
              <a:effectLst/>
              <a:uLnTx/>
              <a:uFillTx/>
              <a:latin typeface="+mj-lt"/>
            </a:endParaRPr>
          </a:p>
        </p:txBody>
      </p:sp>
    </p:spTree>
    <p:extLst>
      <p:ext uri="{BB962C8B-B14F-4D97-AF65-F5344CB8AC3E}">
        <p14:creationId xmlns:p14="http://schemas.microsoft.com/office/powerpoint/2010/main" val="6224883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07C65B64-B2E8-289F-61AC-24D4AF41BA65}"/>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1B2A9B9F-CAD5-D3D7-3865-EBF9D31ED7B7}"/>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DYNAMIC PROGRAMMING</a:t>
            </a:r>
          </a:p>
        </p:txBody>
      </p:sp>
      <p:sp>
        <p:nvSpPr>
          <p:cNvPr id="369" name="Google Shape;369;p42">
            <a:extLst>
              <a:ext uri="{FF2B5EF4-FFF2-40B4-BE49-F238E27FC236}">
                <a16:creationId xmlns:a16="http://schemas.microsoft.com/office/drawing/2014/main" id="{72AA16C0-EBA1-BC7B-7F32-7217B3DA4BC9}"/>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38</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08353156-A91A-C326-22E2-0AFE4D33F25E}"/>
              </a:ext>
            </a:extLst>
          </p:cNvPr>
          <p:cNvSpPr txBox="1"/>
          <p:nvPr/>
        </p:nvSpPr>
        <p:spPr>
          <a:xfrm>
            <a:off x="154290" y="941933"/>
            <a:ext cx="8761110" cy="923289"/>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US" sz="1800" b="1" i="0" u="none" strike="noStrike" kern="0" cap="none" spc="0" normalizeH="0" baseline="0" noProof="0" dirty="0">
                <a:ln>
                  <a:noFill/>
                </a:ln>
                <a:solidFill>
                  <a:sysClr val="windowText" lastClr="000000"/>
                </a:solidFill>
                <a:effectLst/>
                <a:uLnTx/>
                <a:uFillTx/>
                <a:latin typeface="+mj-lt"/>
              </a:rPr>
              <a:t>Memory Functions</a:t>
            </a:r>
          </a:p>
          <a:p>
            <a:pPr marL="0" marR="0" lvl="0" indent="0" algn="just" defTabSz="914400" eaLnBrk="1" fontAlgn="auto" latinLnBrk="0" hangingPunct="1">
              <a:lnSpc>
                <a:spcPct val="150000"/>
              </a:lnSpc>
              <a:spcBef>
                <a:spcPts val="0"/>
              </a:spcBef>
              <a:spcAft>
                <a:spcPts val="0"/>
              </a:spcAft>
              <a:buClrTx/>
              <a:buSzPts val="1800"/>
              <a:buFontTx/>
              <a:buNone/>
              <a:tabLst/>
              <a:defRPr/>
            </a:pPr>
            <a:endParaRPr kumimoji="0" lang="en-US" sz="1800" b="1" i="0" u="none" strike="noStrike" kern="0" cap="none" spc="0" normalizeH="0" baseline="0" noProof="0" dirty="0">
              <a:ln>
                <a:noFill/>
              </a:ln>
              <a:solidFill>
                <a:sysClr val="windowText" lastClr="000000"/>
              </a:solidFill>
              <a:effectLst/>
              <a:uLnTx/>
              <a:uFillTx/>
              <a:latin typeface="+mj-lt"/>
            </a:endParaRPr>
          </a:p>
        </p:txBody>
      </p:sp>
      <p:pic>
        <p:nvPicPr>
          <p:cNvPr id="3" name="Picture 2">
            <a:extLst>
              <a:ext uri="{FF2B5EF4-FFF2-40B4-BE49-F238E27FC236}">
                <a16:creationId xmlns:a16="http://schemas.microsoft.com/office/drawing/2014/main" id="{A0E43CB2-FDD1-61E0-8866-E142087D5280}"/>
              </a:ext>
            </a:extLst>
          </p:cNvPr>
          <p:cNvPicPr>
            <a:picLocks noChangeAspect="1"/>
          </p:cNvPicPr>
          <p:nvPr/>
        </p:nvPicPr>
        <p:blipFill>
          <a:blip r:embed="rId3"/>
          <a:stretch>
            <a:fillRect/>
          </a:stretch>
        </p:blipFill>
        <p:spPr>
          <a:xfrm>
            <a:off x="1479285" y="1396433"/>
            <a:ext cx="5114609" cy="3425598"/>
          </a:xfrm>
          <a:prstGeom prst="rect">
            <a:avLst/>
          </a:prstGeom>
        </p:spPr>
      </p:pic>
    </p:spTree>
    <p:extLst>
      <p:ext uri="{BB962C8B-B14F-4D97-AF65-F5344CB8AC3E}">
        <p14:creationId xmlns:p14="http://schemas.microsoft.com/office/powerpoint/2010/main" val="140993897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6A516873-BB89-DFE2-50E3-ACC119287896}"/>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7E48C8E5-8860-14C0-923C-FCEDFBF32743}"/>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DYNAMIC PROGRAMMING</a:t>
            </a:r>
          </a:p>
        </p:txBody>
      </p:sp>
      <p:sp>
        <p:nvSpPr>
          <p:cNvPr id="369" name="Google Shape;369;p42">
            <a:extLst>
              <a:ext uri="{FF2B5EF4-FFF2-40B4-BE49-F238E27FC236}">
                <a16:creationId xmlns:a16="http://schemas.microsoft.com/office/drawing/2014/main" id="{BC3F9E35-76B1-F01A-E103-344CF2A20203}"/>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39</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3264561C-C345-9F66-211D-82CE0CDC2944}"/>
              </a:ext>
            </a:extLst>
          </p:cNvPr>
          <p:cNvSpPr txBox="1"/>
          <p:nvPr/>
        </p:nvSpPr>
        <p:spPr>
          <a:xfrm>
            <a:off x="154290" y="941933"/>
            <a:ext cx="8753736" cy="3254697"/>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US" sz="1800" b="1" i="0" u="none" strike="noStrike" kern="0" cap="none" spc="0" normalizeH="0" baseline="0" noProof="0" dirty="0">
                <a:ln>
                  <a:noFill/>
                </a:ln>
                <a:solidFill>
                  <a:sysClr val="windowText" lastClr="000000"/>
                </a:solidFill>
                <a:effectLst/>
                <a:uLnTx/>
                <a:uFillTx/>
                <a:latin typeface="+mj-lt"/>
              </a:rPr>
              <a:t>Memory Functions</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n-lt"/>
              </a:rPr>
              <a:t>EXAMPLE 2 Let us apply the memory function method to the instance considered in Example 1.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n-lt"/>
              </a:rPr>
              <a:t>The table in Figure 8.6 gives the results. Only 11 out of 20 nontrivial values (i.e., not those in row 0 or in column 0) have been computed.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n-lt"/>
              </a:rPr>
              <a:t>Just one nontrivial entry, V (1, 2), is retrieved rather than being recomputed.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n-lt"/>
              </a:rPr>
              <a:t>For larger instances, the proportion of such entries can be significantly larger.</a:t>
            </a:r>
          </a:p>
          <a:p>
            <a:pPr marL="0" marR="0" lvl="0" indent="0" algn="just" defTabSz="914400" eaLnBrk="1" fontAlgn="auto" latinLnBrk="0" hangingPunct="1">
              <a:lnSpc>
                <a:spcPct val="150000"/>
              </a:lnSpc>
              <a:spcBef>
                <a:spcPts val="0"/>
              </a:spcBef>
              <a:spcAft>
                <a:spcPts val="0"/>
              </a:spcAft>
              <a:buClrTx/>
              <a:buSzPts val="1800"/>
              <a:buFontTx/>
              <a:buNone/>
              <a:tabLst/>
              <a:defRPr/>
            </a:pPr>
            <a:endParaRPr kumimoji="0" lang="en-US" sz="1700" b="0" i="0" u="none" strike="noStrike" kern="0" cap="none" spc="0" normalizeH="0" baseline="0" noProof="0" dirty="0">
              <a:ln>
                <a:noFill/>
              </a:ln>
              <a:solidFill>
                <a:sysClr val="windowText" lastClr="000000"/>
              </a:solidFill>
              <a:effectLst/>
              <a:uLnTx/>
              <a:uFillTx/>
              <a:latin typeface="+mn-lt"/>
            </a:endParaRPr>
          </a:p>
        </p:txBody>
      </p:sp>
    </p:spTree>
    <p:extLst>
      <p:ext uri="{BB962C8B-B14F-4D97-AF65-F5344CB8AC3E}">
        <p14:creationId xmlns:p14="http://schemas.microsoft.com/office/powerpoint/2010/main" val="306537711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6A516873-BB89-DFE2-50E3-ACC119287896}"/>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7E48C8E5-8860-14C0-923C-FCEDFBF32743}"/>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DYNAMIC PROGRAMMING</a:t>
            </a:r>
          </a:p>
        </p:txBody>
      </p:sp>
      <p:sp>
        <p:nvSpPr>
          <p:cNvPr id="369" name="Google Shape;369;p42">
            <a:extLst>
              <a:ext uri="{FF2B5EF4-FFF2-40B4-BE49-F238E27FC236}">
                <a16:creationId xmlns:a16="http://schemas.microsoft.com/office/drawing/2014/main" id="{BC3F9E35-76B1-F01A-E103-344CF2A20203}"/>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40</a:t>
            </a:fld>
            <a:endParaRPr kumimoji="0" sz="1800" b="0" i="0" u="none" strike="noStrike" kern="0" cap="none" spc="0" normalizeH="0" baseline="0" noProof="0">
              <a:ln>
                <a:noFill/>
              </a:ln>
              <a:solidFill>
                <a:sysClr val="windowText" lastClr="000000"/>
              </a:solidFill>
              <a:effectLst/>
              <a:uLnTx/>
              <a:uFillTx/>
            </a:endParaRPr>
          </a:p>
        </p:txBody>
      </p:sp>
      <p:pic>
        <p:nvPicPr>
          <p:cNvPr id="5" name="Picture 4">
            <a:extLst>
              <a:ext uri="{FF2B5EF4-FFF2-40B4-BE49-F238E27FC236}">
                <a16:creationId xmlns:a16="http://schemas.microsoft.com/office/drawing/2014/main" id="{AC35B777-0FA9-FBB4-D05B-90353504356E}"/>
              </a:ext>
            </a:extLst>
          </p:cNvPr>
          <p:cNvPicPr>
            <a:picLocks noChangeAspect="1"/>
          </p:cNvPicPr>
          <p:nvPr/>
        </p:nvPicPr>
        <p:blipFill>
          <a:blip r:embed="rId3"/>
          <a:stretch>
            <a:fillRect/>
          </a:stretch>
        </p:blipFill>
        <p:spPr>
          <a:xfrm>
            <a:off x="816761" y="1503720"/>
            <a:ext cx="7510477" cy="2529964"/>
          </a:xfrm>
          <a:prstGeom prst="rect">
            <a:avLst/>
          </a:prstGeom>
        </p:spPr>
      </p:pic>
    </p:spTree>
    <p:extLst>
      <p:ext uri="{BB962C8B-B14F-4D97-AF65-F5344CB8AC3E}">
        <p14:creationId xmlns:p14="http://schemas.microsoft.com/office/powerpoint/2010/main" val="58970743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8B9254BB-1510-E0A1-82A8-0A4563697AAE}"/>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335545E1-BF76-82ED-B8C1-D8DFFBF96088}"/>
              </a:ext>
            </a:extLst>
          </p:cNvPr>
          <p:cNvSpPr txBox="1"/>
          <p:nvPr/>
        </p:nvSpPr>
        <p:spPr>
          <a:xfrm>
            <a:off x="154290" y="680343"/>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DYNAMIC PROGRAMMING</a:t>
            </a:r>
          </a:p>
        </p:txBody>
      </p:sp>
      <p:sp>
        <p:nvSpPr>
          <p:cNvPr id="369" name="Google Shape;369;p42">
            <a:extLst>
              <a:ext uri="{FF2B5EF4-FFF2-40B4-BE49-F238E27FC236}">
                <a16:creationId xmlns:a16="http://schemas.microsoft.com/office/drawing/2014/main" id="{464CB168-C703-9161-9D7E-2A8B99E789C9}"/>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41</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87894EE5-19E4-7596-4E95-FB596E38C026}"/>
              </a:ext>
            </a:extLst>
          </p:cNvPr>
          <p:cNvSpPr txBox="1"/>
          <p:nvPr/>
        </p:nvSpPr>
        <p:spPr>
          <a:xfrm>
            <a:off x="154290" y="1096791"/>
            <a:ext cx="8761110" cy="3254697"/>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US" sz="1800" b="1" i="0" u="none" strike="noStrike" kern="0" cap="none" spc="0" normalizeH="0" baseline="0" noProof="0" dirty="0">
                <a:ln>
                  <a:noFill/>
                </a:ln>
                <a:solidFill>
                  <a:sysClr val="windowText" lastClr="000000"/>
                </a:solidFill>
                <a:effectLst/>
                <a:uLnTx/>
                <a:uFillTx/>
                <a:latin typeface="+mj-lt"/>
              </a:rPr>
              <a:t>Memory Functions</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n-lt"/>
              </a:rPr>
              <a:t>In general, we cannot expect more than a constant-factor gain in using the memory function method for the knapsack problem, because its time efficiency class is the same as that of the bottom-up algorithm (why?).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n-lt"/>
              </a:rPr>
              <a:t>A more significant improvement can be expected for dynamic programming algorithms in which a computation of one value takes more than constant time.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n-lt"/>
              </a:rPr>
              <a:t>You should also keep in mind that a memory function algorithm may be less space-efficient than a space efficient version of a bottom-up algorithm.</a:t>
            </a:r>
          </a:p>
        </p:txBody>
      </p:sp>
    </p:spTree>
    <p:extLst>
      <p:ext uri="{BB962C8B-B14F-4D97-AF65-F5344CB8AC3E}">
        <p14:creationId xmlns:p14="http://schemas.microsoft.com/office/powerpoint/2010/main" val="207504651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2"/>
          <p:cNvSpPr txBox="1"/>
          <p:nvPr/>
        </p:nvSpPr>
        <p:spPr>
          <a:xfrm>
            <a:off x="1742085" y="1644446"/>
            <a:ext cx="5485797" cy="1508065"/>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0" cap="none" spc="0" normalizeH="0" baseline="0" noProof="0" dirty="0">
                <a:ln>
                  <a:noFill/>
                </a:ln>
                <a:solidFill>
                  <a:srgbClr val="083C92"/>
                </a:solidFill>
                <a:effectLst/>
                <a:uLnTx/>
                <a:uFillTx/>
                <a:latin typeface="Arial"/>
                <a:ea typeface="Arial"/>
                <a:cs typeface="Arial"/>
                <a:sym typeface="Arial"/>
              </a:rPr>
              <a:t>Module-4</a:t>
            </a:r>
            <a:endParaRPr kumimoji="0" sz="1800" b="0" i="0" u="none" strike="noStrike" kern="0" cap="none" spc="0" normalizeH="0" baseline="0" noProof="0" dirty="0">
              <a:ln>
                <a:noFill/>
              </a:ln>
              <a:solidFill>
                <a:sysClr val="windowText" lastClr="000000"/>
              </a:solidFill>
              <a:effectLst/>
              <a:uLnTx/>
              <a:uFillTx/>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2800" b="0" i="0" u="none" strike="noStrike" kern="0" cap="none" spc="0" normalizeH="0" baseline="0" noProof="0" dirty="0">
              <a:ln>
                <a:noFill/>
              </a:ln>
              <a:solidFill>
                <a:srgbClr val="000000"/>
              </a:solidFill>
              <a:effectLst/>
              <a:uLnTx/>
              <a:uFillTx/>
              <a:latin typeface="Arial"/>
              <a:ea typeface="Arial"/>
              <a:cs typeface="Arial"/>
              <a:sym typeface="Arial"/>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err="1">
                <a:ln>
                  <a:noFill/>
                </a:ln>
                <a:solidFill>
                  <a:sysClr val="windowText" lastClr="000000"/>
                </a:solidFill>
                <a:effectLst/>
                <a:uLnTx/>
                <a:uFillTx/>
              </a:rPr>
              <a:t>Warshall’s</a:t>
            </a:r>
            <a:r>
              <a:rPr kumimoji="0" lang="en-US" sz="2800" b="1" i="0" u="none" strike="noStrike" kern="0" cap="none" spc="0" normalizeH="0" baseline="0" noProof="0" dirty="0">
                <a:ln>
                  <a:noFill/>
                </a:ln>
                <a:solidFill>
                  <a:sysClr val="windowText" lastClr="000000"/>
                </a:solidFill>
                <a:effectLst/>
                <a:uLnTx/>
                <a:uFillTx/>
              </a:rPr>
              <a:t> Algorithm</a:t>
            </a:r>
          </a:p>
        </p:txBody>
      </p:sp>
      <p:sp>
        <p:nvSpPr>
          <p:cNvPr id="62" name="Google Shape;62;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42</a:t>
            </a:fld>
            <a:endParaRPr kumimoji="0" sz="18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225953712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E00D3222-A87D-DD23-0F53-9A2BBA1DCA34}"/>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B6A73F60-1F9B-9D96-C8D6-7AC57E91ADFD}"/>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DYNAMIC PROGRAMMING</a:t>
            </a:r>
          </a:p>
        </p:txBody>
      </p:sp>
      <p:sp>
        <p:nvSpPr>
          <p:cNvPr id="369" name="Google Shape;369;p42">
            <a:extLst>
              <a:ext uri="{FF2B5EF4-FFF2-40B4-BE49-F238E27FC236}">
                <a16:creationId xmlns:a16="http://schemas.microsoft.com/office/drawing/2014/main" id="{3DB1F6C9-9331-2CB5-B207-0C1E08DF5204}"/>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43</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3D213601-E97C-3D76-4488-C103B8631B84}"/>
              </a:ext>
            </a:extLst>
          </p:cNvPr>
          <p:cNvSpPr txBox="1"/>
          <p:nvPr/>
        </p:nvSpPr>
        <p:spPr>
          <a:xfrm>
            <a:off x="154290" y="1081890"/>
            <a:ext cx="8761110" cy="4455025"/>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IN" sz="1800" b="1" i="0" u="none" strike="noStrike" kern="0" cap="none" spc="0" normalizeH="0" baseline="0" noProof="0" dirty="0" err="1">
                <a:ln>
                  <a:noFill/>
                </a:ln>
                <a:solidFill>
                  <a:sysClr val="windowText" lastClr="000000"/>
                </a:solidFill>
                <a:effectLst/>
                <a:uLnTx/>
                <a:uFillTx/>
                <a:latin typeface="+mj-lt"/>
              </a:rPr>
              <a:t>Warshall’s</a:t>
            </a:r>
            <a:r>
              <a:rPr kumimoji="0" lang="en-IN" sz="1800" b="1" i="0" u="none" strike="noStrike" kern="0" cap="none" spc="0" normalizeH="0" baseline="0" noProof="0" dirty="0">
                <a:ln>
                  <a:noFill/>
                </a:ln>
                <a:solidFill>
                  <a:sysClr val="windowText" lastClr="000000"/>
                </a:solidFill>
                <a:effectLst/>
                <a:uLnTx/>
                <a:uFillTx/>
                <a:latin typeface="+mj-lt"/>
              </a:rPr>
              <a:t> Algorithm</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n-lt"/>
              </a:rPr>
              <a:t>Recall that the adjacency </a:t>
            </a:r>
            <a:r>
              <a:rPr kumimoji="0" lang="en-US" sz="1700" b="0" i="0" u="none" strike="noStrike" kern="0" cap="none" spc="0" normalizeH="0" baseline="0" noProof="0" dirty="0" err="1">
                <a:ln>
                  <a:noFill/>
                </a:ln>
                <a:solidFill>
                  <a:sysClr val="windowText" lastClr="000000"/>
                </a:solidFill>
                <a:effectLst/>
                <a:uLnTx/>
                <a:uFillTx/>
                <a:latin typeface="+mn-lt"/>
              </a:rPr>
              <a:t>matrixA</a:t>
            </a:r>
            <a:r>
              <a:rPr kumimoji="0" lang="en-US" sz="1700" b="0" i="0" u="none" strike="noStrike" kern="0" cap="none" spc="0" normalizeH="0" baseline="0" noProof="0" dirty="0">
                <a:ln>
                  <a:noFill/>
                </a:ln>
                <a:solidFill>
                  <a:sysClr val="windowText" lastClr="000000"/>
                </a:solidFill>
                <a:effectLst/>
                <a:uLnTx/>
                <a:uFillTx/>
                <a:latin typeface="+mn-lt"/>
              </a:rPr>
              <a:t> = {</a:t>
            </a:r>
            <a:r>
              <a:rPr kumimoji="0" lang="en-US" sz="1700" b="0" i="0" u="none" strike="noStrike" kern="0" cap="none" spc="0" normalizeH="0" baseline="0" noProof="0" dirty="0" err="1">
                <a:ln>
                  <a:noFill/>
                </a:ln>
                <a:solidFill>
                  <a:sysClr val="windowText" lastClr="000000"/>
                </a:solidFill>
                <a:effectLst/>
                <a:uLnTx/>
                <a:uFillTx/>
                <a:latin typeface="+mn-lt"/>
              </a:rPr>
              <a:t>a</a:t>
            </a:r>
            <a:r>
              <a:rPr kumimoji="0" lang="en-US" sz="1700" b="0" i="0" u="none" strike="noStrike" kern="0" cap="none" spc="0" normalizeH="0" baseline="-25000" noProof="0" dirty="0" err="1">
                <a:ln>
                  <a:noFill/>
                </a:ln>
                <a:solidFill>
                  <a:sysClr val="windowText" lastClr="000000"/>
                </a:solidFill>
                <a:effectLst/>
                <a:uLnTx/>
                <a:uFillTx/>
                <a:latin typeface="+mn-lt"/>
              </a:rPr>
              <a:t>ij</a:t>
            </a:r>
            <a:r>
              <a:rPr kumimoji="0" lang="en-US" sz="1700" b="0" i="0" u="none" strike="noStrike" kern="0" cap="none" spc="0" normalizeH="0" baseline="0" noProof="0" dirty="0">
                <a:ln>
                  <a:noFill/>
                </a:ln>
                <a:solidFill>
                  <a:sysClr val="windowText" lastClr="000000"/>
                </a:solidFill>
                <a:effectLst/>
                <a:uLnTx/>
                <a:uFillTx/>
                <a:latin typeface="+mn-lt"/>
              </a:rPr>
              <a:t>} of a directed graph is the Boolean matrix that has 1 in its </a:t>
            </a:r>
            <a:r>
              <a:rPr kumimoji="0" lang="en-US" sz="1700" b="0" i="0" u="none" strike="noStrike" kern="0" cap="none" spc="0" normalizeH="0" baseline="0" noProof="0" dirty="0" err="1">
                <a:ln>
                  <a:noFill/>
                </a:ln>
                <a:solidFill>
                  <a:sysClr val="windowText" lastClr="000000"/>
                </a:solidFill>
                <a:effectLst/>
                <a:uLnTx/>
                <a:uFillTx/>
                <a:latin typeface="+mn-lt"/>
              </a:rPr>
              <a:t>i</a:t>
            </a:r>
            <a:r>
              <a:rPr kumimoji="0" lang="en-US" sz="1700" b="0" i="0" u="none" strike="noStrike" kern="0" cap="none" spc="0" normalizeH="0" baseline="30000" noProof="0" dirty="0" err="1">
                <a:ln>
                  <a:noFill/>
                </a:ln>
                <a:solidFill>
                  <a:sysClr val="windowText" lastClr="000000"/>
                </a:solidFill>
                <a:effectLst/>
                <a:uLnTx/>
                <a:uFillTx/>
                <a:latin typeface="+mn-lt"/>
              </a:rPr>
              <a:t>th</a:t>
            </a:r>
            <a:r>
              <a:rPr kumimoji="0" lang="en-US" sz="1700" b="0" i="0" u="none" strike="noStrike" kern="0" cap="none" spc="0" normalizeH="0" baseline="0" noProof="0" dirty="0">
                <a:ln>
                  <a:noFill/>
                </a:ln>
                <a:solidFill>
                  <a:sysClr val="windowText" lastClr="000000"/>
                </a:solidFill>
                <a:effectLst/>
                <a:uLnTx/>
                <a:uFillTx/>
                <a:latin typeface="+mn-lt"/>
              </a:rPr>
              <a:t> row and </a:t>
            </a:r>
            <a:r>
              <a:rPr kumimoji="0" lang="en-US" sz="1700" b="0" i="0" u="none" strike="noStrike" kern="0" cap="none" spc="0" normalizeH="0" baseline="0" noProof="0" dirty="0" err="1">
                <a:ln>
                  <a:noFill/>
                </a:ln>
                <a:solidFill>
                  <a:sysClr val="windowText" lastClr="000000"/>
                </a:solidFill>
                <a:effectLst/>
                <a:uLnTx/>
                <a:uFillTx/>
                <a:latin typeface="+mn-lt"/>
              </a:rPr>
              <a:t>j</a:t>
            </a:r>
            <a:r>
              <a:rPr kumimoji="0" lang="en-US" sz="1700" b="0" i="0" u="none" strike="noStrike" kern="0" cap="none" spc="0" normalizeH="0" baseline="30000" noProof="0" dirty="0" err="1">
                <a:ln>
                  <a:noFill/>
                </a:ln>
                <a:solidFill>
                  <a:sysClr val="windowText" lastClr="000000"/>
                </a:solidFill>
                <a:effectLst/>
                <a:uLnTx/>
                <a:uFillTx/>
                <a:latin typeface="+mn-lt"/>
              </a:rPr>
              <a:t>th</a:t>
            </a:r>
            <a:r>
              <a:rPr kumimoji="0" lang="en-US" sz="1700" b="0" i="0" u="none" strike="noStrike" kern="0" cap="none" spc="0" normalizeH="0" baseline="0" noProof="0" dirty="0">
                <a:ln>
                  <a:noFill/>
                </a:ln>
                <a:solidFill>
                  <a:sysClr val="windowText" lastClr="000000"/>
                </a:solidFill>
                <a:effectLst/>
                <a:uLnTx/>
                <a:uFillTx/>
                <a:latin typeface="+mn-lt"/>
              </a:rPr>
              <a:t> column if and only if there is a directed edge from the </a:t>
            </a:r>
            <a:r>
              <a:rPr kumimoji="0" lang="en-US" sz="1700" b="0" i="0" u="none" strike="noStrike" kern="0" cap="none" spc="0" normalizeH="0" baseline="0" noProof="0" dirty="0" err="1">
                <a:ln>
                  <a:noFill/>
                </a:ln>
                <a:solidFill>
                  <a:sysClr val="windowText" lastClr="000000"/>
                </a:solidFill>
                <a:effectLst/>
                <a:uLnTx/>
                <a:uFillTx/>
                <a:latin typeface="+mn-lt"/>
              </a:rPr>
              <a:t>ith</a:t>
            </a:r>
            <a:r>
              <a:rPr kumimoji="0" lang="en-US" sz="1700" b="0" i="0" u="none" strike="noStrike" kern="0" cap="none" spc="0" normalizeH="0" baseline="0" noProof="0" dirty="0">
                <a:ln>
                  <a:noFill/>
                </a:ln>
                <a:solidFill>
                  <a:sysClr val="windowText" lastClr="000000"/>
                </a:solidFill>
                <a:effectLst/>
                <a:uLnTx/>
                <a:uFillTx/>
                <a:latin typeface="+mn-lt"/>
              </a:rPr>
              <a:t> vertex to the </a:t>
            </a:r>
            <a:r>
              <a:rPr kumimoji="0" lang="en-US" sz="1700" b="0" i="0" u="none" strike="noStrike" kern="0" cap="none" spc="0" normalizeH="0" baseline="0" noProof="0" dirty="0" err="1">
                <a:ln>
                  <a:noFill/>
                </a:ln>
                <a:solidFill>
                  <a:sysClr val="windowText" lastClr="000000"/>
                </a:solidFill>
                <a:effectLst/>
                <a:uLnTx/>
                <a:uFillTx/>
                <a:latin typeface="+mn-lt"/>
              </a:rPr>
              <a:t>jth</a:t>
            </a:r>
            <a:r>
              <a:rPr kumimoji="0" lang="en-US" sz="1700" b="0" i="0" u="none" strike="noStrike" kern="0" cap="none" spc="0" normalizeH="0" baseline="0" noProof="0" dirty="0">
                <a:ln>
                  <a:noFill/>
                </a:ln>
                <a:solidFill>
                  <a:sysClr val="windowText" lastClr="000000"/>
                </a:solidFill>
                <a:effectLst/>
                <a:uLnTx/>
                <a:uFillTx/>
                <a:latin typeface="+mn-lt"/>
              </a:rPr>
              <a:t> vertex.</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n-lt"/>
              </a:rPr>
              <a:t>We may also be interested in a matrix containing the information about the existence of directed paths of arbitrary lengths between vertices of a given graph.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n-lt"/>
              </a:rPr>
              <a:t>Such a matrix, called the </a:t>
            </a:r>
            <a:r>
              <a:rPr kumimoji="0" lang="en-US" sz="1700" b="1" i="1" u="none" strike="noStrike" kern="0" cap="none" spc="0" normalizeH="0" baseline="0" noProof="0" dirty="0">
                <a:ln>
                  <a:noFill/>
                </a:ln>
                <a:solidFill>
                  <a:sysClr val="windowText" lastClr="000000"/>
                </a:solidFill>
                <a:effectLst/>
                <a:uLnTx/>
                <a:uFillTx/>
                <a:latin typeface="+mn-lt"/>
              </a:rPr>
              <a:t>transitive closure of the digraph</a:t>
            </a:r>
            <a:r>
              <a:rPr kumimoji="0" lang="en-US" sz="1700" b="0" i="0" u="none" strike="noStrike" kern="0" cap="none" spc="0" normalizeH="0" baseline="0" noProof="0" dirty="0">
                <a:ln>
                  <a:noFill/>
                </a:ln>
                <a:solidFill>
                  <a:sysClr val="windowText" lastClr="000000"/>
                </a:solidFill>
                <a:effectLst/>
                <a:uLnTx/>
                <a:uFillTx/>
                <a:latin typeface="+mn-lt"/>
              </a:rPr>
              <a:t>, would allow us to </a:t>
            </a:r>
            <a:r>
              <a:rPr kumimoji="0" lang="en-US" sz="1700" b="1" i="0" u="none" strike="noStrike" kern="0" cap="none" spc="0" normalizeH="0" baseline="0" noProof="0" dirty="0">
                <a:ln>
                  <a:noFill/>
                </a:ln>
                <a:solidFill>
                  <a:sysClr val="windowText" lastClr="000000"/>
                </a:solidFill>
                <a:effectLst/>
                <a:uLnTx/>
                <a:uFillTx/>
                <a:latin typeface="+mn-lt"/>
              </a:rPr>
              <a:t>determine in constant time whether the </a:t>
            </a:r>
            <a:r>
              <a:rPr kumimoji="0" lang="en-US" sz="1700" b="1" i="0" u="none" strike="noStrike" kern="0" cap="none" spc="0" normalizeH="0" baseline="0" noProof="0" dirty="0" err="1">
                <a:ln>
                  <a:noFill/>
                </a:ln>
                <a:solidFill>
                  <a:sysClr val="windowText" lastClr="000000"/>
                </a:solidFill>
                <a:effectLst/>
                <a:uLnTx/>
                <a:uFillTx/>
                <a:latin typeface="+mn-lt"/>
              </a:rPr>
              <a:t>jth</a:t>
            </a:r>
            <a:r>
              <a:rPr kumimoji="0" lang="en-US" sz="1700" b="1" i="0" u="none" strike="noStrike" kern="0" cap="none" spc="0" normalizeH="0" baseline="0" noProof="0" dirty="0">
                <a:ln>
                  <a:noFill/>
                </a:ln>
                <a:solidFill>
                  <a:sysClr val="windowText" lastClr="000000"/>
                </a:solidFill>
                <a:effectLst/>
                <a:uLnTx/>
                <a:uFillTx/>
                <a:latin typeface="+mn-lt"/>
              </a:rPr>
              <a:t> vertex is reachable from the </a:t>
            </a:r>
            <a:r>
              <a:rPr kumimoji="0" lang="en-US" sz="1700" b="1" i="0" u="none" strike="noStrike" kern="0" cap="none" spc="0" normalizeH="0" baseline="0" noProof="0" dirty="0" err="1">
                <a:ln>
                  <a:noFill/>
                </a:ln>
                <a:solidFill>
                  <a:sysClr val="windowText" lastClr="000000"/>
                </a:solidFill>
                <a:effectLst/>
                <a:uLnTx/>
                <a:uFillTx/>
                <a:latin typeface="+mn-lt"/>
              </a:rPr>
              <a:t>ith</a:t>
            </a:r>
            <a:r>
              <a:rPr kumimoji="0" lang="en-US" sz="1700" b="1" i="0" u="none" strike="noStrike" kern="0" cap="none" spc="0" normalizeH="0" baseline="0" noProof="0" dirty="0">
                <a:ln>
                  <a:noFill/>
                </a:ln>
                <a:solidFill>
                  <a:sysClr val="windowText" lastClr="000000"/>
                </a:solidFill>
                <a:effectLst/>
                <a:uLnTx/>
                <a:uFillTx/>
                <a:latin typeface="+mn-lt"/>
              </a:rPr>
              <a:t> vertex</a:t>
            </a:r>
            <a:r>
              <a:rPr kumimoji="0" lang="en-US" sz="1700" b="0" i="0" u="none" strike="noStrike" kern="0" cap="none" spc="0" normalizeH="0" baseline="0" noProof="0" dirty="0">
                <a:ln>
                  <a:noFill/>
                </a:ln>
                <a:solidFill>
                  <a:sysClr val="windowText" lastClr="000000"/>
                </a:solidFill>
                <a:effectLst/>
                <a:uLnTx/>
                <a:uFillTx/>
                <a:latin typeface="+mn-lt"/>
              </a:rPr>
              <a:t>.</a:t>
            </a:r>
          </a:p>
          <a:p>
            <a:pPr marL="0" marR="0" lvl="0" indent="0" algn="just" defTabSz="914400" eaLnBrk="1" fontAlgn="auto" latinLnBrk="0" hangingPunct="1">
              <a:lnSpc>
                <a:spcPct val="150000"/>
              </a:lnSpc>
              <a:spcBef>
                <a:spcPts val="0"/>
              </a:spcBef>
              <a:spcAft>
                <a:spcPts val="0"/>
              </a:spcAft>
              <a:buClrTx/>
              <a:buSzPts val="1800"/>
              <a:buFontTx/>
              <a:buNone/>
              <a:tabLst/>
              <a:defRPr/>
            </a:pPr>
            <a:endParaRPr kumimoji="0" lang="en-IN" sz="1800" b="1" i="0" u="none" strike="noStrike" kern="0" cap="none" spc="0" normalizeH="0" baseline="0" noProof="0" dirty="0">
              <a:ln>
                <a:noFill/>
              </a:ln>
              <a:solidFill>
                <a:sysClr val="windowText" lastClr="000000"/>
              </a:solidFill>
              <a:effectLst/>
              <a:uLnTx/>
              <a:uFillTx/>
              <a:latin typeface="+mj-lt"/>
            </a:endParaRPr>
          </a:p>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US" sz="1700" b="0" i="0" u="none" strike="noStrike" kern="0" cap="none" spc="0" normalizeH="0" baseline="0" noProof="0" dirty="0">
                <a:ln>
                  <a:noFill/>
                </a:ln>
                <a:solidFill>
                  <a:sysClr val="windowText" lastClr="000000"/>
                </a:solidFill>
                <a:effectLst/>
                <a:uLnTx/>
                <a:uFillTx/>
                <a:latin typeface="+mj-lt"/>
              </a:rPr>
              <a:t> </a:t>
            </a:r>
          </a:p>
        </p:txBody>
      </p:sp>
    </p:spTree>
    <p:extLst>
      <p:ext uri="{BB962C8B-B14F-4D97-AF65-F5344CB8AC3E}">
        <p14:creationId xmlns:p14="http://schemas.microsoft.com/office/powerpoint/2010/main" val="13072007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A47F3D70-640C-5B50-B140-055C90974EA6}"/>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BE8ED67D-6DB1-90E9-3F70-11882AE7E62A}"/>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DYNAMIC PROGRAMMING</a:t>
            </a:r>
          </a:p>
        </p:txBody>
      </p:sp>
      <p:sp>
        <p:nvSpPr>
          <p:cNvPr id="369" name="Google Shape;369;p42">
            <a:extLst>
              <a:ext uri="{FF2B5EF4-FFF2-40B4-BE49-F238E27FC236}">
                <a16:creationId xmlns:a16="http://schemas.microsoft.com/office/drawing/2014/main" id="{D640F8F4-C183-7AAA-BA8B-753DD1EC83E0}"/>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44</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F8985240-43FC-9896-D84A-B9FE559FD33B}"/>
              </a:ext>
            </a:extLst>
          </p:cNvPr>
          <p:cNvSpPr txBox="1"/>
          <p:nvPr/>
        </p:nvSpPr>
        <p:spPr>
          <a:xfrm>
            <a:off x="154290" y="1081890"/>
            <a:ext cx="8761110" cy="3831778"/>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IN" sz="1800" b="1" i="0" u="none" strike="noStrike" kern="0" cap="none" spc="0" normalizeH="0" baseline="0" noProof="0" dirty="0" err="1">
                <a:ln>
                  <a:noFill/>
                </a:ln>
                <a:solidFill>
                  <a:sysClr val="windowText" lastClr="000000"/>
                </a:solidFill>
                <a:effectLst/>
                <a:uLnTx/>
                <a:uFillTx/>
                <a:latin typeface="+mj-lt"/>
              </a:rPr>
              <a:t>Warshall’s</a:t>
            </a:r>
            <a:r>
              <a:rPr kumimoji="0" lang="en-IN" sz="1800" b="1" i="0" u="none" strike="noStrike" kern="0" cap="none" spc="0" normalizeH="0" baseline="0" noProof="0" dirty="0">
                <a:ln>
                  <a:noFill/>
                </a:ln>
                <a:solidFill>
                  <a:sysClr val="windowText" lastClr="000000"/>
                </a:solidFill>
                <a:effectLst/>
                <a:uLnTx/>
                <a:uFillTx/>
                <a:latin typeface="+mj-lt"/>
              </a:rPr>
              <a:t> Algorithm</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600" b="0" i="0" u="none" strike="noStrike" kern="0" cap="none" spc="0" normalizeH="0" baseline="0" noProof="0" dirty="0">
                <a:ln>
                  <a:noFill/>
                </a:ln>
                <a:solidFill>
                  <a:sysClr val="windowText" lastClr="000000"/>
                </a:solidFill>
                <a:effectLst/>
                <a:uLnTx/>
                <a:uFillTx/>
                <a:latin typeface="+mn-lt"/>
              </a:rPr>
              <a:t>Few application examples:</a:t>
            </a:r>
          </a:p>
          <a:p>
            <a:pPr marL="449263"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600" b="0" i="0" u="none" strike="noStrike" kern="0" cap="none" spc="0" normalizeH="0" baseline="0" noProof="0" dirty="0">
                <a:ln>
                  <a:noFill/>
                </a:ln>
                <a:solidFill>
                  <a:sysClr val="windowText" lastClr="000000"/>
                </a:solidFill>
                <a:effectLst/>
                <a:uLnTx/>
                <a:uFillTx/>
                <a:latin typeface="+mn-lt"/>
              </a:rPr>
              <a:t>When a value in a spreadsheet cell is changed, the spreadsheet software must know all the other cells affected by the change. </a:t>
            </a:r>
          </a:p>
          <a:p>
            <a:pPr marL="449263"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600" b="0" i="0" u="none" strike="noStrike" kern="0" cap="none" spc="0" normalizeH="0" baseline="0" noProof="0" dirty="0">
                <a:ln>
                  <a:noFill/>
                </a:ln>
                <a:solidFill>
                  <a:sysClr val="windowText" lastClr="000000"/>
                </a:solidFill>
                <a:effectLst/>
                <a:uLnTx/>
                <a:uFillTx/>
                <a:latin typeface="+mn-lt"/>
              </a:rPr>
              <a:t>If the </a:t>
            </a:r>
            <a:r>
              <a:rPr kumimoji="0" lang="en-US" sz="1600" b="1" i="0" u="none" strike="noStrike" kern="0" cap="none" spc="0" normalizeH="0" baseline="0" noProof="0" dirty="0">
                <a:ln>
                  <a:noFill/>
                </a:ln>
                <a:solidFill>
                  <a:sysClr val="windowText" lastClr="000000"/>
                </a:solidFill>
                <a:effectLst/>
                <a:uLnTx/>
                <a:uFillTx/>
                <a:latin typeface="+mn-lt"/>
              </a:rPr>
              <a:t>spreadsheet</a:t>
            </a:r>
            <a:r>
              <a:rPr kumimoji="0" lang="en-US" sz="1600" b="0" i="0" u="none" strike="noStrike" kern="0" cap="none" spc="0" normalizeH="0" baseline="0" noProof="0" dirty="0">
                <a:ln>
                  <a:noFill/>
                </a:ln>
                <a:solidFill>
                  <a:sysClr val="windowText" lastClr="000000"/>
                </a:solidFill>
                <a:effectLst/>
                <a:uLnTx/>
                <a:uFillTx/>
                <a:latin typeface="+mn-lt"/>
              </a:rPr>
              <a:t> is modeled by a digraph whose </a:t>
            </a:r>
            <a:r>
              <a:rPr kumimoji="0" lang="en-US" sz="1600" b="1" i="0" u="none" strike="noStrike" kern="0" cap="none" spc="0" normalizeH="0" baseline="0" noProof="0" dirty="0">
                <a:ln>
                  <a:noFill/>
                </a:ln>
                <a:solidFill>
                  <a:sysClr val="windowText" lastClr="000000"/>
                </a:solidFill>
                <a:effectLst/>
                <a:uLnTx/>
                <a:uFillTx/>
                <a:latin typeface="+mn-lt"/>
              </a:rPr>
              <a:t>vertices</a:t>
            </a:r>
            <a:r>
              <a:rPr kumimoji="0" lang="en-US" sz="1600" b="0" i="0" u="none" strike="noStrike" kern="0" cap="none" spc="0" normalizeH="0" baseline="0" noProof="0" dirty="0">
                <a:ln>
                  <a:noFill/>
                </a:ln>
                <a:solidFill>
                  <a:sysClr val="windowText" lastClr="000000"/>
                </a:solidFill>
                <a:effectLst/>
                <a:uLnTx/>
                <a:uFillTx/>
                <a:latin typeface="+mn-lt"/>
              </a:rPr>
              <a:t> represent the </a:t>
            </a:r>
            <a:r>
              <a:rPr kumimoji="0" lang="en-US" sz="1600" b="1" i="0" u="none" strike="noStrike" kern="0" cap="none" spc="0" normalizeH="0" baseline="0" noProof="0" dirty="0">
                <a:ln>
                  <a:noFill/>
                </a:ln>
                <a:solidFill>
                  <a:sysClr val="windowText" lastClr="000000"/>
                </a:solidFill>
                <a:effectLst/>
                <a:uLnTx/>
                <a:uFillTx/>
                <a:latin typeface="+mn-lt"/>
              </a:rPr>
              <a:t>spreadsheet cells </a:t>
            </a:r>
            <a:r>
              <a:rPr kumimoji="0" lang="en-US" sz="1600" b="0" i="0" u="none" strike="noStrike" kern="0" cap="none" spc="0" normalizeH="0" baseline="0" noProof="0" dirty="0">
                <a:ln>
                  <a:noFill/>
                </a:ln>
                <a:solidFill>
                  <a:sysClr val="windowText" lastClr="000000"/>
                </a:solidFill>
                <a:effectLst/>
                <a:uLnTx/>
                <a:uFillTx/>
                <a:latin typeface="+mn-lt"/>
              </a:rPr>
              <a:t>and </a:t>
            </a:r>
            <a:r>
              <a:rPr kumimoji="0" lang="en-US" sz="1600" b="1" i="0" u="none" strike="noStrike" kern="0" cap="none" spc="0" normalizeH="0" baseline="0" noProof="0" dirty="0">
                <a:ln>
                  <a:noFill/>
                </a:ln>
                <a:solidFill>
                  <a:sysClr val="windowText" lastClr="000000"/>
                </a:solidFill>
                <a:effectLst/>
                <a:uLnTx/>
                <a:uFillTx/>
                <a:latin typeface="+mn-lt"/>
              </a:rPr>
              <a:t>edges</a:t>
            </a:r>
            <a:r>
              <a:rPr kumimoji="0" lang="en-US" sz="1600" b="0" i="0" u="none" strike="noStrike" kern="0" cap="none" spc="0" normalizeH="0" baseline="0" noProof="0" dirty="0">
                <a:ln>
                  <a:noFill/>
                </a:ln>
                <a:solidFill>
                  <a:sysClr val="windowText" lastClr="000000"/>
                </a:solidFill>
                <a:effectLst/>
                <a:uLnTx/>
                <a:uFillTx/>
                <a:latin typeface="+mn-lt"/>
              </a:rPr>
              <a:t> indicate </a:t>
            </a:r>
            <a:r>
              <a:rPr kumimoji="0" lang="en-US" sz="1600" b="1" i="0" u="none" strike="noStrike" kern="0" cap="none" spc="0" normalizeH="0" baseline="0" noProof="0" dirty="0">
                <a:ln>
                  <a:noFill/>
                </a:ln>
                <a:solidFill>
                  <a:sysClr val="windowText" lastClr="000000"/>
                </a:solidFill>
                <a:effectLst/>
                <a:uLnTx/>
                <a:uFillTx/>
                <a:latin typeface="+mn-lt"/>
              </a:rPr>
              <a:t>cell dependencies</a:t>
            </a:r>
            <a:r>
              <a:rPr kumimoji="0" lang="en-US" sz="1600" b="0" i="0" u="none" strike="noStrike" kern="0" cap="none" spc="0" normalizeH="0" baseline="0" noProof="0" dirty="0">
                <a:ln>
                  <a:noFill/>
                </a:ln>
                <a:solidFill>
                  <a:sysClr val="windowText" lastClr="000000"/>
                </a:solidFill>
                <a:effectLst/>
                <a:uLnTx/>
                <a:uFillTx/>
                <a:latin typeface="+mn-lt"/>
              </a:rPr>
              <a:t>, the transitive closure will provide such information. </a:t>
            </a:r>
          </a:p>
          <a:p>
            <a:pPr marL="449263"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600" b="0" i="0" u="none" strike="noStrike" kern="0" cap="none" spc="0" normalizeH="0" baseline="0" noProof="0" dirty="0">
                <a:ln>
                  <a:noFill/>
                </a:ln>
                <a:solidFill>
                  <a:sysClr val="windowText" lastClr="000000"/>
                </a:solidFill>
                <a:effectLst/>
                <a:uLnTx/>
                <a:uFillTx/>
                <a:latin typeface="+mn-lt"/>
              </a:rPr>
              <a:t>In </a:t>
            </a:r>
            <a:r>
              <a:rPr kumimoji="0" lang="en-US" sz="1600" b="1" i="0" u="none" strike="noStrike" kern="0" cap="none" spc="0" normalizeH="0" baseline="0" noProof="0" dirty="0">
                <a:ln>
                  <a:noFill/>
                </a:ln>
                <a:solidFill>
                  <a:sysClr val="windowText" lastClr="000000"/>
                </a:solidFill>
                <a:effectLst/>
                <a:uLnTx/>
                <a:uFillTx/>
                <a:latin typeface="+mn-lt"/>
              </a:rPr>
              <a:t>software engineering</a:t>
            </a:r>
            <a:r>
              <a:rPr kumimoji="0" lang="en-US" sz="1600" b="0" i="0" u="none" strike="noStrike" kern="0" cap="none" spc="0" normalizeH="0" baseline="0" noProof="0" dirty="0">
                <a:ln>
                  <a:noFill/>
                </a:ln>
                <a:solidFill>
                  <a:sysClr val="windowText" lastClr="000000"/>
                </a:solidFill>
                <a:effectLst/>
                <a:uLnTx/>
                <a:uFillTx/>
                <a:latin typeface="+mn-lt"/>
              </a:rPr>
              <a:t>, transitive closure can be used for </a:t>
            </a:r>
            <a:r>
              <a:rPr kumimoji="0" lang="en-US" sz="1600" b="1" i="0" u="none" strike="noStrike" kern="0" cap="none" spc="0" normalizeH="0" baseline="0" noProof="0" dirty="0">
                <a:ln>
                  <a:noFill/>
                </a:ln>
                <a:solidFill>
                  <a:sysClr val="windowText" lastClr="000000"/>
                </a:solidFill>
                <a:effectLst/>
                <a:uLnTx/>
                <a:uFillTx/>
                <a:latin typeface="+mn-lt"/>
              </a:rPr>
              <a:t>investigating data flow and control flow dependencies</a:t>
            </a:r>
            <a:r>
              <a:rPr kumimoji="0" lang="en-US" sz="1600" b="0" i="0" u="none" strike="noStrike" kern="0" cap="none" spc="0" normalizeH="0" baseline="0" noProof="0" dirty="0">
                <a:ln>
                  <a:noFill/>
                </a:ln>
                <a:solidFill>
                  <a:sysClr val="windowText" lastClr="000000"/>
                </a:solidFill>
                <a:effectLst/>
                <a:uLnTx/>
                <a:uFillTx/>
                <a:latin typeface="+mn-lt"/>
              </a:rPr>
              <a:t> as well as for </a:t>
            </a:r>
            <a:r>
              <a:rPr kumimoji="0" lang="en-US" sz="1600" b="1" i="0" u="none" strike="noStrike" kern="0" cap="none" spc="0" normalizeH="0" baseline="0" noProof="0" dirty="0">
                <a:ln>
                  <a:noFill/>
                </a:ln>
                <a:solidFill>
                  <a:sysClr val="windowText" lastClr="000000"/>
                </a:solidFill>
                <a:effectLst/>
                <a:uLnTx/>
                <a:uFillTx/>
                <a:latin typeface="+mn-lt"/>
              </a:rPr>
              <a:t>inheritance testing of object-oriented software</a:t>
            </a:r>
            <a:r>
              <a:rPr kumimoji="0" lang="en-US" sz="1600" b="0" i="0" u="none" strike="noStrike" kern="0" cap="none" spc="0" normalizeH="0" baseline="0" noProof="0" dirty="0">
                <a:ln>
                  <a:noFill/>
                </a:ln>
                <a:solidFill>
                  <a:sysClr val="windowText" lastClr="000000"/>
                </a:solidFill>
                <a:effectLst/>
                <a:uLnTx/>
                <a:uFillTx/>
                <a:latin typeface="+mn-lt"/>
              </a:rPr>
              <a:t>. </a:t>
            </a:r>
            <a:endParaRPr kumimoji="0" lang="en-US" sz="1700" b="0" i="0" u="none" strike="noStrike" kern="0" cap="none" spc="0" normalizeH="0" baseline="0" noProof="0" dirty="0">
              <a:ln>
                <a:noFill/>
              </a:ln>
              <a:solidFill>
                <a:sysClr val="windowText" lastClr="000000"/>
              </a:solidFill>
              <a:effectLst/>
              <a:uLnTx/>
              <a:uFillTx/>
              <a:latin typeface="+mj-lt"/>
            </a:endParaRPr>
          </a:p>
        </p:txBody>
      </p:sp>
    </p:spTree>
    <p:extLst>
      <p:ext uri="{BB962C8B-B14F-4D97-AF65-F5344CB8AC3E}">
        <p14:creationId xmlns:p14="http://schemas.microsoft.com/office/powerpoint/2010/main" val="71698545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C1457366-00F5-46B3-5027-027A16447565}"/>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671720C0-42EC-7B75-67CA-083D60BB07B0}"/>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DYNAMIC PROGRAMMING</a:t>
            </a:r>
          </a:p>
        </p:txBody>
      </p:sp>
      <p:sp>
        <p:nvSpPr>
          <p:cNvPr id="369" name="Google Shape;369;p42">
            <a:extLst>
              <a:ext uri="{FF2B5EF4-FFF2-40B4-BE49-F238E27FC236}">
                <a16:creationId xmlns:a16="http://schemas.microsoft.com/office/drawing/2014/main" id="{4673C982-3C8D-9DC5-751C-0D4FD2F7B71F}"/>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45</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830883BE-1CBD-A30C-22C8-054FEA864539}"/>
              </a:ext>
            </a:extLst>
          </p:cNvPr>
          <p:cNvSpPr txBox="1"/>
          <p:nvPr/>
        </p:nvSpPr>
        <p:spPr>
          <a:xfrm>
            <a:off x="154290" y="1081890"/>
            <a:ext cx="8761110" cy="3670195"/>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IN" sz="1800" b="1" i="0" u="none" strike="noStrike" kern="0" cap="none" spc="0" normalizeH="0" baseline="0" noProof="0" dirty="0" err="1">
                <a:ln>
                  <a:noFill/>
                </a:ln>
                <a:solidFill>
                  <a:sysClr val="windowText" lastClr="000000"/>
                </a:solidFill>
                <a:effectLst/>
                <a:uLnTx/>
                <a:uFillTx/>
                <a:latin typeface="+mj-lt"/>
              </a:rPr>
              <a:t>Warshall’s</a:t>
            </a:r>
            <a:r>
              <a:rPr kumimoji="0" lang="en-IN" sz="1800" b="1" i="0" u="none" strike="noStrike" kern="0" cap="none" spc="0" normalizeH="0" baseline="0" noProof="0" dirty="0">
                <a:ln>
                  <a:noFill/>
                </a:ln>
                <a:solidFill>
                  <a:sysClr val="windowText" lastClr="000000"/>
                </a:solidFill>
                <a:effectLst/>
                <a:uLnTx/>
                <a:uFillTx/>
                <a:latin typeface="+mj-lt"/>
              </a:rPr>
              <a:t> Algorithm</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1" i="0" u="none" strike="noStrike" kern="0" cap="none" spc="0" normalizeH="0" baseline="0" noProof="0" dirty="0">
                <a:ln>
                  <a:noFill/>
                </a:ln>
                <a:solidFill>
                  <a:sysClr val="windowText" lastClr="000000"/>
                </a:solidFill>
                <a:effectLst/>
                <a:uLnTx/>
                <a:uFillTx/>
                <a:latin typeface="+mn-lt"/>
              </a:rPr>
              <a:t>DEFINITION:</a:t>
            </a:r>
            <a:r>
              <a:rPr kumimoji="0" lang="en-US" sz="1700" b="0" i="0" u="none" strike="noStrike" kern="0" cap="none" spc="0" normalizeH="0" baseline="0" noProof="0" dirty="0">
                <a:ln>
                  <a:noFill/>
                </a:ln>
                <a:solidFill>
                  <a:sysClr val="windowText" lastClr="000000"/>
                </a:solidFill>
                <a:effectLst/>
                <a:uLnTx/>
                <a:uFillTx/>
                <a:latin typeface="+mn-lt"/>
              </a:rPr>
              <a:t> The transitive closure of a directed graph with n vertices can be defined as the n × n </a:t>
            </a:r>
            <a:r>
              <a:rPr kumimoji="0" lang="en-US" sz="1700" b="0" i="0" u="none" strike="noStrike" kern="0" cap="none" spc="0" normalizeH="0" baseline="0" noProof="0" dirty="0" err="1">
                <a:ln>
                  <a:noFill/>
                </a:ln>
                <a:solidFill>
                  <a:sysClr val="windowText" lastClr="000000"/>
                </a:solidFill>
                <a:effectLst/>
                <a:uLnTx/>
                <a:uFillTx/>
                <a:latin typeface="+mn-lt"/>
              </a:rPr>
              <a:t>boolean</a:t>
            </a:r>
            <a:r>
              <a:rPr kumimoji="0" lang="en-US" sz="1700" b="0" i="0" u="none" strike="noStrike" kern="0" cap="none" spc="0" normalizeH="0" baseline="0" noProof="0" dirty="0">
                <a:ln>
                  <a:noFill/>
                </a:ln>
                <a:solidFill>
                  <a:sysClr val="windowText" lastClr="000000"/>
                </a:solidFill>
                <a:effectLst/>
                <a:uLnTx/>
                <a:uFillTx/>
                <a:latin typeface="+mn-lt"/>
              </a:rPr>
              <a:t> matrix T = {</a:t>
            </a:r>
            <a:r>
              <a:rPr kumimoji="0" lang="en-US" sz="1700" b="0" i="0" u="none" strike="noStrike" kern="0" cap="none" spc="0" normalizeH="0" baseline="0" noProof="0" dirty="0" err="1">
                <a:ln>
                  <a:noFill/>
                </a:ln>
                <a:solidFill>
                  <a:sysClr val="windowText" lastClr="000000"/>
                </a:solidFill>
                <a:effectLst/>
                <a:uLnTx/>
                <a:uFillTx/>
                <a:latin typeface="+mn-lt"/>
              </a:rPr>
              <a:t>t</a:t>
            </a:r>
            <a:r>
              <a:rPr kumimoji="0" lang="en-US" sz="1700" b="0" i="0" u="none" strike="noStrike" kern="0" cap="none" spc="0" normalizeH="0" baseline="-25000" noProof="0" dirty="0" err="1">
                <a:ln>
                  <a:noFill/>
                </a:ln>
                <a:solidFill>
                  <a:sysClr val="windowText" lastClr="000000"/>
                </a:solidFill>
                <a:effectLst/>
                <a:uLnTx/>
                <a:uFillTx/>
                <a:latin typeface="+mn-lt"/>
              </a:rPr>
              <a:t>ij</a:t>
            </a:r>
            <a:r>
              <a:rPr kumimoji="0" lang="en-US" sz="1700" b="0" i="0" u="none" strike="noStrike" kern="0" cap="none" spc="0" normalizeH="0" baseline="0" noProof="0" dirty="0">
                <a:ln>
                  <a:noFill/>
                </a:ln>
                <a:solidFill>
                  <a:sysClr val="windowText" lastClr="000000"/>
                </a:solidFill>
                <a:effectLst/>
                <a:uLnTx/>
                <a:uFillTx/>
                <a:latin typeface="+mn-lt"/>
              </a:rPr>
              <a:t>}, in which the element in the </a:t>
            </a:r>
            <a:r>
              <a:rPr kumimoji="0" lang="en-US" sz="1700" b="0" i="0" u="none" strike="noStrike" kern="0" cap="none" spc="0" normalizeH="0" baseline="0" noProof="0" dirty="0" err="1">
                <a:ln>
                  <a:noFill/>
                </a:ln>
                <a:solidFill>
                  <a:sysClr val="windowText" lastClr="000000"/>
                </a:solidFill>
                <a:effectLst/>
                <a:uLnTx/>
                <a:uFillTx/>
                <a:latin typeface="+mn-lt"/>
              </a:rPr>
              <a:t>ith</a:t>
            </a:r>
            <a:r>
              <a:rPr kumimoji="0" lang="en-US" sz="1700" b="0" i="0" u="none" strike="noStrike" kern="0" cap="none" spc="0" normalizeH="0" baseline="0" noProof="0" dirty="0">
                <a:ln>
                  <a:noFill/>
                </a:ln>
                <a:solidFill>
                  <a:sysClr val="windowText" lastClr="000000"/>
                </a:solidFill>
                <a:effectLst/>
                <a:uLnTx/>
                <a:uFillTx/>
                <a:latin typeface="+mn-lt"/>
              </a:rPr>
              <a:t> row and the </a:t>
            </a:r>
            <a:r>
              <a:rPr kumimoji="0" lang="en-US" sz="1700" b="0" i="0" u="none" strike="noStrike" kern="0" cap="none" spc="0" normalizeH="0" baseline="0" noProof="0" dirty="0" err="1">
                <a:ln>
                  <a:noFill/>
                </a:ln>
                <a:solidFill>
                  <a:sysClr val="windowText" lastClr="000000"/>
                </a:solidFill>
                <a:effectLst/>
                <a:uLnTx/>
                <a:uFillTx/>
                <a:latin typeface="+mn-lt"/>
              </a:rPr>
              <a:t>jth</a:t>
            </a:r>
            <a:r>
              <a:rPr kumimoji="0" lang="en-US" sz="1700" b="0" i="0" u="none" strike="noStrike" kern="0" cap="none" spc="0" normalizeH="0" baseline="0" noProof="0" dirty="0">
                <a:ln>
                  <a:noFill/>
                </a:ln>
                <a:solidFill>
                  <a:sysClr val="windowText" lastClr="000000"/>
                </a:solidFill>
                <a:effectLst/>
                <a:uLnTx/>
                <a:uFillTx/>
                <a:latin typeface="+mn-lt"/>
              </a:rPr>
              <a:t> column is 1 if there exists a nontrivial path (i.e., directed path of a positive length) from the </a:t>
            </a:r>
            <a:r>
              <a:rPr kumimoji="0" lang="en-US" sz="1700" b="0" i="0" u="none" strike="noStrike" kern="0" cap="none" spc="0" normalizeH="0" baseline="0" noProof="0" dirty="0" err="1">
                <a:ln>
                  <a:noFill/>
                </a:ln>
                <a:solidFill>
                  <a:sysClr val="windowText" lastClr="000000"/>
                </a:solidFill>
                <a:effectLst/>
                <a:uLnTx/>
                <a:uFillTx/>
                <a:latin typeface="+mn-lt"/>
              </a:rPr>
              <a:t>ith</a:t>
            </a:r>
            <a:r>
              <a:rPr kumimoji="0" lang="en-US" sz="1700" b="0" i="0" u="none" strike="noStrike" kern="0" cap="none" spc="0" normalizeH="0" baseline="0" noProof="0" dirty="0">
                <a:ln>
                  <a:noFill/>
                </a:ln>
                <a:solidFill>
                  <a:sysClr val="windowText" lastClr="000000"/>
                </a:solidFill>
                <a:effectLst/>
                <a:uLnTx/>
                <a:uFillTx/>
                <a:latin typeface="+mn-lt"/>
              </a:rPr>
              <a:t> vertex to the </a:t>
            </a:r>
            <a:r>
              <a:rPr kumimoji="0" lang="en-US" sz="1700" b="0" i="0" u="none" strike="noStrike" kern="0" cap="none" spc="0" normalizeH="0" baseline="0" noProof="0" dirty="0" err="1">
                <a:ln>
                  <a:noFill/>
                </a:ln>
                <a:solidFill>
                  <a:sysClr val="windowText" lastClr="000000"/>
                </a:solidFill>
                <a:effectLst/>
                <a:uLnTx/>
                <a:uFillTx/>
                <a:latin typeface="+mn-lt"/>
              </a:rPr>
              <a:t>jth</a:t>
            </a:r>
            <a:r>
              <a:rPr kumimoji="0" lang="en-US" sz="1700" b="0" i="0" u="none" strike="noStrike" kern="0" cap="none" spc="0" normalizeH="0" baseline="0" noProof="0" dirty="0">
                <a:ln>
                  <a:noFill/>
                </a:ln>
                <a:solidFill>
                  <a:sysClr val="windowText" lastClr="000000"/>
                </a:solidFill>
                <a:effectLst/>
                <a:uLnTx/>
                <a:uFillTx/>
                <a:latin typeface="+mn-lt"/>
              </a:rPr>
              <a:t> vertex; otherwise, </a:t>
            </a:r>
            <a:r>
              <a:rPr kumimoji="0" lang="en-US" sz="1700" b="0" i="0" u="none" strike="noStrike" kern="0" cap="none" spc="0" normalizeH="0" baseline="0" noProof="0" dirty="0" err="1">
                <a:ln>
                  <a:noFill/>
                </a:ln>
                <a:solidFill>
                  <a:sysClr val="windowText" lastClr="000000"/>
                </a:solidFill>
                <a:effectLst/>
                <a:uLnTx/>
                <a:uFillTx/>
                <a:latin typeface="+mn-lt"/>
              </a:rPr>
              <a:t>t</a:t>
            </a:r>
            <a:r>
              <a:rPr kumimoji="0" lang="en-US" sz="1700" b="0" i="0" u="none" strike="noStrike" kern="0" cap="none" spc="0" normalizeH="0" baseline="-25000" noProof="0" dirty="0" err="1">
                <a:ln>
                  <a:noFill/>
                </a:ln>
                <a:solidFill>
                  <a:sysClr val="windowText" lastClr="000000"/>
                </a:solidFill>
                <a:effectLst/>
                <a:uLnTx/>
                <a:uFillTx/>
                <a:latin typeface="+mn-lt"/>
              </a:rPr>
              <a:t>ij</a:t>
            </a:r>
            <a:r>
              <a:rPr kumimoji="0" lang="en-US" sz="1700" b="0" i="0" u="none" strike="noStrike" kern="0" cap="none" spc="0" normalizeH="0" baseline="0" noProof="0" dirty="0">
                <a:ln>
                  <a:noFill/>
                </a:ln>
                <a:solidFill>
                  <a:sysClr val="windowText" lastClr="000000"/>
                </a:solidFill>
                <a:effectLst/>
                <a:uLnTx/>
                <a:uFillTx/>
                <a:latin typeface="+mn-lt"/>
              </a:rPr>
              <a:t> is 0.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n-lt"/>
              </a:rPr>
              <a:t>An example of a digraph, its adjacency matrix, and its transitive closure is given in Figure 8.11</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endParaRPr kumimoji="0" lang="en-IN" sz="1800" b="1" i="0" u="none" strike="noStrike" kern="0" cap="none" spc="0" normalizeH="0" baseline="0" noProof="0" dirty="0">
              <a:ln>
                <a:noFill/>
              </a:ln>
              <a:solidFill>
                <a:sysClr val="windowText" lastClr="000000"/>
              </a:solidFill>
              <a:effectLst/>
              <a:uLnTx/>
              <a:uFillTx/>
              <a:latin typeface="+mj-lt"/>
            </a:endParaRPr>
          </a:p>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US" sz="1700" b="0" i="0" u="none" strike="noStrike" kern="0" cap="none" spc="0" normalizeH="0" baseline="0" noProof="0" dirty="0">
                <a:ln>
                  <a:noFill/>
                </a:ln>
                <a:solidFill>
                  <a:sysClr val="windowText" lastClr="000000"/>
                </a:solidFill>
                <a:effectLst/>
                <a:uLnTx/>
                <a:uFillTx/>
                <a:latin typeface="+mj-lt"/>
              </a:rPr>
              <a:t> </a:t>
            </a:r>
          </a:p>
        </p:txBody>
      </p:sp>
      <p:pic>
        <p:nvPicPr>
          <p:cNvPr id="3" name="Picture 2">
            <a:extLst>
              <a:ext uri="{FF2B5EF4-FFF2-40B4-BE49-F238E27FC236}">
                <a16:creationId xmlns:a16="http://schemas.microsoft.com/office/drawing/2014/main" id="{05B27A45-B340-B5B1-B3DD-22288C8B41FB}"/>
              </a:ext>
            </a:extLst>
          </p:cNvPr>
          <p:cNvPicPr>
            <a:picLocks noChangeAspect="1"/>
          </p:cNvPicPr>
          <p:nvPr/>
        </p:nvPicPr>
        <p:blipFill>
          <a:blip r:embed="rId3"/>
          <a:stretch>
            <a:fillRect/>
          </a:stretch>
        </p:blipFill>
        <p:spPr>
          <a:xfrm>
            <a:off x="1720964" y="3533712"/>
            <a:ext cx="4701947" cy="1447925"/>
          </a:xfrm>
          <a:prstGeom prst="rect">
            <a:avLst/>
          </a:prstGeom>
        </p:spPr>
      </p:pic>
    </p:spTree>
    <p:extLst>
      <p:ext uri="{BB962C8B-B14F-4D97-AF65-F5344CB8AC3E}">
        <p14:creationId xmlns:p14="http://schemas.microsoft.com/office/powerpoint/2010/main" val="267390719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D13B9CC7-1CA4-E40C-E4D2-CED443823BED}"/>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6C2730D8-006D-1D9C-D22D-1BAA41CFEFA9}"/>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DYNAMIC PROGRAMMING</a:t>
            </a:r>
          </a:p>
        </p:txBody>
      </p:sp>
      <p:sp>
        <p:nvSpPr>
          <p:cNvPr id="369" name="Google Shape;369;p42">
            <a:extLst>
              <a:ext uri="{FF2B5EF4-FFF2-40B4-BE49-F238E27FC236}">
                <a16:creationId xmlns:a16="http://schemas.microsoft.com/office/drawing/2014/main" id="{33DC1074-D9EC-4ABB-06DF-E05C3580AAFF}"/>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46</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E58A51BB-2E64-8DA5-164C-098117E2A237}"/>
              </a:ext>
            </a:extLst>
          </p:cNvPr>
          <p:cNvSpPr txBox="1"/>
          <p:nvPr/>
        </p:nvSpPr>
        <p:spPr>
          <a:xfrm>
            <a:off x="154290" y="978652"/>
            <a:ext cx="8761110" cy="4524275"/>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IN" sz="1800" b="1" i="0" u="none" strike="noStrike" kern="0" cap="none" spc="0" normalizeH="0" baseline="0" noProof="0" dirty="0" err="1">
                <a:ln>
                  <a:noFill/>
                </a:ln>
                <a:solidFill>
                  <a:sysClr val="windowText" lastClr="000000"/>
                </a:solidFill>
                <a:effectLst/>
                <a:uLnTx/>
                <a:uFillTx/>
                <a:latin typeface="+mj-lt"/>
              </a:rPr>
              <a:t>Warshall’s</a:t>
            </a:r>
            <a:r>
              <a:rPr kumimoji="0" lang="en-IN" sz="1800" b="1" i="0" u="none" strike="noStrike" kern="0" cap="none" spc="0" normalizeH="0" baseline="0" noProof="0" dirty="0">
                <a:ln>
                  <a:noFill/>
                </a:ln>
                <a:solidFill>
                  <a:sysClr val="windowText" lastClr="000000"/>
                </a:solidFill>
                <a:effectLst/>
                <a:uLnTx/>
                <a:uFillTx/>
                <a:latin typeface="+mj-lt"/>
              </a:rPr>
              <a:t> Algorithm</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600" b="0" i="0" u="none" strike="noStrike" kern="0" cap="none" spc="0" normalizeH="0" baseline="0" noProof="0" dirty="0">
                <a:ln>
                  <a:noFill/>
                </a:ln>
                <a:solidFill>
                  <a:sysClr val="windowText" lastClr="000000"/>
                </a:solidFill>
                <a:effectLst/>
                <a:uLnTx/>
                <a:uFillTx/>
                <a:latin typeface="+mn-lt"/>
              </a:rPr>
              <a:t>We can generate the transitive closure of a digraph with the help of </a:t>
            </a:r>
            <a:r>
              <a:rPr kumimoji="0" lang="en-US" sz="1600" b="1" i="0" u="none" strike="noStrike" kern="0" cap="none" spc="0" normalizeH="0" baseline="0" noProof="0" dirty="0">
                <a:ln>
                  <a:noFill/>
                </a:ln>
                <a:solidFill>
                  <a:sysClr val="windowText" lastClr="000000"/>
                </a:solidFill>
                <a:effectLst/>
                <a:uLnTx/>
                <a:uFillTx/>
                <a:latin typeface="+mn-lt"/>
              </a:rPr>
              <a:t>depth first search or breadth-first search</a:t>
            </a:r>
            <a:r>
              <a:rPr kumimoji="0" lang="en-US" sz="1600" b="0" i="0" u="none" strike="noStrike" kern="0" cap="none" spc="0" normalizeH="0" baseline="0" noProof="0" dirty="0">
                <a:ln>
                  <a:noFill/>
                </a:ln>
                <a:solidFill>
                  <a:sysClr val="windowText" lastClr="000000"/>
                </a:solidFill>
                <a:effectLst/>
                <a:uLnTx/>
                <a:uFillTx/>
                <a:latin typeface="+mn-lt"/>
              </a:rPr>
              <a:t>.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600" b="0" i="0" u="none" strike="noStrike" kern="0" cap="none" spc="0" normalizeH="0" baseline="0" noProof="0" dirty="0">
                <a:ln>
                  <a:noFill/>
                </a:ln>
                <a:solidFill>
                  <a:sysClr val="windowText" lastClr="000000"/>
                </a:solidFill>
                <a:effectLst/>
                <a:uLnTx/>
                <a:uFillTx/>
                <a:latin typeface="+mn-lt"/>
              </a:rPr>
              <a:t>Performing either traversal starting at the </a:t>
            </a:r>
            <a:r>
              <a:rPr kumimoji="0" lang="en-US" sz="1600" b="0" i="0" u="none" strike="noStrike" kern="0" cap="none" spc="0" normalizeH="0" baseline="0" noProof="0" dirty="0" err="1">
                <a:ln>
                  <a:noFill/>
                </a:ln>
                <a:solidFill>
                  <a:sysClr val="windowText" lastClr="000000"/>
                </a:solidFill>
                <a:effectLst/>
                <a:uLnTx/>
                <a:uFillTx/>
                <a:latin typeface="+mn-lt"/>
              </a:rPr>
              <a:t>ith</a:t>
            </a:r>
            <a:r>
              <a:rPr kumimoji="0" lang="en-US" sz="1600" b="0" i="0" u="none" strike="noStrike" kern="0" cap="none" spc="0" normalizeH="0" baseline="0" noProof="0" dirty="0">
                <a:ln>
                  <a:noFill/>
                </a:ln>
                <a:solidFill>
                  <a:sysClr val="windowText" lastClr="000000"/>
                </a:solidFill>
                <a:effectLst/>
                <a:uLnTx/>
                <a:uFillTx/>
                <a:latin typeface="+mn-lt"/>
              </a:rPr>
              <a:t> vertex gives the information about the vertices reachable from it and hence the columns that contain 1’s in the </a:t>
            </a:r>
            <a:r>
              <a:rPr kumimoji="0" lang="en-US" sz="1600" b="0" i="0" u="none" strike="noStrike" kern="0" cap="none" spc="0" normalizeH="0" baseline="0" noProof="0" dirty="0" err="1">
                <a:ln>
                  <a:noFill/>
                </a:ln>
                <a:solidFill>
                  <a:sysClr val="windowText" lastClr="000000"/>
                </a:solidFill>
                <a:effectLst/>
                <a:uLnTx/>
                <a:uFillTx/>
                <a:latin typeface="+mn-lt"/>
              </a:rPr>
              <a:t>ith</a:t>
            </a:r>
            <a:r>
              <a:rPr kumimoji="0" lang="en-US" sz="1600" b="0" i="0" u="none" strike="noStrike" kern="0" cap="none" spc="0" normalizeH="0" baseline="0" noProof="0" dirty="0">
                <a:ln>
                  <a:noFill/>
                </a:ln>
                <a:solidFill>
                  <a:sysClr val="windowText" lastClr="000000"/>
                </a:solidFill>
                <a:effectLst/>
                <a:uLnTx/>
                <a:uFillTx/>
                <a:latin typeface="+mn-lt"/>
              </a:rPr>
              <a:t> row of the transitive closure.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600" b="0" i="0" u="none" strike="noStrike" kern="0" cap="none" spc="0" normalizeH="0" baseline="0" noProof="0" dirty="0">
                <a:ln>
                  <a:noFill/>
                </a:ln>
                <a:solidFill>
                  <a:sysClr val="windowText" lastClr="000000"/>
                </a:solidFill>
                <a:effectLst/>
                <a:uLnTx/>
                <a:uFillTx/>
                <a:latin typeface="+mn-lt"/>
              </a:rPr>
              <a:t>Thus, doing such a </a:t>
            </a:r>
            <a:r>
              <a:rPr kumimoji="0" lang="en-US" sz="1600" b="1" i="0" u="none" strike="noStrike" kern="0" cap="none" spc="0" normalizeH="0" baseline="0" noProof="0" dirty="0">
                <a:ln>
                  <a:noFill/>
                </a:ln>
                <a:solidFill>
                  <a:sysClr val="windowText" lastClr="000000"/>
                </a:solidFill>
                <a:effectLst/>
                <a:uLnTx/>
                <a:uFillTx/>
                <a:latin typeface="+mn-lt"/>
              </a:rPr>
              <a:t>traversal for every vertex as a starting point yields the transitive closure in its entirety</a:t>
            </a:r>
            <a:r>
              <a:rPr kumimoji="0" lang="en-US" sz="1600" b="0" i="0" u="none" strike="noStrike" kern="0" cap="none" spc="0" normalizeH="0" baseline="0" noProof="0" dirty="0">
                <a:ln>
                  <a:noFill/>
                </a:ln>
                <a:solidFill>
                  <a:sysClr val="windowText" lastClr="000000"/>
                </a:solidFill>
                <a:effectLst/>
                <a:uLnTx/>
                <a:uFillTx/>
                <a:latin typeface="+mn-lt"/>
              </a:rPr>
              <a:t>.</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600" b="0" i="0" u="none" strike="noStrike" kern="0" cap="none" spc="0" normalizeH="0" baseline="0" noProof="0" dirty="0">
                <a:ln>
                  <a:noFill/>
                </a:ln>
                <a:solidFill>
                  <a:sysClr val="windowText" lastClr="000000"/>
                </a:solidFill>
                <a:effectLst/>
                <a:uLnTx/>
                <a:uFillTx/>
                <a:latin typeface="+mn-lt"/>
              </a:rPr>
              <a:t>Since this method traverses the same digraph several times, we should hope that a better algorithm can be found. Indeed, such an algorithm exists.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600" b="0" i="0" u="none" strike="noStrike" kern="0" cap="none" spc="0" normalizeH="0" baseline="0" noProof="0" dirty="0">
                <a:ln>
                  <a:noFill/>
                </a:ln>
                <a:solidFill>
                  <a:sysClr val="windowText" lastClr="000000"/>
                </a:solidFill>
                <a:effectLst/>
                <a:uLnTx/>
                <a:uFillTx/>
                <a:latin typeface="+mn-lt"/>
              </a:rPr>
              <a:t>It is called </a:t>
            </a:r>
            <a:r>
              <a:rPr kumimoji="0" lang="en-US" sz="1600" b="1" i="0" u="none" strike="noStrike" kern="0" cap="none" spc="0" normalizeH="0" baseline="0" noProof="0" dirty="0" err="1">
                <a:ln>
                  <a:noFill/>
                </a:ln>
                <a:solidFill>
                  <a:sysClr val="windowText" lastClr="000000"/>
                </a:solidFill>
                <a:effectLst/>
                <a:uLnTx/>
                <a:uFillTx/>
                <a:latin typeface="+mn-lt"/>
              </a:rPr>
              <a:t>Warshall’s</a:t>
            </a:r>
            <a:r>
              <a:rPr kumimoji="0" lang="en-US" sz="1600" b="1" i="0" u="none" strike="noStrike" kern="0" cap="none" spc="0" normalizeH="0" baseline="0" noProof="0" dirty="0">
                <a:ln>
                  <a:noFill/>
                </a:ln>
                <a:solidFill>
                  <a:sysClr val="windowText" lastClr="000000"/>
                </a:solidFill>
                <a:effectLst/>
                <a:uLnTx/>
                <a:uFillTx/>
                <a:latin typeface="+mn-lt"/>
              </a:rPr>
              <a:t> algorithm after Stephen </a:t>
            </a:r>
            <a:r>
              <a:rPr kumimoji="0" lang="en-US" sz="1600" b="1" i="0" u="none" strike="noStrike" kern="0" cap="none" spc="0" normalizeH="0" baseline="0" noProof="0" dirty="0" err="1">
                <a:ln>
                  <a:noFill/>
                </a:ln>
                <a:solidFill>
                  <a:sysClr val="windowText" lastClr="000000"/>
                </a:solidFill>
                <a:effectLst/>
                <a:uLnTx/>
                <a:uFillTx/>
                <a:latin typeface="+mn-lt"/>
              </a:rPr>
              <a:t>Warshall</a:t>
            </a:r>
            <a:r>
              <a:rPr kumimoji="0" lang="en-US" sz="1600" b="0" i="0" u="none" strike="noStrike" kern="0" cap="none" spc="0" normalizeH="0" baseline="0" noProof="0" dirty="0">
                <a:ln>
                  <a:noFill/>
                </a:ln>
                <a:solidFill>
                  <a:sysClr val="windowText" lastClr="000000"/>
                </a:solidFill>
                <a:effectLst/>
                <a:uLnTx/>
                <a:uFillTx/>
                <a:latin typeface="+mn-lt"/>
              </a:rPr>
              <a:t>.</a:t>
            </a:r>
            <a:endParaRPr kumimoji="0" lang="en-IN" sz="1600" b="1" i="0" u="none" strike="noStrike" kern="0" cap="none" spc="0" normalizeH="0" baseline="0" noProof="0" dirty="0">
              <a:ln>
                <a:noFill/>
              </a:ln>
              <a:solidFill>
                <a:sysClr val="windowText" lastClr="000000"/>
              </a:solidFill>
              <a:effectLst/>
              <a:uLnTx/>
              <a:uFillTx/>
              <a:latin typeface="+mj-lt"/>
            </a:endParaRPr>
          </a:p>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US" sz="1800" b="0" i="0" u="none" strike="noStrike" kern="0" cap="none" spc="0" normalizeH="0" baseline="0" noProof="0" dirty="0">
                <a:ln>
                  <a:noFill/>
                </a:ln>
                <a:solidFill>
                  <a:sysClr val="windowText" lastClr="000000"/>
                </a:solidFill>
                <a:effectLst/>
                <a:uLnTx/>
                <a:uFillTx/>
                <a:latin typeface="+mj-lt"/>
              </a:rPr>
              <a:t> </a:t>
            </a:r>
            <a:endParaRPr kumimoji="0" lang="en-US" sz="1700" b="0" i="0" u="none" strike="noStrike" kern="0" cap="none" spc="0" normalizeH="0" baseline="0" noProof="0" dirty="0">
              <a:ln>
                <a:noFill/>
              </a:ln>
              <a:solidFill>
                <a:sysClr val="windowText" lastClr="000000"/>
              </a:solidFill>
              <a:effectLst/>
              <a:uLnTx/>
              <a:uFillTx/>
              <a:latin typeface="+mj-lt"/>
            </a:endParaRPr>
          </a:p>
        </p:txBody>
      </p:sp>
    </p:spTree>
    <p:extLst>
      <p:ext uri="{BB962C8B-B14F-4D97-AF65-F5344CB8AC3E}">
        <p14:creationId xmlns:p14="http://schemas.microsoft.com/office/powerpoint/2010/main" val="32956127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B344BE56-52CD-4EE6-F2DD-A26045E1FA1A}"/>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DA31F76B-0CE6-F71F-9829-8EC84D0589BF}"/>
              </a:ext>
            </a:extLst>
          </p:cNvPr>
          <p:cNvSpPr txBox="1"/>
          <p:nvPr/>
        </p:nvSpPr>
        <p:spPr>
          <a:xfrm>
            <a:off x="185738" y="495685"/>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DYNAMIC PROGRAMMING</a:t>
            </a:r>
          </a:p>
        </p:txBody>
      </p:sp>
      <p:sp>
        <p:nvSpPr>
          <p:cNvPr id="369" name="Google Shape;369;p42">
            <a:extLst>
              <a:ext uri="{FF2B5EF4-FFF2-40B4-BE49-F238E27FC236}">
                <a16:creationId xmlns:a16="http://schemas.microsoft.com/office/drawing/2014/main" id="{A045AE65-C108-BB67-2621-F391B560A9F2}"/>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47</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E7D4FDA9-58EF-E0E9-9BD1-E6FA006E939E}"/>
              </a:ext>
            </a:extLst>
          </p:cNvPr>
          <p:cNvSpPr txBox="1"/>
          <p:nvPr/>
        </p:nvSpPr>
        <p:spPr>
          <a:xfrm>
            <a:off x="185738" y="757275"/>
            <a:ext cx="8761110" cy="4824357"/>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IN" sz="1800" b="1" i="0" u="none" strike="noStrike" kern="0" cap="none" spc="0" normalizeH="0" baseline="0" noProof="0" dirty="0" err="1">
                <a:ln>
                  <a:noFill/>
                </a:ln>
                <a:solidFill>
                  <a:sysClr val="windowText" lastClr="000000"/>
                </a:solidFill>
                <a:effectLst/>
                <a:uLnTx/>
                <a:uFillTx/>
                <a:latin typeface="+mj-lt"/>
              </a:rPr>
              <a:t>Warshall’s</a:t>
            </a:r>
            <a:r>
              <a:rPr kumimoji="0" lang="en-IN" sz="1800" b="1" i="0" u="none" strike="noStrike" kern="0" cap="none" spc="0" normalizeH="0" baseline="0" noProof="0" dirty="0">
                <a:ln>
                  <a:noFill/>
                </a:ln>
                <a:solidFill>
                  <a:sysClr val="windowText" lastClr="000000"/>
                </a:solidFill>
                <a:effectLst/>
                <a:uLnTx/>
                <a:uFillTx/>
                <a:latin typeface="+mj-lt"/>
              </a:rPr>
              <a:t> Algorithm</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n-lt"/>
              </a:rPr>
              <a:t>It is convenient to assume that the digraph’s vertices and hence the rows and columns of the adjacency matrix are numbered from 1 to n.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err="1">
                <a:ln>
                  <a:noFill/>
                </a:ln>
                <a:solidFill>
                  <a:sysClr val="windowText" lastClr="000000"/>
                </a:solidFill>
                <a:effectLst/>
                <a:uLnTx/>
                <a:uFillTx/>
                <a:latin typeface="+mn-lt"/>
              </a:rPr>
              <a:t>Warshall’s</a:t>
            </a:r>
            <a:r>
              <a:rPr kumimoji="0" lang="en-US" sz="1700" b="0" i="0" u="none" strike="noStrike" kern="0" cap="none" spc="0" normalizeH="0" baseline="0" noProof="0" dirty="0">
                <a:ln>
                  <a:noFill/>
                </a:ln>
                <a:solidFill>
                  <a:sysClr val="windowText" lastClr="000000"/>
                </a:solidFill>
                <a:effectLst/>
                <a:uLnTx/>
                <a:uFillTx/>
                <a:latin typeface="+mn-lt"/>
              </a:rPr>
              <a:t> algorithm constructs the transitive closure through a series of n × n </a:t>
            </a:r>
            <a:r>
              <a:rPr kumimoji="0" lang="en-US" sz="1700" b="0" i="0" u="none" strike="noStrike" kern="0" cap="none" spc="0" normalizeH="0" baseline="0" noProof="0" dirty="0" err="1">
                <a:ln>
                  <a:noFill/>
                </a:ln>
                <a:solidFill>
                  <a:sysClr val="windowText" lastClr="000000"/>
                </a:solidFill>
                <a:effectLst/>
                <a:uLnTx/>
                <a:uFillTx/>
                <a:latin typeface="+mn-lt"/>
              </a:rPr>
              <a:t>boolean</a:t>
            </a:r>
            <a:r>
              <a:rPr kumimoji="0" lang="en-US" sz="1700" b="0" i="0" u="none" strike="noStrike" kern="0" cap="none" spc="0" normalizeH="0" baseline="0" noProof="0" dirty="0">
                <a:ln>
                  <a:noFill/>
                </a:ln>
                <a:solidFill>
                  <a:sysClr val="windowText" lastClr="000000"/>
                </a:solidFill>
                <a:effectLst/>
                <a:uLnTx/>
                <a:uFillTx/>
                <a:latin typeface="+mn-lt"/>
              </a:rPr>
              <a:t> matrices:</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n-lt"/>
              </a:rPr>
              <a:t>The central point of the algorithm is that we can compute all the elements of each matrix R</a:t>
            </a:r>
            <a:r>
              <a:rPr kumimoji="0" lang="en-US" sz="1700" b="0" i="0" u="none" strike="noStrike" kern="0" cap="none" spc="0" normalizeH="0" baseline="30000" noProof="0" dirty="0">
                <a:ln>
                  <a:noFill/>
                </a:ln>
                <a:solidFill>
                  <a:sysClr val="windowText" lastClr="000000"/>
                </a:solidFill>
                <a:effectLst/>
                <a:uLnTx/>
                <a:uFillTx/>
                <a:latin typeface="+mn-lt"/>
              </a:rPr>
              <a:t>(k)</a:t>
            </a:r>
            <a:r>
              <a:rPr kumimoji="0" lang="en-US" sz="1700" b="0" i="0" u="none" strike="noStrike" kern="0" cap="none" spc="0" normalizeH="0" baseline="0" noProof="0" dirty="0">
                <a:ln>
                  <a:noFill/>
                </a:ln>
                <a:solidFill>
                  <a:sysClr val="windowText" lastClr="000000"/>
                </a:solidFill>
                <a:effectLst/>
                <a:uLnTx/>
                <a:uFillTx/>
                <a:latin typeface="+mn-lt"/>
              </a:rPr>
              <a:t> from its immediate predecessor R</a:t>
            </a:r>
            <a:r>
              <a:rPr kumimoji="0" lang="en-US" sz="1700" b="0" i="0" u="none" strike="noStrike" kern="0" cap="none" spc="0" normalizeH="0" baseline="30000" noProof="0" dirty="0">
                <a:ln>
                  <a:noFill/>
                </a:ln>
                <a:solidFill>
                  <a:sysClr val="windowText" lastClr="000000"/>
                </a:solidFill>
                <a:effectLst/>
                <a:uLnTx/>
                <a:uFillTx/>
                <a:latin typeface="+mn-lt"/>
              </a:rPr>
              <a:t>(k−1)</a:t>
            </a:r>
            <a:r>
              <a:rPr kumimoji="0" lang="en-US" sz="1700" b="0" i="0" u="none" strike="noStrike" kern="0" cap="none" spc="0" normalizeH="0" baseline="0" noProof="0" dirty="0">
                <a:ln>
                  <a:noFill/>
                </a:ln>
                <a:solidFill>
                  <a:sysClr val="windowText" lastClr="000000"/>
                </a:solidFill>
                <a:effectLst/>
                <a:uLnTx/>
                <a:uFillTx/>
                <a:latin typeface="+mn-lt"/>
              </a:rPr>
              <a:t> in series (8.9).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n-lt"/>
              </a:rPr>
              <a:t>Let r</a:t>
            </a:r>
            <a:r>
              <a:rPr kumimoji="0" lang="en-US" sz="1700" b="0" i="0" u="none" strike="noStrike" kern="0" cap="none" spc="0" normalizeH="0" baseline="30000" noProof="0" dirty="0">
                <a:ln>
                  <a:noFill/>
                </a:ln>
                <a:solidFill>
                  <a:sysClr val="windowText" lastClr="000000"/>
                </a:solidFill>
                <a:effectLst/>
                <a:uLnTx/>
                <a:uFillTx/>
                <a:latin typeface="+mn-lt"/>
              </a:rPr>
              <a:t>(k)</a:t>
            </a:r>
            <a:r>
              <a:rPr kumimoji="0" lang="en-US" sz="1700" b="0" i="0" u="none" strike="noStrike" kern="0" cap="none" spc="0" normalizeH="0" baseline="0" noProof="0" dirty="0">
                <a:ln>
                  <a:noFill/>
                </a:ln>
                <a:solidFill>
                  <a:sysClr val="windowText" lastClr="000000"/>
                </a:solidFill>
                <a:effectLst/>
                <a:uLnTx/>
                <a:uFillTx/>
                <a:latin typeface="+mn-lt"/>
              </a:rPr>
              <a:t> </a:t>
            </a:r>
            <a:r>
              <a:rPr kumimoji="0" lang="en-US" sz="1700" b="0" i="0" u="none" strike="noStrike" kern="0" cap="none" spc="0" normalizeH="0" baseline="-25000" noProof="0" dirty="0" err="1">
                <a:ln>
                  <a:noFill/>
                </a:ln>
                <a:solidFill>
                  <a:sysClr val="windowText" lastClr="000000"/>
                </a:solidFill>
                <a:effectLst/>
                <a:uLnTx/>
                <a:uFillTx/>
                <a:latin typeface="+mn-lt"/>
              </a:rPr>
              <a:t>ij</a:t>
            </a:r>
            <a:r>
              <a:rPr kumimoji="0" lang="en-US" sz="1700" b="0" i="0" u="none" strike="noStrike" kern="0" cap="none" spc="0" normalizeH="0" baseline="0" noProof="0" dirty="0">
                <a:ln>
                  <a:noFill/>
                </a:ln>
                <a:solidFill>
                  <a:sysClr val="windowText" lastClr="000000"/>
                </a:solidFill>
                <a:effectLst/>
                <a:uLnTx/>
                <a:uFillTx/>
                <a:latin typeface="+mn-lt"/>
              </a:rPr>
              <a:t> , the element in the </a:t>
            </a:r>
            <a:r>
              <a:rPr kumimoji="0" lang="en-US" sz="1700" b="0" i="0" u="none" strike="noStrike" kern="0" cap="none" spc="0" normalizeH="0" baseline="0" noProof="0" dirty="0" err="1">
                <a:ln>
                  <a:noFill/>
                </a:ln>
                <a:solidFill>
                  <a:sysClr val="windowText" lastClr="000000"/>
                </a:solidFill>
                <a:effectLst/>
                <a:uLnTx/>
                <a:uFillTx/>
                <a:latin typeface="+mn-lt"/>
              </a:rPr>
              <a:t>ith</a:t>
            </a:r>
            <a:r>
              <a:rPr kumimoji="0" lang="en-US" sz="1700" b="0" i="0" u="none" strike="noStrike" kern="0" cap="none" spc="0" normalizeH="0" baseline="0" noProof="0" dirty="0">
                <a:ln>
                  <a:noFill/>
                </a:ln>
                <a:solidFill>
                  <a:sysClr val="windowText" lastClr="000000"/>
                </a:solidFill>
                <a:effectLst/>
                <a:uLnTx/>
                <a:uFillTx/>
                <a:latin typeface="+mn-lt"/>
              </a:rPr>
              <a:t> row and </a:t>
            </a:r>
            <a:r>
              <a:rPr kumimoji="0" lang="en-US" sz="1700" b="0" i="0" u="none" strike="noStrike" kern="0" cap="none" spc="0" normalizeH="0" baseline="0" noProof="0" dirty="0" err="1">
                <a:ln>
                  <a:noFill/>
                </a:ln>
                <a:solidFill>
                  <a:sysClr val="windowText" lastClr="000000"/>
                </a:solidFill>
                <a:effectLst/>
                <a:uLnTx/>
                <a:uFillTx/>
                <a:latin typeface="+mn-lt"/>
              </a:rPr>
              <a:t>jth</a:t>
            </a:r>
            <a:r>
              <a:rPr kumimoji="0" lang="en-US" sz="1700" b="0" i="0" u="none" strike="noStrike" kern="0" cap="none" spc="0" normalizeH="0" baseline="0" noProof="0" dirty="0">
                <a:ln>
                  <a:noFill/>
                </a:ln>
                <a:solidFill>
                  <a:sysClr val="windowText" lastClr="000000"/>
                </a:solidFill>
                <a:effectLst/>
                <a:uLnTx/>
                <a:uFillTx/>
                <a:latin typeface="+mn-lt"/>
              </a:rPr>
              <a:t> column of matrix R</a:t>
            </a:r>
            <a:r>
              <a:rPr kumimoji="0" lang="en-US" sz="1700" b="0" i="0" u="none" strike="noStrike" kern="0" cap="none" spc="0" normalizeH="0" baseline="30000" noProof="0" dirty="0">
                <a:ln>
                  <a:noFill/>
                </a:ln>
                <a:solidFill>
                  <a:sysClr val="windowText" lastClr="000000"/>
                </a:solidFill>
                <a:effectLst/>
                <a:uLnTx/>
                <a:uFillTx/>
                <a:latin typeface="+mn-lt"/>
              </a:rPr>
              <a:t>(k)</a:t>
            </a:r>
            <a:r>
              <a:rPr kumimoji="0" lang="en-US" sz="1700" b="0" i="0" u="none" strike="noStrike" kern="0" cap="none" spc="0" normalizeH="0" baseline="0" noProof="0" dirty="0">
                <a:ln>
                  <a:noFill/>
                </a:ln>
                <a:solidFill>
                  <a:sysClr val="windowText" lastClr="000000"/>
                </a:solidFill>
                <a:effectLst/>
                <a:uLnTx/>
                <a:uFillTx/>
                <a:latin typeface="+mn-lt"/>
              </a:rPr>
              <a:t>, be equal to 1.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n-lt"/>
              </a:rPr>
              <a:t>This means that there exists a path from the </a:t>
            </a:r>
            <a:r>
              <a:rPr kumimoji="0" lang="en-US" sz="1700" b="0" i="0" u="none" strike="noStrike" kern="0" cap="none" spc="0" normalizeH="0" baseline="0" noProof="0" dirty="0" err="1">
                <a:ln>
                  <a:noFill/>
                </a:ln>
                <a:solidFill>
                  <a:sysClr val="windowText" lastClr="000000"/>
                </a:solidFill>
                <a:effectLst/>
                <a:uLnTx/>
                <a:uFillTx/>
                <a:latin typeface="+mn-lt"/>
              </a:rPr>
              <a:t>ith</a:t>
            </a:r>
            <a:r>
              <a:rPr kumimoji="0" lang="en-US" sz="1700" b="0" i="0" u="none" strike="noStrike" kern="0" cap="none" spc="0" normalizeH="0" baseline="0" noProof="0" dirty="0">
                <a:ln>
                  <a:noFill/>
                </a:ln>
                <a:solidFill>
                  <a:sysClr val="windowText" lastClr="000000"/>
                </a:solidFill>
                <a:effectLst/>
                <a:uLnTx/>
                <a:uFillTx/>
                <a:latin typeface="+mn-lt"/>
              </a:rPr>
              <a:t> vertex v</a:t>
            </a:r>
            <a:r>
              <a:rPr kumimoji="0" lang="en-US" sz="1700" b="0" i="0" u="none" strike="noStrike" kern="0" cap="none" spc="0" normalizeH="0" baseline="-25000" noProof="0" dirty="0">
                <a:ln>
                  <a:noFill/>
                </a:ln>
                <a:solidFill>
                  <a:sysClr val="windowText" lastClr="000000"/>
                </a:solidFill>
                <a:effectLst/>
                <a:uLnTx/>
                <a:uFillTx/>
                <a:latin typeface="+mn-lt"/>
              </a:rPr>
              <a:t>i</a:t>
            </a:r>
            <a:r>
              <a:rPr kumimoji="0" lang="en-US" sz="1700" b="0" i="0" u="none" strike="noStrike" kern="0" cap="none" spc="0" normalizeH="0" baseline="0" noProof="0" dirty="0">
                <a:ln>
                  <a:noFill/>
                </a:ln>
                <a:solidFill>
                  <a:sysClr val="windowText" lastClr="000000"/>
                </a:solidFill>
                <a:effectLst/>
                <a:uLnTx/>
                <a:uFillTx/>
                <a:latin typeface="+mn-lt"/>
              </a:rPr>
              <a:t> to the </a:t>
            </a:r>
            <a:r>
              <a:rPr kumimoji="0" lang="en-US" sz="1700" b="0" i="0" u="none" strike="noStrike" kern="0" cap="none" spc="0" normalizeH="0" baseline="0" noProof="0" dirty="0" err="1">
                <a:ln>
                  <a:noFill/>
                </a:ln>
                <a:solidFill>
                  <a:sysClr val="windowText" lastClr="000000"/>
                </a:solidFill>
                <a:effectLst/>
                <a:uLnTx/>
                <a:uFillTx/>
                <a:latin typeface="+mn-lt"/>
              </a:rPr>
              <a:t>jth</a:t>
            </a:r>
            <a:r>
              <a:rPr kumimoji="0" lang="en-US" sz="1700" b="0" i="0" u="none" strike="noStrike" kern="0" cap="none" spc="0" normalizeH="0" baseline="0" noProof="0" dirty="0">
                <a:ln>
                  <a:noFill/>
                </a:ln>
                <a:solidFill>
                  <a:sysClr val="windowText" lastClr="000000"/>
                </a:solidFill>
                <a:effectLst/>
                <a:uLnTx/>
                <a:uFillTx/>
                <a:latin typeface="+mn-lt"/>
              </a:rPr>
              <a:t> vertex </a:t>
            </a:r>
            <a:r>
              <a:rPr kumimoji="0" lang="en-US" sz="1700" b="0" i="0" u="none" strike="noStrike" kern="0" cap="none" spc="0" normalizeH="0" baseline="0" noProof="0" dirty="0" err="1">
                <a:ln>
                  <a:noFill/>
                </a:ln>
                <a:solidFill>
                  <a:sysClr val="windowText" lastClr="000000"/>
                </a:solidFill>
                <a:effectLst/>
                <a:uLnTx/>
                <a:uFillTx/>
                <a:latin typeface="+mn-lt"/>
              </a:rPr>
              <a:t>vj</a:t>
            </a:r>
            <a:r>
              <a:rPr kumimoji="0" lang="en-US" sz="1700" b="0" i="0" u="none" strike="noStrike" kern="0" cap="none" spc="0" normalizeH="0" baseline="0" noProof="0" dirty="0">
                <a:ln>
                  <a:noFill/>
                </a:ln>
                <a:solidFill>
                  <a:sysClr val="windowText" lastClr="000000"/>
                </a:solidFill>
                <a:effectLst/>
                <a:uLnTx/>
                <a:uFillTx/>
                <a:latin typeface="+mn-lt"/>
              </a:rPr>
              <a:t> with each intermediate vertex numbered not higher than k: v</a:t>
            </a:r>
            <a:r>
              <a:rPr kumimoji="0" lang="en-US" sz="1700" b="0" i="0" u="none" strike="noStrike" kern="0" cap="none" spc="0" normalizeH="0" baseline="-25000" noProof="0" dirty="0">
                <a:ln>
                  <a:noFill/>
                </a:ln>
                <a:solidFill>
                  <a:sysClr val="windowText" lastClr="000000"/>
                </a:solidFill>
                <a:effectLst/>
                <a:uLnTx/>
                <a:uFillTx/>
                <a:latin typeface="+mn-lt"/>
              </a:rPr>
              <a:t>i</a:t>
            </a:r>
            <a:r>
              <a:rPr kumimoji="0" lang="en-US" sz="1700" b="0" i="0" u="none" strike="noStrike" kern="0" cap="none" spc="0" normalizeH="0" baseline="0" noProof="0" dirty="0">
                <a:ln>
                  <a:noFill/>
                </a:ln>
                <a:solidFill>
                  <a:sysClr val="windowText" lastClr="000000"/>
                </a:solidFill>
                <a:effectLst/>
                <a:uLnTx/>
                <a:uFillTx/>
                <a:latin typeface="+mn-lt"/>
              </a:rPr>
              <a:t>, a list of intermediate vertices each numbered not higher than k, </a:t>
            </a:r>
            <a:r>
              <a:rPr kumimoji="0" lang="en-US" sz="1700" b="0" i="0" u="none" strike="noStrike" kern="0" cap="none" spc="0" normalizeH="0" baseline="0" noProof="0" dirty="0" err="1">
                <a:ln>
                  <a:noFill/>
                </a:ln>
                <a:solidFill>
                  <a:sysClr val="windowText" lastClr="000000"/>
                </a:solidFill>
                <a:effectLst/>
                <a:uLnTx/>
                <a:uFillTx/>
                <a:latin typeface="+mn-lt"/>
              </a:rPr>
              <a:t>v</a:t>
            </a:r>
            <a:r>
              <a:rPr kumimoji="0" lang="en-US" sz="1700" b="0" i="0" u="none" strike="noStrike" kern="0" cap="none" spc="0" normalizeH="0" baseline="-25000" noProof="0" dirty="0" err="1">
                <a:ln>
                  <a:noFill/>
                </a:ln>
                <a:solidFill>
                  <a:sysClr val="windowText" lastClr="000000"/>
                </a:solidFill>
                <a:effectLst/>
                <a:uLnTx/>
                <a:uFillTx/>
                <a:latin typeface="+mn-lt"/>
              </a:rPr>
              <a:t>j</a:t>
            </a:r>
            <a:r>
              <a:rPr kumimoji="0" lang="en-US" sz="1700" b="0" i="0" u="none" strike="noStrike" kern="0" cap="none" spc="0" normalizeH="0" baseline="0" noProof="0" dirty="0">
                <a:ln>
                  <a:noFill/>
                </a:ln>
                <a:solidFill>
                  <a:sysClr val="windowText" lastClr="000000"/>
                </a:solidFill>
                <a:effectLst/>
                <a:uLnTx/>
                <a:uFillTx/>
                <a:latin typeface="+mn-lt"/>
              </a:rPr>
              <a:t> .       (8.10)</a:t>
            </a:r>
          </a:p>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US" sz="1700" b="0" i="0" u="none" strike="noStrike" kern="0" cap="none" spc="0" normalizeH="0" baseline="0" noProof="0" dirty="0">
                <a:ln>
                  <a:noFill/>
                </a:ln>
                <a:solidFill>
                  <a:sysClr val="windowText" lastClr="000000"/>
                </a:solidFill>
                <a:effectLst/>
                <a:uLnTx/>
                <a:uFillTx/>
                <a:latin typeface="+mj-lt"/>
              </a:rPr>
              <a:t> </a:t>
            </a:r>
          </a:p>
        </p:txBody>
      </p:sp>
      <p:pic>
        <p:nvPicPr>
          <p:cNvPr id="3" name="Picture 2">
            <a:extLst>
              <a:ext uri="{FF2B5EF4-FFF2-40B4-BE49-F238E27FC236}">
                <a16:creationId xmlns:a16="http://schemas.microsoft.com/office/drawing/2014/main" id="{6FCED8F1-609C-607C-BCCE-724FC90ACFDA}"/>
              </a:ext>
            </a:extLst>
          </p:cNvPr>
          <p:cNvPicPr>
            <a:picLocks noChangeAspect="1"/>
          </p:cNvPicPr>
          <p:nvPr/>
        </p:nvPicPr>
        <p:blipFill>
          <a:blip r:embed="rId3"/>
          <a:stretch>
            <a:fillRect/>
          </a:stretch>
        </p:blipFill>
        <p:spPr>
          <a:xfrm>
            <a:off x="1634007" y="2539902"/>
            <a:ext cx="4523445" cy="374612"/>
          </a:xfrm>
          <a:prstGeom prst="rect">
            <a:avLst/>
          </a:prstGeom>
        </p:spPr>
      </p:pic>
    </p:spTree>
    <p:extLst>
      <p:ext uri="{BB962C8B-B14F-4D97-AF65-F5344CB8AC3E}">
        <p14:creationId xmlns:p14="http://schemas.microsoft.com/office/powerpoint/2010/main" val="243861763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5CE11A8E-6E51-08CC-8413-C648ADD1050E}"/>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0CCBAF36-40BF-C5F7-4EE2-44604488A0A3}"/>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DYNAMIC PROGRAMMING</a:t>
            </a:r>
          </a:p>
        </p:txBody>
      </p:sp>
      <p:sp>
        <p:nvSpPr>
          <p:cNvPr id="369" name="Google Shape;369;p42">
            <a:extLst>
              <a:ext uri="{FF2B5EF4-FFF2-40B4-BE49-F238E27FC236}">
                <a16:creationId xmlns:a16="http://schemas.microsoft.com/office/drawing/2014/main" id="{05460699-EFED-680F-CD87-D91873957C89}"/>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48</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7EA479EF-3A1A-7B75-57BA-F564FD617EE6}"/>
              </a:ext>
            </a:extLst>
          </p:cNvPr>
          <p:cNvSpPr txBox="1"/>
          <p:nvPr/>
        </p:nvSpPr>
        <p:spPr>
          <a:xfrm>
            <a:off x="161434" y="1081890"/>
            <a:ext cx="8761110" cy="3254697"/>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IN" sz="1800" b="1" i="0" u="none" strike="noStrike" kern="0" cap="none" spc="0" normalizeH="0" baseline="0" noProof="0" dirty="0" err="1">
                <a:ln>
                  <a:noFill/>
                </a:ln>
                <a:solidFill>
                  <a:sysClr val="windowText" lastClr="000000"/>
                </a:solidFill>
                <a:effectLst/>
                <a:uLnTx/>
                <a:uFillTx/>
                <a:latin typeface="+mj-lt"/>
              </a:rPr>
              <a:t>Warshall’s</a:t>
            </a:r>
            <a:r>
              <a:rPr kumimoji="0" lang="en-IN" sz="1800" b="1" i="0" u="none" strike="noStrike" kern="0" cap="none" spc="0" normalizeH="0" baseline="0" noProof="0" dirty="0">
                <a:ln>
                  <a:noFill/>
                </a:ln>
                <a:solidFill>
                  <a:sysClr val="windowText" lastClr="000000"/>
                </a:solidFill>
                <a:effectLst/>
                <a:uLnTx/>
                <a:uFillTx/>
                <a:latin typeface="+mj-lt"/>
              </a:rPr>
              <a:t> Algorithm</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j-lt"/>
              </a:rPr>
              <a:t>The formula for generating the elements of matrix      from the elements of matrix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endParaRPr kumimoji="0" lang="en-US" sz="1700" b="0" i="0" u="none" strike="noStrike" kern="0" cap="none" spc="0" normalizeH="0" baseline="0" noProof="0" dirty="0">
              <a:ln>
                <a:noFill/>
              </a:ln>
              <a:solidFill>
                <a:sysClr val="windowText" lastClr="000000"/>
              </a:solidFill>
              <a:effectLst/>
              <a:uLnTx/>
              <a:uFillTx/>
              <a:latin typeface="+mj-lt"/>
            </a:endParaRP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j-lt"/>
              </a:rPr>
              <a:t>Formula (8.11) is at the </a:t>
            </a:r>
            <a:r>
              <a:rPr kumimoji="0" lang="en-US" sz="1700" b="1" i="0" u="none" strike="noStrike" kern="0" cap="none" spc="0" normalizeH="0" baseline="0" noProof="0" dirty="0">
                <a:ln>
                  <a:noFill/>
                </a:ln>
                <a:solidFill>
                  <a:sysClr val="windowText" lastClr="000000"/>
                </a:solidFill>
                <a:effectLst/>
                <a:uLnTx/>
                <a:uFillTx/>
                <a:latin typeface="+mj-lt"/>
              </a:rPr>
              <a:t>heart of </a:t>
            </a:r>
            <a:r>
              <a:rPr kumimoji="0" lang="en-US" sz="1700" b="1" i="0" u="none" strike="noStrike" kern="0" cap="none" spc="0" normalizeH="0" baseline="0" noProof="0" dirty="0" err="1">
                <a:ln>
                  <a:noFill/>
                </a:ln>
                <a:solidFill>
                  <a:sysClr val="windowText" lastClr="000000"/>
                </a:solidFill>
                <a:effectLst/>
                <a:uLnTx/>
                <a:uFillTx/>
                <a:latin typeface="+mj-lt"/>
              </a:rPr>
              <a:t>Warshall’s</a:t>
            </a:r>
            <a:r>
              <a:rPr kumimoji="0" lang="en-US" sz="1700" b="1" i="0" u="none" strike="noStrike" kern="0" cap="none" spc="0" normalizeH="0" baseline="0" noProof="0" dirty="0">
                <a:ln>
                  <a:noFill/>
                </a:ln>
                <a:solidFill>
                  <a:sysClr val="windowText" lastClr="000000"/>
                </a:solidFill>
                <a:effectLst/>
                <a:uLnTx/>
                <a:uFillTx/>
                <a:latin typeface="+mj-lt"/>
              </a:rPr>
              <a:t> algorithm</a:t>
            </a:r>
            <a:r>
              <a:rPr kumimoji="0" lang="en-US" sz="1700" b="0" i="0" u="none" strike="noStrike" kern="0" cap="none" spc="0" normalizeH="0" baseline="0" noProof="0" dirty="0">
                <a:ln>
                  <a:noFill/>
                </a:ln>
                <a:solidFill>
                  <a:sysClr val="windowText" lastClr="000000"/>
                </a:solidFill>
                <a:effectLst/>
                <a:uLnTx/>
                <a:uFillTx/>
                <a:latin typeface="+mj-lt"/>
              </a:rPr>
              <a:t>.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j-lt"/>
              </a:rPr>
              <a:t>This formula implies the following rule for generating elements of matrix      from elements of matrix        , which is particularly convenient for applying </a:t>
            </a:r>
            <a:r>
              <a:rPr kumimoji="0" lang="en-US" sz="1700" b="0" i="0" u="none" strike="noStrike" kern="0" cap="none" spc="0" normalizeH="0" baseline="0" noProof="0" dirty="0" err="1">
                <a:ln>
                  <a:noFill/>
                </a:ln>
                <a:solidFill>
                  <a:sysClr val="windowText" lastClr="000000"/>
                </a:solidFill>
                <a:effectLst/>
                <a:uLnTx/>
                <a:uFillTx/>
                <a:latin typeface="+mj-lt"/>
              </a:rPr>
              <a:t>Warshall’s</a:t>
            </a:r>
            <a:r>
              <a:rPr kumimoji="0" lang="en-US" sz="1700" b="0" i="0" u="none" strike="noStrike" kern="0" cap="none" spc="0" normalizeH="0" baseline="0" noProof="0" dirty="0">
                <a:ln>
                  <a:noFill/>
                </a:ln>
                <a:solidFill>
                  <a:sysClr val="windowText" lastClr="000000"/>
                </a:solidFill>
                <a:effectLst/>
                <a:uLnTx/>
                <a:uFillTx/>
                <a:latin typeface="+mj-lt"/>
              </a:rPr>
              <a:t> algorithm by hand:</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endParaRPr kumimoji="0" lang="en-US" sz="1700" b="0" i="0" u="none" strike="noStrike" kern="0" cap="none" spc="0" normalizeH="0" baseline="0" noProof="0" dirty="0">
              <a:ln>
                <a:noFill/>
              </a:ln>
              <a:solidFill>
                <a:sysClr val="windowText" lastClr="000000"/>
              </a:solidFill>
              <a:effectLst/>
              <a:uLnTx/>
              <a:uFillTx/>
              <a:latin typeface="+mj-lt"/>
            </a:endParaRPr>
          </a:p>
        </p:txBody>
      </p:sp>
      <p:pic>
        <p:nvPicPr>
          <p:cNvPr id="3" name="Picture 2">
            <a:extLst>
              <a:ext uri="{FF2B5EF4-FFF2-40B4-BE49-F238E27FC236}">
                <a16:creationId xmlns:a16="http://schemas.microsoft.com/office/drawing/2014/main" id="{C4A4D97D-F8EB-8A7E-3B94-AC72BC1F620D}"/>
              </a:ext>
            </a:extLst>
          </p:cNvPr>
          <p:cNvPicPr>
            <a:picLocks noChangeAspect="1"/>
          </p:cNvPicPr>
          <p:nvPr/>
        </p:nvPicPr>
        <p:blipFill>
          <a:blip r:embed="rId3"/>
          <a:stretch>
            <a:fillRect/>
          </a:stretch>
        </p:blipFill>
        <p:spPr>
          <a:xfrm>
            <a:off x="2814489" y="1957162"/>
            <a:ext cx="3886537" cy="396274"/>
          </a:xfrm>
          <a:prstGeom prst="rect">
            <a:avLst/>
          </a:prstGeom>
        </p:spPr>
      </p:pic>
      <p:pic>
        <p:nvPicPr>
          <p:cNvPr id="6" name="Picture 5">
            <a:extLst>
              <a:ext uri="{FF2B5EF4-FFF2-40B4-BE49-F238E27FC236}">
                <a16:creationId xmlns:a16="http://schemas.microsoft.com/office/drawing/2014/main" id="{07C9AAA6-63CE-5973-E154-3600507B8A2B}"/>
              </a:ext>
            </a:extLst>
          </p:cNvPr>
          <p:cNvPicPr>
            <a:picLocks noChangeAspect="1"/>
          </p:cNvPicPr>
          <p:nvPr/>
        </p:nvPicPr>
        <p:blipFill>
          <a:blip r:embed="rId4"/>
          <a:stretch>
            <a:fillRect/>
          </a:stretch>
        </p:blipFill>
        <p:spPr>
          <a:xfrm>
            <a:off x="8360073" y="1655961"/>
            <a:ext cx="457240" cy="205758"/>
          </a:xfrm>
          <a:prstGeom prst="rect">
            <a:avLst/>
          </a:prstGeom>
        </p:spPr>
      </p:pic>
      <p:pic>
        <p:nvPicPr>
          <p:cNvPr id="8" name="Picture 7">
            <a:extLst>
              <a:ext uri="{FF2B5EF4-FFF2-40B4-BE49-F238E27FC236}">
                <a16:creationId xmlns:a16="http://schemas.microsoft.com/office/drawing/2014/main" id="{47AD99BF-2B12-48A0-6695-8A81251B407A}"/>
              </a:ext>
            </a:extLst>
          </p:cNvPr>
          <p:cNvPicPr>
            <a:picLocks noChangeAspect="1"/>
          </p:cNvPicPr>
          <p:nvPr/>
        </p:nvPicPr>
        <p:blipFill>
          <a:blip r:embed="rId5"/>
          <a:stretch>
            <a:fillRect/>
          </a:stretch>
        </p:blipFill>
        <p:spPr>
          <a:xfrm>
            <a:off x="7942180" y="2794797"/>
            <a:ext cx="243861" cy="190517"/>
          </a:xfrm>
          <a:prstGeom prst="rect">
            <a:avLst/>
          </a:prstGeom>
        </p:spPr>
      </p:pic>
      <p:pic>
        <p:nvPicPr>
          <p:cNvPr id="10" name="Picture 9">
            <a:extLst>
              <a:ext uri="{FF2B5EF4-FFF2-40B4-BE49-F238E27FC236}">
                <a16:creationId xmlns:a16="http://schemas.microsoft.com/office/drawing/2014/main" id="{8EF3BC85-2851-975A-31DA-78A3117588A6}"/>
              </a:ext>
            </a:extLst>
          </p:cNvPr>
          <p:cNvPicPr>
            <a:picLocks noChangeAspect="1"/>
          </p:cNvPicPr>
          <p:nvPr/>
        </p:nvPicPr>
        <p:blipFill>
          <a:blip r:embed="rId5"/>
          <a:stretch>
            <a:fillRect/>
          </a:stretch>
        </p:blipFill>
        <p:spPr>
          <a:xfrm>
            <a:off x="5334353" y="1671202"/>
            <a:ext cx="243861" cy="190517"/>
          </a:xfrm>
          <a:prstGeom prst="rect">
            <a:avLst/>
          </a:prstGeom>
        </p:spPr>
      </p:pic>
      <p:pic>
        <p:nvPicPr>
          <p:cNvPr id="12" name="Picture 11">
            <a:extLst>
              <a:ext uri="{FF2B5EF4-FFF2-40B4-BE49-F238E27FC236}">
                <a16:creationId xmlns:a16="http://schemas.microsoft.com/office/drawing/2014/main" id="{3A6E0A28-7615-A9C7-B435-A3714B90B161}"/>
              </a:ext>
            </a:extLst>
          </p:cNvPr>
          <p:cNvPicPr>
            <a:picLocks noChangeAspect="1"/>
          </p:cNvPicPr>
          <p:nvPr/>
        </p:nvPicPr>
        <p:blipFill>
          <a:blip r:embed="rId4"/>
          <a:stretch>
            <a:fillRect/>
          </a:stretch>
        </p:blipFill>
        <p:spPr>
          <a:xfrm>
            <a:off x="2522827" y="3211042"/>
            <a:ext cx="583324" cy="262496"/>
          </a:xfrm>
          <a:prstGeom prst="rect">
            <a:avLst/>
          </a:prstGeom>
        </p:spPr>
      </p:pic>
      <p:pic>
        <p:nvPicPr>
          <p:cNvPr id="16" name="Picture 15">
            <a:extLst>
              <a:ext uri="{FF2B5EF4-FFF2-40B4-BE49-F238E27FC236}">
                <a16:creationId xmlns:a16="http://schemas.microsoft.com/office/drawing/2014/main" id="{1FF7D9B4-C40D-DE11-033C-3BF97D394FBF}"/>
              </a:ext>
            </a:extLst>
          </p:cNvPr>
          <p:cNvPicPr>
            <a:picLocks noChangeAspect="1"/>
          </p:cNvPicPr>
          <p:nvPr/>
        </p:nvPicPr>
        <p:blipFill>
          <a:blip r:embed="rId6"/>
          <a:stretch>
            <a:fillRect/>
          </a:stretch>
        </p:blipFill>
        <p:spPr>
          <a:xfrm>
            <a:off x="1057643" y="3867502"/>
            <a:ext cx="6607113" cy="1082134"/>
          </a:xfrm>
          <a:prstGeom prst="rect">
            <a:avLst/>
          </a:prstGeom>
        </p:spPr>
      </p:pic>
    </p:spTree>
    <p:extLst>
      <p:ext uri="{BB962C8B-B14F-4D97-AF65-F5344CB8AC3E}">
        <p14:creationId xmlns:p14="http://schemas.microsoft.com/office/powerpoint/2010/main" val="371125227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7A7B4CA0-61B3-4B2D-0205-52E7F45E2637}"/>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67B942F6-B056-338B-68EC-52C17C1CA201}"/>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DYNAMIC PROGRAMMING</a:t>
            </a:r>
          </a:p>
        </p:txBody>
      </p:sp>
      <p:sp>
        <p:nvSpPr>
          <p:cNvPr id="369" name="Google Shape;369;p42">
            <a:extLst>
              <a:ext uri="{FF2B5EF4-FFF2-40B4-BE49-F238E27FC236}">
                <a16:creationId xmlns:a16="http://schemas.microsoft.com/office/drawing/2014/main" id="{E96DA2D3-8358-6E9E-38AA-CBC6143BCF34}"/>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49</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111DD1D1-AF4A-59D3-E48B-BBB89042B1F6}"/>
              </a:ext>
            </a:extLst>
          </p:cNvPr>
          <p:cNvSpPr txBox="1"/>
          <p:nvPr/>
        </p:nvSpPr>
        <p:spPr>
          <a:xfrm>
            <a:off x="154290" y="1081890"/>
            <a:ext cx="8761110" cy="1685036"/>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IN" sz="1800" b="1" i="0" u="none" strike="noStrike" kern="0" cap="none" spc="0" normalizeH="0" baseline="0" noProof="0" dirty="0" err="1">
                <a:ln>
                  <a:noFill/>
                </a:ln>
                <a:solidFill>
                  <a:sysClr val="windowText" lastClr="000000"/>
                </a:solidFill>
                <a:effectLst/>
                <a:uLnTx/>
                <a:uFillTx/>
                <a:latin typeface="+mj-lt"/>
              </a:rPr>
              <a:t>Warshall’s</a:t>
            </a:r>
            <a:r>
              <a:rPr kumimoji="0" lang="en-IN" sz="1800" b="1" i="0" u="none" strike="noStrike" kern="0" cap="none" spc="0" normalizeH="0" baseline="0" noProof="0" dirty="0">
                <a:ln>
                  <a:noFill/>
                </a:ln>
                <a:solidFill>
                  <a:sysClr val="windowText" lastClr="000000"/>
                </a:solidFill>
                <a:effectLst/>
                <a:uLnTx/>
                <a:uFillTx/>
                <a:latin typeface="+mj-lt"/>
              </a:rPr>
              <a:t> Algorithm</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n-lt"/>
              </a:rPr>
              <a:t>As an example, the application of </a:t>
            </a:r>
            <a:r>
              <a:rPr kumimoji="0" lang="en-US" sz="1700" b="0" i="0" u="none" strike="noStrike" kern="0" cap="none" spc="0" normalizeH="0" baseline="0" noProof="0" dirty="0" err="1">
                <a:ln>
                  <a:noFill/>
                </a:ln>
                <a:solidFill>
                  <a:sysClr val="windowText" lastClr="000000"/>
                </a:solidFill>
                <a:effectLst/>
                <a:uLnTx/>
                <a:uFillTx/>
                <a:latin typeface="+mn-lt"/>
              </a:rPr>
              <a:t>Warshall’s</a:t>
            </a:r>
            <a:r>
              <a:rPr kumimoji="0" lang="en-US" sz="1700" b="0" i="0" u="none" strike="noStrike" kern="0" cap="none" spc="0" normalizeH="0" baseline="0" noProof="0" dirty="0">
                <a:ln>
                  <a:noFill/>
                </a:ln>
                <a:solidFill>
                  <a:sysClr val="windowText" lastClr="000000"/>
                </a:solidFill>
                <a:effectLst/>
                <a:uLnTx/>
                <a:uFillTx/>
                <a:latin typeface="+mn-lt"/>
              </a:rPr>
              <a:t> algorithm to the digraph in Figure 8.11 is shown in Figure 8.13.</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endParaRPr kumimoji="0" lang="en-US" sz="1700" b="0" i="0" u="none" strike="noStrike" kern="0" cap="none" spc="0" normalizeH="0" baseline="0" noProof="0" dirty="0">
              <a:ln>
                <a:noFill/>
              </a:ln>
              <a:solidFill>
                <a:sysClr val="windowText" lastClr="000000"/>
              </a:solidFill>
              <a:effectLst/>
              <a:uLnTx/>
              <a:uFillTx/>
              <a:latin typeface="+mn-lt"/>
            </a:endParaRPr>
          </a:p>
        </p:txBody>
      </p:sp>
      <p:pic>
        <p:nvPicPr>
          <p:cNvPr id="6" name="Picture 5">
            <a:extLst>
              <a:ext uri="{FF2B5EF4-FFF2-40B4-BE49-F238E27FC236}">
                <a16:creationId xmlns:a16="http://schemas.microsoft.com/office/drawing/2014/main" id="{7719EEE4-F43E-2743-16E0-5567D5F345EE}"/>
              </a:ext>
            </a:extLst>
          </p:cNvPr>
          <p:cNvPicPr>
            <a:picLocks noChangeAspect="1"/>
          </p:cNvPicPr>
          <p:nvPr/>
        </p:nvPicPr>
        <p:blipFill>
          <a:blip r:embed="rId3"/>
          <a:stretch>
            <a:fillRect/>
          </a:stretch>
        </p:blipFill>
        <p:spPr>
          <a:xfrm>
            <a:off x="1033177" y="2335818"/>
            <a:ext cx="6591871" cy="2171888"/>
          </a:xfrm>
          <a:prstGeom prst="rect">
            <a:avLst/>
          </a:prstGeom>
        </p:spPr>
      </p:pic>
    </p:spTree>
    <p:extLst>
      <p:ext uri="{BB962C8B-B14F-4D97-AF65-F5344CB8AC3E}">
        <p14:creationId xmlns:p14="http://schemas.microsoft.com/office/powerpoint/2010/main" val="422392027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C85D9069-8CB8-55FD-8E81-0CC58EF89DEF}"/>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CDE910DC-FEA1-7E9A-7EA1-20886AC61244}"/>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DYNAMIC PROGRAMMING</a:t>
            </a:r>
          </a:p>
        </p:txBody>
      </p:sp>
      <p:sp>
        <p:nvSpPr>
          <p:cNvPr id="369" name="Google Shape;369;p42">
            <a:extLst>
              <a:ext uri="{FF2B5EF4-FFF2-40B4-BE49-F238E27FC236}">
                <a16:creationId xmlns:a16="http://schemas.microsoft.com/office/drawing/2014/main" id="{390DECCE-F1DB-A3D7-7E75-AEE4B5EBDF07}"/>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50</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9323C5BC-73FB-AD3D-600F-8D756485A1FF}"/>
              </a:ext>
            </a:extLst>
          </p:cNvPr>
          <p:cNvSpPr txBox="1"/>
          <p:nvPr/>
        </p:nvSpPr>
        <p:spPr>
          <a:xfrm>
            <a:off x="154290" y="1081890"/>
            <a:ext cx="8761110" cy="900206"/>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IN" sz="1800" b="1" i="0" u="none" strike="noStrike" kern="0" cap="none" spc="0" normalizeH="0" baseline="0" noProof="0" dirty="0" err="1">
                <a:ln>
                  <a:noFill/>
                </a:ln>
                <a:solidFill>
                  <a:sysClr val="windowText" lastClr="000000"/>
                </a:solidFill>
                <a:effectLst/>
                <a:uLnTx/>
                <a:uFillTx/>
                <a:latin typeface="+mj-lt"/>
              </a:rPr>
              <a:t>Warshall’s</a:t>
            </a:r>
            <a:r>
              <a:rPr kumimoji="0" lang="en-IN" sz="1800" b="1" i="0" u="none" strike="noStrike" kern="0" cap="none" spc="0" normalizeH="0" baseline="0" noProof="0" dirty="0">
                <a:ln>
                  <a:noFill/>
                </a:ln>
                <a:solidFill>
                  <a:sysClr val="windowText" lastClr="000000"/>
                </a:solidFill>
                <a:effectLst/>
                <a:uLnTx/>
                <a:uFillTx/>
                <a:latin typeface="+mj-lt"/>
              </a:rPr>
              <a:t> Algorithm</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endParaRPr kumimoji="0" lang="en-US" sz="1700" b="1" i="0" u="none" strike="noStrike" kern="0" cap="none" spc="0" normalizeH="0" baseline="0" noProof="0" dirty="0">
              <a:ln>
                <a:noFill/>
              </a:ln>
              <a:solidFill>
                <a:sysClr val="windowText" lastClr="000000"/>
              </a:solidFill>
              <a:effectLst/>
              <a:uLnTx/>
              <a:uFillTx/>
              <a:latin typeface="+mn-lt"/>
            </a:endParaRPr>
          </a:p>
        </p:txBody>
      </p:sp>
      <p:pic>
        <p:nvPicPr>
          <p:cNvPr id="5" name="Picture 4">
            <a:extLst>
              <a:ext uri="{FF2B5EF4-FFF2-40B4-BE49-F238E27FC236}">
                <a16:creationId xmlns:a16="http://schemas.microsoft.com/office/drawing/2014/main" id="{C513C9B4-78E4-6CE4-5A4A-CB5853B99902}"/>
              </a:ext>
            </a:extLst>
          </p:cNvPr>
          <p:cNvPicPr>
            <a:picLocks noChangeAspect="1"/>
          </p:cNvPicPr>
          <p:nvPr/>
        </p:nvPicPr>
        <p:blipFill>
          <a:blip r:embed="rId3"/>
          <a:stretch>
            <a:fillRect/>
          </a:stretch>
        </p:blipFill>
        <p:spPr>
          <a:xfrm>
            <a:off x="991238" y="1439859"/>
            <a:ext cx="7087214" cy="3703641"/>
          </a:xfrm>
          <a:prstGeom prst="rect">
            <a:avLst/>
          </a:prstGeom>
        </p:spPr>
      </p:pic>
    </p:spTree>
    <p:extLst>
      <p:ext uri="{BB962C8B-B14F-4D97-AF65-F5344CB8AC3E}">
        <p14:creationId xmlns:p14="http://schemas.microsoft.com/office/powerpoint/2010/main" val="196482039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3B2901FC-FF7F-18F0-FC6D-B20E9B7A500C}"/>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0E9F9C30-D46C-84C5-FA65-B7B06AD31D10}"/>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DYNAMIC PROGRAMMING</a:t>
            </a:r>
          </a:p>
        </p:txBody>
      </p:sp>
      <p:sp>
        <p:nvSpPr>
          <p:cNvPr id="369" name="Google Shape;369;p42">
            <a:extLst>
              <a:ext uri="{FF2B5EF4-FFF2-40B4-BE49-F238E27FC236}">
                <a16:creationId xmlns:a16="http://schemas.microsoft.com/office/drawing/2014/main" id="{B0A07DE1-A74C-C9D3-1110-009D417DA4A2}"/>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51</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556E433F-68C1-24FF-3C67-035FC0DE2A4E}"/>
              </a:ext>
            </a:extLst>
          </p:cNvPr>
          <p:cNvSpPr txBox="1"/>
          <p:nvPr/>
        </p:nvSpPr>
        <p:spPr>
          <a:xfrm>
            <a:off x="154290" y="1081890"/>
            <a:ext cx="8761110" cy="900206"/>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IN" sz="1800" b="1" i="0" u="none" strike="noStrike" kern="0" cap="none" spc="0" normalizeH="0" baseline="0" noProof="0" dirty="0" err="1">
                <a:ln>
                  <a:noFill/>
                </a:ln>
                <a:solidFill>
                  <a:sysClr val="windowText" lastClr="000000"/>
                </a:solidFill>
                <a:effectLst/>
                <a:uLnTx/>
                <a:uFillTx/>
                <a:latin typeface="+mj-lt"/>
              </a:rPr>
              <a:t>Warshall’s</a:t>
            </a:r>
            <a:r>
              <a:rPr kumimoji="0" lang="en-IN" sz="1800" b="1" i="0" u="none" strike="noStrike" kern="0" cap="none" spc="0" normalizeH="0" baseline="0" noProof="0" dirty="0">
                <a:ln>
                  <a:noFill/>
                </a:ln>
                <a:solidFill>
                  <a:sysClr val="windowText" lastClr="000000"/>
                </a:solidFill>
                <a:effectLst/>
                <a:uLnTx/>
                <a:uFillTx/>
                <a:latin typeface="+mj-lt"/>
              </a:rPr>
              <a:t> Algorithm</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endParaRPr kumimoji="0" lang="en-US" sz="1700" b="1" i="0" u="none" strike="noStrike" kern="0" cap="none" spc="0" normalizeH="0" baseline="0" noProof="0" dirty="0">
              <a:ln>
                <a:noFill/>
              </a:ln>
              <a:solidFill>
                <a:sysClr val="windowText" lastClr="000000"/>
              </a:solidFill>
              <a:effectLst/>
              <a:uLnTx/>
              <a:uFillTx/>
              <a:latin typeface="+mn-lt"/>
            </a:endParaRPr>
          </a:p>
        </p:txBody>
      </p:sp>
      <p:pic>
        <p:nvPicPr>
          <p:cNvPr id="3" name="Picture 2">
            <a:extLst>
              <a:ext uri="{FF2B5EF4-FFF2-40B4-BE49-F238E27FC236}">
                <a16:creationId xmlns:a16="http://schemas.microsoft.com/office/drawing/2014/main" id="{3A28563E-359C-210D-D86F-A04E63B9701E}"/>
              </a:ext>
            </a:extLst>
          </p:cNvPr>
          <p:cNvPicPr>
            <a:picLocks noChangeAspect="1"/>
          </p:cNvPicPr>
          <p:nvPr/>
        </p:nvPicPr>
        <p:blipFill>
          <a:blip r:embed="rId3"/>
          <a:stretch>
            <a:fillRect/>
          </a:stretch>
        </p:blipFill>
        <p:spPr>
          <a:xfrm>
            <a:off x="1199808" y="1534765"/>
            <a:ext cx="6498566" cy="3253280"/>
          </a:xfrm>
          <a:prstGeom prst="rect">
            <a:avLst/>
          </a:prstGeom>
        </p:spPr>
      </p:pic>
    </p:spTree>
    <p:extLst>
      <p:ext uri="{BB962C8B-B14F-4D97-AF65-F5344CB8AC3E}">
        <p14:creationId xmlns:p14="http://schemas.microsoft.com/office/powerpoint/2010/main" val="20820873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018F6BA7-382B-32FB-D1CC-A38305A8FA3E}"/>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856DAF07-263C-BD64-EBB0-AEA29A057A46}"/>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DYNAMIC PROGRAMMING</a:t>
            </a:r>
          </a:p>
        </p:txBody>
      </p:sp>
      <p:sp>
        <p:nvSpPr>
          <p:cNvPr id="369" name="Google Shape;369;p42">
            <a:extLst>
              <a:ext uri="{FF2B5EF4-FFF2-40B4-BE49-F238E27FC236}">
                <a16:creationId xmlns:a16="http://schemas.microsoft.com/office/drawing/2014/main" id="{70E81C8B-74FA-D9D0-3F0F-84EDB46441E0}"/>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52</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061CB36F-2B9E-49AE-1D86-2B3FE7E86F3A}"/>
              </a:ext>
            </a:extLst>
          </p:cNvPr>
          <p:cNvSpPr txBox="1"/>
          <p:nvPr/>
        </p:nvSpPr>
        <p:spPr>
          <a:xfrm>
            <a:off x="154290" y="1158974"/>
            <a:ext cx="8761110" cy="2862282"/>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IN" sz="1800" b="1" i="0" u="none" strike="noStrike" kern="0" cap="none" spc="0" normalizeH="0" baseline="0" noProof="0" dirty="0" err="1">
                <a:ln>
                  <a:noFill/>
                </a:ln>
                <a:solidFill>
                  <a:sysClr val="windowText" lastClr="000000"/>
                </a:solidFill>
                <a:effectLst/>
                <a:uLnTx/>
                <a:uFillTx/>
                <a:latin typeface="+mj-lt"/>
              </a:rPr>
              <a:t>Warshall’s</a:t>
            </a:r>
            <a:r>
              <a:rPr kumimoji="0" lang="en-IN" sz="1800" b="1" i="0" u="none" strike="noStrike" kern="0" cap="none" spc="0" normalizeH="0" baseline="0" noProof="0" dirty="0">
                <a:ln>
                  <a:noFill/>
                </a:ln>
                <a:solidFill>
                  <a:sysClr val="windowText" lastClr="000000"/>
                </a:solidFill>
                <a:effectLst/>
                <a:uLnTx/>
                <a:uFillTx/>
                <a:latin typeface="+mj-lt"/>
              </a:rPr>
              <a:t> Algorithm</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n-lt"/>
              </a:rPr>
              <a:t>First, it is remarkably succinct, and </a:t>
            </a:r>
            <a:r>
              <a:rPr kumimoji="0" lang="en-US" sz="1700" b="1" i="0" u="none" strike="noStrike" kern="0" cap="none" spc="0" normalizeH="0" baseline="0" noProof="0" dirty="0">
                <a:ln>
                  <a:noFill/>
                </a:ln>
                <a:solidFill>
                  <a:sysClr val="windowText" lastClr="000000"/>
                </a:solidFill>
                <a:effectLst/>
                <a:uLnTx/>
                <a:uFillTx/>
                <a:latin typeface="+mn-lt"/>
              </a:rPr>
              <a:t>its time efficiency</a:t>
            </a:r>
            <a:r>
              <a:rPr kumimoji="0" lang="en-US" sz="1700" b="0" i="0" u="none" strike="noStrike" kern="0" cap="none" spc="0" normalizeH="0" baseline="0" noProof="0" dirty="0">
                <a:ln>
                  <a:noFill/>
                </a:ln>
                <a:solidFill>
                  <a:sysClr val="windowText" lastClr="000000"/>
                </a:solidFill>
                <a:effectLst/>
                <a:uLnTx/>
                <a:uFillTx/>
                <a:latin typeface="+mn-lt"/>
              </a:rPr>
              <a:t> is only      .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n-lt"/>
              </a:rPr>
              <a:t>We can speed up the above implementation of </a:t>
            </a:r>
            <a:r>
              <a:rPr kumimoji="0" lang="en-US" sz="1700" b="0" i="0" u="none" strike="noStrike" kern="0" cap="none" spc="0" normalizeH="0" baseline="0" noProof="0" dirty="0" err="1">
                <a:ln>
                  <a:noFill/>
                </a:ln>
                <a:solidFill>
                  <a:sysClr val="windowText" lastClr="000000"/>
                </a:solidFill>
                <a:effectLst/>
                <a:uLnTx/>
                <a:uFillTx/>
                <a:latin typeface="+mn-lt"/>
              </a:rPr>
              <a:t>Warshall’s</a:t>
            </a:r>
            <a:r>
              <a:rPr kumimoji="0" lang="en-US" sz="1700" b="0" i="0" u="none" strike="noStrike" kern="0" cap="none" spc="0" normalizeH="0" baseline="0" noProof="0" dirty="0">
                <a:ln>
                  <a:noFill/>
                </a:ln>
                <a:solidFill>
                  <a:sysClr val="windowText" lastClr="000000"/>
                </a:solidFill>
                <a:effectLst/>
                <a:uLnTx/>
                <a:uFillTx/>
                <a:latin typeface="+mn-lt"/>
              </a:rPr>
              <a:t> algorithm for some inputs by restructuring its innermost loop.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n-lt"/>
              </a:rPr>
              <a:t>Another way to make the algorithm run faster is to treat matrix rows as bit strings and employ the bitwise or operation available in most modern computer languages. </a:t>
            </a:r>
          </a:p>
          <a:p>
            <a:pPr marL="0" marR="0" lvl="0" indent="0" algn="just" defTabSz="914400" eaLnBrk="1" fontAlgn="auto" latinLnBrk="0" hangingPunct="1">
              <a:lnSpc>
                <a:spcPct val="150000"/>
              </a:lnSpc>
              <a:spcBef>
                <a:spcPts val="0"/>
              </a:spcBef>
              <a:spcAft>
                <a:spcPts val="0"/>
              </a:spcAft>
              <a:buClrTx/>
              <a:buSzPts val="1800"/>
              <a:buFontTx/>
              <a:buNone/>
              <a:tabLst/>
              <a:defRPr/>
            </a:pPr>
            <a:endParaRPr kumimoji="0" lang="en-US" sz="1700" b="0" i="0" u="none" strike="noStrike" kern="0" cap="none" spc="0" normalizeH="0" baseline="0" noProof="0" dirty="0">
              <a:ln>
                <a:noFill/>
              </a:ln>
              <a:solidFill>
                <a:sysClr val="windowText" lastClr="000000"/>
              </a:solidFill>
              <a:effectLst/>
              <a:uLnTx/>
              <a:uFillTx/>
              <a:latin typeface="+mn-lt"/>
            </a:endParaRPr>
          </a:p>
        </p:txBody>
      </p:sp>
      <p:pic>
        <p:nvPicPr>
          <p:cNvPr id="5" name="Picture 4">
            <a:extLst>
              <a:ext uri="{FF2B5EF4-FFF2-40B4-BE49-F238E27FC236}">
                <a16:creationId xmlns:a16="http://schemas.microsoft.com/office/drawing/2014/main" id="{9C779667-00A5-7096-3310-AE9D280371DC}"/>
              </a:ext>
            </a:extLst>
          </p:cNvPr>
          <p:cNvPicPr>
            <a:picLocks noChangeAspect="1"/>
          </p:cNvPicPr>
          <p:nvPr/>
        </p:nvPicPr>
        <p:blipFill>
          <a:blip r:embed="rId3"/>
          <a:stretch>
            <a:fillRect/>
          </a:stretch>
        </p:blipFill>
        <p:spPr>
          <a:xfrm>
            <a:off x="6521623" y="1700521"/>
            <a:ext cx="480102" cy="228620"/>
          </a:xfrm>
          <a:prstGeom prst="rect">
            <a:avLst/>
          </a:prstGeom>
        </p:spPr>
      </p:pic>
    </p:spTree>
    <p:extLst>
      <p:ext uri="{BB962C8B-B14F-4D97-AF65-F5344CB8AC3E}">
        <p14:creationId xmlns:p14="http://schemas.microsoft.com/office/powerpoint/2010/main" val="266375158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2"/>
          <p:cNvSpPr txBox="1"/>
          <p:nvPr/>
        </p:nvSpPr>
        <p:spPr>
          <a:xfrm>
            <a:off x="1742085" y="1644446"/>
            <a:ext cx="5485797" cy="1508065"/>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0" cap="none" spc="0" normalizeH="0" baseline="0" noProof="0" dirty="0">
                <a:ln>
                  <a:noFill/>
                </a:ln>
                <a:solidFill>
                  <a:srgbClr val="083C92"/>
                </a:solidFill>
                <a:effectLst/>
                <a:uLnTx/>
                <a:uFillTx/>
                <a:latin typeface="Arial"/>
                <a:ea typeface="Arial"/>
                <a:cs typeface="Arial"/>
                <a:sym typeface="Arial"/>
              </a:rPr>
              <a:t>Module-4</a:t>
            </a:r>
            <a:endParaRPr kumimoji="0" sz="1800" b="0" i="0" u="none" strike="noStrike" kern="0" cap="none" spc="0" normalizeH="0" baseline="0" noProof="0" dirty="0">
              <a:ln>
                <a:noFill/>
              </a:ln>
              <a:solidFill>
                <a:sysClr val="windowText" lastClr="000000"/>
              </a:solidFill>
              <a:effectLst/>
              <a:uLnTx/>
              <a:uFillTx/>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2800" b="0" i="0" u="none" strike="noStrike" kern="0" cap="none" spc="0" normalizeH="0" baseline="0" noProof="0" dirty="0">
              <a:ln>
                <a:noFill/>
              </a:ln>
              <a:solidFill>
                <a:srgbClr val="000000"/>
              </a:solidFill>
              <a:effectLst/>
              <a:uLnTx/>
              <a:uFillTx/>
              <a:latin typeface="Arial"/>
              <a:ea typeface="Arial"/>
              <a:cs typeface="Arial"/>
              <a:sym typeface="Arial"/>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ysClr val="windowText" lastClr="000000"/>
                </a:solidFill>
                <a:effectLst/>
                <a:uLnTx/>
                <a:uFillTx/>
              </a:rPr>
              <a:t>Floyd’s Algorithm</a:t>
            </a:r>
          </a:p>
        </p:txBody>
      </p:sp>
      <p:sp>
        <p:nvSpPr>
          <p:cNvPr id="62" name="Google Shape;62;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53</a:t>
            </a:fld>
            <a:endParaRPr kumimoji="0" sz="18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94283703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BE5F8D01-23A3-D4EE-3B24-386DFFEF1693}"/>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93CDBC21-D41E-042A-93FB-01D126C64AC1}"/>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DYNAMIC PROGRAMMING</a:t>
            </a:r>
          </a:p>
        </p:txBody>
      </p:sp>
      <p:sp>
        <p:nvSpPr>
          <p:cNvPr id="369" name="Google Shape;369;p42">
            <a:extLst>
              <a:ext uri="{FF2B5EF4-FFF2-40B4-BE49-F238E27FC236}">
                <a16:creationId xmlns:a16="http://schemas.microsoft.com/office/drawing/2014/main" id="{D33FBDE8-7D50-351C-2CBA-98614E563920}"/>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54</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A1883CE5-9B07-E304-7AAB-0AE8C223565B}"/>
              </a:ext>
            </a:extLst>
          </p:cNvPr>
          <p:cNvSpPr txBox="1"/>
          <p:nvPr/>
        </p:nvSpPr>
        <p:spPr>
          <a:xfrm>
            <a:off x="154290" y="1081890"/>
            <a:ext cx="8761110" cy="3647112"/>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US" sz="1800" b="1" i="0" u="none" strike="noStrike" kern="0" cap="none" spc="0" normalizeH="0" baseline="0" noProof="0" dirty="0">
                <a:ln>
                  <a:noFill/>
                </a:ln>
                <a:solidFill>
                  <a:sysClr val="windowText" lastClr="000000"/>
                </a:solidFill>
                <a:effectLst/>
                <a:uLnTx/>
                <a:uFillTx/>
                <a:latin typeface="+mj-lt"/>
              </a:rPr>
              <a:t>Floyd’s Algorithm for the All-Pairs Shortest-Paths Problem</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n-lt"/>
              </a:rPr>
              <a:t>Given a weighted connected graph (undirected or directed), the all-pairs shortest paths  problem asks to find the distances—i.e., the lengths of the shortest paths— from each vertex to all other vertices.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n-lt"/>
              </a:rPr>
              <a:t>This is one of several variations of the problem involving shortest paths in graphs. Because of its important applications to communications, transportation networks, and operations research, it has been thoroughly studied over the years.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n-lt"/>
              </a:rPr>
              <a:t>Among recent applications of the all-pairs shortest-path problem is precomputing distances for motion planning in computer games.</a:t>
            </a:r>
            <a:endParaRPr kumimoji="0" lang="en-IN" sz="1700" b="0" i="0" u="none" strike="noStrike" kern="0" cap="none" spc="0" normalizeH="0" baseline="0" noProof="0" dirty="0">
              <a:ln>
                <a:noFill/>
              </a:ln>
              <a:solidFill>
                <a:sysClr val="windowText" lastClr="000000"/>
              </a:solidFill>
              <a:effectLst/>
              <a:uLnTx/>
              <a:uFillTx/>
              <a:latin typeface="+mn-lt"/>
            </a:endParaRPr>
          </a:p>
        </p:txBody>
      </p:sp>
    </p:spTree>
    <p:extLst>
      <p:ext uri="{BB962C8B-B14F-4D97-AF65-F5344CB8AC3E}">
        <p14:creationId xmlns:p14="http://schemas.microsoft.com/office/powerpoint/2010/main" val="172196928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9588AE22-F698-49CE-C64F-8B119FA3E929}"/>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2042046A-7C4E-3001-0AF0-7A8DCAD19F94}"/>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DYNAMIC PROGRAMMING</a:t>
            </a:r>
          </a:p>
        </p:txBody>
      </p:sp>
      <p:sp>
        <p:nvSpPr>
          <p:cNvPr id="369" name="Google Shape;369;p42">
            <a:extLst>
              <a:ext uri="{FF2B5EF4-FFF2-40B4-BE49-F238E27FC236}">
                <a16:creationId xmlns:a16="http://schemas.microsoft.com/office/drawing/2014/main" id="{747A5B23-9E0C-CB26-0C43-431D6453F059}"/>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55</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2A53D5E5-6BA5-7DFD-C6E4-ED12C0FEB39E}"/>
              </a:ext>
            </a:extLst>
          </p:cNvPr>
          <p:cNvSpPr txBox="1"/>
          <p:nvPr/>
        </p:nvSpPr>
        <p:spPr>
          <a:xfrm>
            <a:off x="154290" y="1081890"/>
            <a:ext cx="8761110" cy="2469867"/>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US" sz="1800" b="1" i="0" u="none" strike="noStrike" kern="0" cap="none" spc="0" normalizeH="0" baseline="0" noProof="0" dirty="0">
                <a:ln>
                  <a:noFill/>
                </a:ln>
                <a:solidFill>
                  <a:sysClr val="windowText" lastClr="000000"/>
                </a:solidFill>
                <a:effectLst/>
                <a:uLnTx/>
                <a:uFillTx/>
                <a:latin typeface="+mj-lt"/>
              </a:rPr>
              <a:t>Floyd’s Algorithm for the All-Pairs Shortest-Paths Problem</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n-lt"/>
              </a:rPr>
              <a:t>It is convenient to record the lengths of shortest paths in an n × n matrix D called the distance matrix: the element </a:t>
            </a:r>
            <a:r>
              <a:rPr kumimoji="0" lang="en-US" sz="1700" b="0" i="0" u="none" strike="noStrike" kern="0" cap="none" spc="0" normalizeH="0" baseline="0" noProof="0" dirty="0" err="1">
                <a:ln>
                  <a:noFill/>
                </a:ln>
                <a:solidFill>
                  <a:sysClr val="windowText" lastClr="000000"/>
                </a:solidFill>
                <a:effectLst/>
                <a:uLnTx/>
                <a:uFillTx/>
                <a:latin typeface="+mn-lt"/>
              </a:rPr>
              <a:t>dij</a:t>
            </a:r>
            <a:r>
              <a:rPr kumimoji="0" lang="en-US" sz="1700" b="0" i="0" u="none" strike="noStrike" kern="0" cap="none" spc="0" normalizeH="0" baseline="0" noProof="0" dirty="0">
                <a:ln>
                  <a:noFill/>
                </a:ln>
                <a:solidFill>
                  <a:sysClr val="windowText" lastClr="000000"/>
                </a:solidFill>
                <a:effectLst/>
                <a:uLnTx/>
                <a:uFillTx/>
                <a:latin typeface="+mn-lt"/>
              </a:rPr>
              <a:t> in the </a:t>
            </a:r>
            <a:r>
              <a:rPr kumimoji="0" lang="en-US" sz="1700" b="0" i="0" u="none" strike="noStrike" kern="0" cap="none" spc="0" normalizeH="0" baseline="0" noProof="0" dirty="0" err="1">
                <a:ln>
                  <a:noFill/>
                </a:ln>
                <a:solidFill>
                  <a:sysClr val="windowText" lastClr="000000"/>
                </a:solidFill>
                <a:effectLst/>
                <a:uLnTx/>
                <a:uFillTx/>
                <a:latin typeface="+mn-lt"/>
              </a:rPr>
              <a:t>ith</a:t>
            </a:r>
            <a:r>
              <a:rPr kumimoji="0" lang="en-US" sz="1700" b="0" i="0" u="none" strike="noStrike" kern="0" cap="none" spc="0" normalizeH="0" baseline="0" noProof="0" dirty="0">
                <a:ln>
                  <a:noFill/>
                </a:ln>
                <a:solidFill>
                  <a:sysClr val="windowText" lastClr="000000"/>
                </a:solidFill>
                <a:effectLst/>
                <a:uLnTx/>
                <a:uFillTx/>
                <a:latin typeface="+mn-lt"/>
              </a:rPr>
              <a:t> row and the </a:t>
            </a:r>
            <a:r>
              <a:rPr kumimoji="0" lang="en-US" sz="1700" b="0" i="0" u="none" strike="noStrike" kern="0" cap="none" spc="0" normalizeH="0" baseline="0" noProof="0" dirty="0" err="1">
                <a:ln>
                  <a:noFill/>
                </a:ln>
                <a:solidFill>
                  <a:sysClr val="windowText" lastClr="000000"/>
                </a:solidFill>
                <a:effectLst/>
                <a:uLnTx/>
                <a:uFillTx/>
                <a:latin typeface="+mn-lt"/>
              </a:rPr>
              <a:t>jth</a:t>
            </a:r>
            <a:r>
              <a:rPr kumimoji="0" lang="en-US" sz="1700" b="0" i="0" u="none" strike="noStrike" kern="0" cap="none" spc="0" normalizeH="0" baseline="0" noProof="0" dirty="0">
                <a:ln>
                  <a:noFill/>
                </a:ln>
                <a:solidFill>
                  <a:sysClr val="windowText" lastClr="000000"/>
                </a:solidFill>
                <a:effectLst/>
                <a:uLnTx/>
                <a:uFillTx/>
                <a:latin typeface="+mn-lt"/>
              </a:rPr>
              <a:t> column of this matrix indicates the length of the shortest path from the </a:t>
            </a:r>
            <a:r>
              <a:rPr kumimoji="0" lang="en-US" sz="1700" b="0" i="0" u="none" strike="noStrike" kern="0" cap="none" spc="0" normalizeH="0" baseline="0" noProof="0" dirty="0" err="1">
                <a:ln>
                  <a:noFill/>
                </a:ln>
                <a:solidFill>
                  <a:sysClr val="windowText" lastClr="000000"/>
                </a:solidFill>
                <a:effectLst/>
                <a:uLnTx/>
                <a:uFillTx/>
                <a:latin typeface="+mn-lt"/>
              </a:rPr>
              <a:t>ith</a:t>
            </a:r>
            <a:r>
              <a:rPr kumimoji="0" lang="en-US" sz="1700" b="0" i="0" u="none" strike="noStrike" kern="0" cap="none" spc="0" normalizeH="0" baseline="0" noProof="0" dirty="0">
                <a:ln>
                  <a:noFill/>
                </a:ln>
                <a:solidFill>
                  <a:sysClr val="windowText" lastClr="000000"/>
                </a:solidFill>
                <a:effectLst/>
                <a:uLnTx/>
                <a:uFillTx/>
                <a:latin typeface="+mn-lt"/>
              </a:rPr>
              <a:t> vertex to the </a:t>
            </a:r>
            <a:r>
              <a:rPr kumimoji="0" lang="en-US" sz="1700" b="0" i="0" u="none" strike="noStrike" kern="0" cap="none" spc="0" normalizeH="0" baseline="0" noProof="0" dirty="0" err="1">
                <a:ln>
                  <a:noFill/>
                </a:ln>
                <a:solidFill>
                  <a:sysClr val="windowText" lastClr="000000"/>
                </a:solidFill>
                <a:effectLst/>
                <a:uLnTx/>
                <a:uFillTx/>
                <a:latin typeface="+mn-lt"/>
              </a:rPr>
              <a:t>jth</a:t>
            </a:r>
            <a:r>
              <a:rPr kumimoji="0" lang="en-US" sz="1700" b="0" i="0" u="none" strike="noStrike" kern="0" cap="none" spc="0" normalizeH="0" baseline="0" noProof="0" dirty="0">
                <a:ln>
                  <a:noFill/>
                </a:ln>
                <a:solidFill>
                  <a:sysClr val="windowText" lastClr="000000"/>
                </a:solidFill>
                <a:effectLst/>
                <a:uLnTx/>
                <a:uFillTx/>
                <a:latin typeface="+mn-lt"/>
              </a:rPr>
              <a:t> vertex.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n-lt"/>
              </a:rPr>
              <a:t>For an example, see Figure 8.14.</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endParaRPr kumimoji="0" lang="en-IN" sz="1700" b="0" i="0" u="none" strike="noStrike" kern="0" cap="none" spc="0" normalizeH="0" baseline="0" noProof="0" dirty="0">
              <a:ln>
                <a:noFill/>
              </a:ln>
              <a:solidFill>
                <a:sysClr val="windowText" lastClr="000000"/>
              </a:solidFill>
              <a:effectLst/>
              <a:uLnTx/>
              <a:uFillTx/>
              <a:latin typeface="+mn-lt"/>
            </a:endParaRPr>
          </a:p>
        </p:txBody>
      </p:sp>
      <p:pic>
        <p:nvPicPr>
          <p:cNvPr id="3" name="Picture 2">
            <a:extLst>
              <a:ext uri="{FF2B5EF4-FFF2-40B4-BE49-F238E27FC236}">
                <a16:creationId xmlns:a16="http://schemas.microsoft.com/office/drawing/2014/main" id="{B4EDFAD6-1E88-9260-367E-8BB7755614FC}"/>
              </a:ext>
            </a:extLst>
          </p:cNvPr>
          <p:cNvPicPr>
            <a:picLocks noChangeAspect="1"/>
          </p:cNvPicPr>
          <p:nvPr/>
        </p:nvPicPr>
        <p:blipFill>
          <a:blip r:embed="rId3"/>
          <a:stretch>
            <a:fillRect/>
          </a:stretch>
        </p:blipFill>
        <p:spPr>
          <a:xfrm>
            <a:off x="1363722" y="3166182"/>
            <a:ext cx="5959356" cy="1790855"/>
          </a:xfrm>
          <a:prstGeom prst="rect">
            <a:avLst/>
          </a:prstGeom>
        </p:spPr>
      </p:pic>
    </p:spTree>
    <p:extLst>
      <p:ext uri="{BB962C8B-B14F-4D97-AF65-F5344CB8AC3E}">
        <p14:creationId xmlns:p14="http://schemas.microsoft.com/office/powerpoint/2010/main" val="14254405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D143727B-0291-BD1D-C3C6-A39E3BCDEC2A}"/>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D6BFB8F0-83D5-5DA6-AA66-50527B9445CB}"/>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DYNAMIC PROGRAMMING</a:t>
            </a:r>
          </a:p>
        </p:txBody>
      </p:sp>
      <p:sp>
        <p:nvSpPr>
          <p:cNvPr id="369" name="Google Shape;369;p42">
            <a:extLst>
              <a:ext uri="{FF2B5EF4-FFF2-40B4-BE49-F238E27FC236}">
                <a16:creationId xmlns:a16="http://schemas.microsoft.com/office/drawing/2014/main" id="{B2DF3D17-CB11-9187-D6C8-E898D5396FF2}"/>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56</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10D572F3-46D9-7880-83D8-4EB6A8BC1CD2}"/>
              </a:ext>
            </a:extLst>
          </p:cNvPr>
          <p:cNvSpPr txBox="1"/>
          <p:nvPr/>
        </p:nvSpPr>
        <p:spPr>
          <a:xfrm>
            <a:off x="154290" y="1081890"/>
            <a:ext cx="8761110" cy="4431942"/>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US" sz="1800" b="1" i="0" u="none" strike="noStrike" kern="0" cap="none" spc="0" normalizeH="0" baseline="0" noProof="0" dirty="0">
                <a:ln>
                  <a:noFill/>
                </a:ln>
                <a:solidFill>
                  <a:sysClr val="windowText" lastClr="000000"/>
                </a:solidFill>
                <a:effectLst/>
                <a:uLnTx/>
                <a:uFillTx/>
                <a:latin typeface="+mj-lt"/>
              </a:rPr>
              <a:t>Floyd’s Algorithm for the All-Pairs Shortest-Paths Problem</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n-lt"/>
              </a:rPr>
              <a:t>We can generate the distance matrix with an algorithm that is very similar to </a:t>
            </a:r>
            <a:r>
              <a:rPr kumimoji="0" lang="en-US" sz="1700" b="0" i="0" u="none" strike="noStrike" kern="0" cap="none" spc="0" normalizeH="0" baseline="0" noProof="0" dirty="0" err="1">
                <a:ln>
                  <a:noFill/>
                </a:ln>
                <a:solidFill>
                  <a:sysClr val="windowText" lastClr="000000"/>
                </a:solidFill>
                <a:effectLst/>
                <a:uLnTx/>
                <a:uFillTx/>
                <a:latin typeface="+mn-lt"/>
              </a:rPr>
              <a:t>Warshall’s</a:t>
            </a:r>
            <a:r>
              <a:rPr kumimoji="0" lang="en-US" sz="1700" b="0" i="0" u="none" strike="noStrike" kern="0" cap="none" spc="0" normalizeH="0" baseline="0" noProof="0" dirty="0">
                <a:ln>
                  <a:noFill/>
                </a:ln>
                <a:solidFill>
                  <a:sysClr val="windowText" lastClr="000000"/>
                </a:solidFill>
                <a:effectLst/>
                <a:uLnTx/>
                <a:uFillTx/>
                <a:latin typeface="+mn-lt"/>
              </a:rPr>
              <a:t> algorithm.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n-lt"/>
              </a:rPr>
              <a:t>It is called </a:t>
            </a:r>
            <a:r>
              <a:rPr kumimoji="0" lang="en-US" sz="1700" b="1" i="0" u="none" strike="noStrike" kern="0" cap="none" spc="0" normalizeH="0" baseline="0" noProof="0" dirty="0">
                <a:ln>
                  <a:noFill/>
                </a:ln>
                <a:solidFill>
                  <a:sysClr val="windowText" lastClr="000000"/>
                </a:solidFill>
                <a:effectLst/>
                <a:uLnTx/>
                <a:uFillTx/>
                <a:latin typeface="+mn-lt"/>
              </a:rPr>
              <a:t>Floyd’s algorithm after its co-inventor </a:t>
            </a:r>
            <a:r>
              <a:rPr kumimoji="0" lang="en-US" sz="1700" b="1" i="0" u="none" strike="noStrike" kern="0" cap="none" spc="0" normalizeH="0" baseline="0" noProof="0" dirty="0" err="1">
                <a:ln>
                  <a:noFill/>
                </a:ln>
                <a:solidFill>
                  <a:sysClr val="windowText" lastClr="000000"/>
                </a:solidFill>
                <a:effectLst/>
                <a:uLnTx/>
                <a:uFillTx/>
                <a:latin typeface="+mn-lt"/>
              </a:rPr>
              <a:t>RobertW</a:t>
            </a:r>
            <a:r>
              <a:rPr kumimoji="0" lang="en-US" sz="1700" b="1" i="0" u="none" strike="noStrike" kern="0" cap="none" spc="0" normalizeH="0" baseline="0" noProof="0" dirty="0">
                <a:ln>
                  <a:noFill/>
                </a:ln>
                <a:solidFill>
                  <a:sysClr val="windowText" lastClr="000000"/>
                </a:solidFill>
                <a:effectLst/>
                <a:uLnTx/>
                <a:uFillTx/>
                <a:latin typeface="+mn-lt"/>
              </a:rPr>
              <a:t>. Floyd</a:t>
            </a:r>
            <a:r>
              <a:rPr kumimoji="0" lang="en-US" sz="1700" b="0" i="0" u="none" strike="noStrike" kern="0" cap="none" spc="0" normalizeH="0" baseline="0" noProof="0" dirty="0">
                <a:ln>
                  <a:noFill/>
                </a:ln>
                <a:solidFill>
                  <a:sysClr val="windowText" lastClr="000000"/>
                </a:solidFill>
                <a:effectLst/>
                <a:uLnTx/>
                <a:uFillTx/>
                <a:latin typeface="+mn-lt"/>
              </a:rPr>
              <a:t>.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n-lt"/>
              </a:rPr>
              <a:t>It is </a:t>
            </a:r>
            <a:r>
              <a:rPr kumimoji="0" lang="en-US" sz="1700" b="1" i="0" u="none" strike="noStrike" kern="0" cap="none" spc="0" normalizeH="0" baseline="0" noProof="0" dirty="0">
                <a:ln>
                  <a:noFill/>
                </a:ln>
                <a:solidFill>
                  <a:sysClr val="windowText" lastClr="000000"/>
                </a:solidFill>
                <a:effectLst/>
                <a:uLnTx/>
                <a:uFillTx/>
                <a:latin typeface="+mn-lt"/>
              </a:rPr>
              <a:t>applicable to both undirected and directed weighted graphs </a:t>
            </a:r>
            <a:r>
              <a:rPr kumimoji="0" lang="en-US" sz="1700" b="0" i="0" u="none" strike="noStrike" kern="0" cap="none" spc="0" normalizeH="0" baseline="0" noProof="0" dirty="0">
                <a:ln>
                  <a:noFill/>
                </a:ln>
                <a:solidFill>
                  <a:sysClr val="windowText" lastClr="000000"/>
                </a:solidFill>
                <a:effectLst/>
                <a:uLnTx/>
                <a:uFillTx/>
                <a:latin typeface="+mn-lt"/>
              </a:rPr>
              <a:t>provided that they </a:t>
            </a:r>
            <a:r>
              <a:rPr kumimoji="0" lang="en-US" sz="1700" b="1" i="0" u="none" strike="noStrike" kern="0" cap="none" spc="0" normalizeH="0" baseline="0" noProof="0" dirty="0">
                <a:ln>
                  <a:noFill/>
                </a:ln>
                <a:solidFill>
                  <a:sysClr val="windowText" lastClr="000000"/>
                </a:solidFill>
                <a:effectLst/>
                <a:uLnTx/>
                <a:uFillTx/>
                <a:latin typeface="+mn-lt"/>
              </a:rPr>
              <a:t>do not contain a cycle of a negative length</a:t>
            </a:r>
            <a:r>
              <a:rPr kumimoji="0" lang="en-US" sz="1700" b="0" i="0" u="none" strike="noStrike" kern="0" cap="none" spc="0" normalizeH="0" baseline="0" noProof="0" dirty="0">
                <a:ln>
                  <a:noFill/>
                </a:ln>
                <a:solidFill>
                  <a:sysClr val="windowText" lastClr="000000"/>
                </a:solidFill>
                <a:effectLst/>
                <a:uLnTx/>
                <a:uFillTx/>
                <a:latin typeface="+mn-lt"/>
              </a:rPr>
              <a:t>.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n-lt"/>
              </a:rPr>
              <a:t>The algorithm can be enhanced to find not only the lengths of the shortest paths for all vertex pairs but also the shortest paths themselves.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n-lt"/>
              </a:rPr>
              <a:t>Floyd’s algorithm computes the distance matrix of a weighted graph with n vertices through a series of </a:t>
            </a:r>
            <a:r>
              <a:rPr kumimoji="0" lang="en-US" sz="1700" b="0" i="1" u="none" strike="noStrike" kern="0" cap="none" spc="0" normalizeH="0" baseline="0" noProof="0" dirty="0">
                <a:ln>
                  <a:noFill/>
                </a:ln>
                <a:solidFill>
                  <a:sysClr val="windowText" lastClr="000000"/>
                </a:solidFill>
                <a:effectLst/>
                <a:uLnTx/>
                <a:uFillTx/>
                <a:latin typeface="+mn-lt"/>
              </a:rPr>
              <a:t>n × n </a:t>
            </a:r>
            <a:r>
              <a:rPr kumimoji="0" lang="en-US" sz="1700" b="0" i="0" u="none" strike="noStrike" kern="0" cap="none" spc="0" normalizeH="0" baseline="0" noProof="0" dirty="0">
                <a:ln>
                  <a:noFill/>
                </a:ln>
                <a:solidFill>
                  <a:sysClr val="windowText" lastClr="000000"/>
                </a:solidFill>
                <a:effectLst/>
                <a:uLnTx/>
                <a:uFillTx/>
                <a:latin typeface="+mn-lt"/>
              </a:rPr>
              <a:t>matrices:</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endParaRPr kumimoji="0" lang="en-IN" sz="1700" b="0" i="0" u="none" strike="noStrike" kern="0" cap="none" spc="0" normalizeH="0" baseline="0" noProof="0" dirty="0">
              <a:ln>
                <a:noFill/>
              </a:ln>
              <a:solidFill>
                <a:sysClr val="windowText" lastClr="000000"/>
              </a:solidFill>
              <a:effectLst/>
              <a:uLnTx/>
              <a:uFillTx/>
              <a:latin typeface="+mn-lt"/>
            </a:endParaRPr>
          </a:p>
        </p:txBody>
      </p:sp>
      <p:pic>
        <p:nvPicPr>
          <p:cNvPr id="3" name="Picture 2">
            <a:extLst>
              <a:ext uri="{FF2B5EF4-FFF2-40B4-BE49-F238E27FC236}">
                <a16:creationId xmlns:a16="http://schemas.microsoft.com/office/drawing/2014/main" id="{99B96B0D-52B6-E89B-AE52-086CD352A0EE}"/>
              </a:ext>
            </a:extLst>
          </p:cNvPr>
          <p:cNvPicPr>
            <a:picLocks noChangeAspect="1"/>
          </p:cNvPicPr>
          <p:nvPr/>
        </p:nvPicPr>
        <p:blipFill>
          <a:blip r:embed="rId3"/>
          <a:stretch>
            <a:fillRect/>
          </a:stretch>
        </p:blipFill>
        <p:spPr>
          <a:xfrm>
            <a:off x="4240162" y="4691025"/>
            <a:ext cx="4844447" cy="365792"/>
          </a:xfrm>
          <a:prstGeom prst="rect">
            <a:avLst/>
          </a:prstGeom>
        </p:spPr>
      </p:pic>
    </p:spTree>
    <p:extLst>
      <p:ext uri="{BB962C8B-B14F-4D97-AF65-F5344CB8AC3E}">
        <p14:creationId xmlns:p14="http://schemas.microsoft.com/office/powerpoint/2010/main" val="382385786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BE4C653F-FD7D-117E-1D01-1F0675FC2671}"/>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8CA8CCBF-80B5-461A-0523-DEFAE6921B08}"/>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DYNAMIC PROGRAMMING</a:t>
            </a:r>
          </a:p>
        </p:txBody>
      </p:sp>
      <p:sp>
        <p:nvSpPr>
          <p:cNvPr id="369" name="Google Shape;369;p42">
            <a:extLst>
              <a:ext uri="{FF2B5EF4-FFF2-40B4-BE49-F238E27FC236}">
                <a16:creationId xmlns:a16="http://schemas.microsoft.com/office/drawing/2014/main" id="{57838276-15D4-FE7C-88DA-DABCC5F1186F}"/>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57</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F6B30144-4EAC-668F-B826-23DBFBF66CD8}"/>
              </a:ext>
            </a:extLst>
          </p:cNvPr>
          <p:cNvSpPr txBox="1"/>
          <p:nvPr/>
        </p:nvSpPr>
        <p:spPr>
          <a:xfrm>
            <a:off x="154290" y="1072779"/>
            <a:ext cx="8761110" cy="2862282"/>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US" sz="1800" b="1" i="0" u="none" strike="noStrike" kern="0" cap="none" spc="0" normalizeH="0" baseline="0" noProof="0" dirty="0">
                <a:ln>
                  <a:noFill/>
                </a:ln>
                <a:solidFill>
                  <a:sysClr val="windowText" lastClr="000000"/>
                </a:solidFill>
                <a:effectLst/>
                <a:uLnTx/>
                <a:uFillTx/>
                <a:latin typeface="+mj-lt"/>
              </a:rPr>
              <a:t>Floyd’s Algorithm for the All-Pairs Shortest-Paths Problem</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n-lt"/>
              </a:rPr>
              <a:t>The application of Floyd’s algorithm to the graph in Figure 8.14 is illustrated in Figure 8.16.</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endParaRPr kumimoji="0" lang="en-US" sz="1700" b="0" i="0" u="none" strike="noStrike" kern="0" cap="none" spc="0" normalizeH="0" baseline="0" noProof="0" dirty="0">
              <a:ln>
                <a:noFill/>
              </a:ln>
              <a:solidFill>
                <a:sysClr val="windowText" lastClr="000000"/>
              </a:solidFill>
              <a:effectLst/>
              <a:uLnTx/>
              <a:uFillTx/>
              <a:latin typeface="+mn-lt"/>
            </a:endParaRP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endParaRPr kumimoji="0" lang="en-US" sz="1700" b="0" i="0" u="none" strike="noStrike" kern="0" cap="none" spc="0" normalizeH="0" baseline="0" noProof="0" dirty="0">
              <a:ln>
                <a:noFill/>
              </a:ln>
              <a:solidFill>
                <a:sysClr val="windowText" lastClr="000000"/>
              </a:solidFill>
              <a:effectLst/>
              <a:uLnTx/>
              <a:uFillTx/>
              <a:latin typeface="+mn-lt"/>
            </a:endParaRP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endParaRPr kumimoji="0" lang="en-US" sz="1700" b="0" i="0" u="none" strike="noStrike" kern="0" cap="none" spc="0" normalizeH="0" baseline="0" noProof="0" dirty="0">
              <a:ln>
                <a:noFill/>
              </a:ln>
              <a:solidFill>
                <a:sysClr val="windowText" lastClr="000000"/>
              </a:solidFill>
              <a:effectLst/>
              <a:uLnTx/>
              <a:uFillTx/>
              <a:latin typeface="+mn-lt"/>
            </a:endParaRP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endParaRPr kumimoji="0" lang="en-IN" sz="1700" b="0" i="0" u="none" strike="noStrike" kern="0" cap="none" spc="0" normalizeH="0" baseline="0" noProof="0" dirty="0">
              <a:ln>
                <a:noFill/>
              </a:ln>
              <a:solidFill>
                <a:sysClr val="windowText" lastClr="000000"/>
              </a:solidFill>
              <a:effectLst/>
              <a:uLnTx/>
              <a:uFillTx/>
              <a:latin typeface="+mn-lt"/>
            </a:endParaRPr>
          </a:p>
        </p:txBody>
      </p:sp>
      <p:pic>
        <p:nvPicPr>
          <p:cNvPr id="3" name="Picture 2">
            <a:extLst>
              <a:ext uri="{FF2B5EF4-FFF2-40B4-BE49-F238E27FC236}">
                <a16:creationId xmlns:a16="http://schemas.microsoft.com/office/drawing/2014/main" id="{DE90AECC-577A-DCB8-41B6-6FF1A50A18AF}"/>
              </a:ext>
            </a:extLst>
          </p:cNvPr>
          <p:cNvPicPr>
            <a:picLocks noChangeAspect="1"/>
          </p:cNvPicPr>
          <p:nvPr/>
        </p:nvPicPr>
        <p:blipFill>
          <a:blip r:embed="rId3"/>
          <a:stretch>
            <a:fillRect/>
          </a:stretch>
        </p:blipFill>
        <p:spPr>
          <a:xfrm>
            <a:off x="711193" y="2503920"/>
            <a:ext cx="7856256" cy="1637984"/>
          </a:xfrm>
          <a:prstGeom prst="rect">
            <a:avLst/>
          </a:prstGeom>
        </p:spPr>
      </p:pic>
    </p:spTree>
    <p:extLst>
      <p:ext uri="{BB962C8B-B14F-4D97-AF65-F5344CB8AC3E}">
        <p14:creationId xmlns:p14="http://schemas.microsoft.com/office/powerpoint/2010/main" val="31073650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11F447AD-9F83-8B90-DDDC-A1B253DD9588}"/>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C7ABEBF6-40E9-4A11-6770-701459AC4429}"/>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DYNAMIC PROGRAMMING</a:t>
            </a:r>
          </a:p>
        </p:txBody>
      </p:sp>
      <p:sp>
        <p:nvSpPr>
          <p:cNvPr id="369" name="Google Shape;369;p42">
            <a:extLst>
              <a:ext uri="{FF2B5EF4-FFF2-40B4-BE49-F238E27FC236}">
                <a16:creationId xmlns:a16="http://schemas.microsoft.com/office/drawing/2014/main" id="{5CD669E2-E143-CF2F-FEFE-47D677949066}"/>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58</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DB0CE310-26B5-ED4A-4A51-56EE7551CE5B}"/>
              </a:ext>
            </a:extLst>
          </p:cNvPr>
          <p:cNvSpPr txBox="1"/>
          <p:nvPr/>
        </p:nvSpPr>
        <p:spPr>
          <a:xfrm>
            <a:off x="154290" y="1129929"/>
            <a:ext cx="8761110" cy="3647112"/>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US" sz="1800" b="1" i="0" u="none" strike="noStrike" kern="0" cap="none" spc="0" normalizeH="0" baseline="0" noProof="0" dirty="0">
                <a:ln>
                  <a:noFill/>
                </a:ln>
                <a:solidFill>
                  <a:sysClr val="windowText" lastClr="000000"/>
                </a:solidFill>
                <a:effectLst/>
                <a:uLnTx/>
                <a:uFillTx/>
                <a:latin typeface="+mj-lt"/>
              </a:rPr>
              <a:t>Floyd’s Algorithm for the All-Pairs Shortest-Paths Problem</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endParaRPr kumimoji="0" lang="en-US" sz="1700" b="0" i="0" u="none" strike="noStrike" kern="0" cap="none" spc="0" normalizeH="0" baseline="0" noProof="0" dirty="0">
              <a:ln>
                <a:noFill/>
              </a:ln>
              <a:solidFill>
                <a:sysClr val="windowText" lastClr="000000"/>
              </a:solidFill>
              <a:effectLst/>
              <a:uLnTx/>
              <a:uFillTx/>
              <a:latin typeface="+mn-lt"/>
            </a:endParaRP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endParaRPr kumimoji="0" lang="en-US" sz="1700" b="0" i="0" u="none" strike="noStrike" kern="0" cap="none" spc="0" normalizeH="0" baseline="0" noProof="0" dirty="0">
              <a:ln>
                <a:noFill/>
              </a:ln>
              <a:solidFill>
                <a:sysClr val="windowText" lastClr="000000"/>
              </a:solidFill>
              <a:effectLst/>
              <a:uLnTx/>
              <a:uFillTx/>
              <a:latin typeface="+mn-lt"/>
            </a:endParaRP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endParaRPr kumimoji="0" lang="en-US" sz="1700" b="0" i="0" u="none" strike="noStrike" kern="0" cap="none" spc="0" normalizeH="0" baseline="0" noProof="0" dirty="0">
              <a:ln>
                <a:noFill/>
              </a:ln>
              <a:solidFill>
                <a:sysClr val="windowText" lastClr="000000"/>
              </a:solidFill>
              <a:effectLst/>
              <a:uLnTx/>
              <a:uFillTx/>
              <a:latin typeface="+mn-lt"/>
            </a:endParaRP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endParaRPr kumimoji="0" lang="en-US" sz="1700" b="0" i="0" u="none" strike="noStrike" kern="0" cap="none" spc="0" normalizeH="0" baseline="0" noProof="0" dirty="0">
              <a:ln>
                <a:noFill/>
              </a:ln>
              <a:solidFill>
                <a:sysClr val="windowText" lastClr="000000"/>
              </a:solidFill>
              <a:effectLst/>
              <a:uLnTx/>
              <a:uFillTx/>
              <a:latin typeface="+mn-lt"/>
            </a:endParaRP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endParaRPr kumimoji="0" lang="en-US" sz="1700" b="0" i="0" u="none" strike="noStrike" kern="0" cap="none" spc="0" normalizeH="0" baseline="0" noProof="0" dirty="0">
              <a:ln>
                <a:noFill/>
              </a:ln>
              <a:solidFill>
                <a:sysClr val="windowText" lastClr="000000"/>
              </a:solidFill>
              <a:effectLst/>
              <a:uLnTx/>
              <a:uFillTx/>
              <a:latin typeface="+mn-lt"/>
            </a:endParaRP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endParaRPr kumimoji="0" lang="en-US" sz="1700" b="0" i="0" u="none" strike="noStrike" kern="0" cap="none" spc="0" normalizeH="0" baseline="0" noProof="0" dirty="0">
              <a:ln>
                <a:noFill/>
              </a:ln>
              <a:solidFill>
                <a:sysClr val="windowText" lastClr="000000"/>
              </a:solidFill>
              <a:effectLst/>
              <a:uLnTx/>
              <a:uFillTx/>
              <a:latin typeface="+mn-lt"/>
            </a:endParaRP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endParaRPr kumimoji="0" lang="en-US" sz="1700" b="0" i="0" u="none" strike="noStrike" kern="0" cap="none" spc="0" normalizeH="0" baseline="0" noProof="0" dirty="0">
              <a:ln>
                <a:noFill/>
              </a:ln>
              <a:solidFill>
                <a:sysClr val="windowText" lastClr="000000"/>
              </a:solidFill>
              <a:effectLst/>
              <a:uLnTx/>
              <a:uFillTx/>
              <a:latin typeface="+mn-lt"/>
            </a:endParaRP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endParaRPr kumimoji="0" lang="en-IN" sz="1700" b="0" i="0" u="none" strike="noStrike" kern="0" cap="none" spc="0" normalizeH="0" baseline="0" noProof="0" dirty="0">
              <a:ln>
                <a:noFill/>
              </a:ln>
              <a:solidFill>
                <a:sysClr val="windowText" lastClr="000000"/>
              </a:solidFill>
              <a:effectLst/>
              <a:uLnTx/>
              <a:uFillTx/>
              <a:latin typeface="+mn-lt"/>
            </a:endParaRPr>
          </a:p>
        </p:txBody>
      </p:sp>
      <p:pic>
        <p:nvPicPr>
          <p:cNvPr id="7" name="Picture 6">
            <a:extLst>
              <a:ext uri="{FF2B5EF4-FFF2-40B4-BE49-F238E27FC236}">
                <a16:creationId xmlns:a16="http://schemas.microsoft.com/office/drawing/2014/main" id="{3ABE4863-C07B-4FD5-0D6E-CA228728E7FC}"/>
              </a:ext>
            </a:extLst>
          </p:cNvPr>
          <p:cNvPicPr>
            <a:picLocks noChangeAspect="1"/>
          </p:cNvPicPr>
          <p:nvPr/>
        </p:nvPicPr>
        <p:blipFill>
          <a:blip r:embed="rId3"/>
          <a:stretch>
            <a:fillRect/>
          </a:stretch>
        </p:blipFill>
        <p:spPr>
          <a:xfrm>
            <a:off x="1646143" y="1653109"/>
            <a:ext cx="5334462" cy="3254022"/>
          </a:xfrm>
          <a:prstGeom prst="rect">
            <a:avLst/>
          </a:prstGeom>
        </p:spPr>
      </p:pic>
    </p:spTree>
    <p:extLst>
      <p:ext uri="{BB962C8B-B14F-4D97-AF65-F5344CB8AC3E}">
        <p14:creationId xmlns:p14="http://schemas.microsoft.com/office/powerpoint/2010/main" val="78186819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36E28D0F-588C-E205-6ECE-8C35A2C4B487}"/>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7AC93DC1-E0AB-6367-980C-986F8444D248}"/>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DYNAMIC PROGRAMMING</a:t>
            </a:r>
          </a:p>
        </p:txBody>
      </p:sp>
      <p:sp>
        <p:nvSpPr>
          <p:cNvPr id="369" name="Google Shape;369;p42">
            <a:extLst>
              <a:ext uri="{FF2B5EF4-FFF2-40B4-BE49-F238E27FC236}">
                <a16:creationId xmlns:a16="http://schemas.microsoft.com/office/drawing/2014/main" id="{8C589E7B-BFED-FFA3-EF84-B2B44D7750CA}"/>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59</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20E8A526-2C81-5CEE-4305-E00412251593}"/>
              </a:ext>
            </a:extLst>
          </p:cNvPr>
          <p:cNvSpPr txBox="1"/>
          <p:nvPr/>
        </p:nvSpPr>
        <p:spPr>
          <a:xfrm>
            <a:off x="154290" y="1129929"/>
            <a:ext cx="8761110" cy="4431942"/>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US" sz="1800" b="1" i="0" u="none" strike="noStrike" kern="0" cap="none" spc="0" normalizeH="0" baseline="0" noProof="0" dirty="0">
                <a:ln>
                  <a:noFill/>
                </a:ln>
                <a:solidFill>
                  <a:sysClr val="windowText" lastClr="000000"/>
                </a:solidFill>
                <a:effectLst/>
                <a:uLnTx/>
                <a:uFillTx/>
                <a:latin typeface="+mj-lt"/>
              </a:rPr>
              <a:t>Floyd’s Algorithm for the All-Pairs Shortest-Paths Problem</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endParaRPr kumimoji="0" lang="en-US" sz="1700" b="0" i="0" u="none" strike="noStrike" kern="0" cap="none" spc="0" normalizeH="0" baseline="0" noProof="0" dirty="0">
              <a:ln>
                <a:noFill/>
              </a:ln>
              <a:solidFill>
                <a:sysClr val="windowText" lastClr="000000"/>
              </a:solidFill>
              <a:effectLst/>
              <a:uLnTx/>
              <a:uFillTx/>
              <a:latin typeface="+mn-lt"/>
            </a:endParaRP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endParaRPr kumimoji="0" lang="en-US" sz="1700" b="0" i="0" u="none" strike="noStrike" kern="0" cap="none" spc="0" normalizeH="0" baseline="0" noProof="0" dirty="0">
              <a:ln>
                <a:noFill/>
              </a:ln>
              <a:solidFill>
                <a:sysClr val="windowText" lastClr="000000"/>
              </a:solidFill>
              <a:effectLst/>
              <a:uLnTx/>
              <a:uFillTx/>
              <a:latin typeface="+mn-lt"/>
            </a:endParaRP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endParaRPr kumimoji="0" lang="en-US" sz="1700" b="0" i="0" u="none" strike="noStrike" kern="0" cap="none" spc="0" normalizeH="0" baseline="0" noProof="0" dirty="0">
              <a:ln>
                <a:noFill/>
              </a:ln>
              <a:solidFill>
                <a:sysClr val="windowText" lastClr="000000"/>
              </a:solidFill>
              <a:effectLst/>
              <a:uLnTx/>
              <a:uFillTx/>
              <a:latin typeface="+mn-lt"/>
            </a:endParaRP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endParaRPr kumimoji="0" lang="en-US" sz="1700" b="0" i="0" u="none" strike="noStrike" kern="0" cap="none" spc="0" normalizeH="0" baseline="0" noProof="0" dirty="0">
              <a:ln>
                <a:noFill/>
              </a:ln>
              <a:solidFill>
                <a:sysClr val="windowText" lastClr="000000"/>
              </a:solidFill>
              <a:effectLst/>
              <a:uLnTx/>
              <a:uFillTx/>
              <a:latin typeface="+mn-lt"/>
            </a:endParaRP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endParaRPr kumimoji="0" lang="en-US" sz="1700" b="0" i="0" u="none" strike="noStrike" kern="0" cap="none" spc="0" normalizeH="0" baseline="0" noProof="0" dirty="0">
              <a:ln>
                <a:noFill/>
              </a:ln>
              <a:solidFill>
                <a:sysClr val="windowText" lastClr="000000"/>
              </a:solidFill>
              <a:effectLst/>
              <a:uLnTx/>
              <a:uFillTx/>
              <a:latin typeface="+mn-lt"/>
            </a:endParaRP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endParaRPr kumimoji="0" lang="en-US" sz="1700" b="0" i="0" u="none" strike="noStrike" kern="0" cap="none" spc="0" normalizeH="0" baseline="0" noProof="0" dirty="0">
              <a:ln>
                <a:noFill/>
              </a:ln>
              <a:solidFill>
                <a:sysClr val="windowText" lastClr="000000"/>
              </a:solidFill>
              <a:effectLst/>
              <a:uLnTx/>
              <a:uFillTx/>
              <a:latin typeface="+mn-lt"/>
            </a:endParaRP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n-lt"/>
              </a:rPr>
              <a:t>Here is pseudocode of Floyd’s algorithm.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endParaRPr kumimoji="0" lang="en-US" sz="1700" b="0" i="0" u="none" strike="noStrike" kern="0" cap="none" spc="0" normalizeH="0" baseline="0" noProof="0" dirty="0">
              <a:ln>
                <a:noFill/>
              </a:ln>
              <a:solidFill>
                <a:sysClr val="windowText" lastClr="000000"/>
              </a:solidFill>
              <a:effectLst/>
              <a:uLnTx/>
              <a:uFillTx/>
              <a:latin typeface="+mn-lt"/>
            </a:endParaRP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endParaRPr kumimoji="0" lang="en-US" sz="1700" b="0" i="0" u="none" strike="noStrike" kern="0" cap="none" spc="0" normalizeH="0" baseline="0" noProof="0" dirty="0">
              <a:ln>
                <a:noFill/>
              </a:ln>
              <a:solidFill>
                <a:sysClr val="windowText" lastClr="000000"/>
              </a:solidFill>
              <a:effectLst/>
              <a:uLnTx/>
              <a:uFillTx/>
              <a:latin typeface="+mn-lt"/>
            </a:endParaRP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endParaRPr kumimoji="0" lang="en-IN" sz="1700" b="0" i="0" u="none" strike="noStrike" kern="0" cap="none" spc="0" normalizeH="0" baseline="0" noProof="0" dirty="0">
              <a:ln>
                <a:noFill/>
              </a:ln>
              <a:solidFill>
                <a:sysClr val="windowText" lastClr="000000"/>
              </a:solidFill>
              <a:effectLst/>
              <a:uLnTx/>
              <a:uFillTx/>
              <a:latin typeface="+mn-lt"/>
            </a:endParaRPr>
          </a:p>
        </p:txBody>
      </p:sp>
      <p:pic>
        <p:nvPicPr>
          <p:cNvPr id="3" name="Picture 2">
            <a:extLst>
              <a:ext uri="{FF2B5EF4-FFF2-40B4-BE49-F238E27FC236}">
                <a16:creationId xmlns:a16="http://schemas.microsoft.com/office/drawing/2014/main" id="{678655A6-57F8-F422-2A29-620B16677A78}"/>
              </a:ext>
            </a:extLst>
          </p:cNvPr>
          <p:cNvPicPr>
            <a:picLocks noChangeAspect="1"/>
          </p:cNvPicPr>
          <p:nvPr/>
        </p:nvPicPr>
        <p:blipFill>
          <a:blip r:embed="rId3"/>
          <a:stretch>
            <a:fillRect/>
          </a:stretch>
        </p:blipFill>
        <p:spPr>
          <a:xfrm>
            <a:off x="1303685" y="1888424"/>
            <a:ext cx="6462320" cy="1653683"/>
          </a:xfrm>
          <a:prstGeom prst="rect">
            <a:avLst/>
          </a:prstGeom>
        </p:spPr>
      </p:pic>
    </p:spTree>
    <p:extLst>
      <p:ext uri="{BB962C8B-B14F-4D97-AF65-F5344CB8AC3E}">
        <p14:creationId xmlns:p14="http://schemas.microsoft.com/office/powerpoint/2010/main" val="44338057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437525E8-03EE-FE18-050C-DA190852EB29}"/>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9ABF41EE-AA47-3AF2-DE12-E92E251DA39A}"/>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DYNAMIC PROGRAMMING</a:t>
            </a:r>
          </a:p>
        </p:txBody>
      </p:sp>
      <p:sp>
        <p:nvSpPr>
          <p:cNvPr id="369" name="Google Shape;369;p42">
            <a:extLst>
              <a:ext uri="{FF2B5EF4-FFF2-40B4-BE49-F238E27FC236}">
                <a16:creationId xmlns:a16="http://schemas.microsoft.com/office/drawing/2014/main" id="{1C81CD38-77F6-75D7-D6A8-CAC5D738068C}"/>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60</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16796E4E-7B3D-ECA0-3DC3-800EDE95191E}"/>
              </a:ext>
            </a:extLst>
          </p:cNvPr>
          <p:cNvSpPr txBox="1"/>
          <p:nvPr/>
        </p:nvSpPr>
        <p:spPr>
          <a:xfrm>
            <a:off x="154290" y="1129929"/>
            <a:ext cx="8761110" cy="4431942"/>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US" sz="1800" b="1" i="0" u="none" strike="noStrike" kern="0" cap="none" spc="0" normalizeH="0" baseline="0" noProof="0" dirty="0">
                <a:ln>
                  <a:noFill/>
                </a:ln>
                <a:solidFill>
                  <a:sysClr val="windowText" lastClr="000000"/>
                </a:solidFill>
                <a:effectLst/>
                <a:uLnTx/>
                <a:uFillTx/>
                <a:latin typeface="+mj-lt"/>
              </a:rPr>
              <a:t>Floyd’s Algorithm for the All-Pairs Shortest-Paths Problem</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endParaRPr kumimoji="0" lang="en-US" sz="1700" b="0" i="0" u="none" strike="noStrike" kern="0" cap="none" spc="0" normalizeH="0" baseline="0" noProof="0" dirty="0">
              <a:ln>
                <a:noFill/>
              </a:ln>
              <a:solidFill>
                <a:sysClr val="windowText" lastClr="000000"/>
              </a:solidFill>
              <a:effectLst/>
              <a:uLnTx/>
              <a:uFillTx/>
              <a:latin typeface="+mn-lt"/>
            </a:endParaRP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endParaRPr kumimoji="0" lang="en-US" sz="1700" b="0" i="0" u="none" strike="noStrike" kern="0" cap="none" spc="0" normalizeH="0" baseline="0" noProof="0" dirty="0">
              <a:ln>
                <a:noFill/>
              </a:ln>
              <a:solidFill>
                <a:sysClr val="windowText" lastClr="000000"/>
              </a:solidFill>
              <a:effectLst/>
              <a:uLnTx/>
              <a:uFillTx/>
              <a:latin typeface="+mn-lt"/>
            </a:endParaRP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endParaRPr kumimoji="0" lang="en-US" sz="1700" b="0" i="0" u="none" strike="noStrike" kern="0" cap="none" spc="0" normalizeH="0" baseline="0" noProof="0" dirty="0">
              <a:ln>
                <a:noFill/>
              </a:ln>
              <a:solidFill>
                <a:sysClr val="windowText" lastClr="000000"/>
              </a:solidFill>
              <a:effectLst/>
              <a:uLnTx/>
              <a:uFillTx/>
              <a:latin typeface="+mn-lt"/>
            </a:endParaRP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endParaRPr kumimoji="0" lang="en-US" sz="1700" b="0" i="0" u="none" strike="noStrike" kern="0" cap="none" spc="0" normalizeH="0" baseline="0" noProof="0" dirty="0">
              <a:ln>
                <a:noFill/>
              </a:ln>
              <a:solidFill>
                <a:sysClr val="windowText" lastClr="000000"/>
              </a:solidFill>
              <a:effectLst/>
              <a:uLnTx/>
              <a:uFillTx/>
              <a:latin typeface="+mn-lt"/>
            </a:endParaRP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endParaRPr kumimoji="0" lang="en-US" sz="1700" b="0" i="0" u="none" strike="noStrike" kern="0" cap="none" spc="0" normalizeH="0" baseline="0" noProof="0" dirty="0">
              <a:ln>
                <a:noFill/>
              </a:ln>
              <a:solidFill>
                <a:sysClr val="windowText" lastClr="000000"/>
              </a:solidFill>
              <a:effectLst/>
              <a:uLnTx/>
              <a:uFillTx/>
              <a:latin typeface="+mn-lt"/>
            </a:endParaRP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endParaRPr kumimoji="0" lang="en-US" sz="1700" b="0" i="0" u="none" strike="noStrike" kern="0" cap="none" spc="0" normalizeH="0" baseline="0" noProof="0" dirty="0">
              <a:ln>
                <a:noFill/>
              </a:ln>
              <a:solidFill>
                <a:sysClr val="windowText" lastClr="000000"/>
              </a:solidFill>
              <a:effectLst/>
              <a:uLnTx/>
              <a:uFillTx/>
              <a:latin typeface="+mn-lt"/>
            </a:endParaRP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endParaRPr kumimoji="0" lang="en-US" sz="1700" b="0" i="0" u="none" strike="noStrike" kern="0" cap="none" spc="0" normalizeH="0" baseline="0" noProof="0" dirty="0">
              <a:ln>
                <a:noFill/>
              </a:ln>
              <a:solidFill>
                <a:sysClr val="windowText" lastClr="000000"/>
              </a:solidFill>
              <a:effectLst/>
              <a:uLnTx/>
              <a:uFillTx/>
              <a:latin typeface="+mn-lt"/>
            </a:endParaRP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1" i="0" u="none" strike="noStrike" kern="0" cap="none" spc="0" normalizeH="0" baseline="0" noProof="0" dirty="0">
                <a:ln>
                  <a:noFill/>
                </a:ln>
                <a:solidFill>
                  <a:sysClr val="windowText" lastClr="000000"/>
                </a:solidFill>
                <a:effectLst/>
                <a:uLnTx/>
                <a:uFillTx/>
                <a:latin typeface="+mn-lt"/>
              </a:rPr>
              <a:t>The time efficiency of Floyd’s algorithm is cubic—as is the time efficiency of </a:t>
            </a:r>
            <a:r>
              <a:rPr kumimoji="0" lang="en-US" sz="1700" b="1" i="0" u="none" strike="noStrike" kern="0" cap="none" spc="0" normalizeH="0" baseline="0" noProof="0" dirty="0" err="1">
                <a:ln>
                  <a:noFill/>
                </a:ln>
                <a:solidFill>
                  <a:sysClr val="windowText" lastClr="000000"/>
                </a:solidFill>
                <a:effectLst/>
                <a:uLnTx/>
                <a:uFillTx/>
                <a:latin typeface="+mn-lt"/>
              </a:rPr>
              <a:t>Warshall’s</a:t>
            </a:r>
            <a:r>
              <a:rPr kumimoji="0" lang="en-US" sz="1700" b="1" i="0" u="none" strike="noStrike" kern="0" cap="none" spc="0" normalizeH="0" baseline="0" noProof="0" dirty="0">
                <a:ln>
                  <a:noFill/>
                </a:ln>
                <a:solidFill>
                  <a:sysClr val="windowText" lastClr="000000"/>
                </a:solidFill>
                <a:effectLst/>
                <a:uLnTx/>
                <a:uFillTx/>
                <a:latin typeface="+mn-lt"/>
              </a:rPr>
              <a:t> algorithm</a:t>
            </a:r>
            <a:r>
              <a:rPr kumimoji="0" lang="en-US" sz="1700" b="0" i="0" u="none" strike="noStrike" kern="0" cap="none" spc="0" normalizeH="0" baseline="0" noProof="0" dirty="0">
                <a:ln>
                  <a:noFill/>
                </a:ln>
                <a:solidFill>
                  <a:sysClr val="windowText" lastClr="000000"/>
                </a:solidFill>
                <a:effectLst/>
                <a:uLnTx/>
                <a:uFillTx/>
                <a:latin typeface="+mn-lt"/>
              </a:rPr>
              <a:t>.</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endParaRPr kumimoji="0" lang="en-IN" sz="1700" b="0" i="0" u="none" strike="noStrike" kern="0" cap="none" spc="0" normalizeH="0" baseline="0" noProof="0" dirty="0">
              <a:ln>
                <a:noFill/>
              </a:ln>
              <a:solidFill>
                <a:sysClr val="windowText" lastClr="000000"/>
              </a:solidFill>
              <a:effectLst/>
              <a:uLnTx/>
              <a:uFillTx/>
              <a:latin typeface="+mn-lt"/>
            </a:endParaRPr>
          </a:p>
        </p:txBody>
      </p:sp>
      <p:pic>
        <p:nvPicPr>
          <p:cNvPr id="5" name="Picture 4">
            <a:extLst>
              <a:ext uri="{FF2B5EF4-FFF2-40B4-BE49-F238E27FC236}">
                <a16:creationId xmlns:a16="http://schemas.microsoft.com/office/drawing/2014/main" id="{AC377984-E526-81B0-6F79-BE67B4971E25}"/>
              </a:ext>
            </a:extLst>
          </p:cNvPr>
          <p:cNvPicPr>
            <a:picLocks noChangeAspect="1"/>
          </p:cNvPicPr>
          <p:nvPr/>
        </p:nvPicPr>
        <p:blipFill>
          <a:blip r:embed="rId3"/>
          <a:stretch>
            <a:fillRect/>
          </a:stretch>
        </p:blipFill>
        <p:spPr>
          <a:xfrm>
            <a:off x="1517063" y="1684169"/>
            <a:ext cx="6035563" cy="2453853"/>
          </a:xfrm>
          <a:prstGeom prst="rect">
            <a:avLst/>
          </a:prstGeom>
        </p:spPr>
      </p:pic>
    </p:spTree>
    <p:extLst>
      <p:ext uri="{BB962C8B-B14F-4D97-AF65-F5344CB8AC3E}">
        <p14:creationId xmlns:p14="http://schemas.microsoft.com/office/powerpoint/2010/main" val="86961795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2"/>
          <p:cNvSpPr txBox="1"/>
          <p:nvPr/>
        </p:nvSpPr>
        <p:spPr>
          <a:xfrm>
            <a:off x="1742085" y="1644446"/>
            <a:ext cx="5485797" cy="1508065"/>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0" cap="none" spc="0" normalizeH="0" baseline="0" noProof="0" dirty="0">
                <a:ln>
                  <a:noFill/>
                </a:ln>
                <a:solidFill>
                  <a:srgbClr val="083C92"/>
                </a:solidFill>
                <a:effectLst/>
                <a:uLnTx/>
                <a:uFillTx/>
                <a:latin typeface="Arial"/>
                <a:ea typeface="Arial"/>
                <a:cs typeface="Arial"/>
                <a:sym typeface="Arial"/>
              </a:rPr>
              <a:t>Module-4</a:t>
            </a:r>
            <a:endParaRPr kumimoji="0" sz="1800" b="0" i="0" u="none" strike="noStrike" kern="0" cap="none" spc="0" normalizeH="0" baseline="0" noProof="0" dirty="0">
              <a:ln>
                <a:noFill/>
              </a:ln>
              <a:solidFill>
                <a:sysClr val="windowText" lastClr="000000"/>
              </a:solidFill>
              <a:effectLst/>
              <a:uLnTx/>
              <a:uFillTx/>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2800" b="0" i="0" u="none" strike="noStrike" kern="0" cap="none" spc="0" normalizeH="0" baseline="0" noProof="0" dirty="0">
              <a:ln>
                <a:noFill/>
              </a:ln>
              <a:solidFill>
                <a:srgbClr val="000000"/>
              </a:solidFill>
              <a:effectLst/>
              <a:uLnTx/>
              <a:uFillTx/>
              <a:latin typeface="Arial"/>
              <a:ea typeface="Arial"/>
              <a:cs typeface="Arial"/>
              <a:sym typeface="Aria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THE GREEDY METHOD</a:t>
            </a:r>
            <a:endParaRPr kumimoji="0" lang="en-US" sz="1800" b="0" i="0" u="none" strike="noStrike" kern="0" cap="none" spc="0" normalizeH="0" baseline="0" noProof="0" dirty="0">
              <a:ln>
                <a:noFill/>
              </a:ln>
              <a:solidFill>
                <a:sysClr val="windowText" lastClr="000000"/>
              </a:solidFill>
              <a:effectLst/>
              <a:uLnTx/>
              <a:uFillTx/>
            </a:endParaRPr>
          </a:p>
        </p:txBody>
      </p:sp>
      <p:sp>
        <p:nvSpPr>
          <p:cNvPr id="62" name="Google Shape;62;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61</a:t>
            </a:fld>
            <a:endParaRPr kumimoji="0" sz="18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236986189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E00D3222-A87D-DD23-0F53-9A2BBA1DCA34}"/>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B6A73F60-1F9B-9D96-C8D6-7AC57E91ADFD}"/>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Greedy Technique</a:t>
            </a:r>
          </a:p>
        </p:txBody>
      </p:sp>
      <p:sp>
        <p:nvSpPr>
          <p:cNvPr id="369" name="Google Shape;369;p42">
            <a:extLst>
              <a:ext uri="{FF2B5EF4-FFF2-40B4-BE49-F238E27FC236}">
                <a16:creationId xmlns:a16="http://schemas.microsoft.com/office/drawing/2014/main" id="{3DB1F6C9-9331-2CB5-B207-0C1E08DF5204}"/>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62</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3D213601-E97C-3D76-4488-C103B8631B84}"/>
              </a:ext>
            </a:extLst>
          </p:cNvPr>
          <p:cNvSpPr txBox="1"/>
          <p:nvPr/>
        </p:nvSpPr>
        <p:spPr>
          <a:xfrm>
            <a:off x="154290" y="1081890"/>
            <a:ext cx="8761110" cy="4039527"/>
          </a:xfrm>
          <a:prstGeom prst="rect">
            <a:avLst/>
          </a:prstGeom>
          <a:noFill/>
          <a:ln>
            <a:noFill/>
          </a:ln>
        </p:spPr>
        <p:txBody>
          <a:bodyPr spcFirstLastPara="1" wrap="square" lIns="91425" tIns="45700" rIns="91425" bIns="45700" anchor="t" anchorCtr="0">
            <a:spAutoFit/>
          </a:bodyPr>
          <a:lstStyle/>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latin typeface="+mj-lt"/>
              </a:rPr>
              <a:t>The greedy approach suggests constructing a solution through a sequence of steps, each expanding a partially constructed solution obtained so far, until a complete solution to the problem is reached.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latin typeface="+mj-lt"/>
              </a:rPr>
              <a:t>On each step—and this is the central point of this technique—the choice made must be:</a:t>
            </a:r>
          </a:p>
          <a:p>
            <a:pPr marL="538163" marR="0" lvl="0" indent="-285750" algn="just" defTabSz="914400" eaLnBrk="1" fontAlgn="auto" latinLnBrk="0" hangingPunct="1">
              <a:lnSpc>
                <a:spcPct val="150000"/>
              </a:lnSpc>
              <a:spcBef>
                <a:spcPts val="0"/>
              </a:spcBef>
              <a:spcAft>
                <a:spcPts val="0"/>
              </a:spcAft>
              <a:buClrTx/>
              <a:buSzPts val="1800"/>
              <a:buFont typeface="Wingdings" panose="05000000000000000000" pitchFamily="2" charset="2"/>
              <a:buChar char="Ø"/>
              <a:tabLst/>
              <a:defRPr/>
            </a:pPr>
            <a:r>
              <a:rPr kumimoji="0" lang="en-US" sz="1600" b="1" i="0" u="none" strike="noStrike" kern="0" cap="none" spc="0" normalizeH="0" baseline="0" noProof="0" dirty="0">
                <a:ln>
                  <a:noFill/>
                </a:ln>
                <a:solidFill>
                  <a:sysClr val="windowText" lastClr="000000"/>
                </a:solidFill>
                <a:effectLst/>
                <a:uLnTx/>
                <a:uFillTx/>
                <a:latin typeface="+mj-lt"/>
              </a:rPr>
              <a:t>feasible</a:t>
            </a:r>
            <a:r>
              <a:rPr kumimoji="0" lang="en-US" sz="1600" b="0" i="0" u="none" strike="noStrike" kern="0" cap="none" spc="0" normalizeH="0" baseline="0" noProof="0" dirty="0">
                <a:ln>
                  <a:noFill/>
                </a:ln>
                <a:solidFill>
                  <a:sysClr val="windowText" lastClr="000000"/>
                </a:solidFill>
                <a:effectLst/>
                <a:uLnTx/>
                <a:uFillTx/>
                <a:latin typeface="+mj-lt"/>
              </a:rPr>
              <a:t>, i.e., it has to satisfy the problem’s constraints</a:t>
            </a:r>
          </a:p>
          <a:p>
            <a:pPr marL="538163" marR="0" lvl="0" indent="-285750" algn="just" defTabSz="914400" eaLnBrk="1" fontAlgn="auto" latinLnBrk="0" hangingPunct="1">
              <a:lnSpc>
                <a:spcPct val="150000"/>
              </a:lnSpc>
              <a:spcBef>
                <a:spcPts val="0"/>
              </a:spcBef>
              <a:spcAft>
                <a:spcPts val="0"/>
              </a:spcAft>
              <a:buClrTx/>
              <a:buSzPts val="1800"/>
              <a:buFont typeface="Wingdings" panose="05000000000000000000" pitchFamily="2" charset="2"/>
              <a:buChar char="Ø"/>
              <a:tabLst/>
              <a:defRPr/>
            </a:pPr>
            <a:r>
              <a:rPr kumimoji="0" lang="en-US" sz="1600" b="1" i="0" u="none" strike="noStrike" kern="0" cap="none" spc="0" normalizeH="0" baseline="0" noProof="0" dirty="0">
                <a:ln>
                  <a:noFill/>
                </a:ln>
                <a:solidFill>
                  <a:sysClr val="windowText" lastClr="000000"/>
                </a:solidFill>
                <a:effectLst/>
                <a:uLnTx/>
                <a:uFillTx/>
                <a:latin typeface="+mj-lt"/>
              </a:rPr>
              <a:t>locally optimal</a:t>
            </a:r>
            <a:r>
              <a:rPr kumimoji="0" lang="en-US" sz="1600" b="0" i="0" u="none" strike="noStrike" kern="0" cap="none" spc="0" normalizeH="0" baseline="0" noProof="0" dirty="0">
                <a:ln>
                  <a:noFill/>
                </a:ln>
                <a:solidFill>
                  <a:sysClr val="windowText" lastClr="000000"/>
                </a:solidFill>
                <a:effectLst/>
                <a:uLnTx/>
                <a:uFillTx/>
                <a:latin typeface="+mj-lt"/>
              </a:rPr>
              <a:t>, i.e., it has to be the best local choice among all feasible choices available on that step</a:t>
            </a:r>
          </a:p>
          <a:p>
            <a:pPr marL="538163" marR="0" lvl="0" indent="-285750" algn="just" defTabSz="914400" eaLnBrk="1" fontAlgn="auto" latinLnBrk="0" hangingPunct="1">
              <a:lnSpc>
                <a:spcPct val="150000"/>
              </a:lnSpc>
              <a:spcBef>
                <a:spcPts val="0"/>
              </a:spcBef>
              <a:spcAft>
                <a:spcPts val="0"/>
              </a:spcAft>
              <a:buClrTx/>
              <a:buSzPts val="1800"/>
              <a:buFont typeface="Wingdings" panose="05000000000000000000" pitchFamily="2" charset="2"/>
              <a:buChar char="Ø"/>
              <a:tabLst/>
              <a:defRPr/>
            </a:pPr>
            <a:r>
              <a:rPr kumimoji="0" lang="en-US" sz="1600" b="1" i="0" u="none" strike="noStrike" kern="0" cap="none" spc="0" normalizeH="0" baseline="0" noProof="0" dirty="0">
                <a:ln>
                  <a:noFill/>
                </a:ln>
                <a:solidFill>
                  <a:sysClr val="windowText" lastClr="000000"/>
                </a:solidFill>
                <a:effectLst/>
                <a:uLnTx/>
                <a:uFillTx/>
                <a:latin typeface="+mj-lt"/>
              </a:rPr>
              <a:t>irrevocable</a:t>
            </a:r>
            <a:r>
              <a:rPr kumimoji="0" lang="en-US" sz="1600" b="0" i="0" u="none" strike="noStrike" kern="0" cap="none" spc="0" normalizeH="0" baseline="0" noProof="0" dirty="0">
                <a:ln>
                  <a:noFill/>
                </a:ln>
                <a:solidFill>
                  <a:sysClr val="windowText" lastClr="000000"/>
                </a:solidFill>
                <a:effectLst/>
                <a:uLnTx/>
                <a:uFillTx/>
                <a:latin typeface="+mj-lt"/>
              </a:rPr>
              <a:t>, i.e., once made, it cannot be changed on subsequent steps of the algorithm</a:t>
            </a:r>
            <a:endParaRPr kumimoji="0" lang="en-IN" sz="1800" b="0" i="0" u="none" strike="noStrike" kern="0" cap="none" spc="0" normalizeH="0" baseline="0" noProof="0" dirty="0">
              <a:ln>
                <a:noFill/>
              </a:ln>
              <a:solidFill>
                <a:sysClr val="windowText" lastClr="000000"/>
              </a:solidFill>
              <a:effectLst/>
              <a:uLnTx/>
              <a:uFillTx/>
              <a:latin typeface="+mj-lt"/>
            </a:endParaRPr>
          </a:p>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US" sz="1700" b="0" i="0" u="none" strike="noStrike" kern="0" cap="none" spc="0" normalizeH="0" baseline="0" noProof="0" dirty="0">
                <a:ln>
                  <a:noFill/>
                </a:ln>
                <a:solidFill>
                  <a:sysClr val="windowText" lastClr="000000"/>
                </a:solidFill>
                <a:effectLst/>
                <a:uLnTx/>
                <a:uFillTx/>
                <a:latin typeface="+mj-lt"/>
              </a:rPr>
              <a:t> </a:t>
            </a:r>
          </a:p>
        </p:txBody>
      </p:sp>
    </p:spTree>
    <p:extLst>
      <p:ext uri="{BB962C8B-B14F-4D97-AF65-F5344CB8AC3E}">
        <p14:creationId xmlns:p14="http://schemas.microsoft.com/office/powerpoint/2010/main" val="289649460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2"/>
          <p:cNvSpPr txBox="1"/>
          <p:nvPr/>
        </p:nvSpPr>
        <p:spPr>
          <a:xfrm>
            <a:off x="1742085" y="1644446"/>
            <a:ext cx="5485797" cy="1508065"/>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0" cap="none" spc="0" normalizeH="0" baseline="0" noProof="0" dirty="0">
                <a:ln>
                  <a:noFill/>
                </a:ln>
                <a:solidFill>
                  <a:srgbClr val="083C92"/>
                </a:solidFill>
                <a:effectLst/>
                <a:uLnTx/>
                <a:uFillTx/>
                <a:latin typeface="Arial"/>
                <a:ea typeface="Arial"/>
                <a:cs typeface="Arial"/>
                <a:sym typeface="Arial"/>
              </a:rPr>
              <a:t>Module-4</a:t>
            </a:r>
            <a:endParaRPr kumimoji="0" sz="1800" b="0" i="0" u="none" strike="noStrike" kern="0" cap="none" spc="0" normalizeH="0" baseline="0" noProof="0" dirty="0">
              <a:ln>
                <a:noFill/>
              </a:ln>
              <a:solidFill>
                <a:sysClr val="windowText" lastClr="000000"/>
              </a:solidFill>
              <a:effectLst/>
              <a:uLnTx/>
              <a:uFillTx/>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2800" b="0" i="0" u="none" strike="noStrike" kern="0" cap="none" spc="0" normalizeH="0" baseline="0" noProof="0" dirty="0">
              <a:ln>
                <a:noFill/>
              </a:ln>
              <a:solidFill>
                <a:srgbClr val="000000"/>
              </a:solidFill>
              <a:effectLst/>
              <a:uLnTx/>
              <a:uFillTx/>
              <a:latin typeface="Arial"/>
              <a:ea typeface="Arial"/>
              <a:cs typeface="Arial"/>
              <a:sym typeface="Arial"/>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ysClr val="windowText" lastClr="000000"/>
                </a:solidFill>
                <a:effectLst/>
                <a:uLnTx/>
                <a:uFillTx/>
              </a:rPr>
              <a:t>Prim’s Algorithm</a:t>
            </a:r>
          </a:p>
        </p:txBody>
      </p:sp>
      <p:sp>
        <p:nvSpPr>
          <p:cNvPr id="62" name="Google Shape;62;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63</a:t>
            </a:fld>
            <a:endParaRPr kumimoji="0" sz="18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37486583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0A5094D1-5FB7-84C2-5D40-64AB298D1BEE}"/>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5B92289A-1530-29F9-BFAA-EA4F542E82F8}"/>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Greedy Technique</a:t>
            </a:r>
          </a:p>
        </p:txBody>
      </p:sp>
      <p:sp>
        <p:nvSpPr>
          <p:cNvPr id="369" name="Google Shape;369;p42">
            <a:extLst>
              <a:ext uri="{FF2B5EF4-FFF2-40B4-BE49-F238E27FC236}">
                <a16:creationId xmlns:a16="http://schemas.microsoft.com/office/drawing/2014/main" id="{5BEB460A-9C57-C1D9-F29E-5D2692526FD3}"/>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64</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21F752E3-6F66-0777-BE6D-4931AB517B9E}"/>
              </a:ext>
            </a:extLst>
          </p:cNvPr>
          <p:cNvSpPr txBox="1"/>
          <p:nvPr/>
        </p:nvSpPr>
        <p:spPr>
          <a:xfrm>
            <a:off x="154290" y="1081890"/>
            <a:ext cx="8761110" cy="3647112"/>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IN" sz="1800" b="1" i="0" u="none" strike="noStrike" kern="0" cap="none" spc="0" normalizeH="0" baseline="0" noProof="0" dirty="0">
                <a:ln>
                  <a:noFill/>
                </a:ln>
                <a:solidFill>
                  <a:sysClr val="windowText" lastClr="000000"/>
                </a:solidFill>
                <a:effectLst/>
                <a:uLnTx/>
                <a:uFillTx/>
                <a:latin typeface="+mj-lt"/>
              </a:rPr>
              <a:t>Prim’s Algorithm</a:t>
            </a:r>
            <a:endParaRPr kumimoji="0" lang="en-US" sz="1800" b="0" i="0" u="none" strike="noStrike" kern="0" cap="none" spc="0" normalizeH="0" baseline="0" noProof="0" dirty="0">
              <a:ln>
                <a:noFill/>
              </a:ln>
              <a:solidFill>
                <a:sysClr val="windowText" lastClr="000000"/>
              </a:solidFill>
              <a:effectLst/>
              <a:uLnTx/>
              <a:uFillTx/>
              <a:latin typeface="+mj-lt"/>
            </a:endParaRP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1" i="0" u="none" strike="noStrike" kern="0" cap="none" spc="0" normalizeH="0" baseline="0" noProof="0" dirty="0">
                <a:ln>
                  <a:noFill/>
                </a:ln>
                <a:solidFill>
                  <a:sysClr val="windowText" lastClr="000000"/>
                </a:solidFill>
                <a:effectLst/>
                <a:uLnTx/>
                <a:uFillTx/>
                <a:latin typeface="+mj-lt"/>
              </a:rPr>
              <a:t>DEFINITION</a:t>
            </a:r>
            <a:r>
              <a:rPr kumimoji="0" lang="en-US" sz="1700" b="0" i="0" u="none" strike="noStrike" kern="0" cap="none" spc="0" normalizeH="0" baseline="0" noProof="0" dirty="0">
                <a:ln>
                  <a:noFill/>
                </a:ln>
                <a:solidFill>
                  <a:sysClr val="windowText" lastClr="000000"/>
                </a:solidFill>
                <a:effectLst/>
                <a:uLnTx/>
                <a:uFillTx/>
                <a:latin typeface="+mj-lt"/>
              </a:rPr>
              <a:t>: A spanning tree of an undirected connected graph is its connected acyclic subgraph (i.e., a tree) that contains all the vertices of the graph.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j-lt"/>
              </a:rPr>
              <a:t>If such a graph has weights assigned to its edges, a minimum spanning tree is its spanning tree of the smallest weight, where the weight of a tree is defined as the sum of the weights on all its edges.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j-lt"/>
              </a:rPr>
              <a:t>The minimum spanning tree problem is the problem of finding a minimum spanning tree for a given weighted connected graph.</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j-lt"/>
              </a:rPr>
              <a:t>Figure 9.2 presents a simple example illustrating these notions.</a:t>
            </a:r>
          </a:p>
        </p:txBody>
      </p:sp>
    </p:spTree>
    <p:extLst>
      <p:ext uri="{BB962C8B-B14F-4D97-AF65-F5344CB8AC3E}">
        <p14:creationId xmlns:p14="http://schemas.microsoft.com/office/powerpoint/2010/main" val="383109336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3AFA0E7F-FDAC-AF4E-2F0F-75E482B517BE}"/>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72318580-CF3E-4C1F-11DB-7A08E48FA2A8}"/>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Greedy Technique</a:t>
            </a:r>
          </a:p>
        </p:txBody>
      </p:sp>
      <p:sp>
        <p:nvSpPr>
          <p:cNvPr id="369" name="Google Shape;369;p42">
            <a:extLst>
              <a:ext uri="{FF2B5EF4-FFF2-40B4-BE49-F238E27FC236}">
                <a16:creationId xmlns:a16="http://schemas.microsoft.com/office/drawing/2014/main" id="{ACA1C0BE-9E73-C9A4-8E76-A943C69C7153}"/>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65</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F7329F0D-5CF3-703A-88ED-29166CB2B750}"/>
              </a:ext>
            </a:extLst>
          </p:cNvPr>
          <p:cNvSpPr txBox="1"/>
          <p:nvPr/>
        </p:nvSpPr>
        <p:spPr>
          <a:xfrm>
            <a:off x="154290" y="1081890"/>
            <a:ext cx="8761110" cy="3831778"/>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IN" sz="1800" b="1" i="0" u="none" strike="noStrike" kern="0" cap="none" spc="0" normalizeH="0" baseline="0" noProof="0" dirty="0">
                <a:ln>
                  <a:noFill/>
                </a:ln>
                <a:solidFill>
                  <a:sysClr val="windowText" lastClr="000000"/>
                </a:solidFill>
                <a:effectLst/>
                <a:uLnTx/>
                <a:uFillTx/>
                <a:latin typeface="+mj-lt"/>
              </a:rPr>
              <a:t>Prim’s Algorithm</a:t>
            </a:r>
          </a:p>
          <a:p>
            <a:pPr marL="0" marR="0" lvl="0" indent="0" algn="just" defTabSz="914400" eaLnBrk="1" fontAlgn="auto" latinLnBrk="0" hangingPunct="1">
              <a:lnSpc>
                <a:spcPct val="150000"/>
              </a:lnSpc>
              <a:spcBef>
                <a:spcPts val="0"/>
              </a:spcBef>
              <a:spcAft>
                <a:spcPts val="0"/>
              </a:spcAft>
              <a:buClrTx/>
              <a:buSzPts val="1800"/>
              <a:buFontTx/>
              <a:buNone/>
              <a:tabLst/>
              <a:defRPr/>
            </a:pPr>
            <a:endParaRPr kumimoji="0" lang="en-US" sz="1800" b="0" i="0" u="none" strike="noStrike" kern="0" cap="none" spc="0" normalizeH="0" baseline="0" noProof="0" dirty="0">
              <a:ln>
                <a:noFill/>
              </a:ln>
              <a:solidFill>
                <a:sysClr val="windowText" lastClr="000000"/>
              </a:solidFill>
              <a:effectLst/>
              <a:uLnTx/>
              <a:uFillTx/>
              <a:latin typeface="+mj-lt"/>
            </a:endParaRPr>
          </a:p>
          <a:p>
            <a:pPr marL="0" marR="0" lvl="0" indent="0" algn="just" defTabSz="914400" eaLnBrk="1" fontAlgn="auto" latinLnBrk="0" hangingPunct="1">
              <a:lnSpc>
                <a:spcPct val="150000"/>
              </a:lnSpc>
              <a:spcBef>
                <a:spcPts val="0"/>
              </a:spcBef>
              <a:spcAft>
                <a:spcPts val="0"/>
              </a:spcAft>
              <a:buClrTx/>
              <a:buSzPts val="1800"/>
              <a:buFontTx/>
              <a:buNone/>
              <a:tabLst/>
              <a:defRPr/>
            </a:pPr>
            <a:endParaRPr kumimoji="0" lang="en-US" sz="1800" b="0" i="0" u="none" strike="noStrike" kern="0" cap="none" spc="0" normalizeH="0" baseline="0" noProof="0" dirty="0">
              <a:ln>
                <a:noFill/>
              </a:ln>
              <a:solidFill>
                <a:sysClr val="windowText" lastClr="000000"/>
              </a:solidFill>
              <a:effectLst/>
              <a:uLnTx/>
              <a:uFillTx/>
              <a:latin typeface="+mj-lt"/>
            </a:endParaRPr>
          </a:p>
          <a:p>
            <a:pPr marL="0" marR="0" lvl="0" indent="0" algn="just" defTabSz="914400" eaLnBrk="1" fontAlgn="auto" latinLnBrk="0" hangingPunct="1">
              <a:lnSpc>
                <a:spcPct val="150000"/>
              </a:lnSpc>
              <a:spcBef>
                <a:spcPts val="0"/>
              </a:spcBef>
              <a:spcAft>
                <a:spcPts val="0"/>
              </a:spcAft>
              <a:buClrTx/>
              <a:buSzPts val="1800"/>
              <a:buFontTx/>
              <a:buNone/>
              <a:tabLst/>
              <a:defRPr/>
            </a:pPr>
            <a:endParaRPr kumimoji="0" lang="en-US" sz="1800" b="0" i="0" u="none" strike="noStrike" kern="0" cap="none" spc="0" normalizeH="0" baseline="0" noProof="0" dirty="0">
              <a:ln>
                <a:noFill/>
              </a:ln>
              <a:solidFill>
                <a:sysClr val="windowText" lastClr="000000"/>
              </a:solidFill>
              <a:effectLst/>
              <a:uLnTx/>
              <a:uFillTx/>
              <a:latin typeface="+mj-lt"/>
            </a:endParaRP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endParaRPr kumimoji="0" lang="en-US" sz="1800" b="0" i="0" u="none" strike="noStrike" kern="0" cap="none" spc="0" normalizeH="0" baseline="0" noProof="0" dirty="0">
              <a:ln>
                <a:noFill/>
              </a:ln>
              <a:solidFill>
                <a:sysClr val="windowText" lastClr="000000"/>
              </a:solidFill>
              <a:effectLst/>
              <a:uLnTx/>
              <a:uFillTx/>
              <a:latin typeface="+mj-lt"/>
            </a:endParaRP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latin typeface="+mj-lt"/>
              </a:rPr>
              <a:t>If we were to try constructing a minimum spanning tree by exhaustive search, we would face two serious obstacles.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latin typeface="+mj-lt"/>
              </a:rPr>
              <a:t>First, the number of spanning trees grows exponentially with the graph size (at least for dense graphs). </a:t>
            </a:r>
          </a:p>
        </p:txBody>
      </p:sp>
      <p:pic>
        <p:nvPicPr>
          <p:cNvPr id="3" name="Picture 2">
            <a:extLst>
              <a:ext uri="{FF2B5EF4-FFF2-40B4-BE49-F238E27FC236}">
                <a16:creationId xmlns:a16="http://schemas.microsoft.com/office/drawing/2014/main" id="{A8E2A5FA-BAA8-02AE-4D14-666D74E282F8}"/>
              </a:ext>
            </a:extLst>
          </p:cNvPr>
          <p:cNvPicPr>
            <a:picLocks noChangeAspect="1"/>
          </p:cNvPicPr>
          <p:nvPr/>
        </p:nvPicPr>
        <p:blipFill>
          <a:blip r:embed="rId3"/>
          <a:stretch>
            <a:fillRect/>
          </a:stretch>
        </p:blipFill>
        <p:spPr>
          <a:xfrm>
            <a:off x="1915256" y="1605070"/>
            <a:ext cx="5113463" cy="1463167"/>
          </a:xfrm>
          <a:prstGeom prst="rect">
            <a:avLst/>
          </a:prstGeom>
        </p:spPr>
      </p:pic>
    </p:spTree>
    <p:extLst>
      <p:ext uri="{BB962C8B-B14F-4D97-AF65-F5344CB8AC3E}">
        <p14:creationId xmlns:p14="http://schemas.microsoft.com/office/powerpoint/2010/main" val="269451461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88585E75-2289-0131-711A-CE5C6D3C8494}"/>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A9A5F6A8-21C0-4E4B-3EB5-588DE603FDAE}"/>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Greedy Technique</a:t>
            </a:r>
          </a:p>
        </p:txBody>
      </p:sp>
      <p:sp>
        <p:nvSpPr>
          <p:cNvPr id="369" name="Google Shape;369;p42">
            <a:extLst>
              <a:ext uri="{FF2B5EF4-FFF2-40B4-BE49-F238E27FC236}">
                <a16:creationId xmlns:a16="http://schemas.microsoft.com/office/drawing/2014/main" id="{2248C14D-6623-4B37-98BF-D4948FF347BC}"/>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66</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5851007F-2522-9236-4BFB-FDD11BBE119C}"/>
              </a:ext>
            </a:extLst>
          </p:cNvPr>
          <p:cNvSpPr txBox="1"/>
          <p:nvPr/>
        </p:nvSpPr>
        <p:spPr>
          <a:xfrm>
            <a:off x="154290" y="1081890"/>
            <a:ext cx="8761110" cy="3831778"/>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IN" sz="1800" b="1" i="0" u="none" strike="noStrike" kern="0" cap="none" spc="0" normalizeH="0" baseline="0" noProof="0" dirty="0">
                <a:ln>
                  <a:noFill/>
                </a:ln>
                <a:solidFill>
                  <a:sysClr val="windowText" lastClr="000000"/>
                </a:solidFill>
                <a:effectLst/>
                <a:uLnTx/>
                <a:uFillTx/>
                <a:latin typeface="+mj-lt"/>
              </a:rPr>
              <a:t>Prim’s Algorithm</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latin typeface="+mj-lt"/>
              </a:rPr>
              <a:t>Second, generating all spanning trees for a given graph is not easy; in fact, it is more difficult than finding a minimum spanning tree for a weighted graph by using one of several efficient algorithms available for this problem.</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latin typeface="+mj-lt"/>
              </a:rPr>
              <a:t>Prim’s algorithm constructs a minimum spanning tree through a sequence of expanding subtrees.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latin typeface="+mj-lt"/>
              </a:rPr>
              <a:t>The initial subtree in such a sequence consists of a single vertex selected arbitrarily from the set V of the graph’s vertices.</a:t>
            </a:r>
          </a:p>
          <a:p>
            <a:pPr marL="0" marR="0" lvl="0" indent="0" algn="just" defTabSz="914400" eaLnBrk="1" fontAlgn="auto" latinLnBrk="0" hangingPunct="1">
              <a:lnSpc>
                <a:spcPct val="150000"/>
              </a:lnSpc>
              <a:spcBef>
                <a:spcPts val="0"/>
              </a:spcBef>
              <a:spcAft>
                <a:spcPts val="0"/>
              </a:spcAft>
              <a:buClrTx/>
              <a:buSzPts val="1800"/>
              <a:buFontTx/>
              <a:buNone/>
              <a:tabLst/>
              <a:defRPr/>
            </a:pPr>
            <a:endParaRPr kumimoji="0" lang="en-US" sz="1800" b="0" i="0" u="none" strike="noStrike" kern="0" cap="none" spc="0" normalizeH="0" baseline="0" noProof="0" dirty="0">
              <a:ln>
                <a:noFill/>
              </a:ln>
              <a:solidFill>
                <a:sysClr val="windowText" lastClr="000000"/>
              </a:solidFill>
              <a:effectLst/>
              <a:uLnTx/>
              <a:uFillTx/>
              <a:latin typeface="+mj-lt"/>
            </a:endParaRPr>
          </a:p>
        </p:txBody>
      </p:sp>
    </p:spTree>
    <p:extLst>
      <p:ext uri="{BB962C8B-B14F-4D97-AF65-F5344CB8AC3E}">
        <p14:creationId xmlns:p14="http://schemas.microsoft.com/office/powerpoint/2010/main" val="102249957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C2857C0D-912A-709A-44B3-686EADB8AD2B}"/>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EDC9FB82-733A-7412-58A9-21247DF0CCE9}"/>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Greedy Technique</a:t>
            </a:r>
          </a:p>
        </p:txBody>
      </p:sp>
      <p:sp>
        <p:nvSpPr>
          <p:cNvPr id="369" name="Google Shape;369;p42">
            <a:extLst>
              <a:ext uri="{FF2B5EF4-FFF2-40B4-BE49-F238E27FC236}">
                <a16:creationId xmlns:a16="http://schemas.microsoft.com/office/drawing/2014/main" id="{2761EEC1-BC8D-D455-0970-6A108A9949A0}"/>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67</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1AAAEE1C-5F91-A6E7-AC3F-C8CD088D3D5F}"/>
              </a:ext>
            </a:extLst>
          </p:cNvPr>
          <p:cNvSpPr txBox="1"/>
          <p:nvPr/>
        </p:nvSpPr>
        <p:spPr>
          <a:xfrm>
            <a:off x="154290" y="949154"/>
            <a:ext cx="8761110" cy="4662775"/>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IN" sz="1800" b="1" i="0" u="none" strike="noStrike" kern="0" cap="none" spc="0" normalizeH="0" baseline="0" noProof="0" dirty="0">
                <a:ln>
                  <a:noFill/>
                </a:ln>
                <a:solidFill>
                  <a:sysClr val="windowText" lastClr="000000"/>
                </a:solidFill>
                <a:effectLst/>
                <a:uLnTx/>
                <a:uFillTx/>
                <a:latin typeface="+mj-lt"/>
              </a:rPr>
              <a:t>Prim’s Algorithm</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latin typeface="+mj-lt"/>
              </a:rPr>
              <a:t>On each iteration, the algorithm expands the current tree in the greedy manner by simply attaching to it the nearest vertex not in that tree.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latin typeface="+mj-lt"/>
              </a:rPr>
              <a:t>The algorithm stops after all the graph’s vertices have been included in the tree being constructed.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latin typeface="+mj-lt"/>
              </a:rPr>
              <a:t>Since the algorithm expands a tree by exactly one vertex on each of its iterations, the total number of such iterations is n − 1, where n is the number of vertices in the graph.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latin typeface="+mj-lt"/>
              </a:rPr>
              <a:t>The tree generated by the algorithm is obtained as the set of edges used for the tree expansions.</a:t>
            </a:r>
          </a:p>
          <a:p>
            <a:pPr marL="0" marR="0" lvl="0" indent="0" algn="just" defTabSz="914400" eaLnBrk="1" fontAlgn="auto" latinLnBrk="0" hangingPunct="1">
              <a:lnSpc>
                <a:spcPct val="150000"/>
              </a:lnSpc>
              <a:spcBef>
                <a:spcPts val="0"/>
              </a:spcBef>
              <a:spcAft>
                <a:spcPts val="0"/>
              </a:spcAft>
              <a:buClrTx/>
              <a:buSzPts val="1800"/>
              <a:buFontTx/>
              <a:buNone/>
              <a:tabLst/>
              <a:defRPr/>
            </a:pPr>
            <a:endParaRPr kumimoji="0" lang="en-US" sz="1800" b="0" i="0" u="none" strike="noStrike" kern="0" cap="none" spc="0" normalizeH="0" baseline="0" noProof="0" dirty="0">
              <a:ln>
                <a:noFill/>
              </a:ln>
              <a:solidFill>
                <a:sysClr val="windowText" lastClr="000000"/>
              </a:solidFill>
              <a:effectLst/>
              <a:uLnTx/>
              <a:uFillTx/>
              <a:latin typeface="+mj-lt"/>
            </a:endParaRPr>
          </a:p>
        </p:txBody>
      </p:sp>
    </p:spTree>
    <p:extLst>
      <p:ext uri="{BB962C8B-B14F-4D97-AF65-F5344CB8AC3E}">
        <p14:creationId xmlns:p14="http://schemas.microsoft.com/office/powerpoint/2010/main" val="195278823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84621F6D-E81D-4769-FAA7-0770E9082EBC}"/>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97EC5633-B86D-0D73-CA23-5D848027DCCB}"/>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Greedy Technique</a:t>
            </a:r>
          </a:p>
        </p:txBody>
      </p:sp>
      <p:sp>
        <p:nvSpPr>
          <p:cNvPr id="369" name="Google Shape;369;p42">
            <a:extLst>
              <a:ext uri="{FF2B5EF4-FFF2-40B4-BE49-F238E27FC236}">
                <a16:creationId xmlns:a16="http://schemas.microsoft.com/office/drawing/2014/main" id="{305828AE-6677-D666-0342-17B30B1AC762}"/>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68</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2E0396B2-826E-124B-F071-F3D039F2EEDD}"/>
              </a:ext>
            </a:extLst>
          </p:cNvPr>
          <p:cNvSpPr txBox="1"/>
          <p:nvPr/>
        </p:nvSpPr>
        <p:spPr>
          <a:xfrm>
            <a:off x="154290" y="1081890"/>
            <a:ext cx="8761110" cy="1338788"/>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IN" sz="1800" b="1" i="0" u="none" strike="noStrike" kern="0" cap="none" spc="0" normalizeH="0" baseline="0" noProof="0" dirty="0">
                <a:ln>
                  <a:noFill/>
                </a:ln>
                <a:solidFill>
                  <a:sysClr val="windowText" lastClr="000000"/>
                </a:solidFill>
                <a:effectLst/>
                <a:uLnTx/>
                <a:uFillTx/>
                <a:latin typeface="+mj-lt"/>
              </a:rPr>
              <a:t>Prim’s Algorithm</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latin typeface="+mj-lt"/>
              </a:rPr>
              <a:t>Here is pseudocode of this algorithm.</a:t>
            </a:r>
          </a:p>
          <a:p>
            <a:pPr marL="0" marR="0" lvl="0" indent="0" algn="just" defTabSz="914400" eaLnBrk="1" fontAlgn="auto" latinLnBrk="0" hangingPunct="1">
              <a:lnSpc>
                <a:spcPct val="150000"/>
              </a:lnSpc>
              <a:spcBef>
                <a:spcPts val="0"/>
              </a:spcBef>
              <a:spcAft>
                <a:spcPts val="0"/>
              </a:spcAft>
              <a:buClrTx/>
              <a:buSzPts val="1800"/>
              <a:buFontTx/>
              <a:buNone/>
              <a:tabLst/>
              <a:defRPr/>
            </a:pPr>
            <a:endParaRPr kumimoji="0" lang="en-US" sz="1800" b="0" i="0" u="none" strike="noStrike" kern="0" cap="none" spc="0" normalizeH="0" baseline="0" noProof="0" dirty="0">
              <a:ln>
                <a:noFill/>
              </a:ln>
              <a:solidFill>
                <a:sysClr val="windowText" lastClr="000000"/>
              </a:solidFill>
              <a:effectLst/>
              <a:uLnTx/>
              <a:uFillTx/>
              <a:latin typeface="+mj-lt"/>
            </a:endParaRPr>
          </a:p>
        </p:txBody>
      </p:sp>
      <p:pic>
        <p:nvPicPr>
          <p:cNvPr id="3" name="Picture 2">
            <a:extLst>
              <a:ext uri="{FF2B5EF4-FFF2-40B4-BE49-F238E27FC236}">
                <a16:creationId xmlns:a16="http://schemas.microsoft.com/office/drawing/2014/main" id="{499EF65D-D5F3-FAAE-897F-48234903ABA3}"/>
              </a:ext>
            </a:extLst>
          </p:cNvPr>
          <p:cNvPicPr>
            <a:picLocks noChangeAspect="1"/>
          </p:cNvPicPr>
          <p:nvPr/>
        </p:nvPicPr>
        <p:blipFill>
          <a:blip r:embed="rId3"/>
          <a:stretch>
            <a:fillRect/>
          </a:stretch>
        </p:blipFill>
        <p:spPr>
          <a:xfrm>
            <a:off x="1580384" y="1936522"/>
            <a:ext cx="5720068" cy="2802567"/>
          </a:xfrm>
          <a:prstGeom prst="rect">
            <a:avLst/>
          </a:prstGeom>
        </p:spPr>
      </p:pic>
    </p:spTree>
    <p:extLst>
      <p:ext uri="{BB962C8B-B14F-4D97-AF65-F5344CB8AC3E}">
        <p14:creationId xmlns:p14="http://schemas.microsoft.com/office/powerpoint/2010/main" val="288852815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3EA387AC-FB22-4567-63AA-610B29CDB585}"/>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CEAB6D62-55BE-F976-8D66-3656F6BD5411}"/>
              </a:ext>
            </a:extLst>
          </p:cNvPr>
          <p:cNvSpPr txBox="1"/>
          <p:nvPr/>
        </p:nvSpPr>
        <p:spPr>
          <a:xfrm>
            <a:off x="154290" y="558710"/>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Greedy Technique</a:t>
            </a:r>
          </a:p>
        </p:txBody>
      </p:sp>
      <p:sp>
        <p:nvSpPr>
          <p:cNvPr id="369" name="Google Shape;369;p42">
            <a:extLst>
              <a:ext uri="{FF2B5EF4-FFF2-40B4-BE49-F238E27FC236}">
                <a16:creationId xmlns:a16="http://schemas.microsoft.com/office/drawing/2014/main" id="{5F6EDE4E-99E7-B4B4-47BE-DBBC5D6A60CC}"/>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69</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713B7067-D0A6-FDA5-F914-F09D2BAA98C2}"/>
              </a:ext>
            </a:extLst>
          </p:cNvPr>
          <p:cNvSpPr txBox="1"/>
          <p:nvPr/>
        </p:nvSpPr>
        <p:spPr>
          <a:xfrm>
            <a:off x="154290" y="1081890"/>
            <a:ext cx="8761110" cy="3831778"/>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IN" sz="1800" b="1" i="0" u="none" strike="noStrike" kern="0" cap="none" spc="0" normalizeH="0" baseline="0" noProof="0" dirty="0">
                <a:ln>
                  <a:noFill/>
                </a:ln>
                <a:solidFill>
                  <a:sysClr val="windowText" lastClr="000000"/>
                </a:solidFill>
                <a:effectLst/>
                <a:uLnTx/>
                <a:uFillTx/>
                <a:latin typeface="+mj-lt"/>
              </a:rPr>
              <a:t>Prim’s Algorithm</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latin typeface="+mj-lt"/>
              </a:rPr>
              <a:t>The nature of Prim’s algorithm makes it necessary to provide each vertex not in the current tree with the information about the shortest edge connecting the vertex to a tree vertex.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latin typeface="+mj-lt"/>
              </a:rPr>
              <a:t>We can provide such information by attaching two labels to a vertex: the name of the nearest tree vertex and the length (the weight) of the corresponding edge.</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latin typeface="+mj-lt"/>
              </a:rPr>
              <a:t>Vertices that are not adjacent to any of the tree vertices can be given the ∞ label indicating their “infinite” distance to the tree vertices and a null label for the name of the nearest tree vertex. </a:t>
            </a:r>
          </a:p>
        </p:txBody>
      </p:sp>
    </p:spTree>
    <p:extLst>
      <p:ext uri="{BB962C8B-B14F-4D97-AF65-F5344CB8AC3E}">
        <p14:creationId xmlns:p14="http://schemas.microsoft.com/office/powerpoint/2010/main" val="409790781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D3523282-D033-C679-CD42-A8E7260F692D}"/>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D7E0D9DB-6A84-8162-A902-4BC7369D6951}"/>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Greedy Technique</a:t>
            </a:r>
          </a:p>
        </p:txBody>
      </p:sp>
      <p:sp>
        <p:nvSpPr>
          <p:cNvPr id="369" name="Google Shape;369;p42">
            <a:extLst>
              <a:ext uri="{FF2B5EF4-FFF2-40B4-BE49-F238E27FC236}">
                <a16:creationId xmlns:a16="http://schemas.microsoft.com/office/drawing/2014/main" id="{A88E0882-3AD5-AF6D-D6D1-60B7C9D1079A}"/>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70</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8E4EE85D-45A3-7E43-4555-35DADCB926C1}"/>
              </a:ext>
            </a:extLst>
          </p:cNvPr>
          <p:cNvSpPr txBox="1"/>
          <p:nvPr/>
        </p:nvSpPr>
        <p:spPr>
          <a:xfrm>
            <a:off x="191445" y="897384"/>
            <a:ext cx="8761110" cy="4247276"/>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IN" sz="1800" b="1" i="0" u="none" strike="noStrike" kern="0" cap="none" spc="0" normalizeH="0" baseline="0" noProof="0" dirty="0">
                <a:ln>
                  <a:noFill/>
                </a:ln>
                <a:solidFill>
                  <a:sysClr val="windowText" lastClr="000000"/>
                </a:solidFill>
                <a:effectLst/>
                <a:uLnTx/>
                <a:uFillTx/>
                <a:latin typeface="+mj-lt"/>
              </a:rPr>
              <a:t>Prim’s Algorithm</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latin typeface="+mj-lt"/>
              </a:rPr>
              <a:t>With such labels, finding the next vertex to be added to the current tree T = { V</a:t>
            </a:r>
            <a:r>
              <a:rPr kumimoji="0" lang="en-US" sz="1800" b="0" i="0" u="none" strike="noStrike" kern="0" cap="none" spc="0" normalizeH="0" baseline="-25000" noProof="0" dirty="0">
                <a:ln>
                  <a:noFill/>
                </a:ln>
                <a:solidFill>
                  <a:sysClr val="windowText" lastClr="000000"/>
                </a:solidFill>
                <a:effectLst/>
                <a:uLnTx/>
                <a:uFillTx/>
                <a:latin typeface="+mj-lt"/>
              </a:rPr>
              <a:t>T</a:t>
            </a:r>
            <a:r>
              <a:rPr kumimoji="0" lang="en-US" sz="1800" b="0" i="0" u="none" strike="noStrike" kern="0" cap="none" spc="0" normalizeH="0" baseline="0" noProof="0" dirty="0">
                <a:ln>
                  <a:noFill/>
                </a:ln>
                <a:solidFill>
                  <a:sysClr val="windowText" lastClr="000000"/>
                </a:solidFill>
                <a:effectLst/>
                <a:uLnTx/>
                <a:uFillTx/>
                <a:latin typeface="+mj-lt"/>
              </a:rPr>
              <a:t>, E</a:t>
            </a:r>
            <a:r>
              <a:rPr kumimoji="0" lang="en-US" sz="1800" b="0" i="0" u="none" strike="noStrike" kern="0" cap="none" spc="0" normalizeH="0" baseline="-25000" noProof="0" dirty="0">
                <a:ln>
                  <a:noFill/>
                </a:ln>
                <a:solidFill>
                  <a:sysClr val="windowText" lastClr="000000"/>
                </a:solidFill>
                <a:effectLst/>
                <a:uLnTx/>
                <a:uFillTx/>
                <a:latin typeface="+mj-lt"/>
              </a:rPr>
              <a:t>T</a:t>
            </a:r>
            <a:r>
              <a:rPr kumimoji="0" lang="en-US" sz="1800" b="0" i="0" u="none" strike="noStrike" kern="0" cap="none" spc="0" normalizeH="0" baseline="0" noProof="0" dirty="0">
                <a:ln>
                  <a:noFill/>
                </a:ln>
                <a:solidFill>
                  <a:sysClr val="windowText" lastClr="000000"/>
                </a:solidFill>
                <a:effectLst/>
                <a:uLnTx/>
                <a:uFillTx/>
                <a:latin typeface="+mj-lt"/>
              </a:rPr>
              <a:t> } becomes a simple task of finding a vertex with the smallest distance label in the set V − V</a:t>
            </a:r>
            <a:r>
              <a:rPr kumimoji="0" lang="en-US" sz="1800" b="0" i="0" u="none" strike="noStrike" kern="0" cap="none" spc="0" normalizeH="0" baseline="-25000" noProof="0" dirty="0">
                <a:ln>
                  <a:noFill/>
                </a:ln>
                <a:solidFill>
                  <a:sysClr val="windowText" lastClr="000000"/>
                </a:solidFill>
                <a:effectLst/>
                <a:uLnTx/>
                <a:uFillTx/>
                <a:latin typeface="+mj-lt"/>
              </a:rPr>
              <a:t>T</a:t>
            </a:r>
            <a:r>
              <a:rPr kumimoji="0" lang="en-US" sz="1800" b="0" i="0" u="none" strike="noStrike" kern="0" cap="none" spc="0" normalizeH="0" baseline="0" noProof="0" dirty="0">
                <a:ln>
                  <a:noFill/>
                </a:ln>
                <a:solidFill>
                  <a:sysClr val="windowText" lastClr="000000"/>
                </a:solidFill>
                <a:effectLst/>
                <a:uLnTx/>
                <a:uFillTx/>
                <a:latin typeface="+mj-lt"/>
              </a:rPr>
              <a:t> . Ties can be broken arbitrarily.</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latin typeface="+mj-lt"/>
              </a:rPr>
              <a:t>After we have identified a vertex u ∗ to be added to the tree, we need to perform two operations:</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latin typeface="+mj-lt"/>
              </a:rPr>
              <a:t>Move u ∗ from the set V − V</a:t>
            </a:r>
            <a:r>
              <a:rPr kumimoji="0" lang="en-US" sz="1800" b="0" i="0" u="none" strike="noStrike" kern="0" cap="none" spc="0" normalizeH="0" baseline="-25000" noProof="0" dirty="0">
                <a:ln>
                  <a:noFill/>
                </a:ln>
                <a:solidFill>
                  <a:sysClr val="windowText" lastClr="000000"/>
                </a:solidFill>
                <a:effectLst/>
                <a:uLnTx/>
                <a:uFillTx/>
                <a:latin typeface="+mj-lt"/>
              </a:rPr>
              <a:t>T</a:t>
            </a:r>
            <a:r>
              <a:rPr kumimoji="0" lang="en-US" sz="1800" b="0" i="0" u="none" strike="noStrike" kern="0" cap="none" spc="0" normalizeH="0" baseline="0" noProof="0" dirty="0">
                <a:ln>
                  <a:noFill/>
                </a:ln>
                <a:solidFill>
                  <a:sysClr val="windowText" lastClr="000000"/>
                </a:solidFill>
                <a:effectLst/>
                <a:uLnTx/>
                <a:uFillTx/>
                <a:latin typeface="+mj-lt"/>
              </a:rPr>
              <a:t> to the set of tree vertices V</a:t>
            </a:r>
            <a:r>
              <a:rPr kumimoji="0" lang="en-US" sz="1800" b="0" i="0" u="none" strike="noStrike" kern="0" cap="none" spc="0" normalizeH="0" baseline="-25000" noProof="0" dirty="0">
                <a:ln>
                  <a:noFill/>
                </a:ln>
                <a:solidFill>
                  <a:sysClr val="windowText" lastClr="000000"/>
                </a:solidFill>
                <a:effectLst/>
                <a:uLnTx/>
                <a:uFillTx/>
                <a:latin typeface="+mj-lt"/>
              </a:rPr>
              <a:t>T</a:t>
            </a:r>
            <a:r>
              <a:rPr kumimoji="0" lang="en-US" sz="1800" b="0" i="0" u="none" strike="noStrike" kern="0" cap="none" spc="0" normalizeH="0" baseline="0" noProof="0" dirty="0">
                <a:ln>
                  <a:noFill/>
                </a:ln>
                <a:solidFill>
                  <a:sysClr val="windowText" lastClr="000000"/>
                </a:solidFill>
                <a:effectLst/>
                <a:uLnTx/>
                <a:uFillTx/>
                <a:latin typeface="+mj-lt"/>
              </a:rPr>
              <a:t>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latin typeface="+mj-lt"/>
              </a:rPr>
              <a:t>For each remaining vertex u in V − V</a:t>
            </a:r>
            <a:r>
              <a:rPr kumimoji="0" lang="en-US" sz="1800" b="0" i="0" u="none" strike="noStrike" kern="0" cap="none" spc="0" normalizeH="0" baseline="-25000" noProof="0" dirty="0">
                <a:ln>
                  <a:noFill/>
                </a:ln>
                <a:solidFill>
                  <a:sysClr val="windowText" lastClr="000000"/>
                </a:solidFill>
                <a:effectLst/>
                <a:uLnTx/>
                <a:uFillTx/>
                <a:latin typeface="+mj-lt"/>
              </a:rPr>
              <a:t>T</a:t>
            </a:r>
            <a:r>
              <a:rPr kumimoji="0" lang="en-US" sz="1800" b="0" i="0" u="none" strike="noStrike" kern="0" cap="none" spc="0" normalizeH="0" baseline="0" noProof="0" dirty="0">
                <a:ln>
                  <a:noFill/>
                </a:ln>
                <a:solidFill>
                  <a:sysClr val="windowText" lastClr="000000"/>
                </a:solidFill>
                <a:effectLst/>
                <a:uLnTx/>
                <a:uFillTx/>
                <a:latin typeface="+mj-lt"/>
              </a:rPr>
              <a:t> that is connected to u ∗ by a shorter edge than the u’s current distance label, update its labels by u ∗ and the weight of the edge between u  ∗ and u, respectively.</a:t>
            </a:r>
          </a:p>
        </p:txBody>
      </p:sp>
    </p:spTree>
    <p:extLst>
      <p:ext uri="{BB962C8B-B14F-4D97-AF65-F5344CB8AC3E}">
        <p14:creationId xmlns:p14="http://schemas.microsoft.com/office/powerpoint/2010/main" val="95086613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2C1F5627-7ECD-51AA-37F6-25B499987FDB}"/>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DA8247E0-F81E-4A4F-244D-83B8774EB66B}"/>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Greedy Technique</a:t>
            </a:r>
          </a:p>
        </p:txBody>
      </p:sp>
      <p:sp>
        <p:nvSpPr>
          <p:cNvPr id="369" name="Google Shape;369;p42">
            <a:extLst>
              <a:ext uri="{FF2B5EF4-FFF2-40B4-BE49-F238E27FC236}">
                <a16:creationId xmlns:a16="http://schemas.microsoft.com/office/drawing/2014/main" id="{27BD68BB-84AC-1B66-061F-2C7C9D14FC61}"/>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71</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B262286E-4A56-A38D-9053-F5080BA34EED}"/>
              </a:ext>
            </a:extLst>
          </p:cNvPr>
          <p:cNvSpPr txBox="1"/>
          <p:nvPr/>
        </p:nvSpPr>
        <p:spPr>
          <a:xfrm>
            <a:off x="154290" y="1010452"/>
            <a:ext cx="8761110" cy="923289"/>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IN" sz="1800" b="1" i="0" u="none" strike="noStrike" kern="0" cap="none" spc="0" normalizeH="0" baseline="0" noProof="0" dirty="0">
                <a:ln>
                  <a:noFill/>
                </a:ln>
                <a:solidFill>
                  <a:sysClr val="windowText" lastClr="000000"/>
                </a:solidFill>
                <a:effectLst/>
                <a:uLnTx/>
                <a:uFillTx/>
                <a:latin typeface="+mj-lt"/>
              </a:rPr>
              <a:t>Prim’s Algorithm</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latin typeface="+mj-lt"/>
              </a:rPr>
              <a:t>Figure 9.3 demonstrates the application of Prim’s algorithm to a specific graph.</a:t>
            </a:r>
            <a:endParaRPr kumimoji="0" lang="en-IN" sz="1800" b="0" i="0" u="none" strike="noStrike" kern="0" cap="none" spc="0" normalizeH="0" baseline="0" noProof="0" dirty="0">
              <a:ln>
                <a:noFill/>
              </a:ln>
              <a:solidFill>
                <a:sysClr val="windowText" lastClr="000000"/>
              </a:solidFill>
              <a:effectLst/>
              <a:uLnTx/>
              <a:uFillTx/>
              <a:latin typeface="+mj-lt"/>
            </a:endParaRPr>
          </a:p>
        </p:txBody>
      </p:sp>
      <p:pic>
        <p:nvPicPr>
          <p:cNvPr id="6" name="Picture 5">
            <a:extLst>
              <a:ext uri="{FF2B5EF4-FFF2-40B4-BE49-F238E27FC236}">
                <a16:creationId xmlns:a16="http://schemas.microsoft.com/office/drawing/2014/main" id="{C0203E06-1017-EF3A-CC56-DC05ED485694}"/>
              </a:ext>
            </a:extLst>
          </p:cNvPr>
          <p:cNvPicPr>
            <a:picLocks noChangeAspect="1"/>
          </p:cNvPicPr>
          <p:nvPr/>
        </p:nvPicPr>
        <p:blipFill>
          <a:blip r:embed="rId3"/>
          <a:stretch>
            <a:fillRect/>
          </a:stretch>
        </p:blipFill>
        <p:spPr>
          <a:xfrm>
            <a:off x="1657120" y="2013304"/>
            <a:ext cx="5259874" cy="2846713"/>
          </a:xfrm>
          <a:prstGeom prst="rect">
            <a:avLst/>
          </a:prstGeom>
        </p:spPr>
      </p:pic>
    </p:spTree>
    <p:extLst>
      <p:ext uri="{BB962C8B-B14F-4D97-AF65-F5344CB8AC3E}">
        <p14:creationId xmlns:p14="http://schemas.microsoft.com/office/powerpoint/2010/main" val="269469801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9A371B26-5809-2AD2-8A19-B1D7E9D823C6}"/>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70A4D43A-6171-CF98-6A34-ED29347B0EED}"/>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Greedy Technique</a:t>
            </a:r>
          </a:p>
        </p:txBody>
      </p:sp>
      <p:sp>
        <p:nvSpPr>
          <p:cNvPr id="369" name="Google Shape;369;p42">
            <a:extLst>
              <a:ext uri="{FF2B5EF4-FFF2-40B4-BE49-F238E27FC236}">
                <a16:creationId xmlns:a16="http://schemas.microsoft.com/office/drawing/2014/main" id="{0CD996DD-4FA8-81AB-7FA3-FADC027006F4}"/>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72</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B9072576-AB23-FC83-EFCE-F6A407927559}"/>
              </a:ext>
            </a:extLst>
          </p:cNvPr>
          <p:cNvSpPr txBox="1"/>
          <p:nvPr/>
        </p:nvSpPr>
        <p:spPr>
          <a:xfrm>
            <a:off x="154290" y="1010452"/>
            <a:ext cx="8761110" cy="507791"/>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IN" sz="1800" b="1" i="0" u="none" strike="noStrike" kern="0" cap="none" spc="0" normalizeH="0" baseline="0" noProof="0" dirty="0">
                <a:ln>
                  <a:noFill/>
                </a:ln>
                <a:solidFill>
                  <a:sysClr val="windowText" lastClr="000000"/>
                </a:solidFill>
                <a:effectLst/>
                <a:uLnTx/>
                <a:uFillTx/>
                <a:latin typeface="+mj-lt"/>
              </a:rPr>
              <a:t>Prim’s Algorithm</a:t>
            </a:r>
          </a:p>
        </p:txBody>
      </p:sp>
      <p:pic>
        <p:nvPicPr>
          <p:cNvPr id="7" name="Picture 6">
            <a:extLst>
              <a:ext uri="{FF2B5EF4-FFF2-40B4-BE49-F238E27FC236}">
                <a16:creationId xmlns:a16="http://schemas.microsoft.com/office/drawing/2014/main" id="{F6E9487C-513A-07D4-1622-4C1AC15990BE}"/>
              </a:ext>
            </a:extLst>
          </p:cNvPr>
          <p:cNvPicPr>
            <a:picLocks noChangeAspect="1"/>
          </p:cNvPicPr>
          <p:nvPr/>
        </p:nvPicPr>
        <p:blipFill>
          <a:blip r:embed="rId3"/>
          <a:stretch>
            <a:fillRect/>
          </a:stretch>
        </p:blipFill>
        <p:spPr>
          <a:xfrm>
            <a:off x="2401411" y="1264347"/>
            <a:ext cx="5083395" cy="3665144"/>
          </a:xfrm>
          <a:prstGeom prst="rect">
            <a:avLst/>
          </a:prstGeom>
        </p:spPr>
      </p:pic>
    </p:spTree>
    <p:extLst>
      <p:ext uri="{BB962C8B-B14F-4D97-AF65-F5344CB8AC3E}">
        <p14:creationId xmlns:p14="http://schemas.microsoft.com/office/powerpoint/2010/main" val="96879638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2A618DF0-3EF4-7BB4-693D-7A600E8ED9C8}"/>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C0A0E902-29DD-DBE1-29AB-ED478D71E4FD}"/>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Greedy Technique</a:t>
            </a:r>
          </a:p>
        </p:txBody>
      </p:sp>
      <p:sp>
        <p:nvSpPr>
          <p:cNvPr id="369" name="Google Shape;369;p42">
            <a:extLst>
              <a:ext uri="{FF2B5EF4-FFF2-40B4-BE49-F238E27FC236}">
                <a16:creationId xmlns:a16="http://schemas.microsoft.com/office/drawing/2014/main" id="{E2B782B4-B686-D7E1-8922-F14FA597847D}"/>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73</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DB46D150-941E-DCE9-F016-622A24D704BD}"/>
              </a:ext>
            </a:extLst>
          </p:cNvPr>
          <p:cNvSpPr txBox="1"/>
          <p:nvPr/>
        </p:nvSpPr>
        <p:spPr>
          <a:xfrm>
            <a:off x="154290" y="1010452"/>
            <a:ext cx="8761110" cy="3831778"/>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IN" sz="1800" b="1" i="0" u="none" strike="noStrike" kern="0" cap="none" spc="0" normalizeH="0" baseline="0" noProof="0" dirty="0">
                <a:ln>
                  <a:noFill/>
                </a:ln>
                <a:solidFill>
                  <a:sysClr val="windowText" lastClr="000000"/>
                </a:solidFill>
                <a:effectLst/>
                <a:uLnTx/>
                <a:uFillTx/>
                <a:latin typeface="+mj-lt"/>
              </a:rPr>
              <a:t>Prim’s Algorithm</a:t>
            </a:r>
          </a:p>
          <a:p>
            <a:pPr marL="0" marR="0" lvl="0" indent="0" algn="just" defTabSz="914400" eaLnBrk="1" fontAlgn="auto" latinLnBrk="0" hangingPunct="1">
              <a:lnSpc>
                <a:spcPct val="150000"/>
              </a:lnSpc>
              <a:spcBef>
                <a:spcPts val="0"/>
              </a:spcBef>
              <a:spcAft>
                <a:spcPts val="0"/>
              </a:spcAft>
              <a:buClrTx/>
              <a:buSzPts val="1800"/>
              <a:buFontTx/>
              <a:buNone/>
              <a:tabLst/>
              <a:defRPr/>
            </a:pPr>
            <a:endParaRPr kumimoji="0" lang="en-IN" sz="1800" b="1" i="0" u="none" strike="noStrike" kern="0" cap="none" spc="0" normalizeH="0" baseline="0" noProof="0" dirty="0">
              <a:ln>
                <a:noFill/>
              </a:ln>
              <a:solidFill>
                <a:sysClr val="windowText" lastClr="000000"/>
              </a:solidFill>
              <a:effectLst/>
              <a:uLnTx/>
              <a:uFillTx/>
              <a:latin typeface="+mj-lt"/>
            </a:endParaRPr>
          </a:p>
          <a:p>
            <a:pPr marL="0" marR="0" lvl="0" indent="0" algn="just" defTabSz="914400" eaLnBrk="1" fontAlgn="auto" latinLnBrk="0" hangingPunct="1">
              <a:lnSpc>
                <a:spcPct val="150000"/>
              </a:lnSpc>
              <a:spcBef>
                <a:spcPts val="0"/>
              </a:spcBef>
              <a:spcAft>
                <a:spcPts val="0"/>
              </a:spcAft>
              <a:buClrTx/>
              <a:buSzPts val="1800"/>
              <a:buFontTx/>
              <a:buNone/>
              <a:tabLst/>
              <a:defRPr/>
            </a:pPr>
            <a:endParaRPr kumimoji="0" lang="en-IN" sz="1800" b="1" i="0" u="none" strike="noStrike" kern="0" cap="none" spc="0" normalizeH="0" baseline="0" noProof="0" dirty="0">
              <a:ln>
                <a:noFill/>
              </a:ln>
              <a:solidFill>
                <a:sysClr val="windowText" lastClr="000000"/>
              </a:solidFill>
              <a:effectLst/>
              <a:uLnTx/>
              <a:uFillTx/>
              <a:latin typeface="+mj-lt"/>
            </a:endParaRPr>
          </a:p>
          <a:p>
            <a:pPr marL="0" marR="0" lvl="0" indent="0" algn="just" defTabSz="914400" eaLnBrk="1" fontAlgn="auto" latinLnBrk="0" hangingPunct="1">
              <a:lnSpc>
                <a:spcPct val="150000"/>
              </a:lnSpc>
              <a:spcBef>
                <a:spcPts val="0"/>
              </a:spcBef>
              <a:spcAft>
                <a:spcPts val="0"/>
              </a:spcAft>
              <a:buClrTx/>
              <a:buSzPts val="1800"/>
              <a:buFontTx/>
              <a:buNone/>
              <a:tabLst/>
              <a:defRPr/>
            </a:pPr>
            <a:endParaRPr kumimoji="0" lang="en-IN" sz="1800" b="1" i="0" u="none" strike="noStrike" kern="0" cap="none" spc="0" normalizeH="0" baseline="0" noProof="0" dirty="0">
              <a:ln>
                <a:noFill/>
              </a:ln>
              <a:solidFill>
                <a:sysClr val="windowText" lastClr="000000"/>
              </a:solidFill>
              <a:effectLst/>
              <a:uLnTx/>
              <a:uFillTx/>
              <a:latin typeface="+mj-lt"/>
            </a:endParaRPr>
          </a:p>
          <a:p>
            <a:pPr marL="0" marR="0" lvl="0" indent="0" algn="just" defTabSz="914400" eaLnBrk="1" fontAlgn="auto" latinLnBrk="0" hangingPunct="1">
              <a:lnSpc>
                <a:spcPct val="150000"/>
              </a:lnSpc>
              <a:spcBef>
                <a:spcPts val="0"/>
              </a:spcBef>
              <a:spcAft>
                <a:spcPts val="0"/>
              </a:spcAft>
              <a:buClrTx/>
              <a:buSzPts val="1800"/>
              <a:buFontTx/>
              <a:buNone/>
              <a:tabLst/>
              <a:defRPr/>
            </a:pPr>
            <a:endParaRPr kumimoji="0" lang="en-IN" sz="1800" b="1" i="0" u="none" strike="noStrike" kern="0" cap="none" spc="0" normalizeH="0" baseline="0" noProof="0" dirty="0">
              <a:ln>
                <a:noFill/>
              </a:ln>
              <a:solidFill>
                <a:sysClr val="windowText" lastClr="000000"/>
              </a:solidFill>
              <a:effectLst/>
              <a:uLnTx/>
              <a:uFillTx/>
              <a:latin typeface="+mj-lt"/>
            </a:endParaRPr>
          </a:p>
          <a:p>
            <a:pPr marL="0" marR="0" lvl="0" indent="0" algn="just" defTabSz="914400" eaLnBrk="1" fontAlgn="auto" latinLnBrk="0" hangingPunct="1">
              <a:lnSpc>
                <a:spcPct val="150000"/>
              </a:lnSpc>
              <a:spcBef>
                <a:spcPts val="0"/>
              </a:spcBef>
              <a:spcAft>
                <a:spcPts val="0"/>
              </a:spcAft>
              <a:buClrTx/>
              <a:buSzPts val="1800"/>
              <a:buFontTx/>
              <a:buNone/>
              <a:tabLst/>
              <a:defRPr/>
            </a:pPr>
            <a:endParaRPr kumimoji="0" lang="en-IN" sz="1800" b="1" i="0" u="none" strike="noStrike" kern="0" cap="none" spc="0" normalizeH="0" baseline="0" noProof="0" dirty="0">
              <a:ln>
                <a:noFill/>
              </a:ln>
              <a:solidFill>
                <a:sysClr val="windowText" lastClr="000000"/>
              </a:solidFill>
              <a:effectLst/>
              <a:uLnTx/>
              <a:uFillTx/>
              <a:latin typeface="+mj-lt"/>
            </a:endParaRP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1" i="0" u="none" strike="noStrike" kern="0" cap="none" spc="0" normalizeH="0" baseline="0" noProof="0" dirty="0">
                <a:ln>
                  <a:noFill/>
                </a:ln>
                <a:solidFill>
                  <a:sysClr val="windowText" lastClr="000000"/>
                </a:solidFill>
                <a:effectLst/>
                <a:uLnTx/>
                <a:uFillTx/>
                <a:latin typeface="+mj-lt"/>
              </a:rPr>
              <a:t>How efficient is Prim’s algorithm? </a:t>
            </a:r>
            <a:r>
              <a:rPr kumimoji="0" lang="en-US" sz="1800" b="0" i="0" u="none" strike="noStrike" kern="0" cap="none" spc="0" normalizeH="0" baseline="0" noProof="0" dirty="0">
                <a:ln>
                  <a:noFill/>
                </a:ln>
                <a:solidFill>
                  <a:sysClr val="windowText" lastClr="000000"/>
                </a:solidFill>
                <a:effectLst/>
                <a:uLnTx/>
                <a:uFillTx/>
                <a:latin typeface="+mj-lt"/>
              </a:rPr>
              <a:t>The answer depends on the data structures chosen for the graph itself and for the priority queue of the set V − V</a:t>
            </a:r>
            <a:r>
              <a:rPr kumimoji="0" lang="en-US" sz="1800" b="0" i="0" u="none" strike="noStrike" kern="0" cap="none" spc="0" normalizeH="0" baseline="-25000" noProof="0" dirty="0">
                <a:ln>
                  <a:noFill/>
                </a:ln>
                <a:solidFill>
                  <a:sysClr val="windowText" lastClr="000000"/>
                </a:solidFill>
                <a:effectLst/>
                <a:uLnTx/>
                <a:uFillTx/>
                <a:latin typeface="+mj-lt"/>
              </a:rPr>
              <a:t>T</a:t>
            </a:r>
            <a:r>
              <a:rPr kumimoji="0" lang="en-US" sz="1800" b="0" i="0" u="none" strike="noStrike" kern="0" cap="none" spc="0" normalizeH="0" baseline="0" noProof="0" dirty="0">
                <a:ln>
                  <a:noFill/>
                </a:ln>
                <a:solidFill>
                  <a:sysClr val="windowText" lastClr="000000"/>
                </a:solidFill>
                <a:effectLst/>
                <a:uLnTx/>
                <a:uFillTx/>
                <a:latin typeface="+mj-lt"/>
              </a:rPr>
              <a:t> whose vertex priorities are the distances to the nearest tree vertices. </a:t>
            </a:r>
            <a:endParaRPr kumimoji="0" lang="en-IN" sz="1800" b="0" i="0" u="none" strike="noStrike" kern="0" cap="none" spc="0" normalizeH="0" baseline="0" noProof="0" dirty="0">
              <a:ln>
                <a:noFill/>
              </a:ln>
              <a:solidFill>
                <a:sysClr val="windowText" lastClr="000000"/>
              </a:solidFill>
              <a:effectLst/>
              <a:uLnTx/>
              <a:uFillTx/>
              <a:latin typeface="+mj-lt"/>
            </a:endParaRPr>
          </a:p>
        </p:txBody>
      </p:sp>
      <p:pic>
        <p:nvPicPr>
          <p:cNvPr id="3" name="Picture 2">
            <a:extLst>
              <a:ext uri="{FF2B5EF4-FFF2-40B4-BE49-F238E27FC236}">
                <a16:creationId xmlns:a16="http://schemas.microsoft.com/office/drawing/2014/main" id="{D68B210D-269B-53C3-6852-F2BCF1E3B5D5}"/>
              </a:ext>
            </a:extLst>
          </p:cNvPr>
          <p:cNvPicPr>
            <a:picLocks noChangeAspect="1"/>
          </p:cNvPicPr>
          <p:nvPr/>
        </p:nvPicPr>
        <p:blipFill>
          <a:blip r:embed="rId3"/>
          <a:stretch>
            <a:fillRect/>
          </a:stretch>
        </p:blipFill>
        <p:spPr>
          <a:xfrm>
            <a:off x="2393893" y="1239526"/>
            <a:ext cx="5166808" cy="2110923"/>
          </a:xfrm>
          <a:prstGeom prst="rect">
            <a:avLst/>
          </a:prstGeom>
        </p:spPr>
      </p:pic>
    </p:spTree>
    <p:extLst>
      <p:ext uri="{BB962C8B-B14F-4D97-AF65-F5344CB8AC3E}">
        <p14:creationId xmlns:p14="http://schemas.microsoft.com/office/powerpoint/2010/main" val="264981456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C86590B9-A3E7-4F99-B918-C63737A94816}"/>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682CA459-8691-DA52-36E5-E555578B1A1E}"/>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Greedy Technique</a:t>
            </a:r>
          </a:p>
        </p:txBody>
      </p:sp>
      <p:sp>
        <p:nvSpPr>
          <p:cNvPr id="369" name="Google Shape;369;p42">
            <a:extLst>
              <a:ext uri="{FF2B5EF4-FFF2-40B4-BE49-F238E27FC236}">
                <a16:creationId xmlns:a16="http://schemas.microsoft.com/office/drawing/2014/main" id="{D138493F-376F-448A-E1D4-DB42B80F7F1D}"/>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74</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6B96BFB1-2FE5-BB09-D768-7EA489E86D6C}"/>
              </a:ext>
            </a:extLst>
          </p:cNvPr>
          <p:cNvSpPr txBox="1"/>
          <p:nvPr/>
        </p:nvSpPr>
        <p:spPr>
          <a:xfrm>
            <a:off x="154290" y="1010452"/>
            <a:ext cx="8761110" cy="3831778"/>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IN" sz="1800" b="1" i="0" u="none" strike="noStrike" kern="0" cap="none" spc="0" normalizeH="0" baseline="0" noProof="0" dirty="0">
                <a:ln>
                  <a:noFill/>
                </a:ln>
                <a:solidFill>
                  <a:sysClr val="windowText" lastClr="000000"/>
                </a:solidFill>
                <a:effectLst/>
                <a:uLnTx/>
                <a:uFillTx/>
                <a:latin typeface="+mj-lt"/>
              </a:rPr>
              <a:t>Prim’s Algorithm</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latin typeface="+mj-lt"/>
              </a:rPr>
              <a:t>In particular, if a graph is represented by its weight matrix and the priority queue is implemented as an unordered array, the algorithm’s running time will be in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latin typeface="+mj-lt"/>
              </a:rPr>
              <a:t>Indeed, on each of the |V| − 1 iterations, the array implementing the priority queue is traversed to find and delete the minimum and then to update, if necessary, the priorities of the remaining  vertices.</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latin typeface="+mj-lt"/>
              </a:rPr>
              <a:t>We can also implement </a:t>
            </a:r>
            <a:r>
              <a:rPr kumimoji="0" lang="en-US" sz="1800" b="1" i="0" u="none" strike="noStrike" kern="0" cap="none" spc="0" normalizeH="0" baseline="0" noProof="0" dirty="0">
                <a:ln>
                  <a:noFill/>
                </a:ln>
                <a:solidFill>
                  <a:sysClr val="windowText" lastClr="000000"/>
                </a:solidFill>
                <a:effectLst/>
                <a:uLnTx/>
                <a:uFillTx/>
                <a:latin typeface="+mj-lt"/>
              </a:rPr>
              <a:t>the priority queue as a min-heap</a:t>
            </a:r>
            <a:r>
              <a:rPr kumimoji="0" lang="en-US" sz="1800" b="0" i="0" u="none" strike="noStrike" kern="0" cap="none" spc="0" normalizeH="0" baseline="0" noProof="0" dirty="0">
                <a:ln>
                  <a:noFill/>
                </a:ln>
                <a:solidFill>
                  <a:sysClr val="windowText" lastClr="000000"/>
                </a:solidFill>
                <a:effectLst/>
                <a:uLnTx/>
                <a:uFillTx/>
                <a:latin typeface="+mj-lt"/>
              </a:rPr>
              <a:t>.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latin typeface="+mj-lt"/>
              </a:rPr>
              <a:t>Namely, a min-heap is a complete binary tree in which every element is less than or equal to its children. </a:t>
            </a:r>
            <a:endParaRPr kumimoji="0" lang="en-IN" sz="1800" b="0" i="0" u="none" strike="noStrike" kern="0" cap="none" spc="0" normalizeH="0" baseline="0" noProof="0" dirty="0">
              <a:ln>
                <a:noFill/>
              </a:ln>
              <a:solidFill>
                <a:sysClr val="windowText" lastClr="000000"/>
              </a:solidFill>
              <a:effectLst/>
              <a:uLnTx/>
              <a:uFillTx/>
              <a:latin typeface="+mj-lt"/>
            </a:endParaRPr>
          </a:p>
        </p:txBody>
      </p:sp>
      <p:pic>
        <p:nvPicPr>
          <p:cNvPr id="7" name="Picture 6">
            <a:extLst>
              <a:ext uri="{FF2B5EF4-FFF2-40B4-BE49-F238E27FC236}">
                <a16:creationId xmlns:a16="http://schemas.microsoft.com/office/drawing/2014/main" id="{B041ED27-AAB7-F05A-B2D8-A369B863BF59}"/>
              </a:ext>
            </a:extLst>
          </p:cNvPr>
          <p:cNvPicPr>
            <a:picLocks noChangeAspect="1"/>
          </p:cNvPicPr>
          <p:nvPr/>
        </p:nvPicPr>
        <p:blipFill>
          <a:blip r:embed="rId3"/>
          <a:stretch>
            <a:fillRect/>
          </a:stretch>
        </p:blipFill>
        <p:spPr>
          <a:xfrm>
            <a:off x="8244316" y="2020698"/>
            <a:ext cx="723963" cy="205758"/>
          </a:xfrm>
          <a:prstGeom prst="rect">
            <a:avLst/>
          </a:prstGeom>
        </p:spPr>
      </p:pic>
    </p:spTree>
    <p:extLst>
      <p:ext uri="{BB962C8B-B14F-4D97-AF65-F5344CB8AC3E}">
        <p14:creationId xmlns:p14="http://schemas.microsoft.com/office/powerpoint/2010/main" val="180886310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808A698B-6A7A-5002-A272-FAE16D3707F4}"/>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50BF90AD-3206-541E-AB44-7DEAAA7FC73E}"/>
              </a:ext>
            </a:extLst>
          </p:cNvPr>
          <p:cNvSpPr txBox="1"/>
          <p:nvPr/>
        </p:nvSpPr>
        <p:spPr>
          <a:xfrm>
            <a:off x="154290" y="487272"/>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Greedy Technique</a:t>
            </a:r>
          </a:p>
        </p:txBody>
      </p:sp>
      <p:sp>
        <p:nvSpPr>
          <p:cNvPr id="369" name="Google Shape;369;p42">
            <a:extLst>
              <a:ext uri="{FF2B5EF4-FFF2-40B4-BE49-F238E27FC236}">
                <a16:creationId xmlns:a16="http://schemas.microsoft.com/office/drawing/2014/main" id="{565CCC2A-4414-B411-9AC7-475E3840B84C}"/>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75</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DA543B2B-038F-AE33-2ED9-FA545FFE05EF}"/>
              </a:ext>
            </a:extLst>
          </p:cNvPr>
          <p:cNvSpPr txBox="1"/>
          <p:nvPr/>
        </p:nvSpPr>
        <p:spPr>
          <a:xfrm>
            <a:off x="191445" y="809728"/>
            <a:ext cx="8761110" cy="4247276"/>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IN" sz="1800" b="1" i="0" u="none" strike="noStrike" kern="0" cap="none" spc="0" normalizeH="0" baseline="0" noProof="0" dirty="0">
                <a:ln>
                  <a:noFill/>
                </a:ln>
                <a:solidFill>
                  <a:sysClr val="windowText" lastClr="000000"/>
                </a:solidFill>
                <a:effectLst/>
                <a:uLnTx/>
                <a:uFillTx/>
                <a:latin typeface="+mj-lt"/>
              </a:rPr>
              <a:t>Prim’s Algorithm</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latin typeface="+mj-lt"/>
              </a:rPr>
              <a:t>All the principal properties of heaps remain valid for min-heaps, with some obvious modifications.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latin typeface="+mj-lt"/>
              </a:rPr>
              <a:t>For example, the root of a min-heap contains the smallest rather than the largest element.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latin typeface="+mj-lt"/>
              </a:rPr>
              <a:t>Deletion of the smallest element from and insertion of a new element into a min-heap of size n are O(log n) operations, and so is the operation of changing an element’s priority.</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latin typeface="+mj-lt"/>
              </a:rPr>
              <a:t>If a graph is represented by its adjacency lists and the priority queue is implemented as a min-heap, the running time of the algorithm is in O(|E| log |V |). </a:t>
            </a:r>
            <a:endParaRPr kumimoji="0" lang="en-IN" sz="1800" b="0" i="0" u="none" strike="noStrike" kern="0" cap="none" spc="0" normalizeH="0" baseline="0" noProof="0" dirty="0">
              <a:ln>
                <a:noFill/>
              </a:ln>
              <a:solidFill>
                <a:sysClr val="windowText" lastClr="000000"/>
              </a:solidFill>
              <a:effectLst/>
              <a:uLnTx/>
              <a:uFillTx/>
              <a:latin typeface="+mj-lt"/>
            </a:endParaRPr>
          </a:p>
        </p:txBody>
      </p:sp>
    </p:spTree>
    <p:extLst>
      <p:ext uri="{BB962C8B-B14F-4D97-AF65-F5344CB8AC3E}">
        <p14:creationId xmlns:p14="http://schemas.microsoft.com/office/powerpoint/2010/main" val="82177539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573C4035-9F85-5CE5-3C21-EE4C17B25E32}"/>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9B12E1B5-55A8-BE64-293F-60107F506B44}"/>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Greedy Technique</a:t>
            </a:r>
          </a:p>
        </p:txBody>
      </p:sp>
      <p:sp>
        <p:nvSpPr>
          <p:cNvPr id="369" name="Google Shape;369;p42">
            <a:extLst>
              <a:ext uri="{FF2B5EF4-FFF2-40B4-BE49-F238E27FC236}">
                <a16:creationId xmlns:a16="http://schemas.microsoft.com/office/drawing/2014/main" id="{F14695F1-7101-E27D-08B3-0ADE490D8A91}"/>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76</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E8CDAF38-3C54-1238-624C-852A8EFC28F4}"/>
              </a:ext>
            </a:extLst>
          </p:cNvPr>
          <p:cNvSpPr txBox="1"/>
          <p:nvPr/>
        </p:nvSpPr>
        <p:spPr>
          <a:xfrm>
            <a:off x="154290" y="1010452"/>
            <a:ext cx="8761110" cy="3416279"/>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IN" sz="1800" b="1" i="0" u="none" strike="noStrike" kern="0" cap="none" spc="0" normalizeH="0" baseline="0" noProof="0" dirty="0">
                <a:ln>
                  <a:noFill/>
                </a:ln>
                <a:solidFill>
                  <a:sysClr val="windowText" lastClr="000000"/>
                </a:solidFill>
                <a:effectLst/>
                <a:uLnTx/>
                <a:uFillTx/>
                <a:latin typeface="+mj-lt"/>
              </a:rPr>
              <a:t>Prim’s Algorithm</a:t>
            </a:r>
            <a:r>
              <a:rPr kumimoji="0" lang="en-US" sz="1800" b="0" i="0" u="none" strike="noStrike" kern="0" cap="none" spc="0" normalizeH="0" baseline="0" noProof="0" dirty="0">
                <a:ln>
                  <a:noFill/>
                </a:ln>
                <a:solidFill>
                  <a:sysClr val="windowText" lastClr="000000"/>
                </a:solidFill>
                <a:effectLst/>
                <a:uLnTx/>
                <a:uFillTx/>
                <a:latin typeface="+mj-lt"/>
              </a:rPr>
              <a:t>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latin typeface="+mj-lt"/>
              </a:rPr>
              <a:t>This is because the algorithm performs |V| − 1 deletions of the smallest element and makes |E| verifications and, possibly, changes of an element’s priority in a min-heap of size not exceeding |V |.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latin typeface="+mj-lt"/>
              </a:rPr>
              <a:t>Each of these operations, as noted earlier, is a O(log |V |) operation.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latin typeface="+mj-lt"/>
              </a:rPr>
              <a:t>Hence, the running time of this implementation of Prim’s algorithm is in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endParaRPr kumimoji="0" lang="en-US" sz="1800" b="0" i="0" u="none" strike="noStrike" kern="0" cap="none" spc="0" normalizeH="0" baseline="0" noProof="0" dirty="0">
              <a:ln>
                <a:noFill/>
              </a:ln>
              <a:solidFill>
                <a:sysClr val="windowText" lastClr="000000"/>
              </a:solidFill>
              <a:effectLst/>
              <a:uLnTx/>
              <a:uFillTx/>
              <a:latin typeface="+mj-lt"/>
            </a:endParaRPr>
          </a:p>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US" sz="1800" b="0" i="0" u="none" strike="noStrike" kern="0" cap="none" spc="0" normalizeH="0" baseline="0" noProof="0" dirty="0">
                <a:ln>
                  <a:noFill/>
                </a:ln>
                <a:solidFill>
                  <a:sysClr val="windowText" lastClr="000000"/>
                </a:solidFill>
                <a:effectLst/>
                <a:uLnTx/>
                <a:uFillTx/>
                <a:latin typeface="+mj-lt"/>
              </a:rPr>
              <a:t>     because, in a connected graph, |V| − 1≤ |E|.</a:t>
            </a:r>
            <a:endParaRPr kumimoji="0" lang="en-IN" sz="1800" b="1" i="0" u="none" strike="noStrike" kern="0" cap="none" spc="0" normalizeH="0" baseline="0" noProof="0" dirty="0">
              <a:ln>
                <a:noFill/>
              </a:ln>
              <a:solidFill>
                <a:sysClr val="windowText" lastClr="000000"/>
              </a:solidFill>
              <a:effectLst/>
              <a:uLnTx/>
              <a:uFillTx/>
              <a:latin typeface="+mj-lt"/>
            </a:endParaRPr>
          </a:p>
        </p:txBody>
      </p:sp>
      <p:pic>
        <p:nvPicPr>
          <p:cNvPr id="3" name="Picture 2">
            <a:extLst>
              <a:ext uri="{FF2B5EF4-FFF2-40B4-BE49-F238E27FC236}">
                <a16:creationId xmlns:a16="http://schemas.microsoft.com/office/drawing/2014/main" id="{F3C1A2CC-A2AB-93AD-AC15-999F1C7CCD9B}"/>
              </a:ext>
            </a:extLst>
          </p:cNvPr>
          <p:cNvPicPr>
            <a:picLocks noChangeAspect="1"/>
          </p:cNvPicPr>
          <p:nvPr/>
        </p:nvPicPr>
        <p:blipFill>
          <a:blip r:embed="rId3"/>
          <a:stretch>
            <a:fillRect/>
          </a:stretch>
        </p:blipFill>
        <p:spPr>
          <a:xfrm>
            <a:off x="2318698" y="3530904"/>
            <a:ext cx="4724471" cy="355295"/>
          </a:xfrm>
          <a:prstGeom prst="rect">
            <a:avLst/>
          </a:prstGeom>
        </p:spPr>
      </p:pic>
    </p:spTree>
    <p:extLst>
      <p:ext uri="{BB962C8B-B14F-4D97-AF65-F5344CB8AC3E}">
        <p14:creationId xmlns:p14="http://schemas.microsoft.com/office/powerpoint/2010/main" val="54126049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15BE1D94-7A97-C234-53BE-EB329DB9A6E3}"/>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BAE5103B-0041-D48A-F22E-04338C59629D}"/>
              </a:ext>
            </a:extLst>
          </p:cNvPr>
          <p:cNvSpPr txBox="1"/>
          <p:nvPr/>
        </p:nvSpPr>
        <p:spPr>
          <a:xfrm>
            <a:off x="185738" y="399820"/>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Greedy Technique</a:t>
            </a:r>
          </a:p>
        </p:txBody>
      </p:sp>
      <p:sp>
        <p:nvSpPr>
          <p:cNvPr id="369" name="Google Shape;369;p42">
            <a:extLst>
              <a:ext uri="{FF2B5EF4-FFF2-40B4-BE49-F238E27FC236}">
                <a16:creationId xmlns:a16="http://schemas.microsoft.com/office/drawing/2014/main" id="{9127D981-750F-894E-2178-117DEBEB4C59}"/>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77</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D1F2E71B-79FC-7037-4129-DBA08EB7CD93}"/>
              </a:ext>
            </a:extLst>
          </p:cNvPr>
          <p:cNvSpPr txBox="1"/>
          <p:nvPr/>
        </p:nvSpPr>
        <p:spPr>
          <a:xfrm>
            <a:off x="185738" y="789227"/>
            <a:ext cx="8761110" cy="4201110"/>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IN" sz="1800" b="1" i="0" u="none" strike="noStrike" kern="0" cap="none" spc="0" normalizeH="0" baseline="0" noProof="0" dirty="0">
                <a:ln>
                  <a:noFill/>
                </a:ln>
                <a:solidFill>
                  <a:sysClr val="windowText" lastClr="000000"/>
                </a:solidFill>
                <a:effectLst/>
                <a:uLnTx/>
                <a:uFillTx/>
                <a:latin typeface="+mj-lt"/>
              </a:rPr>
              <a:t>Kruskal’s Algorithm</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600" b="0" i="0" u="none" strike="noStrike" kern="0" cap="none" spc="0" normalizeH="0" baseline="0" noProof="0" dirty="0">
                <a:ln>
                  <a:noFill/>
                </a:ln>
                <a:solidFill>
                  <a:sysClr val="windowText" lastClr="000000"/>
                </a:solidFill>
                <a:effectLst/>
                <a:uLnTx/>
                <a:uFillTx/>
                <a:latin typeface="+mj-lt"/>
              </a:rPr>
              <a:t>Kruskal’s algorithm looks at a minimum spanning tree of a weighted connected graph G = V, E as an acyclic subgraph with |V| − 1 edges for which the sum of the edge weights is the smallest.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600" b="0" i="0" u="none" strike="noStrike" kern="0" cap="none" spc="0" normalizeH="0" baseline="0" noProof="0" dirty="0">
                <a:ln>
                  <a:noFill/>
                </a:ln>
                <a:solidFill>
                  <a:sysClr val="windowText" lastClr="000000"/>
                </a:solidFill>
                <a:effectLst/>
                <a:uLnTx/>
                <a:uFillTx/>
                <a:latin typeface="+mn-lt"/>
              </a:rPr>
              <a:t>Consequently, the algorithm constructs a minimum spanning tree as an expanding sequence of subgraphs that are always acyclic but are not necessarily connected on the intermediate stages of the algorithm.</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600" b="0" i="0" u="none" strike="noStrike" kern="0" cap="none" spc="0" normalizeH="0" baseline="0" noProof="0" dirty="0">
                <a:ln>
                  <a:noFill/>
                </a:ln>
                <a:solidFill>
                  <a:sysClr val="windowText" lastClr="000000"/>
                </a:solidFill>
                <a:effectLst/>
                <a:uLnTx/>
                <a:uFillTx/>
                <a:latin typeface="+mn-lt"/>
              </a:rPr>
              <a:t>The algorithm begins by sorting the graph’s edges in nondecreasing order of their weights.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600" b="0" i="0" u="none" strike="noStrike" kern="0" cap="none" spc="0" normalizeH="0" baseline="0" noProof="0" dirty="0">
                <a:ln>
                  <a:noFill/>
                </a:ln>
                <a:solidFill>
                  <a:sysClr val="windowText" lastClr="000000"/>
                </a:solidFill>
                <a:effectLst/>
                <a:uLnTx/>
                <a:uFillTx/>
                <a:latin typeface="+mn-lt"/>
              </a:rPr>
              <a:t>Then, starting with the empty subgraph, it scans this sorted list, adding the next edge on the list to the current subgraph if such an inclusion does not create a cycle and simply skipping the edge otherwise.</a:t>
            </a:r>
            <a:endParaRPr kumimoji="0" lang="en-IN" sz="1600" b="0" i="0" u="none" strike="noStrike" kern="0" cap="none" spc="0" normalizeH="0" baseline="0" noProof="0" dirty="0">
              <a:ln>
                <a:noFill/>
              </a:ln>
              <a:solidFill>
                <a:sysClr val="windowText" lastClr="000000"/>
              </a:solidFill>
              <a:effectLst/>
              <a:uLnTx/>
              <a:uFillTx/>
              <a:latin typeface="+mn-lt"/>
            </a:endParaRPr>
          </a:p>
        </p:txBody>
      </p:sp>
    </p:spTree>
    <p:extLst>
      <p:ext uri="{BB962C8B-B14F-4D97-AF65-F5344CB8AC3E}">
        <p14:creationId xmlns:p14="http://schemas.microsoft.com/office/powerpoint/2010/main" val="168644858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FB8253FC-3B69-0B6B-BE40-2BC7D4BFB0DA}"/>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364A250E-ED69-D5E6-11E8-3495F01A3128}"/>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Greedy Technique</a:t>
            </a:r>
          </a:p>
        </p:txBody>
      </p:sp>
      <p:sp>
        <p:nvSpPr>
          <p:cNvPr id="369" name="Google Shape;369;p42">
            <a:extLst>
              <a:ext uri="{FF2B5EF4-FFF2-40B4-BE49-F238E27FC236}">
                <a16:creationId xmlns:a16="http://schemas.microsoft.com/office/drawing/2014/main" id="{F4D8B59D-64EB-C966-0BDE-AAE3239607A2}"/>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78</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B13C4F3B-788B-4103-0998-CA901100184E}"/>
              </a:ext>
            </a:extLst>
          </p:cNvPr>
          <p:cNvSpPr txBox="1"/>
          <p:nvPr/>
        </p:nvSpPr>
        <p:spPr>
          <a:xfrm>
            <a:off x="154290" y="1010452"/>
            <a:ext cx="8761110" cy="507791"/>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IN" sz="1800" b="1" i="0" u="none" strike="noStrike" kern="0" cap="none" spc="0" normalizeH="0" baseline="0" noProof="0" dirty="0">
                <a:ln>
                  <a:noFill/>
                </a:ln>
                <a:solidFill>
                  <a:sysClr val="windowText" lastClr="000000"/>
                </a:solidFill>
                <a:effectLst/>
                <a:uLnTx/>
                <a:uFillTx/>
                <a:latin typeface="+mj-lt"/>
              </a:rPr>
              <a:t>Kruskal’s Algorithm</a:t>
            </a:r>
          </a:p>
        </p:txBody>
      </p:sp>
      <p:pic>
        <p:nvPicPr>
          <p:cNvPr id="3" name="Picture 2">
            <a:extLst>
              <a:ext uri="{FF2B5EF4-FFF2-40B4-BE49-F238E27FC236}">
                <a16:creationId xmlns:a16="http://schemas.microsoft.com/office/drawing/2014/main" id="{590B92A5-58EA-ED1D-F925-A9EB1B0009A5}"/>
              </a:ext>
            </a:extLst>
          </p:cNvPr>
          <p:cNvPicPr>
            <a:picLocks noChangeAspect="1"/>
          </p:cNvPicPr>
          <p:nvPr/>
        </p:nvPicPr>
        <p:blipFill>
          <a:blip r:embed="rId3"/>
          <a:stretch>
            <a:fillRect/>
          </a:stretch>
        </p:blipFill>
        <p:spPr>
          <a:xfrm>
            <a:off x="1473863" y="1518243"/>
            <a:ext cx="6497639" cy="3136791"/>
          </a:xfrm>
          <a:prstGeom prst="rect">
            <a:avLst/>
          </a:prstGeom>
        </p:spPr>
      </p:pic>
    </p:spTree>
    <p:extLst>
      <p:ext uri="{BB962C8B-B14F-4D97-AF65-F5344CB8AC3E}">
        <p14:creationId xmlns:p14="http://schemas.microsoft.com/office/powerpoint/2010/main" val="135624791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387B8DA6-782F-F19B-013E-9D53059CC64F}"/>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7D6E9A1F-7004-72F0-1432-8DDFC2C89775}"/>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Greedy Technique</a:t>
            </a:r>
          </a:p>
        </p:txBody>
      </p:sp>
      <p:sp>
        <p:nvSpPr>
          <p:cNvPr id="369" name="Google Shape;369;p42">
            <a:extLst>
              <a:ext uri="{FF2B5EF4-FFF2-40B4-BE49-F238E27FC236}">
                <a16:creationId xmlns:a16="http://schemas.microsoft.com/office/drawing/2014/main" id="{2A244499-D532-D3CE-C53D-54D45DE0F263}"/>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79</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10276565-E20D-9800-2D15-5AFE7C2A5E69}"/>
              </a:ext>
            </a:extLst>
          </p:cNvPr>
          <p:cNvSpPr txBox="1"/>
          <p:nvPr/>
        </p:nvSpPr>
        <p:spPr>
          <a:xfrm>
            <a:off x="154290" y="1010452"/>
            <a:ext cx="8761110" cy="3647112"/>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IN" sz="1800" b="1" i="0" u="none" strike="noStrike" kern="0" cap="none" spc="0" normalizeH="0" baseline="0" noProof="0" dirty="0">
                <a:ln>
                  <a:noFill/>
                </a:ln>
                <a:solidFill>
                  <a:sysClr val="windowText" lastClr="000000"/>
                </a:solidFill>
                <a:effectLst/>
                <a:uLnTx/>
                <a:uFillTx/>
                <a:latin typeface="+mj-lt"/>
              </a:rPr>
              <a:t>Kruskal’s Algorithm</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j-lt"/>
              </a:rPr>
              <a:t>The correctness of Kruskal’s algorithm can be proved by repeating the essential steps of the proof of Prim’s algorithm given in the previous section.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j-lt"/>
              </a:rPr>
              <a:t>The fact that ET is actually a tree in Prim’s algorithm but generally just an acyclic subgraph in Kruskal’s algorithm turns out to be an obstacle that can be overcome.</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n-lt"/>
              </a:rPr>
              <a:t>Figure 9.5 demonstrates the application of Kruskal’s algorithm to the same graph we used for illustrating Prim’s algorithm in Section 9.1.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n-lt"/>
              </a:rPr>
              <a:t>As you trace the algorithm’s operations, note the disconnectedness of some of the intermediate subgraphs.</a:t>
            </a:r>
            <a:endParaRPr kumimoji="0" lang="en-IN" sz="1700" b="0" i="0" u="none" strike="noStrike" kern="0" cap="none" spc="0" normalizeH="0" baseline="0" noProof="0" dirty="0">
              <a:ln>
                <a:noFill/>
              </a:ln>
              <a:solidFill>
                <a:sysClr val="windowText" lastClr="000000"/>
              </a:solidFill>
              <a:effectLst/>
              <a:uLnTx/>
              <a:uFillTx/>
              <a:latin typeface="+mn-lt"/>
            </a:endParaRPr>
          </a:p>
        </p:txBody>
      </p:sp>
    </p:spTree>
    <p:extLst>
      <p:ext uri="{BB962C8B-B14F-4D97-AF65-F5344CB8AC3E}">
        <p14:creationId xmlns:p14="http://schemas.microsoft.com/office/powerpoint/2010/main" val="387918747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833FBBD8-253C-A047-F8D1-48A604C35A48}"/>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11161278-4DED-0AED-08CE-C74ABF09B830}"/>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Greedy Technique</a:t>
            </a:r>
          </a:p>
        </p:txBody>
      </p:sp>
      <p:sp>
        <p:nvSpPr>
          <p:cNvPr id="369" name="Google Shape;369;p42">
            <a:extLst>
              <a:ext uri="{FF2B5EF4-FFF2-40B4-BE49-F238E27FC236}">
                <a16:creationId xmlns:a16="http://schemas.microsoft.com/office/drawing/2014/main" id="{3B0D57A9-F804-91E1-DF04-85709E5095C0}"/>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80</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451C06E2-B622-B141-F459-8110CF35A58F}"/>
              </a:ext>
            </a:extLst>
          </p:cNvPr>
          <p:cNvSpPr txBox="1"/>
          <p:nvPr/>
        </p:nvSpPr>
        <p:spPr>
          <a:xfrm>
            <a:off x="154290" y="1010452"/>
            <a:ext cx="8761110" cy="507791"/>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IN" sz="1800" b="1" i="0" u="none" strike="noStrike" kern="0" cap="none" spc="0" normalizeH="0" baseline="0" noProof="0" dirty="0">
                <a:ln>
                  <a:noFill/>
                </a:ln>
                <a:solidFill>
                  <a:sysClr val="windowText" lastClr="000000"/>
                </a:solidFill>
                <a:effectLst/>
                <a:uLnTx/>
                <a:uFillTx/>
                <a:latin typeface="+mj-lt"/>
              </a:rPr>
              <a:t>Kruskal’s Algorithm</a:t>
            </a:r>
          </a:p>
        </p:txBody>
      </p:sp>
      <p:pic>
        <p:nvPicPr>
          <p:cNvPr id="6" name="Picture 5">
            <a:extLst>
              <a:ext uri="{FF2B5EF4-FFF2-40B4-BE49-F238E27FC236}">
                <a16:creationId xmlns:a16="http://schemas.microsoft.com/office/drawing/2014/main" id="{B82E01B5-CE6E-0867-C8CC-2475648428E1}"/>
              </a:ext>
            </a:extLst>
          </p:cNvPr>
          <p:cNvPicPr>
            <a:picLocks noChangeAspect="1"/>
          </p:cNvPicPr>
          <p:nvPr/>
        </p:nvPicPr>
        <p:blipFill>
          <a:blip r:embed="rId3"/>
          <a:stretch>
            <a:fillRect/>
          </a:stretch>
        </p:blipFill>
        <p:spPr>
          <a:xfrm>
            <a:off x="1495907" y="1449329"/>
            <a:ext cx="5546448" cy="3360257"/>
          </a:xfrm>
          <a:prstGeom prst="rect">
            <a:avLst/>
          </a:prstGeom>
        </p:spPr>
      </p:pic>
    </p:spTree>
    <p:extLst>
      <p:ext uri="{BB962C8B-B14F-4D97-AF65-F5344CB8AC3E}">
        <p14:creationId xmlns:p14="http://schemas.microsoft.com/office/powerpoint/2010/main" val="23101082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ADAB35C4-5642-D668-9AE7-A5B4A44EABE1}"/>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AACE6910-2503-3498-95F0-EE3316A99F39}"/>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Greedy Technique</a:t>
            </a:r>
          </a:p>
        </p:txBody>
      </p:sp>
      <p:sp>
        <p:nvSpPr>
          <p:cNvPr id="369" name="Google Shape;369;p42">
            <a:extLst>
              <a:ext uri="{FF2B5EF4-FFF2-40B4-BE49-F238E27FC236}">
                <a16:creationId xmlns:a16="http://schemas.microsoft.com/office/drawing/2014/main" id="{BCE32616-571E-4CA4-6024-3C4498BB788B}"/>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81</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44B51286-C158-E18C-08F8-CA92ACA814EA}"/>
              </a:ext>
            </a:extLst>
          </p:cNvPr>
          <p:cNvSpPr txBox="1"/>
          <p:nvPr/>
        </p:nvSpPr>
        <p:spPr>
          <a:xfrm>
            <a:off x="154290" y="1010452"/>
            <a:ext cx="8761110" cy="507791"/>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IN" sz="1800" b="1" i="0" u="none" strike="noStrike" kern="0" cap="none" spc="0" normalizeH="0" baseline="0" noProof="0" dirty="0">
                <a:ln>
                  <a:noFill/>
                </a:ln>
                <a:solidFill>
                  <a:sysClr val="windowText" lastClr="000000"/>
                </a:solidFill>
                <a:effectLst/>
                <a:uLnTx/>
                <a:uFillTx/>
                <a:latin typeface="+mj-lt"/>
              </a:rPr>
              <a:t>Kruskal’s Algorithm</a:t>
            </a:r>
          </a:p>
        </p:txBody>
      </p:sp>
      <p:pic>
        <p:nvPicPr>
          <p:cNvPr id="3" name="Picture 2">
            <a:extLst>
              <a:ext uri="{FF2B5EF4-FFF2-40B4-BE49-F238E27FC236}">
                <a16:creationId xmlns:a16="http://schemas.microsoft.com/office/drawing/2014/main" id="{AC98172B-AC9A-8C8C-4DB5-F1C5F19943F2}"/>
              </a:ext>
            </a:extLst>
          </p:cNvPr>
          <p:cNvPicPr>
            <a:picLocks noChangeAspect="1"/>
          </p:cNvPicPr>
          <p:nvPr/>
        </p:nvPicPr>
        <p:blipFill>
          <a:blip r:embed="rId3"/>
          <a:stretch>
            <a:fillRect/>
          </a:stretch>
        </p:blipFill>
        <p:spPr>
          <a:xfrm>
            <a:off x="1505632" y="1553988"/>
            <a:ext cx="6058425" cy="3109229"/>
          </a:xfrm>
          <a:prstGeom prst="rect">
            <a:avLst/>
          </a:prstGeom>
        </p:spPr>
      </p:pic>
    </p:spTree>
    <p:extLst>
      <p:ext uri="{BB962C8B-B14F-4D97-AF65-F5344CB8AC3E}">
        <p14:creationId xmlns:p14="http://schemas.microsoft.com/office/powerpoint/2010/main" val="158152650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58F29BCE-2DC4-18CC-CAC5-11E4B1BDFB55}"/>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C75437ED-5132-153B-9B1F-77A823BDE5E1}"/>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Greedy Technique</a:t>
            </a:r>
          </a:p>
        </p:txBody>
      </p:sp>
      <p:sp>
        <p:nvSpPr>
          <p:cNvPr id="369" name="Google Shape;369;p42">
            <a:extLst>
              <a:ext uri="{FF2B5EF4-FFF2-40B4-BE49-F238E27FC236}">
                <a16:creationId xmlns:a16="http://schemas.microsoft.com/office/drawing/2014/main" id="{DF06DAE7-202A-9DA8-80E3-9105D3291A21}"/>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82</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16FC26D9-0B53-638D-0197-52B33B04F812}"/>
              </a:ext>
            </a:extLst>
          </p:cNvPr>
          <p:cNvSpPr txBox="1"/>
          <p:nvPr/>
        </p:nvSpPr>
        <p:spPr>
          <a:xfrm>
            <a:off x="154290" y="1010452"/>
            <a:ext cx="8761110" cy="507791"/>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IN" sz="1800" b="1" i="0" u="none" strike="noStrike" kern="0" cap="none" spc="0" normalizeH="0" baseline="0" noProof="0" dirty="0">
                <a:ln>
                  <a:noFill/>
                </a:ln>
                <a:solidFill>
                  <a:sysClr val="windowText" lastClr="000000"/>
                </a:solidFill>
                <a:effectLst/>
                <a:uLnTx/>
                <a:uFillTx/>
                <a:latin typeface="+mj-lt"/>
              </a:rPr>
              <a:t>Kruskal’s Algorithm</a:t>
            </a:r>
          </a:p>
        </p:txBody>
      </p:sp>
      <p:pic>
        <p:nvPicPr>
          <p:cNvPr id="5" name="Picture 4">
            <a:extLst>
              <a:ext uri="{FF2B5EF4-FFF2-40B4-BE49-F238E27FC236}">
                <a16:creationId xmlns:a16="http://schemas.microsoft.com/office/drawing/2014/main" id="{49A3FBB0-B9E5-4A8F-D85E-CAA5B222966A}"/>
              </a:ext>
            </a:extLst>
          </p:cNvPr>
          <p:cNvPicPr>
            <a:picLocks noChangeAspect="1"/>
          </p:cNvPicPr>
          <p:nvPr/>
        </p:nvPicPr>
        <p:blipFill>
          <a:blip r:embed="rId3"/>
          <a:stretch>
            <a:fillRect/>
          </a:stretch>
        </p:blipFill>
        <p:spPr>
          <a:xfrm>
            <a:off x="1548062" y="1396524"/>
            <a:ext cx="5695562" cy="3388412"/>
          </a:xfrm>
          <a:prstGeom prst="rect">
            <a:avLst/>
          </a:prstGeom>
        </p:spPr>
      </p:pic>
    </p:spTree>
    <p:extLst>
      <p:ext uri="{BB962C8B-B14F-4D97-AF65-F5344CB8AC3E}">
        <p14:creationId xmlns:p14="http://schemas.microsoft.com/office/powerpoint/2010/main" val="202112138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DE38FCC5-25D2-C100-8096-6192ABBEAADD}"/>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9C147D64-A75C-AB32-141F-35CE3D62B240}"/>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Greedy Technique</a:t>
            </a:r>
          </a:p>
        </p:txBody>
      </p:sp>
      <p:sp>
        <p:nvSpPr>
          <p:cNvPr id="369" name="Google Shape;369;p42">
            <a:extLst>
              <a:ext uri="{FF2B5EF4-FFF2-40B4-BE49-F238E27FC236}">
                <a16:creationId xmlns:a16="http://schemas.microsoft.com/office/drawing/2014/main" id="{644122FC-4F1B-BECC-5375-7880396B2803}"/>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83</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C2618407-C1D8-CC98-0055-9114DBF79CA0}"/>
              </a:ext>
            </a:extLst>
          </p:cNvPr>
          <p:cNvSpPr txBox="1"/>
          <p:nvPr/>
        </p:nvSpPr>
        <p:spPr>
          <a:xfrm>
            <a:off x="154290" y="1010452"/>
            <a:ext cx="8761110" cy="4455025"/>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IN" sz="1800" b="1" i="0" u="none" strike="noStrike" kern="0" cap="none" spc="0" normalizeH="0" baseline="0" noProof="0" dirty="0">
                <a:ln>
                  <a:noFill/>
                </a:ln>
                <a:solidFill>
                  <a:sysClr val="windowText" lastClr="000000"/>
                </a:solidFill>
                <a:effectLst/>
                <a:uLnTx/>
                <a:uFillTx/>
                <a:latin typeface="+mj-lt"/>
              </a:rPr>
              <a:t>Kruskal’s Algorithm</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j-lt"/>
              </a:rPr>
              <a:t>Applying Prim’s and Kruskal’s algorithms to the same small graph by hand may create the impression that the latter is simpler than the former.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j-lt"/>
              </a:rPr>
              <a:t>This impression is wrong because, on each of its iterations, Kruskal’s algorithm has to check whether the addition of the next edge to the edges already selected would create a cycle.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j-lt"/>
              </a:rPr>
              <a:t>In view of these observations, it is convenient to use a slightly different interpretation of Kruskal’s algorithm.</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j-lt"/>
              </a:rPr>
              <a:t>We can consider the algorithm’s operations as a progression through a series of forests containing all the vertices of a given graph and some of its edges. </a:t>
            </a:r>
            <a:endParaRPr kumimoji="0" lang="en-IN" sz="1800" b="1" i="0" u="none" strike="noStrike" kern="0" cap="none" spc="0" normalizeH="0" baseline="0" noProof="0" dirty="0">
              <a:ln>
                <a:noFill/>
              </a:ln>
              <a:solidFill>
                <a:sysClr val="windowText" lastClr="000000"/>
              </a:solidFill>
              <a:effectLst/>
              <a:uLnTx/>
              <a:uFillTx/>
              <a:latin typeface="+mj-lt"/>
            </a:endParaRPr>
          </a:p>
          <a:p>
            <a:pPr marL="0" marR="0" lvl="0" indent="0" algn="just" defTabSz="914400" eaLnBrk="1" fontAlgn="auto" latinLnBrk="0" hangingPunct="1">
              <a:lnSpc>
                <a:spcPct val="150000"/>
              </a:lnSpc>
              <a:spcBef>
                <a:spcPts val="0"/>
              </a:spcBef>
              <a:spcAft>
                <a:spcPts val="0"/>
              </a:spcAft>
              <a:buClrTx/>
              <a:buSzPts val="1800"/>
              <a:buFontTx/>
              <a:buNone/>
              <a:tabLst/>
              <a:defRPr/>
            </a:pPr>
            <a:endParaRPr kumimoji="0" lang="en-IN" sz="1800" b="1" i="0" u="none" strike="noStrike" kern="0" cap="none" spc="0" normalizeH="0" baseline="0" noProof="0" dirty="0">
              <a:ln>
                <a:noFill/>
              </a:ln>
              <a:solidFill>
                <a:sysClr val="windowText" lastClr="000000"/>
              </a:solidFill>
              <a:effectLst/>
              <a:uLnTx/>
              <a:uFillTx/>
              <a:latin typeface="+mj-lt"/>
            </a:endParaRPr>
          </a:p>
        </p:txBody>
      </p:sp>
    </p:spTree>
    <p:extLst>
      <p:ext uri="{BB962C8B-B14F-4D97-AF65-F5344CB8AC3E}">
        <p14:creationId xmlns:p14="http://schemas.microsoft.com/office/powerpoint/2010/main" val="158852892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F2251782-B402-DEDE-265A-BA8642202604}"/>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E8A851B6-9B6D-F912-D690-970CBFDE539A}"/>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Greedy Technique</a:t>
            </a:r>
          </a:p>
        </p:txBody>
      </p:sp>
      <p:sp>
        <p:nvSpPr>
          <p:cNvPr id="369" name="Google Shape;369;p42">
            <a:extLst>
              <a:ext uri="{FF2B5EF4-FFF2-40B4-BE49-F238E27FC236}">
                <a16:creationId xmlns:a16="http://schemas.microsoft.com/office/drawing/2014/main" id="{4AA8E76A-3560-1DCE-023C-5949947CBAB4}"/>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84</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6193469F-6D93-7AEE-D5B1-26D7A82791A9}"/>
              </a:ext>
            </a:extLst>
          </p:cNvPr>
          <p:cNvSpPr txBox="1"/>
          <p:nvPr/>
        </p:nvSpPr>
        <p:spPr>
          <a:xfrm>
            <a:off x="154290" y="1010452"/>
            <a:ext cx="8761110" cy="4455025"/>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IN" sz="1800" b="1" i="0" u="none" strike="noStrike" kern="0" cap="none" spc="0" normalizeH="0" baseline="0" noProof="0" dirty="0">
                <a:ln>
                  <a:noFill/>
                </a:ln>
                <a:solidFill>
                  <a:sysClr val="windowText" lastClr="000000"/>
                </a:solidFill>
                <a:effectLst/>
                <a:uLnTx/>
                <a:uFillTx/>
                <a:latin typeface="+mj-lt"/>
              </a:rPr>
              <a:t>Kruskal’s Algorithm</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j-lt"/>
              </a:rPr>
              <a:t>The initial forest consists of |V | trivial trees, each comprising a single vertex of the graph. The final forest consists of a single tree, which is a minimum spanning tree of the graph.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j-lt"/>
              </a:rPr>
              <a:t>On each iteration, the algorithm takes the next edge (u, v) from the sorted list of the graph’s edges, finds the trees containing the vertices u and v, and, if these trees are not the same, unites them in a larger tree by adding the edge (u, v).</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j-lt"/>
              </a:rPr>
              <a:t>Fortunately, there are efficient algorithms for doing so, including the crucial check for whether two vertices belong to the same tree.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j-lt"/>
              </a:rPr>
              <a:t>They are called </a:t>
            </a:r>
            <a:r>
              <a:rPr kumimoji="0" lang="en-US" sz="1700" b="1" i="0" u="none" strike="noStrike" kern="0" cap="none" spc="0" normalizeH="0" baseline="0" noProof="0" dirty="0">
                <a:ln>
                  <a:noFill/>
                </a:ln>
                <a:solidFill>
                  <a:sysClr val="windowText" lastClr="000000"/>
                </a:solidFill>
                <a:effectLst/>
                <a:uLnTx/>
                <a:uFillTx/>
                <a:latin typeface="+mj-lt"/>
              </a:rPr>
              <a:t>union find algorithms</a:t>
            </a:r>
            <a:r>
              <a:rPr kumimoji="0" lang="en-US" sz="1700" b="0" i="0" u="none" strike="noStrike" kern="0" cap="none" spc="0" normalizeH="0" baseline="0" noProof="0" dirty="0">
                <a:ln>
                  <a:noFill/>
                </a:ln>
                <a:solidFill>
                  <a:sysClr val="windowText" lastClr="000000"/>
                </a:solidFill>
                <a:effectLst/>
                <a:uLnTx/>
                <a:uFillTx/>
                <a:latin typeface="+mj-lt"/>
              </a:rPr>
              <a:t>.</a:t>
            </a:r>
          </a:p>
          <a:p>
            <a:pPr marL="0" marR="0" lvl="0" indent="0" algn="just" defTabSz="914400" eaLnBrk="1" fontAlgn="auto" latinLnBrk="0" hangingPunct="1">
              <a:lnSpc>
                <a:spcPct val="150000"/>
              </a:lnSpc>
              <a:spcBef>
                <a:spcPts val="0"/>
              </a:spcBef>
              <a:spcAft>
                <a:spcPts val="0"/>
              </a:spcAft>
              <a:buClrTx/>
              <a:buSzPts val="1800"/>
              <a:buFontTx/>
              <a:buNone/>
              <a:tabLst/>
              <a:defRPr/>
            </a:pPr>
            <a:endParaRPr kumimoji="0" lang="en-IN" sz="1800" b="1" i="0" u="none" strike="noStrike" kern="0" cap="none" spc="0" normalizeH="0" baseline="0" noProof="0" dirty="0">
              <a:ln>
                <a:noFill/>
              </a:ln>
              <a:solidFill>
                <a:sysClr val="windowText" lastClr="000000"/>
              </a:solidFill>
              <a:effectLst/>
              <a:uLnTx/>
              <a:uFillTx/>
              <a:latin typeface="+mj-lt"/>
            </a:endParaRPr>
          </a:p>
        </p:txBody>
      </p:sp>
    </p:spTree>
    <p:extLst>
      <p:ext uri="{BB962C8B-B14F-4D97-AF65-F5344CB8AC3E}">
        <p14:creationId xmlns:p14="http://schemas.microsoft.com/office/powerpoint/2010/main" val="393332413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0E6FEA36-5689-372C-79BA-ACDEDD517DF8}"/>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B9E9BD56-3BA2-684D-0FCA-6967422BC6C5}"/>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Greedy Technique</a:t>
            </a:r>
          </a:p>
        </p:txBody>
      </p:sp>
      <p:sp>
        <p:nvSpPr>
          <p:cNvPr id="369" name="Google Shape;369;p42">
            <a:extLst>
              <a:ext uri="{FF2B5EF4-FFF2-40B4-BE49-F238E27FC236}">
                <a16:creationId xmlns:a16="http://schemas.microsoft.com/office/drawing/2014/main" id="{06F36442-F698-813E-6B19-CC949A1DB18C}"/>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85</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3AE4BBE8-2309-504B-C5EE-7AE46D2AFA6D}"/>
              </a:ext>
            </a:extLst>
          </p:cNvPr>
          <p:cNvSpPr txBox="1"/>
          <p:nvPr/>
        </p:nvSpPr>
        <p:spPr>
          <a:xfrm>
            <a:off x="154290" y="1010452"/>
            <a:ext cx="8761110" cy="4455025"/>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IN" sz="1800" b="1" i="0" u="none" strike="noStrike" kern="0" cap="none" spc="0" normalizeH="0" baseline="0" noProof="0" dirty="0">
                <a:ln>
                  <a:noFill/>
                </a:ln>
                <a:solidFill>
                  <a:sysClr val="windowText" lastClr="000000"/>
                </a:solidFill>
                <a:effectLst/>
                <a:uLnTx/>
                <a:uFillTx/>
                <a:latin typeface="+mj-lt"/>
              </a:rPr>
              <a:t>Kruskal’s Algorithm ( </a:t>
            </a:r>
            <a:r>
              <a:rPr kumimoji="0" lang="en-US" sz="1800" b="1" i="0" u="none" strike="noStrike" kern="0" cap="none" spc="0" normalizeH="0" baseline="0" noProof="0" dirty="0">
                <a:ln>
                  <a:noFill/>
                </a:ln>
                <a:solidFill>
                  <a:sysClr val="windowText" lastClr="000000"/>
                </a:solidFill>
                <a:effectLst/>
                <a:uLnTx/>
                <a:uFillTx/>
                <a:latin typeface="+mj-lt"/>
              </a:rPr>
              <a:t>Disjoint Subsets and Union-Find Algorithms )</a:t>
            </a:r>
            <a:endParaRPr kumimoji="0" lang="en-IN" sz="1800" b="1" i="0" u="none" strike="noStrike" kern="0" cap="none" spc="0" normalizeH="0" baseline="0" noProof="0" dirty="0">
              <a:ln>
                <a:noFill/>
              </a:ln>
              <a:solidFill>
                <a:sysClr val="windowText" lastClr="000000"/>
              </a:solidFill>
              <a:effectLst/>
              <a:uLnTx/>
              <a:uFillTx/>
              <a:latin typeface="+mj-lt"/>
            </a:endParaRP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j-lt"/>
              </a:rPr>
              <a:t>With an efficient union-find algorithm, the running time of Kruskal’s algorithm will be dominated by the time needed for sorting the edge weights of a given graph.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j-lt"/>
              </a:rPr>
              <a:t>Hence, with an efficient sorting algorithm, the time efficiency of Kruskal’s algorithm will be in O(|E| log |E|).</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j-lt"/>
              </a:rPr>
              <a:t>Kruskal’s algorithm is one of a number of applications that require a dynamic partition of some n element set S into a collection of disjoint subsets S</a:t>
            </a:r>
            <a:r>
              <a:rPr kumimoji="0" lang="en-US" sz="1700" b="0" i="0" u="none" strike="noStrike" kern="0" cap="none" spc="0" normalizeH="0" baseline="-25000" noProof="0" dirty="0">
                <a:ln>
                  <a:noFill/>
                </a:ln>
                <a:solidFill>
                  <a:sysClr val="windowText" lastClr="000000"/>
                </a:solidFill>
                <a:effectLst/>
                <a:uLnTx/>
                <a:uFillTx/>
                <a:latin typeface="+mj-lt"/>
              </a:rPr>
              <a:t>1</a:t>
            </a:r>
            <a:r>
              <a:rPr kumimoji="0" lang="en-US" sz="1700" b="0" i="0" u="none" strike="noStrike" kern="0" cap="none" spc="0" normalizeH="0" baseline="0" noProof="0" dirty="0">
                <a:ln>
                  <a:noFill/>
                </a:ln>
                <a:solidFill>
                  <a:sysClr val="windowText" lastClr="000000"/>
                </a:solidFill>
                <a:effectLst/>
                <a:uLnTx/>
                <a:uFillTx/>
                <a:latin typeface="+mj-lt"/>
              </a:rPr>
              <a:t>, S</a:t>
            </a:r>
            <a:r>
              <a:rPr kumimoji="0" lang="en-US" sz="1700" b="0" i="0" u="none" strike="noStrike" kern="0" cap="none" spc="0" normalizeH="0" baseline="-25000" noProof="0" dirty="0">
                <a:ln>
                  <a:noFill/>
                </a:ln>
                <a:solidFill>
                  <a:sysClr val="windowText" lastClr="000000"/>
                </a:solidFill>
                <a:effectLst/>
                <a:uLnTx/>
                <a:uFillTx/>
                <a:latin typeface="+mj-lt"/>
              </a:rPr>
              <a:t>2</a:t>
            </a:r>
            <a:r>
              <a:rPr kumimoji="0" lang="en-US" sz="1700" b="0" i="0" u="none" strike="noStrike" kern="0" cap="none" spc="0" normalizeH="0" baseline="0" noProof="0" dirty="0">
                <a:ln>
                  <a:noFill/>
                </a:ln>
                <a:solidFill>
                  <a:sysClr val="windowText" lastClr="000000"/>
                </a:solidFill>
                <a:effectLst/>
                <a:uLnTx/>
                <a:uFillTx/>
                <a:latin typeface="+mj-lt"/>
              </a:rPr>
              <a:t>, . . . , S</a:t>
            </a:r>
            <a:r>
              <a:rPr kumimoji="0" lang="en-US" sz="1700" b="0" i="0" u="none" strike="noStrike" kern="0" cap="none" spc="0" normalizeH="0" baseline="-25000" noProof="0" dirty="0">
                <a:ln>
                  <a:noFill/>
                </a:ln>
                <a:solidFill>
                  <a:sysClr val="windowText" lastClr="000000"/>
                </a:solidFill>
                <a:effectLst/>
                <a:uLnTx/>
                <a:uFillTx/>
                <a:latin typeface="+mj-lt"/>
              </a:rPr>
              <a:t>k</a:t>
            </a:r>
            <a:r>
              <a:rPr kumimoji="0" lang="en-US" sz="1700" b="0" i="0" u="none" strike="noStrike" kern="0" cap="none" spc="0" normalizeH="0" baseline="0" noProof="0" dirty="0">
                <a:ln>
                  <a:noFill/>
                </a:ln>
                <a:solidFill>
                  <a:sysClr val="windowText" lastClr="000000"/>
                </a:solidFill>
                <a:effectLst/>
                <a:uLnTx/>
                <a:uFillTx/>
                <a:latin typeface="+mj-lt"/>
              </a:rPr>
              <a:t>.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j-lt"/>
              </a:rPr>
              <a:t>After being initialized as a collection of n one-element subsets, each containing a different element of S, the collection is subjected to a sequence of intermixed union and find operations.</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endParaRPr kumimoji="0" lang="en-IN" sz="1800" b="1" i="0" u="none" strike="noStrike" kern="0" cap="none" spc="0" normalizeH="0" baseline="0" noProof="0" dirty="0">
              <a:ln>
                <a:noFill/>
              </a:ln>
              <a:solidFill>
                <a:sysClr val="windowText" lastClr="000000"/>
              </a:solidFill>
              <a:effectLst/>
              <a:uLnTx/>
              <a:uFillTx/>
              <a:latin typeface="+mj-lt"/>
            </a:endParaRPr>
          </a:p>
        </p:txBody>
      </p:sp>
    </p:spTree>
    <p:extLst>
      <p:ext uri="{BB962C8B-B14F-4D97-AF65-F5344CB8AC3E}">
        <p14:creationId xmlns:p14="http://schemas.microsoft.com/office/powerpoint/2010/main" val="372076784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8BA7A300-EEAB-5D35-BFBF-FD90623676A8}"/>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B99236E4-4B24-63DC-2488-A2669D4A1A74}"/>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Greedy Technique</a:t>
            </a:r>
          </a:p>
        </p:txBody>
      </p:sp>
      <p:sp>
        <p:nvSpPr>
          <p:cNvPr id="369" name="Google Shape;369;p42">
            <a:extLst>
              <a:ext uri="{FF2B5EF4-FFF2-40B4-BE49-F238E27FC236}">
                <a16:creationId xmlns:a16="http://schemas.microsoft.com/office/drawing/2014/main" id="{BE2B7103-2923-C22F-20DF-A70036D72F0D}"/>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86</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80C00D90-DA74-E78C-C7A2-98037E145F38}"/>
              </a:ext>
            </a:extLst>
          </p:cNvPr>
          <p:cNvSpPr txBox="1"/>
          <p:nvPr/>
        </p:nvSpPr>
        <p:spPr>
          <a:xfrm>
            <a:off x="154290" y="1010452"/>
            <a:ext cx="8761110" cy="4085693"/>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IN" sz="1800" b="1" i="0" u="none" strike="noStrike" kern="0" cap="none" spc="0" normalizeH="0" baseline="0" noProof="0" dirty="0">
                <a:ln>
                  <a:noFill/>
                </a:ln>
                <a:solidFill>
                  <a:sysClr val="windowText" lastClr="000000"/>
                </a:solidFill>
                <a:effectLst/>
                <a:uLnTx/>
                <a:uFillTx/>
                <a:latin typeface="+mj-lt"/>
              </a:rPr>
              <a:t>Kruskal’s Algorithm ( </a:t>
            </a:r>
            <a:r>
              <a:rPr kumimoji="0" lang="en-US" sz="1800" b="1" i="0" u="none" strike="noStrike" kern="0" cap="none" spc="0" normalizeH="0" baseline="0" noProof="0" dirty="0">
                <a:ln>
                  <a:noFill/>
                </a:ln>
                <a:solidFill>
                  <a:sysClr val="windowText" lastClr="000000"/>
                </a:solidFill>
                <a:effectLst/>
                <a:uLnTx/>
                <a:uFillTx/>
                <a:latin typeface="+mj-lt"/>
              </a:rPr>
              <a:t>Disjoint Subsets and Union-Find Algorithms )</a:t>
            </a:r>
            <a:endParaRPr kumimoji="0" lang="en-IN" sz="1800" b="1" i="0" u="none" strike="noStrike" kern="0" cap="none" spc="0" normalizeH="0" baseline="0" noProof="0" dirty="0">
              <a:ln>
                <a:noFill/>
              </a:ln>
              <a:solidFill>
                <a:sysClr val="windowText" lastClr="000000"/>
              </a:solidFill>
              <a:effectLst/>
              <a:uLnTx/>
              <a:uFillTx/>
              <a:latin typeface="+mj-lt"/>
            </a:endParaRP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j-lt"/>
              </a:rPr>
              <a:t>Note that the number of union operations in any such sequence must be bounded above by n − 1 because each union increases a subset’s size at least by 1 and there are only n elements in the entire set S.</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j-lt"/>
              </a:rPr>
              <a:t>Thus, we are dealing here with an abstract data type of a collection of disjoint subsets of a finite set with the following operations:</a:t>
            </a:r>
          </a:p>
          <a:p>
            <a:pPr marL="538163"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1" i="0" u="none" strike="noStrike" kern="0" cap="none" spc="0" normalizeH="0" baseline="0" noProof="0" dirty="0" err="1">
                <a:ln>
                  <a:noFill/>
                </a:ln>
                <a:solidFill>
                  <a:sysClr val="windowText" lastClr="000000"/>
                </a:solidFill>
                <a:effectLst/>
                <a:uLnTx/>
                <a:uFillTx/>
                <a:latin typeface="+mj-lt"/>
              </a:rPr>
              <a:t>makeset</a:t>
            </a:r>
            <a:r>
              <a:rPr kumimoji="0" lang="en-US" sz="1800" b="1" i="0" u="none" strike="noStrike" kern="0" cap="none" spc="0" normalizeH="0" baseline="0" noProof="0" dirty="0">
                <a:ln>
                  <a:noFill/>
                </a:ln>
                <a:solidFill>
                  <a:sysClr val="windowText" lastClr="000000"/>
                </a:solidFill>
                <a:effectLst/>
                <a:uLnTx/>
                <a:uFillTx/>
                <a:latin typeface="+mj-lt"/>
              </a:rPr>
              <a:t>(x) </a:t>
            </a:r>
            <a:r>
              <a:rPr kumimoji="0" lang="en-US" sz="1800" b="0" i="0" u="none" strike="noStrike" kern="0" cap="none" spc="0" normalizeH="0" baseline="0" noProof="0" dirty="0">
                <a:ln>
                  <a:noFill/>
                </a:ln>
                <a:solidFill>
                  <a:sysClr val="windowText" lastClr="000000"/>
                </a:solidFill>
                <a:effectLst/>
                <a:uLnTx/>
                <a:uFillTx/>
                <a:latin typeface="+mj-lt"/>
              </a:rPr>
              <a:t>creates a one-element set {x}. It is assumed that this operation can be applied to each of the elements of set S only once.</a:t>
            </a:r>
          </a:p>
          <a:p>
            <a:pPr marL="538163"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1" i="0" u="none" strike="noStrike" kern="0" cap="none" spc="0" normalizeH="0" baseline="0" noProof="0" dirty="0">
                <a:ln>
                  <a:noFill/>
                </a:ln>
                <a:solidFill>
                  <a:sysClr val="windowText" lastClr="000000"/>
                </a:solidFill>
                <a:effectLst/>
                <a:uLnTx/>
                <a:uFillTx/>
                <a:latin typeface="+mj-lt"/>
              </a:rPr>
              <a:t>find(x)</a:t>
            </a:r>
            <a:r>
              <a:rPr kumimoji="0" lang="en-US" sz="1800" b="0" i="0" u="none" strike="noStrike" kern="0" cap="none" spc="0" normalizeH="0" baseline="0" noProof="0" dirty="0">
                <a:ln>
                  <a:noFill/>
                </a:ln>
                <a:solidFill>
                  <a:sysClr val="windowText" lastClr="000000"/>
                </a:solidFill>
                <a:effectLst/>
                <a:uLnTx/>
                <a:uFillTx/>
                <a:latin typeface="+mj-lt"/>
              </a:rPr>
              <a:t> returns a subset containing x.</a:t>
            </a:r>
          </a:p>
          <a:p>
            <a:pPr marL="538163"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1" i="0" u="none" strike="noStrike" kern="0" cap="none" spc="0" normalizeH="0" baseline="0" noProof="0" dirty="0">
                <a:ln>
                  <a:noFill/>
                </a:ln>
                <a:solidFill>
                  <a:sysClr val="windowText" lastClr="000000"/>
                </a:solidFill>
                <a:effectLst/>
                <a:uLnTx/>
                <a:uFillTx/>
                <a:latin typeface="+mj-lt"/>
              </a:rPr>
              <a:t>union(x, y) </a:t>
            </a:r>
            <a:r>
              <a:rPr kumimoji="0" lang="en-US" sz="1800" b="0" i="0" u="none" strike="noStrike" kern="0" cap="none" spc="0" normalizeH="0" baseline="0" noProof="0" dirty="0">
                <a:ln>
                  <a:noFill/>
                </a:ln>
                <a:solidFill>
                  <a:sysClr val="windowText" lastClr="000000"/>
                </a:solidFill>
                <a:effectLst/>
                <a:uLnTx/>
                <a:uFillTx/>
                <a:latin typeface="+mj-lt"/>
              </a:rPr>
              <a:t>constructs the union of the disjoint subsets </a:t>
            </a:r>
            <a:r>
              <a:rPr kumimoji="0" lang="en-US" sz="1800" b="0" i="0" u="none" strike="noStrike" kern="0" cap="none" spc="0" normalizeH="0" baseline="0" noProof="0" dirty="0" err="1">
                <a:ln>
                  <a:noFill/>
                </a:ln>
                <a:solidFill>
                  <a:sysClr val="windowText" lastClr="000000"/>
                </a:solidFill>
                <a:effectLst/>
                <a:uLnTx/>
                <a:uFillTx/>
                <a:latin typeface="+mj-lt"/>
              </a:rPr>
              <a:t>S</a:t>
            </a:r>
            <a:r>
              <a:rPr kumimoji="0" lang="en-US" sz="1800" b="0" i="0" u="none" strike="noStrike" kern="0" cap="none" spc="0" normalizeH="0" baseline="-25000" noProof="0" dirty="0" err="1">
                <a:ln>
                  <a:noFill/>
                </a:ln>
                <a:solidFill>
                  <a:sysClr val="windowText" lastClr="000000"/>
                </a:solidFill>
                <a:effectLst/>
                <a:uLnTx/>
                <a:uFillTx/>
                <a:latin typeface="+mj-lt"/>
              </a:rPr>
              <a:t>x</a:t>
            </a:r>
            <a:r>
              <a:rPr kumimoji="0" lang="en-US" sz="1800" b="0" i="0" u="none" strike="noStrike" kern="0" cap="none" spc="0" normalizeH="0" baseline="0" noProof="0" dirty="0">
                <a:ln>
                  <a:noFill/>
                </a:ln>
                <a:solidFill>
                  <a:sysClr val="windowText" lastClr="000000"/>
                </a:solidFill>
                <a:effectLst/>
                <a:uLnTx/>
                <a:uFillTx/>
                <a:latin typeface="+mj-lt"/>
              </a:rPr>
              <a:t> and </a:t>
            </a:r>
            <a:r>
              <a:rPr kumimoji="0" lang="en-US" sz="1800" b="0" i="0" u="none" strike="noStrike" kern="0" cap="none" spc="0" normalizeH="0" baseline="0" noProof="0" dirty="0" err="1">
                <a:ln>
                  <a:noFill/>
                </a:ln>
                <a:solidFill>
                  <a:sysClr val="windowText" lastClr="000000"/>
                </a:solidFill>
                <a:effectLst/>
                <a:uLnTx/>
                <a:uFillTx/>
                <a:latin typeface="+mj-lt"/>
              </a:rPr>
              <a:t>S</a:t>
            </a:r>
            <a:r>
              <a:rPr kumimoji="0" lang="en-US" sz="1800" b="0" i="0" u="none" strike="noStrike" kern="0" cap="none" spc="0" normalizeH="0" baseline="-25000" noProof="0" dirty="0" err="1">
                <a:ln>
                  <a:noFill/>
                </a:ln>
                <a:solidFill>
                  <a:sysClr val="windowText" lastClr="000000"/>
                </a:solidFill>
                <a:effectLst/>
                <a:uLnTx/>
                <a:uFillTx/>
                <a:latin typeface="+mj-lt"/>
              </a:rPr>
              <a:t>y</a:t>
            </a:r>
            <a:r>
              <a:rPr kumimoji="0" lang="en-US" sz="1800" b="0" i="0" u="none" strike="noStrike" kern="0" cap="none" spc="0" normalizeH="0" baseline="0" noProof="0" dirty="0">
                <a:ln>
                  <a:noFill/>
                </a:ln>
                <a:solidFill>
                  <a:sysClr val="windowText" lastClr="000000"/>
                </a:solidFill>
                <a:effectLst/>
                <a:uLnTx/>
                <a:uFillTx/>
                <a:latin typeface="+mj-lt"/>
              </a:rPr>
              <a:t> containing x and y, respectively, and adds it to the collection to replace </a:t>
            </a:r>
            <a:r>
              <a:rPr kumimoji="0" lang="en-US" sz="1800" b="0" i="0" u="none" strike="noStrike" kern="0" cap="none" spc="0" normalizeH="0" baseline="0" noProof="0" dirty="0" err="1">
                <a:ln>
                  <a:noFill/>
                </a:ln>
                <a:solidFill>
                  <a:sysClr val="windowText" lastClr="000000"/>
                </a:solidFill>
                <a:effectLst/>
                <a:uLnTx/>
                <a:uFillTx/>
                <a:latin typeface="+mj-lt"/>
              </a:rPr>
              <a:t>S</a:t>
            </a:r>
            <a:r>
              <a:rPr kumimoji="0" lang="en-US" sz="1800" b="0" i="0" u="none" strike="noStrike" kern="0" cap="none" spc="0" normalizeH="0" baseline="-25000" noProof="0" dirty="0" err="1">
                <a:ln>
                  <a:noFill/>
                </a:ln>
                <a:solidFill>
                  <a:sysClr val="windowText" lastClr="000000"/>
                </a:solidFill>
                <a:effectLst/>
                <a:uLnTx/>
                <a:uFillTx/>
                <a:latin typeface="+mj-lt"/>
              </a:rPr>
              <a:t>x</a:t>
            </a:r>
            <a:r>
              <a:rPr kumimoji="0" lang="en-US" sz="1800" b="0" i="0" u="none" strike="noStrike" kern="0" cap="none" spc="0" normalizeH="0" baseline="0" noProof="0" dirty="0">
                <a:ln>
                  <a:noFill/>
                </a:ln>
                <a:solidFill>
                  <a:sysClr val="windowText" lastClr="000000"/>
                </a:solidFill>
                <a:effectLst/>
                <a:uLnTx/>
                <a:uFillTx/>
                <a:latin typeface="+mj-lt"/>
              </a:rPr>
              <a:t> and S</a:t>
            </a:r>
            <a:r>
              <a:rPr kumimoji="0" lang="en-US" sz="1800" b="0" i="0" u="none" strike="noStrike" kern="0" cap="none" spc="0" normalizeH="0" baseline="-25000" noProof="0" dirty="0">
                <a:ln>
                  <a:noFill/>
                </a:ln>
                <a:solidFill>
                  <a:sysClr val="windowText" lastClr="000000"/>
                </a:solidFill>
                <a:effectLst/>
                <a:uLnTx/>
                <a:uFillTx/>
                <a:latin typeface="+mj-lt"/>
              </a:rPr>
              <a:t>y</a:t>
            </a:r>
            <a:r>
              <a:rPr kumimoji="0" lang="en-US" sz="1800" b="0" i="0" u="none" strike="noStrike" kern="0" cap="none" spc="0" normalizeH="0" baseline="0" noProof="0" dirty="0">
                <a:ln>
                  <a:noFill/>
                </a:ln>
                <a:solidFill>
                  <a:sysClr val="windowText" lastClr="000000"/>
                </a:solidFill>
                <a:effectLst/>
                <a:uLnTx/>
                <a:uFillTx/>
                <a:latin typeface="+mj-lt"/>
              </a:rPr>
              <a:t>, which are deleted from it.</a:t>
            </a:r>
            <a:endParaRPr kumimoji="0" lang="en-IN" sz="1800" b="1" i="0" u="none" strike="noStrike" kern="0" cap="none" spc="0" normalizeH="0" baseline="0" noProof="0" dirty="0">
              <a:ln>
                <a:noFill/>
              </a:ln>
              <a:solidFill>
                <a:sysClr val="windowText" lastClr="000000"/>
              </a:solidFill>
              <a:effectLst/>
              <a:uLnTx/>
              <a:uFillTx/>
              <a:latin typeface="+mj-lt"/>
            </a:endParaRPr>
          </a:p>
        </p:txBody>
      </p:sp>
    </p:spTree>
    <p:extLst>
      <p:ext uri="{BB962C8B-B14F-4D97-AF65-F5344CB8AC3E}">
        <p14:creationId xmlns:p14="http://schemas.microsoft.com/office/powerpoint/2010/main" val="76184257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FBF00242-ABA3-6294-B37F-1F349BD184D0}"/>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A2AB6C6A-2DA7-335B-3D0E-172E809CBA04}"/>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Greedy Technique</a:t>
            </a:r>
          </a:p>
        </p:txBody>
      </p:sp>
      <p:sp>
        <p:nvSpPr>
          <p:cNvPr id="369" name="Google Shape;369;p42">
            <a:extLst>
              <a:ext uri="{FF2B5EF4-FFF2-40B4-BE49-F238E27FC236}">
                <a16:creationId xmlns:a16="http://schemas.microsoft.com/office/drawing/2014/main" id="{2812A98E-CCA0-D5FB-0814-2F3B01CF6DFA}"/>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87</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8B41AB0E-AF75-645D-DF56-63B8E1424F8B}"/>
              </a:ext>
            </a:extLst>
          </p:cNvPr>
          <p:cNvSpPr txBox="1"/>
          <p:nvPr/>
        </p:nvSpPr>
        <p:spPr>
          <a:xfrm>
            <a:off x="154290" y="1060459"/>
            <a:ext cx="8761110" cy="3647112"/>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IN" sz="1800" b="1" i="0" u="none" strike="noStrike" kern="0" cap="none" spc="0" normalizeH="0" baseline="0" noProof="0" dirty="0">
                <a:ln>
                  <a:noFill/>
                </a:ln>
                <a:solidFill>
                  <a:sysClr val="windowText" lastClr="000000"/>
                </a:solidFill>
                <a:effectLst/>
                <a:uLnTx/>
                <a:uFillTx/>
                <a:latin typeface="+mj-lt"/>
              </a:rPr>
              <a:t>Kruskal’s Algorithm ( </a:t>
            </a:r>
            <a:r>
              <a:rPr kumimoji="0" lang="en-US" sz="1800" b="1" i="0" u="none" strike="noStrike" kern="0" cap="none" spc="0" normalizeH="0" baseline="0" noProof="0" dirty="0">
                <a:ln>
                  <a:noFill/>
                </a:ln>
                <a:solidFill>
                  <a:sysClr val="windowText" lastClr="000000"/>
                </a:solidFill>
                <a:effectLst/>
                <a:uLnTx/>
                <a:uFillTx/>
                <a:latin typeface="+mj-lt"/>
              </a:rPr>
              <a:t>Disjoint Subsets and Union-Find Algorithms )</a:t>
            </a:r>
            <a:endParaRPr kumimoji="0" lang="en-IN" sz="1800" b="1" i="0" u="none" strike="noStrike" kern="0" cap="none" spc="0" normalizeH="0" baseline="0" noProof="0" dirty="0">
              <a:ln>
                <a:noFill/>
              </a:ln>
              <a:solidFill>
                <a:sysClr val="windowText" lastClr="000000"/>
              </a:solidFill>
              <a:effectLst/>
              <a:uLnTx/>
              <a:uFillTx/>
              <a:latin typeface="+mj-lt"/>
            </a:endParaRP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j-lt"/>
              </a:rPr>
              <a:t>For example, let S = {1, 2, 3, 4, 5, 6}. Then </a:t>
            </a:r>
            <a:r>
              <a:rPr kumimoji="0" lang="en-US" sz="1700" b="0" i="0" u="none" strike="noStrike" kern="0" cap="none" spc="0" normalizeH="0" baseline="0" noProof="0" dirty="0" err="1">
                <a:ln>
                  <a:noFill/>
                </a:ln>
                <a:solidFill>
                  <a:sysClr val="windowText" lastClr="000000"/>
                </a:solidFill>
                <a:effectLst/>
                <a:uLnTx/>
                <a:uFillTx/>
                <a:latin typeface="+mj-lt"/>
              </a:rPr>
              <a:t>makeset</a:t>
            </a:r>
            <a:r>
              <a:rPr kumimoji="0" lang="en-US" sz="1700" b="0" i="0" u="none" strike="noStrike" kern="0" cap="none" spc="0" normalizeH="0" baseline="0" noProof="0" dirty="0">
                <a:ln>
                  <a:noFill/>
                </a:ln>
                <a:solidFill>
                  <a:sysClr val="windowText" lastClr="000000"/>
                </a:solidFill>
                <a:effectLst/>
                <a:uLnTx/>
                <a:uFillTx/>
                <a:latin typeface="+mj-lt"/>
              </a:rPr>
              <a:t>(</a:t>
            </a:r>
            <a:r>
              <a:rPr kumimoji="0" lang="en-US" sz="1700" b="0" i="0" u="none" strike="noStrike" kern="0" cap="none" spc="0" normalizeH="0" baseline="0" noProof="0" dirty="0" err="1">
                <a:ln>
                  <a:noFill/>
                </a:ln>
                <a:solidFill>
                  <a:sysClr val="windowText" lastClr="000000"/>
                </a:solidFill>
                <a:effectLst/>
                <a:uLnTx/>
                <a:uFillTx/>
                <a:latin typeface="+mj-lt"/>
              </a:rPr>
              <a:t>i</a:t>
            </a:r>
            <a:r>
              <a:rPr kumimoji="0" lang="en-US" sz="1700" b="0" i="0" u="none" strike="noStrike" kern="0" cap="none" spc="0" normalizeH="0" baseline="0" noProof="0" dirty="0">
                <a:ln>
                  <a:noFill/>
                </a:ln>
                <a:solidFill>
                  <a:sysClr val="windowText" lastClr="000000"/>
                </a:solidFill>
                <a:effectLst/>
                <a:uLnTx/>
                <a:uFillTx/>
                <a:latin typeface="+mj-lt"/>
              </a:rPr>
              <a:t>) creates the set {</a:t>
            </a:r>
            <a:r>
              <a:rPr kumimoji="0" lang="en-US" sz="1700" b="0" i="0" u="none" strike="noStrike" kern="0" cap="none" spc="0" normalizeH="0" baseline="0" noProof="0" dirty="0" err="1">
                <a:ln>
                  <a:noFill/>
                </a:ln>
                <a:solidFill>
                  <a:sysClr val="windowText" lastClr="000000"/>
                </a:solidFill>
                <a:effectLst/>
                <a:uLnTx/>
                <a:uFillTx/>
                <a:latin typeface="+mj-lt"/>
              </a:rPr>
              <a:t>i</a:t>
            </a:r>
            <a:r>
              <a:rPr kumimoji="0" lang="en-US" sz="1700" b="0" i="0" u="none" strike="noStrike" kern="0" cap="none" spc="0" normalizeH="0" baseline="0" noProof="0" dirty="0">
                <a:ln>
                  <a:noFill/>
                </a:ln>
                <a:solidFill>
                  <a:sysClr val="windowText" lastClr="000000"/>
                </a:solidFill>
                <a:effectLst/>
                <a:uLnTx/>
                <a:uFillTx/>
                <a:latin typeface="+mj-lt"/>
              </a:rPr>
              <a:t>} and applying this operation six times initializes the structure to the collection of six singleton sets:</a:t>
            </a:r>
          </a:p>
          <a:p>
            <a:pPr marL="0" marR="0" lvl="0" indent="0" algn="ctr" defTabSz="914400" eaLnBrk="1" fontAlgn="auto" latinLnBrk="0" hangingPunct="1">
              <a:lnSpc>
                <a:spcPct val="150000"/>
              </a:lnSpc>
              <a:spcBef>
                <a:spcPts val="0"/>
              </a:spcBef>
              <a:spcAft>
                <a:spcPts val="0"/>
              </a:spcAft>
              <a:buClrTx/>
              <a:buSzPts val="1800"/>
              <a:buFontTx/>
              <a:buNone/>
              <a:tabLst/>
              <a:defRPr/>
            </a:pPr>
            <a:r>
              <a:rPr kumimoji="0" lang="en-US" sz="1700" b="0" i="0" u="none" strike="noStrike" kern="0" cap="none" spc="0" normalizeH="0" baseline="0" noProof="0" dirty="0">
                <a:ln>
                  <a:noFill/>
                </a:ln>
                <a:solidFill>
                  <a:sysClr val="windowText" lastClr="000000"/>
                </a:solidFill>
                <a:effectLst/>
                <a:uLnTx/>
                <a:uFillTx/>
                <a:latin typeface="+mj-lt"/>
              </a:rPr>
              <a:t>     {1}, {2}, {3}, {4}, {5}, {6}.</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j-lt"/>
              </a:rPr>
              <a:t>Performing union(1, 4) and union(5, 2) yields  </a:t>
            </a:r>
          </a:p>
          <a:p>
            <a:pPr marL="0" marR="0" lvl="0" indent="0" algn="ctr" defTabSz="914400" eaLnBrk="1" fontAlgn="auto" latinLnBrk="0" hangingPunct="1">
              <a:lnSpc>
                <a:spcPct val="150000"/>
              </a:lnSpc>
              <a:spcBef>
                <a:spcPts val="0"/>
              </a:spcBef>
              <a:spcAft>
                <a:spcPts val="0"/>
              </a:spcAft>
              <a:buClrTx/>
              <a:buSzPts val="1800"/>
              <a:buFontTx/>
              <a:buNone/>
              <a:tabLst/>
              <a:defRPr/>
            </a:pPr>
            <a:r>
              <a:rPr kumimoji="0" lang="en-US" sz="1700" b="0" i="0" u="none" strike="noStrike" kern="0" cap="none" spc="0" normalizeH="0" baseline="0" noProof="0" dirty="0">
                <a:ln>
                  <a:noFill/>
                </a:ln>
                <a:solidFill>
                  <a:sysClr val="windowText" lastClr="000000"/>
                </a:solidFill>
                <a:effectLst/>
                <a:uLnTx/>
                <a:uFillTx/>
                <a:latin typeface="+mj-lt"/>
              </a:rPr>
              <a:t>{1, 4}, {5, 2}, {3}, {6}, </a:t>
            </a:r>
          </a:p>
          <a:p>
            <a:pPr marL="0" marR="0" lvl="0" indent="0" algn="ctr" defTabSz="914400" eaLnBrk="1" fontAlgn="auto" latinLnBrk="0" hangingPunct="1">
              <a:lnSpc>
                <a:spcPct val="150000"/>
              </a:lnSpc>
              <a:spcBef>
                <a:spcPts val="0"/>
              </a:spcBef>
              <a:spcAft>
                <a:spcPts val="0"/>
              </a:spcAft>
              <a:buClrTx/>
              <a:buSzPts val="1800"/>
              <a:buFontTx/>
              <a:buNone/>
              <a:tabLst/>
              <a:defRPr/>
            </a:pPr>
            <a:r>
              <a:rPr kumimoji="0" lang="en-US" sz="1700" b="0" i="0" u="none" strike="noStrike" kern="0" cap="none" spc="0" normalizeH="0" baseline="0" noProof="0" dirty="0">
                <a:ln>
                  <a:noFill/>
                </a:ln>
                <a:solidFill>
                  <a:sysClr val="windowText" lastClr="000000"/>
                </a:solidFill>
                <a:effectLst/>
                <a:uLnTx/>
                <a:uFillTx/>
                <a:latin typeface="+mj-lt"/>
              </a:rPr>
              <a:t>and, if followed by union(4, 5) and then by union(3, 6), we end up with the disjoint subsets  </a:t>
            </a:r>
          </a:p>
          <a:p>
            <a:pPr marL="0" marR="0" lvl="0" indent="0" algn="ctr" defTabSz="914400" eaLnBrk="1" fontAlgn="auto" latinLnBrk="0" hangingPunct="1">
              <a:lnSpc>
                <a:spcPct val="150000"/>
              </a:lnSpc>
              <a:spcBef>
                <a:spcPts val="0"/>
              </a:spcBef>
              <a:spcAft>
                <a:spcPts val="0"/>
              </a:spcAft>
              <a:buClrTx/>
              <a:buSzPts val="1800"/>
              <a:buFontTx/>
              <a:buNone/>
              <a:tabLst/>
              <a:defRPr/>
            </a:pPr>
            <a:r>
              <a:rPr kumimoji="0" lang="en-US" sz="1700" b="0" i="0" u="none" strike="noStrike" kern="0" cap="none" spc="0" normalizeH="0" baseline="0" noProof="0" dirty="0">
                <a:ln>
                  <a:noFill/>
                </a:ln>
                <a:solidFill>
                  <a:sysClr val="windowText" lastClr="000000"/>
                </a:solidFill>
                <a:effectLst/>
                <a:uLnTx/>
                <a:uFillTx/>
                <a:latin typeface="+mj-lt"/>
              </a:rPr>
              <a:t>{1, 4, 5, 2}, {3, 6}.</a:t>
            </a:r>
            <a:endParaRPr kumimoji="0" lang="en-IN" sz="1800" b="1" i="0" u="none" strike="noStrike" kern="0" cap="none" spc="0" normalizeH="0" baseline="0" noProof="0" dirty="0">
              <a:ln>
                <a:noFill/>
              </a:ln>
              <a:solidFill>
                <a:sysClr val="windowText" lastClr="000000"/>
              </a:solidFill>
              <a:effectLst/>
              <a:uLnTx/>
              <a:uFillTx/>
              <a:latin typeface="+mj-lt"/>
            </a:endParaRPr>
          </a:p>
        </p:txBody>
      </p:sp>
    </p:spTree>
    <p:extLst>
      <p:ext uri="{BB962C8B-B14F-4D97-AF65-F5344CB8AC3E}">
        <p14:creationId xmlns:p14="http://schemas.microsoft.com/office/powerpoint/2010/main" val="287382460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16C215DE-876C-6A66-7AD6-028CB26EF7D6}"/>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606B5D34-5A65-6D35-FC8E-6BABB8BF92A7}"/>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Greedy Technique</a:t>
            </a:r>
          </a:p>
        </p:txBody>
      </p:sp>
      <p:sp>
        <p:nvSpPr>
          <p:cNvPr id="369" name="Google Shape;369;p42">
            <a:extLst>
              <a:ext uri="{FF2B5EF4-FFF2-40B4-BE49-F238E27FC236}">
                <a16:creationId xmlns:a16="http://schemas.microsoft.com/office/drawing/2014/main" id="{7101FFA3-808F-9205-82F7-0B6C931C273B}"/>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88</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86BD7086-8523-CCFE-F4A2-103C1F8D568D}"/>
              </a:ext>
            </a:extLst>
          </p:cNvPr>
          <p:cNvSpPr txBox="1"/>
          <p:nvPr/>
        </p:nvSpPr>
        <p:spPr>
          <a:xfrm>
            <a:off x="154290" y="1060459"/>
            <a:ext cx="8761110" cy="3647112"/>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IN" sz="1800" b="1" i="0" u="none" strike="noStrike" kern="0" cap="none" spc="0" normalizeH="0" baseline="0" noProof="0" dirty="0">
                <a:ln>
                  <a:noFill/>
                </a:ln>
                <a:solidFill>
                  <a:sysClr val="windowText" lastClr="000000"/>
                </a:solidFill>
                <a:effectLst/>
                <a:uLnTx/>
                <a:uFillTx/>
                <a:latin typeface="+mj-lt"/>
              </a:rPr>
              <a:t>Kruskal’s Algorithm ( </a:t>
            </a:r>
            <a:r>
              <a:rPr kumimoji="0" lang="en-US" sz="1800" b="1" i="0" u="none" strike="noStrike" kern="0" cap="none" spc="0" normalizeH="0" baseline="0" noProof="0" dirty="0">
                <a:ln>
                  <a:noFill/>
                </a:ln>
                <a:solidFill>
                  <a:sysClr val="windowText" lastClr="000000"/>
                </a:solidFill>
                <a:effectLst/>
                <a:uLnTx/>
                <a:uFillTx/>
                <a:latin typeface="+mj-lt"/>
              </a:rPr>
              <a:t>Disjoint Subsets and Union-Find Algorithms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j-lt"/>
              </a:rPr>
              <a:t>There are two principal alternatives for implementing this data structure.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j-lt"/>
              </a:rPr>
              <a:t>The first one, called the quick find, optimizes the time efficiency of the find operation; the second one, called the quick union, optimizes the union operation.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j-lt"/>
              </a:rPr>
              <a:t>The quick find uses an array indexed by the elements of the underlying set S; the array’s values indicate the representatives of the subsets containing those elements.</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j-lt"/>
              </a:rPr>
              <a:t>Each subset is implemented as a linked list whose header contains the pointers to the first and last elements of the list along with the number of elements in the list.</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j-lt"/>
              </a:rPr>
              <a:t>See Figure 9.7 for an example.</a:t>
            </a:r>
            <a:endParaRPr kumimoji="0" lang="en-IN" sz="1800" b="1" i="0" u="none" strike="noStrike" kern="0" cap="none" spc="0" normalizeH="0" baseline="0" noProof="0" dirty="0">
              <a:ln>
                <a:noFill/>
              </a:ln>
              <a:solidFill>
                <a:sysClr val="windowText" lastClr="000000"/>
              </a:solidFill>
              <a:effectLst/>
              <a:uLnTx/>
              <a:uFillTx/>
              <a:latin typeface="+mj-lt"/>
            </a:endParaRPr>
          </a:p>
        </p:txBody>
      </p:sp>
    </p:spTree>
    <p:extLst>
      <p:ext uri="{BB962C8B-B14F-4D97-AF65-F5344CB8AC3E}">
        <p14:creationId xmlns:p14="http://schemas.microsoft.com/office/powerpoint/2010/main" val="31493537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43A85BB3-BEF8-A85E-B75F-74090B23ADEF}"/>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0FD28993-CAC0-E9EA-BD4C-D8D995E863D1}"/>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Greedy Technique</a:t>
            </a:r>
          </a:p>
        </p:txBody>
      </p:sp>
      <p:sp>
        <p:nvSpPr>
          <p:cNvPr id="369" name="Google Shape;369;p42">
            <a:extLst>
              <a:ext uri="{FF2B5EF4-FFF2-40B4-BE49-F238E27FC236}">
                <a16:creationId xmlns:a16="http://schemas.microsoft.com/office/drawing/2014/main" id="{73F1F69B-773F-8CFE-DF09-12EEF27647F5}"/>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89</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017FDFC6-AFAB-5941-8569-0D96410FCC2F}"/>
              </a:ext>
            </a:extLst>
          </p:cNvPr>
          <p:cNvSpPr txBox="1"/>
          <p:nvPr/>
        </p:nvSpPr>
        <p:spPr>
          <a:xfrm>
            <a:off x="154290" y="1060459"/>
            <a:ext cx="8761110" cy="923289"/>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IN" sz="1800" b="1" i="0" u="none" strike="noStrike" kern="0" cap="none" spc="0" normalizeH="0" baseline="0" noProof="0" dirty="0">
                <a:ln>
                  <a:noFill/>
                </a:ln>
                <a:solidFill>
                  <a:sysClr val="windowText" lastClr="000000"/>
                </a:solidFill>
                <a:effectLst/>
                <a:uLnTx/>
                <a:uFillTx/>
                <a:latin typeface="+mj-lt"/>
              </a:rPr>
              <a:t>Kruskal’s Algorithm ( </a:t>
            </a:r>
            <a:r>
              <a:rPr kumimoji="0" lang="en-US" sz="1800" b="1" i="0" u="none" strike="noStrike" kern="0" cap="none" spc="0" normalizeH="0" baseline="0" noProof="0" dirty="0">
                <a:ln>
                  <a:noFill/>
                </a:ln>
                <a:solidFill>
                  <a:sysClr val="windowText" lastClr="000000"/>
                </a:solidFill>
                <a:effectLst/>
                <a:uLnTx/>
                <a:uFillTx/>
                <a:latin typeface="+mj-lt"/>
              </a:rPr>
              <a:t>Disjoint Subsets and Union-Find Algorithms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endParaRPr kumimoji="0" lang="en-IN" sz="1800" b="1" i="0" u="none" strike="noStrike" kern="0" cap="none" spc="0" normalizeH="0" baseline="0" noProof="0" dirty="0">
              <a:ln>
                <a:noFill/>
              </a:ln>
              <a:solidFill>
                <a:sysClr val="windowText" lastClr="000000"/>
              </a:solidFill>
              <a:effectLst/>
              <a:uLnTx/>
              <a:uFillTx/>
              <a:latin typeface="+mj-lt"/>
            </a:endParaRPr>
          </a:p>
        </p:txBody>
      </p:sp>
      <p:pic>
        <p:nvPicPr>
          <p:cNvPr id="3" name="Picture 2">
            <a:extLst>
              <a:ext uri="{FF2B5EF4-FFF2-40B4-BE49-F238E27FC236}">
                <a16:creationId xmlns:a16="http://schemas.microsoft.com/office/drawing/2014/main" id="{CEE35E92-EA92-7B5A-596F-630F385D6D5A}"/>
              </a:ext>
            </a:extLst>
          </p:cNvPr>
          <p:cNvPicPr>
            <a:picLocks noChangeAspect="1"/>
          </p:cNvPicPr>
          <p:nvPr/>
        </p:nvPicPr>
        <p:blipFill>
          <a:blip r:embed="rId3"/>
          <a:stretch>
            <a:fillRect/>
          </a:stretch>
        </p:blipFill>
        <p:spPr>
          <a:xfrm>
            <a:off x="1439283" y="1518732"/>
            <a:ext cx="5839047" cy="3358985"/>
          </a:xfrm>
          <a:prstGeom prst="rect">
            <a:avLst/>
          </a:prstGeom>
        </p:spPr>
      </p:pic>
    </p:spTree>
    <p:extLst>
      <p:ext uri="{BB962C8B-B14F-4D97-AF65-F5344CB8AC3E}">
        <p14:creationId xmlns:p14="http://schemas.microsoft.com/office/powerpoint/2010/main" val="394104804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C9C6E9C9-18BD-9C43-6107-8A0BCB998CFB}"/>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355DC43E-B7E5-4090-92DF-ADC6E97121A6}"/>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Greedy Technique</a:t>
            </a:r>
          </a:p>
        </p:txBody>
      </p:sp>
      <p:sp>
        <p:nvSpPr>
          <p:cNvPr id="369" name="Google Shape;369;p42">
            <a:extLst>
              <a:ext uri="{FF2B5EF4-FFF2-40B4-BE49-F238E27FC236}">
                <a16:creationId xmlns:a16="http://schemas.microsoft.com/office/drawing/2014/main" id="{08DCDD3B-1C73-C322-8F5D-22AF2112C3B8}"/>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90</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3087F42C-306F-6427-B448-270C02FA9C70}"/>
              </a:ext>
            </a:extLst>
          </p:cNvPr>
          <p:cNvSpPr txBox="1"/>
          <p:nvPr/>
        </p:nvSpPr>
        <p:spPr>
          <a:xfrm>
            <a:off x="154290" y="1060459"/>
            <a:ext cx="8761110" cy="923289"/>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IN" sz="1800" b="1" i="0" u="none" strike="noStrike" kern="0" cap="none" spc="0" normalizeH="0" baseline="0" noProof="0" dirty="0">
                <a:ln>
                  <a:noFill/>
                </a:ln>
                <a:solidFill>
                  <a:sysClr val="windowText" lastClr="000000"/>
                </a:solidFill>
                <a:effectLst/>
                <a:uLnTx/>
                <a:uFillTx/>
                <a:latin typeface="+mj-lt"/>
              </a:rPr>
              <a:t>Kruskal’s Algorithm ( </a:t>
            </a:r>
            <a:r>
              <a:rPr kumimoji="0" lang="en-US" sz="1800" b="1" i="0" u="none" strike="noStrike" kern="0" cap="none" spc="0" normalizeH="0" baseline="0" noProof="0" dirty="0">
                <a:ln>
                  <a:noFill/>
                </a:ln>
                <a:solidFill>
                  <a:sysClr val="windowText" lastClr="000000"/>
                </a:solidFill>
                <a:effectLst/>
                <a:uLnTx/>
                <a:uFillTx/>
                <a:latin typeface="+mj-lt"/>
              </a:rPr>
              <a:t>Disjoint Subsets and Union-Find Algorithms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endParaRPr kumimoji="0" lang="en-IN" sz="1800" b="1" i="0" u="none" strike="noStrike" kern="0" cap="none" spc="0" normalizeH="0" baseline="0" noProof="0" dirty="0">
              <a:ln>
                <a:noFill/>
              </a:ln>
              <a:solidFill>
                <a:sysClr val="windowText" lastClr="000000"/>
              </a:solidFill>
              <a:effectLst/>
              <a:uLnTx/>
              <a:uFillTx/>
              <a:latin typeface="+mj-lt"/>
            </a:endParaRPr>
          </a:p>
        </p:txBody>
      </p:sp>
      <p:pic>
        <p:nvPicPr>
          <p:cNvPr id="5" name="Picture 4">
            <a:extLst>
              <a:ext uri="{FF2B5EF4-FFF2-40B4-BE49-F238E27FC236}">
                <a16:creationId xmlns:a16="http://schemas.microsoft.com/office/drawing/2014/main" id="{4AC7857C-D38C-22DB-81D8-55CF4EE44E3F}"/>
              </a:ext>
            </a:extLst>
          </p:cNvPr>
          <p:cNvPicPr>
            <a:picLocks noChangeAspect="1"/>
          </p:cNvPicPr>
          <p:nvPr/>
        </p:nvPicPr>
        <p:blipFill>
          <a:blip r:embed="rId3"/>
          <a:stretch>
            <a:fillRect/>
          </a:stretch>
        </p:blipFill>
        <p:spPr>
          <a:xfrm>
            <a:off x="977651" y="1545030"/>
            <a:ext cx="6690940" cy="3314987"/>
          </a:xfrm>
          <a:prstGeom prst="rect">
            <a:avLst/>
          </a:prstGeom>
        </p:spPr>
      </p:pic>
    </p:spTree>
    <p:extLst>
      <p:ext uri="{BB962C8B-B14F-4D97-AF65-F5344CB8AC3E}">
        <p14:creationId xmlns:p14="http://schemas.microsoft.com/office/powerpoint/2010/main" val="187751636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94C80485-FE7D-9DA1-6DD9-5AE4A47B9315}"/>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24178227-1BA2-6EF7-FB3F-A474B059405B}"/>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Greedy Technique</a:t>
            </a:r>
          </a:p>
        </p:txBody>
      </p:sp>
      <p:sp>
        <p:nvSpPr>
          <p:cNvPr id="369" name="Google Shape;369;p42">
            <a:extLst>
              <a:ext uri="{FF2B5EF4-FFF2-40B4-BE49-F238E27FC236}">
                <a16:creationId xmlns:a16="http://schemas.microsoft.com/office/drawing/2014/main" id="{F63F77F5-2507-60EC-B026-2E0AA1DD3C86}"/>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91</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07EC1082-7706-729E-E8B3-F4F48950EC51}"/>
              </a:ext>
            </a:extLst>
          </p:cNvPr>
          <p:cNvSpPr txBox="1"/>
          <p:nvPr/>
        </p:nvSpPr>
        <p:spPr>
          <a:xfrm>
            <a:off x="154290" y="1060459"/>
            <a:ext cx="8761110" cy="3254697"/>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IN" sz="1800" b="1" i="0" u="none" strike="noStrike" kern="0" cap="none" spc="0" normalizeH="0" baseline="0" noProof="0" dirty="0">
                <a:ln>
                  <a:noFill/>
                </a:ln>
                <a:solidFill>
                  <a:sysClr val="windowText" lastClr="000000"/>
                </a:solidFill>
                <a:effectLst/>
                <a:uLnTx/>
                <a:uFillTx/>
                <a:latin typeface="+mj-lt"/>
              </a:rPr>
              <a:t>Kruskal’s Algorithm ( </a:t>
            </a:r>
            <a:r>
              <a:rPr kumimoji="0" lang="en-US" sz="1800" b="1" i="0" u="none" strike="noStrike" kern="0" cap="none" spc="0" normalizeH="0" baseline="0" noProof="0" dirty="0">
                <a:ln>
                  <a:noFill/>
                </a:ln>
                <a:solidFill>
                  <a:sysClr val="windowText" lastClr="000000"/>
                </a:solidFill>
                <a:effectLst/>
                <a:uLnTx/>
                <a:uFillTx/>
                <a:latin typeface="+mj-lt"/>
              </a:rPr>
              <a:t>Disjoint Subsets and Union-Find Algorithms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j-lt"/>
              </a:rPr>
              <a:t>Under this scheme, the implementation of </a:t>
            </a:r>
            <a:r>
              <a:rPr kumimoji="0" lang="en-US" sz="1700" b="0" i="0" u="none" strike="noStrike" kern="0" cap="none" spc="0" normalizeH="0" baseline="0" noProof="0" dirty="0" err="1">
                <a:ln>
                  <a:noFill/>
                </a:ln>
                <a:solidFill>
                  <a:sysClr val="windowText" lastClr="000000"/>
                </a:solidFill>
                <a:effectLst/>
                <a:uLnTx/>
                <a:uFillTx/>
                <a:latin typeface="+mj-lt"/>
              </a:rPr>
              <a:t>makeset</a:t>
            </a:r>
            <a:r>
              <a:rPr kumimoji="0" lang="en-US" sz="1700" b="0" i="0" u="none" strike="noStrike" kern="0" cap="none" spc="0" normalizeH="0" baseline="0" noProof="0" dirty="0">
                <a:ln>
                  <a:noFill/>
                </a:ln>
                <a:solidFill>
                  <a:sysClr val="windowText" lastClr="000000"/>
                </a:solidFill>
                <a:effectLst/>
                <a:uLnTx/>
                <a:uFillTx/>
                <a:latin typeface="+mj-lt"/>
              </a:rPr>
              <a:t>(x) requires assigning the corresponding element in the representative array to x and initializing the corresponding linked list to a single node with the x value.</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j-lt"/>
              </a:rPr>
              <a:t>The time efficiency of this operation is obviously in       , and hence the initialization of n singleton subsets is in         .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j-lt"/>
              </a:rPr>
              <a:t>The efficiency of find(x) is also in      : all we need to do is to retrieve the x’s representative in the representative array. Executing union(x, y) takes longer. </a:t>
            </a:r>
            <a:endParaRPr kumimoji="0" lang="en-IN" sz="1800" b="1" i="0" u="none" strike="noStrike" kern="0" cap="none" spc="0" normalizeH="0" baseline="0" noProof="0" dirty="0">
              <a:ln>
                <a:noFill/>
              </a:ln>
              <a:solidFill>
                <a:sysClr val="windowText" lastClr="000000"/>
              </a:solidFill>
              <a:effectLst/>
              <a:uLnTx/>
              <a:uFillTx/>
              <a:latin typeface="+mj-lt"/>
            </a:endParaRPr>
          </a:p>
        </p:txBody>
      </p:sp>
      <p:pic>
        <p:nvPicPr>
          <p:cNvPr id="3" name="Picture 2">
            <a:extLst>
              <a:ext uri="{FF2B5EF4-FFF2-40B4-BE49-F238E27FC236}">
                <a16:creationId xmlns:a16="http://schemas.microsoft.com/office/drawing/2014/main" id="{564F639F-A7AB-EE7B-2A42-679D35AD7580}"/>
              </a:ext>
            </a:extLst>
          </p:cNvPr>
          <p:cNvPicPr>
            <a:picLocks noChangeAspect="1"/>
          </p:cNvPicPr>
          <p:nvPr/>
        </p:nvPicPr>
        <p:blipFill>
          <a:blip r:embed="rId3"/>
          <a:stretch>
            <a:fillRect/>
          </a:stretch>
        </p:blipFill>
        <p:spPr>
          <a:xfrm>
            <a:off x="5474001" y="2772814"/>
            <a:ext cx="396274" cy="243861"/>
          </a:xfrm>
          <a:prstGeom prst="rect">
            <a:avLst/>
          </a:prstGeom>
        </p:spPr>
      </p:pic>
      <p:pic>
        <p:nvPicPr>
          <p:cNvPr id="5" name="Picture 4">
            <a:extLst>
              <a:ext uri="{FF2B5EF4-FFF2-40B4-BE49-F238E27FC236}">
                <a16:creationId xmlns:a16="http://schemas.microsoft.com/office/drawing/2014/main" id="{D7EB36C1-834D-83D1-BDBA-5D99E0C92680}"/>
              </a:ext>
            </a:extLst>
          </p:cNvPr>
          <p:cNvPicPr>
            <a:picLocks noChangeAspect="1"/>
          </p:cNvPicPr>
          <p:nvPr/>
        </p:nvPicPr>
        <p:blipFill>
          <a:blip r:embed="rId3"/>
          <a:stretch>
            <a:fillRect/>
          </a:stretch>
        </p:blipFill>
        <p:spPr>
          <a:xfrm>
            <a:off x="4087144" y="3575707"/>
            <a:ext cx="396274" cy="243861"/>
          </a:xfrm>
          <a:prstGeom prst="rect">
            <a:avLst/>
          </a:prstGeom>
        </p:spPr>
      </p:pic>
      <p:pic>
        <p:nvPicPr>
          <p:cNvPr id="7" name="Picture 6">
            <a:extLst>
              <a:ext uri="{FF2B5EF4-FFF2-40B4-BE49-F238E27FC236}">
                <a16:creationId xmlns:a16="http://schemas.microsoft.com/office/drawing/2014/main" id="{39EC263A-4833-AE26-8A77-4F20516A3993}"/>
              </a:ext>
            </a:extLst>
          </p:cNvPr>
          <p:cNvPicPr>
            <a:picLocks noChangeAspect="1"/>
          </p:cNvPicPr>
          <p:nvPr/>
        </p:nvPicPr>
        <p:blipFill>
          <a:blip r:embed="rId4"/>
          <a:stretch>
            <a:fillRect/>
          </a:stretch>
        </p:blipFill>
        <p:spPr>
          <a:xfrm>
            <a:off x="2914650" y="3184452"/>
            <a:ext cx="419136" cy="236240"/>
          </a:xfrm>
          <a:prstGeom prst="rect">
            <a:avLst/>
          </a:prstGeom>
        </p:spPr>
      </p:pic>
    </p:spTree>
    <p:extLst>
      <p:ext uri="{BB962C8B-B14F-4D97-AF65-F5344CB8AC3E}">
        <p14:creationId xmlns:p14="http://schemas.microsoft.com/office/powerpoint/2010/main" val="267535943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B2229207-E8B2-25B4-D1D5-8B3E3FBAB388}"/>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8E602F43-66FA-7D60-C4AA-BDE277A60D09}"/>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Greedy Technique</a:t>
            </a:r>
          </a:p>
        </p:txBody>
      </p:sp>
      <p:sp>
        <p:nvSpPr>
          <p:cNvPr id="369" name="Google Shape;369;p42">
            <a:extLst>
              <a:ext uri="{FF2B5EF4-FFF2-40B4-BE49-F238E27FC236}">
                <a16:creationId xmlns:a16="http://schemas.microsoft.com/office/drawing/2014/main" id="{F6F56530-8756-DC02-C0B4-D439655E5DDE}"/>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92</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83C3B420-E5A5-1031-1078-AC7CB0E7E493}"/>
              </a:ext>
            </a:extLst>
          </p:cNvPr>
          <p:cNvSpPr txBox="1"/>
          <p:nvPr/>
        </p:nvSpPr>
        <p:spPr>
          <a:xfrm>
            <a:off x="154290" y="1060459"/>
            <a:ext cx="8761110" cy="4062610"/>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IN" sz="1800" b="1" i="0" u="none" strike="noStrike" kern="0" cap="none" spc="0" normalizeH="0" baseline="0" noProof="0" dirty="0">
                <a:ln>
                  <a:noFill/>
                </a:ln>
                <a:solidFill>
                  <a:sysClr val="windowText" lastClr="000000"/>
                </a:solidFill>
                <a:effectLst/>
                <a:uLnTx/>
                <a:uFillTx/>
                <a:latin typeface="+mj-lt"/>
              </a:rPr>
              <a:t>Kruskal’s Algorithm ( </a:t>
            </a:r>
            <a:r>
              <a:rPr kumimoji="0" lang="en-US" sz="1800" b="1" i="0" u="none" strike="noStrike" kern="0" cap="none" spc="0" normalizeH="0" baseline="0" noProof="0" dirty="0">
                <a:ln>
                  <a:noFill/>
                </a:ln>
                <a:solidFill>
                  <a:sysClr val="windowText" lastClr="000000"/>
                </a:solidFill>
                <a:effectLst/>
                <a:uLnTx/>
                <a:uFillTx/>
                <a:latin typeface="+mj-lt"/>
              </a:rPr>
              <a:t>Disjoint Subsets and Union-Find Algorithms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j-lt"/>
              </a:rPr>
              <a:t>A straightforward solution would simply append the y’s list to the end of the x’s list, update the information about their representative for all the elements in the y list, and then delete the y’s list from the collection.</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j-lt"/>
              </a:rPr>
              <a:t>It is easy to verify, however, that with this algorithm the sequence of union operations</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endParaRPr kumimoji="0" lang="en-US" sz="1700" b="0" i="0" u="none" strike="noStrike" kern="0" cap="none" spc="0" normalizeH="0" baseline="0" noProof="0" dirty="0">
              <a:ln>
                <a:noFill/>
              </a:ln>
              <a:solidFill>
                <a:sysClr val="windowText" lastClr="000000"/>
              </a:solidFill>
              <a:effectLst/>
              <a:uLnTx/>
              <a:uFillTx/>
              <a:latin typeface="+mj-lt"/>
            </a:endParaRP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endParaRPr kumimoji="0" lang="en-US" sz="1700" b="0" i="0" u="none" strike="noStrike" kern="0" cap="none" spc="0" normalizeH="0" baseline="0" noProof="0" dirty="0">
              <a:ln>
                <a:noFill/>
              </a:ln>
              <a:solidFill>
                <a:sysClr val="windowText" lastClr="000000"/>
              </a:solidFill>
              <a:effectLst/>
              <a:uLnTx/>
              <a:uFillTx/>
              <a:latin typeface="+mj-lt"/>
            </a:endParaRP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j-lt"/>
              </a:rPr>
              <a:t>A simple way to improve the overall efficiency of a sequence of union operations is to always append the shorter of the two lists to the longer one, with ties broken arbitrarily.</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endParaRPr kumimoji="0" lang="en-IN" sz="1800" b="1" i="0" u="none" strike="noStrike" kern="0" cap="none" spc="0" normalizeH="0" baseline="0" noProof="0" dirty="0">
              <a:ln>
                <a:noFill/>
              </a:ln>
              <a:solidFill>
                <a:sysClr val="windowText" lastClr="000000"/>
              </a:solidFill>
              <a:effectLst/>
              <a:uLnTx/>
              <a:uFillTx/>
              <a:latin typeface="+mj-lt"/>
            </a:endParaRPr>
          </a:p>
        </p:txBody>
      </p:sp>
      <p:pic>
        <p:nvPicPr>
          <p:cNvPr id="6" name="Picture 5">
            <a:extLst>
              <a:ext uri="{FF2B5EF4-FFF2-40B4-BE49-F238E27FC236}">
                <a16:creationId xmlns:a16="http://schemas.microsoft.com/office/drawing/2014/main" id="{B770CB13-53BE-08AE-E2AE-35BC69DDB1CC}"/>
              </a:ext>
            </a:extLst>
          </p:cNvPr>
          <p:cNvPicPr>
            <a:picLocks noChangeAspect="1"/>
          </p:cNvPicPr>
          <p:nvPr/>
        </p:nvPicPr>
        <p:blipFill>
          <a:blip r:embed="rId3"/>
          <a:stretch>
            <a:fillRect/>
          </a:stretch>
        </p:blipFill>
        <p:spPr>
          <a:xfrm>
            <a:off x="1389912" y="3134627"/>
            <a:ext cx="6035563" cy="624894"/>
          </a:xfrm>
          <a:prstGeom prst="rect">
            <a:avLst/>
          </a:prstGeom>
        </p:spPr>
      </p:pic>
    </p:spTree>
    <p:extLst>
      <p:ext uri="{BB962C8B-B14F-4D97-AF65-F5344CB8AC3E}">
        <p14:creationId xmlns:p14="http://schemas.microsoft.com/office/powerpoint/2010/main" val="2100381885"/>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BA6F5FC2-0930-D96B-02CA-DBCBE27712E4}"/>
            </a:ext>
          </a:extLst>
        </p:cNvPr>
        <p:cNvGrpSpPr/>
        <p:nvPr/>
      </p:nvGrpSpPr>
      <p:grpSpPr>
        <a:xfrm>
          <a:off x="0" y="0"/>
          <a:ext cx="0" cy="0"/>
          <a:chOff x="0" y="0"/>
          <a:chExt cx="0" cy="0"/>
        </a:xfrm>
      </p:grpSpPr>
      <p:sp>
        <p:nvSpPr>
          <p:cNvPr id="369" name="Google Shape;369;p42">
            <a:extLst>
              <a:ext uri="{FF2B5EF4-FFF2-40B4-BE49-F238E27FC236}">
                <a16:creationId xmlns:a16="http://schemas.microsoft.com/office/drawing/2014/main" id="{402EE263-ABBA-DACD-EFC3-195F682714C3}"/>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93</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BE48B0D3-A6AA-D399-7619-07661208675D}"/>
              </a:ext>
            </a:extLst>
          </p:cNvPr>
          <p:cNvSpPr txBox="1"/>
          <p:nvPr/>
        </p:nvSpPr>
        <p:spPr>
          <a:xfrm>
            <a:off x="154290" y="1060459"/>
            <a:ext cx="8761110" cy="4039527"/>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IN" sz="1800" b="1" i="0" u="none" strike="noStrike" kern="0" cap="none" spc="0" normalizeH="0" baseline="0" noProof="0" dirty="0">
                <a:ln>
                  <a:noFill/>
                </a:ln>
                <a:solidFill>
                  <a:sysClr val="windowText" lastClr="000000"/>
                </a:solidFill>
                <a:effectLst/>
                <a:uLnTx/>
                <a:uFillTx/>
                <a:latin typeface="+mj-lt"/>
              </a:rPr>
              <a:t>Kruskal’s Algorithm ( </a:t>
            </a:r>
            <a:r>
              <a:rPr kumimoji="0" lang="en-US" sz="1800" b="1" i="0" u="none" strike="noStrike" kern="0" cap="none" spc="0" normalizeH="0" baseline="0" noProof="0" dirty="0">
                <a:ln>
                  <a:noFill/>
                </a:ln>
                <a:solidFill>
                  <a:sysClr val="windowText" lastClr="000000"/>
                </a:solidFill>
                <a:effectLst/>
                <a:uLnTx/>
                <a:uFillTx/>
                <a:latin typeface="+mj-lt"/>
              </a:rPr>
              <a:t>Disjoint Subsets and Union-Find Algorithms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j-lt"/>
              </a:rPr>
              <a:t>The size of each list is assumed to be available by, say, storing the number of elements in the list’s header.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j-lt"/>
              </a:rPr>
              <a:t>This modification is called the union by size.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j-lt"/>
              </a:rPr>
              <a:t>Though it does not improve the worst-case efficiency of a single application of the union operation the worst-case running time of any legitimate sequence of union-by-size operations turns  out to be in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j-lt"/>
              </a:rPr>
              <a:t>Thus, for union by size, the time efficiency of a sequence of at most n − 1 unions and m finds is in O(n log n + m).</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endParaRPr kumimoji="0" lang="en-IN" sz="1700" b="0" i="0" u="none" strike="noStrike" kern="0" cap="none" spc="0" normalizeH="0" baseline="0" noProof="0" dirty="0">
              <a:ln>
                <a:noFill/>
              </a:ln>
              <a:solidFill>
                <a:sysClr val="windowText" lastClr="000000"/>
              </a:solidFill>
              <a:effectLst/>
              <a:uLnTx/>
              <a:uFillTx/>
              <a:latin typeface="+mj-lt"/>
            </a:endParaRPr>
          </a:p>
        </p:txBody>
      </p:sp>
      <p:pic>
        <p:nvPicPr>
          <p:cNvPr id="5" name="Picture 4">
            <a:extLst>
              <a:ext uri="{FF2B5EF4-FFF2-40B4-BE49-F238E27FC236}">
                <a16:creationId xmlns:a16="http://schemas.microsoft.com/office/drawing/2014/main" id="{1501BD62-FD35-35FB-4E9D-444FFAAAB056}"/>
              </a:ext>
            </a:extLst>
          </p:cNvPr>
          <p:cNvPicPr>
            <a:picLocks noChangeAspect="1"/>
          </p:cNvPicPr>
          <p:nvPr/>
        </p:nvPicPr>
        <p:blipFill>
          <a:blip r:embed="rId3"/>
          <a:stretch>
            <a:fillRect/>
          </a:stretch>
        </p:blipFill>
        <p:spPr>
          <a:xfrm>
            <a:off x="3778526" y="3175149"/>
            <a:ext cx="929721" cy="236240"/>
          </a:xfrm>
          <a:prstGeom prst="rect">
            <a:avLst/>
          </a:prstGeom>
        </p:spPr>
      </p:pic>
    </p:spTree>
    <p:extLst>
      <p:ext uri="{BB962C8B-B14F-4D97-AF65-F5344CB8AC3E}">
        <p14:creationId xmlns:p14="http://schemas.microsoft.com/office/powerpoint/2010/main" val="2184302224"/>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6CBBB734-D45E-4CE6-C130-734C8F5B6491}"/>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5A20E3E0-13D7-3617-9BE9-C7FBCB27FC3C}"/>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Greedy Technique</a:t>
            </a:r>
          </a:p>
        </p:txBody>
      </p:sp>
      <p:sp>
        <p:nvSpPr>
          <p:cNvPr id="369" name="Google Shape;369;p42">
            <a:extLst>
              <a:ext uri="{FF2B5EF4-FFF2-40B4-BE49-F238E27FC236}">
                <a16:creationId xmlns:a16="http://schemas.microsoft.com/office/drawing/2014/main" id="{428B3187-7C6E-5F2F-B068-073DD87E555C}"/>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94</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BC43E24A-0ECC-0B4C-EE7C-749CA9F3EC71}"/>
              </a:ext>
            </a:extLst>
          </p:cNvPr>
          <p:cNvSpPr txBox="1"/>
          <p:nvPr/>
        </p:nvSpPr>
        <p:spPr>
          <a:xfrm>
            <a:off x="154290" y="1060459"/>
            <a:ext cx="8761110" cy="3647112"/>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IN" sz="1800" b="1" i="0" u="none" strike="noStrike" kern="0" cap="none" spc="0" normalizeH="0" baseline="0" noProof="0" dirty="0">
                <a:ln>
                  <a:noFill/>
                </a:ln>
                <a:solidFill>
                  <a:sysClr val="windowText" lastClr="000000"/>
                </a:solidFill>
                <a:effectLst/>
                <a:uLnTx/>
                <a:uFillTx/>
                <a:latin typeface="+mj-lt"/>
              </a:rPr>
              <a:t>Kruskal’s Algorithm ( </a:t>
            </a:r>
            <a:r>
              <a:rPr kumimoji="0" lang="en-US" sz="1800" b="1" i="0" u="none" strike="noStrike" kern="0" cap="none" spc="0" normalizeH="0" baseline="0" noProof="0" dirty="0">
                <a:ln>
                  <a:noFill/>
                </a:ln>
                <a:solidFill>
                  <a:sysClr val="windowText" lastClr="000000"/>
                </a:solidFill>
                <a:effectLst/>
                <a:uLnTx/>
                <a:uFillTx/>
                <a:latin typeface="+mj-lt"/>
              </a:rPr>
              <a:t>Disjoint Subsets and Union-Find Algorithms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j-lt"/>
              </a:rPr>
              <a:t>The quick union—the second principal alternative for implementing disjoint subsets—represents each subset by a rooted tree.</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j-lt"/>
              </a:rPr>
              <a:t> The nodes of the tree contain the subset’s elements (one per node), with the root’s element considered the subset’s representative; the tree’s edges are directed from children to their parents (Figure 9.8).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j-lt"/>
              </a:rPr>
              <a:t>In addition, a mapping of the set elements to their tree nodes— implemented, say, as an array of pointers—is maintained.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j-lt"/>
              </a:rPr>
              <a:t>This mapping is not shown in Figure 9.8 for the sake of simplicity.</a:t>
            </a:r>
            <a:endParaRPr kumimoji="0" lang="en-IN" sz="1700" b="0" i="0" u="none" strike="noStrike" kern="0" cap="none" spc="0" normalizeH="0" baseline="0" noProof="0" dirty="0">
              <a:ln>
                <a:noFill/>
              </a:ln>
              <a:solidFill>
                <a:sysClr val="windowText" lastClr="000000"/>
              </a:solidFill>
              <a:effectLst/>
              <a:uLnTx/>
              <a:uFillTx/>
              <a:latin typeface="+mj-lt"/>
            </a:endParaRPr>
          </a:p>
        </p:txBody>
      </p:sp>
    </p:spTree>
    <p:extLst>
      <p:ext uri="{BB962C8B-B14F-4D97-AF65-F5344CB8AC3E}">
        <p14:creationId xmlns:p14="http://schemas.microsoft.com/office/powerpoint/2010/main" val="124867480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39E38519-AA46-2ABB-54AB-2EC59E39D310}"/>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C3C3A898-3180-981C-CCC5-EE7789810E31}"/>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Greedy Technique</a:t>
            </a:r>
          </a:p>
        </p:txBody>
      </p:sp>
      <p:sp>
        <p:nvSpPr>
          <p:cNvPr id="369" name="Google Shape;369;p42">
            <a:extLst>
              <a:ext uri="{FF2B5EF4-FFF2-40B4-BE49-F238E27FC236}">
                <a16:creationId xmlns:a16="http://schemas.microsoft.com/office/drawing/2014/main" id="{E218AD7C-931C-4B9B-6D58-4C8F68D049DA}"/>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95</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97C08FAB-4033-4B77-71CA-0F5F5DD7CBFC}"/>
              </a:ext>
            </a:extLst>
          </p:cNvPr>
          <p:cNvSpPr txBox="1"/>
          <p:nvPr/>
        </p:nvSpPr>
        <p:spPr>
          <a:xfrm>
            <a:off x="154290" y="1060459"/>
            <a:ext cx="8761110" cy="3785611"/>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IN" sz="1800" b="1" i="0" u="none" strike="noStrike" kern="0" cap="none" spc="0" normalizeH="0" baseline="0" noProof="0" dirty="0">
                <a:ln>
                  <a:noFill/>
                </a:ln>
                <a:solidFill>
                  <a:sysClr val="windowText" lastClr="000000"/>
                </a:solidFill>
                <a:effectLst/>
                <a:uLnTx/>
                <a:uFillTx/>
                <a:latin typeface="+mj-lt"/>
              </a:rPr>
              <a:t>Kruskal’s Algorithm ( </a:t>
            </a:r>
            <a:r>
              <a:rPr kumimoji="0" lang="en-US" sz="1800" b="1" i="0" u="none" strike="noStrike" kern="0" cap="none" spc="0" normalizeH="0" baseline="0" noProof="0" dirty="0">
                <a:ln>
                  <a:noFill/>
                </a:ln>
                <a:solidFill>
                  <a:sysClr val="windowText" lastClr="000000"/>
                </a:solidFill>
                <a:effectLst/>
                <a:uLnTx/>
                <a:uFillTx/>
                <a:latin typeface="+mj-lt"/>
              </a:rPr>
              <a:t>Disjoint Subsets and Union-Find Algorithms )</a:t>
            </a:r>
          </a:p>
          <a:p>
            <a:pPr marL="0" marR="0" lvl="0" indent="0" algn="just" defTabSz="914400" eaLnBrk="1" fontAlgn="auto" latinLnBrk="0" hangingPunct="1">
              <a:lnSpc>
                <a:spcPct val="150000"/>
              </a:lnSpc>
              <a:spcBef>
                <a:spcPts val="0"/>
              </a:spcBef>
              <a:spcAft>
                <a:spcPts val="0"/>
              </a:spcAft>
              <a:buClrTx/>
              <a:buSzPts val="1800"/>
              <a:buFontTx/>
              <a:buNone/>
              <a:tabLst/>
              <a:defRPr/>
            </a:pPr>
            <a:endParaRPr kumimoji="0" lang="en-US" sz="1800" b="1" i="0" u="none" strike="noStrike" kern="0" cap="none" spc="0" normalizeH="0" baseline="0" noProof="0" dirty="0">
              <a:ln>
                <a:noFill/>
              </a:ln>
              <a:solidFill>
                <a:sysClr val="windowText" lastClr="000000"/>
              </a:solidFill>
              <a:effectLst/>
              <a:uLnTx/>
              <a:uFillTx/>
              <a:latin typeface="+mj-lt"/>
            </a:endParaRPr>
          </a:p>
          <a:p>
            <a:pPr marL="0" marR="0" lvl="0" indent="0" algn="just" defTabSz="914400" eaLnBrk="1" fontAlgn="auto" latinLnBrk="0" hangingPunct="1">
              <a:lnSpc>
                <a:spcPct val="150000"/>
              </a:lnSpc>
              <a:spcBef>
                <a:spcPts val="0"/>
              </a:spcBef>
              <a:spcAft>
                <a:spcPts val="0"/>
              </a:spcAft>
              <a:buClrTx/>
              <a:buSzPts val="1800"/>
              <a:buFontTx/>
              <a:buNone/>
              <a:tabLst/>
              <a:defRPr/>
            </a:pPr>
            <a:endParaRPr kumimoji="0" lang="en-US" sz="1800" b="1" i="0" u="none" strike="noStrike" kern="0" cap="none" spc="0" normalizeH="0" baseline="0" noProof="0" dirty="0">
              <a:ln>
                <a:noFill/>
              </a:ln>
              <a:solidFill>
                <a:sysClr val="windowText" lastClr="000000"/>
              </a:solidFill>
              <a:effectLst/>
              <a:uLnTx/>
              <a:uFillTx/>
              <a:latin typeface="+mj-lt"/>
            </a:endParaRPr>
          </a:p>
          <a:p>
            <a:pPr marL="0" marR="0" lvl="0" indent="0" algn="just" defTabSz="914400" eaLnBrk="1" fontAlgn="auto" latinLnBrk="0" hangingPunct="1">
              <a:lnSpc>
                <a:spcPct val="150000"/>
              </a:lnSpc>
              <a:spcBef>
                <a:spcPts val="0"/>
              </a:spcBef>
              <a:spcAft>
                <a:spcPts val="0"/>
              </a:spcAft>
              <a:buClrTx/>
              <a:buSzPts val="1800"/>
              <a:buFontTx/>
              <a:buNone/>
              <a:tabLst/>
              <a:defRPr/>
            </a:pPr>
            <a:endParaRPr kumimoji="0" lang="en-US" sz="1800" b="1" i="0" u="none" strike="noStrike" kern="0" cap="none" spc="0" normalizeH="0" baseline="0" noProof="0" dirty="0">
              <a:ln>
                <a:noFill/>
              </a:ln>
              <a:solidFill>
                <a:sysClr val="windowText" lastClr="000000"/>
              </a:solidFill>
              <a:effectLst/>
              <a:uLnTx/>
              <a:uFillTx/>
              <a:latin typeface="+mj-lt"/>
            </a:endParaRPr>
          </a:p>
          <a:p>
            <a:pPr marL="0" marR="0" lvl="0" indent="0" algn="just" defTabSz="914400" eaLnBrk="1" fontAlgn="auto" latinLnBrk="0" hangingPunct="1">
              <a:lnSpc>
                <a:spcPct val="150000"/>
              </a:lnSpc>
              <a:spcBef>
                <a:spcPts val="0"/>
              </a:spcBef>
              <a:spcAft>
                <a:spcPts val="0"/>
              </a:spcAft>
              <a:buClrTx/>
              <a:buSzPts val="1800"/>
              <a:buFontTx/>
              <a:buNone/>
              <a:tabLst/>
              <a:defRPr/>
            </a:pPr>
            <a:endParaRPr kumimoji="0" lang="en-US" sz="1800" b="1" i="0" u="none" strike="noStrike" kern="0" cap="none" spc="0" normalizeH="0" baseline="0" noProof="0" dirty="0">
              <a:ln>
                <a:noFill/>
              </a:ln>
              <a:solidFill>
                <a:sysClr val="windowText" lastClr="000000"/>
              </a:solidFill>
              <a:effectLst/>
              <a:uLnTx/>
              <a:uFillTx/>
              <a:latin typeface="+mj-lt"/>
            </a:endParaRPr>
          </a:p>
          <a:p>
            <a:pPr marL="0" marR="0" lvl="0" indent="0" algn="just" defTabSz="914400" eaLnBrk="1" fontAlgn="auto" latinLnBrk="0" hangingPunct="1">
              <a:lnSpc>
                <a:spcPct val="150000"/>
              </a:lnSpc>
              <a:spcBef>
                <a:spcPts val="0"/>
              </a:spcBef>
              <a:spcAft>
                <a:spcPts val="0"/>
              </a:spcAft>
              <a:buClrTx/>
              <a:buSzPts val="1800"/>
              <a:buFontTx/>
              <a:buNone/>
              <a:tabLst/>
              <a:defRPr/>
            </a:pPr>
            <a:endParaRPr kumimoji="0" lang="en-US" sz="1800" b="1" i="0" u="none" strike="noStrike" kern="0" cap="none" spc="0" normalizeH="0" baseline="0" noProof="0" dirty="0">
              <a:ln>
                <a:noFill/>
              </a:ln>
              <a:solidFill>
                <a:sysClr val="windowText" lastClr="000000"/>
              </a:solidFill>
              <a:effectLst/>
              <a:uLnTx/>
              <a:uFillTx/>
              <a:latin typeface="+mj-lt"/>
            </a:endParaRPr>
          </a:p>
          <a:p>
            <a:pPr marL="0" marR="0" lvl="0" indent="0" algn="just" defTabSz="914400" eaLnBrk="1" fontAlgn="auto" latinLnBrk="0" hangingPunct="1">
              <a:lnSpc>
                <a:spcPct val="150000"/>
              </a:lnSpc>
              <a:spcBef>
                <a:spcPts val="0"/>
              </a:spcBef>
              <a:spcAft>
                <a:spcPts val="0"/>
              </a:spcAft>
              <a:buClrTx/>
              <a:buSzPts val="1800"/>
              <a:buFontTx/>
              <a:buNone/>
              <a:tabLst/>
              <a:defRPr/>
            </a:pPr>
            <a:endParaRPr kumimoji="0" lang="en-US" sz="1800" b="1" i="0" u="none" strike="noStrike" kern="0" cap="none" spc="0" normalizeH="0" baseline="0" noProof="0" dirty="0">
              <a:ln>
                <a:noFill/>
              </a:ln>
              <a:solidFill>
                <a:sysClr val="windowText" lastClr="000000"/>
              </a:solidFill>
              <a:effectLst/>
              <a:uLnTx/>
              <a:uFillTx/>
              <a:latin typeface="+mj-lt"/>
            </a:endParaRP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j-lt"/>
              </a:rPr>
              <a:t>For this implementation, </a:t>
            </a:r>
            <a:r>
              <a:rPr kumimoji="0" lang="en-US" sz="1700" b="0" i="0" u="none" strike="noStrike" kern="0" cap="none" spc="0" normalizeH="0" baseline="0" noProof="0" dirty="0" err="1">
                <a:ln>
                  <a:noFill/>
                </a:ln>
                <a:solidFill>
                  <a:sysClr val="windowText" lastClr="000000"/>
                </a:solidFill>
                <a:effectLst/>
                <a:uLnTx/>
                <a:uFillTx/>
                <a:latin typeface="+mj-lt"/>
              </a:rPr>
              <a:t>makeset</a:t>
            </a:r>
            <a:r>
              <a:rPr kumimoji="0" lang="en-US" sz="1700" b="0" i="0" u="none" strike="noStrike" kern="0" cap="none" spc="0" normalizeH="0" baseline="0" noProof="0" dirty="0">
                <a:ln>
                  <a:noFill/>
                </a:ln>
                <a:solidFill>
                  <a:sysClr val="windowText" lastClr="000000"/>
                </a:solidFill>
                <a:effectLst/>
                <a:uLnTx/>
                <a:uFillTx/>
                <a:latin typeface="+mj-lt"/>
              </a:rPr>
              <a:t>(x) requires the creation of a single-node tree, which is a          operation; hence, the initialization of n singleton subsets is in   .</a:t>
            </a:r>
          </a:p>
        </p:txBody>
      </p:sp>
      <p:pic>
        <p:nvPicPr>
          <p:cNvPr id="5" name="Picture 4">
            <a:extLst>
              <a:ext uri="{FF2B5EF4-FFF2-40B4-BE49-F238E27FC236}">
                <a16:creationId xmlns:a16="http://schemas.microsoft.com/office/drawing/2014/main" id="{C36F20CD-750E-4E60-725C-DB0332967D9D}"/>
              </a:ext>
            </a:extLst>
          </p:cNvPr>
          <p:cNvPicPr>
            <a:picLocks noChangeAspect="1"/>
          </p:cNvPicPr>
          <p:nvPr/>
        </p:nvPicPr>
        <p:blipFill>
          <a:blip r:embed="rId3"/>
          <a:stretch>
            <a:fillRect/>
          </a:stretch>
        </p:blipFill>
        <p:spPr>
          <a:xfrm>
            <a:off x="1340840" y="1568250"/>
            <a:ext cx="6462320" cy="2453853"/>
          </a:xfrm>
          <a:prstGeom prst="rect">
            <a:avLst/>
          </a:prstGeom>
        </p:spPr>
      </p:pic>
      <p:sp>
        <p:nvSpPr>
          <p:cNvPr id="6" name="Google Shape;368;p42">
            <a:extLst>
              <a:ext uri="{FF2B5EF4-FFF2-40B4-BE49-F238E27FC236}">
                <a16:creationId xmlns:a16="http://schemas.microsoft.com/office/drawing/2014/main" id="{19EFDFAE-E33A-837F-4044-E39C12BFD48E}"/>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Greedy Technique</a:t>
            </a:r>
          </a:p>
        </p:txBody>
      </p:sp>
      <p:pic>
        <p:nvPicPr>
          <p:cNvPr id="8" name="Picture 7">
            <a:extLst>
              <a:ext uri="{FF2B5EF4-FFF2-40B4-BE49-F238E27FC236}">
                <a16:creationId xmlns:a16="http://schemas.microsoft.com/office/drawing/2014/main" id="{3F2CEE49-401F-3DD5-C3BE-EF733D656090}"/>
              </a:ext>
            </a:extLst>
          </p:cNvPr>
          <p:cNvPicPr>
            <a:picLocks noChangeAspect="1"/>
          </p:cNvPicPr>
          <p:nvPr/>
        </p:nvPicPr>
        <p:blipFill>
          <a:blip r:embed="rId4"/>
          <a:stretch>
            <a:fillRect/>
          </a:stretch>
        </p:blipFill>
        <p:spPr>
          <a:xfrm>
            <a:off x="980285" y="4507706"/>
            <a:ext cx="396274" cy="241849"/>
          </a:xfrm>
          <a:prstGeom prst="rect">
            <a:avLst/>
          </a:prstGeom>
        </p:spPr>
      </p:pic>
      <p:pic>
        <p:nvPicPr>
          <p:cNvPr id="9" name="Picture 8">
            <a:extLst>
              <a:ext uri="{FF2B5EF4-FFF2-40B4-BE49-F238E27FC236}">
                <a16:creationId xmlns:a16="http://schemas.microsoft.com/office/drawing/2014/main" id="{42261BA9-3A48-D410-2CEA-DD418B29A1D9}"/>
              </a:ext>
            </a:extLst>
          </p:cNvPr>
          <p:cNvPicPr>
            <a:picLocks noChangeAspect="1"/>
          </p:cNvPicPr>
          <p:nvPr/>
        </p:nvPicPr>
        <p:blipFill>
          <a:blip r:embed="rId5"/>
          <a:stretch>
            <a:fillRect/>
          </a:stretch>
        </p:blipFill>
        <p:spPr>
          <a:xfrm>
            <a:off x="7091316" y="4446768"/>
            <a:ext cx="419136" cy="236240"/>
          </a:xfrm>
          <a:prstGeom prst="rect">
            <a:avLst/>
          </a:prstGeom>
        </p:spPr>
      </p:pic>
    </p:spTree>
    <p:extLst>
      <p:ext uri="{BB962C8B-B14F-4D97-AF65-F5344CB8AC3E}">
        <p14:creationId xmlns:p14="http://schemas.microsoft.com/office/powerpoint/2010/main" val="87700676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56B05164-F2E3-B5C9-C4CF-396341D0C218}"/>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E844ADEE-67BE-98A4-1279-D0C31062A685}"/>
              </a:ext>
            </a:extLst>
          </p:cNvPr>
          <p:cNvSpPr txBox="1"/>
          <p:nvPr/>
        </p:nvSpPr>
        <p:spPr>
          <a:xfrm>
            <a:off x="154290" y="537278"/>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Greedy Technique</a:t>
            </a:r>
          </a:p>
        </p:txBody>
      </p:sp>
      <p:sp>
        <p:nvSpPr>
          <p:cNvPr id="369" name="Google Shape;369;p42">
            <a:extLst>
              <a:ext uri="{FF2B5EF4-FFF2-40B4-BE49-F238E27FC236}">
                <a16:creationId xmlns:a16="http://schemas.microsoft.com/office/drawing/2014/main" id="{9F63B007-E6B1-B276-1D20-790C93EF8632}"/>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96</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7FE7CEB5-00F9-2193-EC40-70349D981F50}"/>
              </a:ext>
            </a:extLst>
          </p:cNvPr>
          <p:cNvSpPr txBox="1"/>
          <p:nvPr/>
        </p:nvSpPr>
        <p:spPr>
          <a:xfrm>
            <a:off x="154290" y="1060459"/>
            <a:ext cx="8761110" cy="3831778"/>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IN" sz="1800" b="1" i="0" u="none" strike="noStrike" kern="0" cap="none" spc="0" normalizeH="0" baseline="0" noProof="0" dirty="0">
                <a:ln>
                  <a:noFill/>
                </a:ln>
                <a:solidFill>
                  <a:sysClr val="windowText" lastClr="000000"/>
                </a:solidFill>
                <a:effectLst/>
                <a:uLnTx/>
                <a:uFillTx/>
                <a:latin typeface="+mj-lt"/>
              </a:rPr>
              <a:t>Kruskal’s Algorithm ( </a:t>
            </a:r>
            <a:r>
              <a:rPr kumimoji="0" lang="en-US" sz="1800" b="1" i="0" u="none" strike="noStrike" kern="0" cap="none" spc="0" normalizeH="0" baseline="0" noProof="0" dirty="0">
                <a:ln>
                  <a:noFill/>
                </a:ln>
                <a:solidFill>
                  <a:sysClr val="windowText" lastClr="000000"/>
                </a:solidFill>
                <a:effectLst/>
                <a:uLnTx/>
                <a:uFillTx/>
                <a:latin typeface="+mj-lt"/>
              </a:rPr>
              <a:t>Disjoint Subsets and Union-Find Algorithms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latin typeface="+mj-lt"/>
              </a:rPr>
              <a:t>A union(x, y) is implemented by attaching the root of the y’s tree to the root of the x’s tree (and deleting the y’s tree from the collection by making the pointer to its root null).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latin typeface="+mj-lt"/>
              </a:rPr>
              <a:t>The time efficiency of this operation is clearly         .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latin typeface="+mj-lt"/>
              </a:rPr>
              <a:t>A find(x) is performed by following the pointer chain from the node containing x to the tree’s root whose element is returned as the subset’s representative.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latin typeface="+mj-lt"/>
              </a:rPr>
              <a:t>Accordingly, the time efficiency of a single find operation is in O(n) because a tree representing a subset can degenerate into a linked list with n nodes.</a:t>
            </a:r>
            <a:endParaRPr kumimoji="0" lang="en-US" sz="1700" b="0" i="0" u="none" strike="noStrike" kern="0" cap="none" spc="0" normalizeH="0" baseline="0" noProof="0" dirty="0">
              <a:ln>
                <a:noFill/>
              </a:ln>
              <a:solidFill>
                <a:sysClr val="windowText" lastClr="000000"/>
              </a:solidFill>
              <a:effectLst/>
              <a:uLnTx/>
              <a:uFillTx/>
              <a:latin typeface="+mj-lt"/>
            </a:endParaRPr>
          </a:p>
        </p:txBody>
      </p:sp>
      <p:pic>
        <p:nvPicPr>
          <p:cNvPr id="9" name="Picture 8">
            <a:extLst>
              <a:ext uri="{FF2B5EF4-FFF2-40B4-BE49-F238E27FC236}">
                <a16:creationId xmlns:a16="http://schemas.microsoft.com/office/drawing/2014/main" id="{0FF6AD02-833D-B90E-1D50-AB11F6708CEA}"/>
              </a:ext>
            </a:extLst>
          </p:cNvPr>
          <p:cNvPicPr>
            <a:picLocks noChangeAspect="1"/>
          </p:cNvPicPr>
          <p:nvPr/>
        </p:nvPicPr>
        <p:blipFill>
          <a:blip r:embed="rId3"/>
          <a:stretch>
            <a:fillRect/>
          </a:stretch>
        </p:blipFill>
        <p:spPr>
          <a:xfrm>
            <a:off x="5176194" y="2858228"/>
            <a:ext cx="419136" cy="236240"/>
          </a:xfrm>
          <a:prstGeom prst="rect">
            <a:avLst/>
          </a:prstGeom>
        </p:spPr>
      </p:pic>
    </p:spTree>
    <p:extLst>
      <p:ext uri="{BB962C8B-B14F-4D97-AF65-F5344CB8AC3E}">
        <p14:creationId xmlns:p14="http://schemas.microsoft.com/office/powerpoint/2010/main" val="426209437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470A4226-DA36-8A9D-2319-DAF694217D01}"/>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070B75E5-7DE9-2431-69A5-C7786B8CEA6C}"/>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Greedy Technique</a:t>
            </a:r>
          </a:p>
        </p:txBody>
      </p:sp>
      <p:sp>
        <p:nvSpPr>
          <p:cNvPr id="369" name="Google Shape;369;p42">
            <a:extLst>
              <a:ext uri="{FF2B5EF4-FFF2-40B4-BE49-F238E27FC236}">
                <a16:creationId xmlns:a16="http://schemas.microsoft.com/office/drawing/2014/main" id="{8E4FC26D-4071-6E97-6173-F29301185BB6}"/>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97</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747B5445-034C-E746-2039-639022010014}"/>
              </a:ext>
            </a:extLst>
          </p:cNvPr>
          <p:cNvSpPr txBox="1"/>
          <p:nvPr/>
        </p:nvSpPr>
        <p:spPr>
          <a:xfrm>
            <a:off x="154290" y="1060459"/>
            <a:ext cx="8761110" cy="3831778"/>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IN" sz="1800" b="1" i="0" u="none" strike="noStrike" kern="0" cap="none" spc="0" normalizeH="0" baseline="0" noProof="0" dirty="0">
                <a:ln>
                  <a:noFill/>
                </a:ln>
                <a:solidFill>
                  <a:sysClr val="windowText" lastClr="000000"/>
                </a:solidFill>
                <a:effectLst/>
                <a:uLnTx/>
                <a:uFillTx/>
                <a:latin typeface="+mj-lt"/>
              </a:rPr>
              <a:t>Kruskal’s Algorithm ( </a:t>
            </a:r>
            <a:r>
              <a:rPr kumimoji="0" lang="en-US" sz="1800" b="1" i="0" u="none" strike="noStrike" kern="0" cap="none" spc="0" normalizeH="0" baseline="0" noProof="0" dirty="0">
                <a:ln>
                  <a:noFill/>
                </a:ln>
                <a:solidFill>
                  <a:sysClr val="windowText" lastClr="000000"/>
                </a:solidFill>
                <a:effectLst/>
                <a:uLnTx/>
                <a:uFillTx/>
                <a:latin typeface="+mj-lt"/>
              </a:rPr>
              <a:t>Disjoint Subsets and Union-Find Algorithms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latin typeface="+mj-lt"/>
              </a:rPr>
              <a:t>This time bound can be improved.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latin typeface="+mj-lt"/>
              </a:rPr>
              <a:t>The straightforward way for doing so is to always perform a union operation by attaching a smaller tree to the root of a larger one, with ties broken arbitrarily.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latin typeface="+mj-lt"/>
              </a:rPr>
              <a:t>The size of a tree can be measured either by the number of nodes (this version is called union by size) or by its height (this version is called union by rank).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latin typeface="+mj-lt"/>
              </a:rPr>
              <a:t>Of course, these options require storing, for each node of the tree, either the number of node descendants or the height of the subtree rooted at that node, respectively. </a:t>
            </a:r>
          </a:p>
        </p:txBody>
      </p:sp>
      <p:sp>
        <p:nvSpPr>
          <p:cNvPr id="6" name="Google Shape;368;p42">
            <a:extLst>
              <a:ext uri="{FF2B5EF4-FFF2-40B4-BE49-F238E27FC236}">
                <a16:creationId xmlns:a16="http://schemas.microsoft.com/office/drawing/2014/main" id="{66329D5B-2E73-654C-041F-8D0C7F80DCDB}"/>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Greedy Technique</a:t>
            </a:r>
          </a:p>
        </p:txBody>
      </p:sp>
      <p:pic>
        <p:nvPicPr>
          <p:cNvPr id="9" name="Picture 8">
            <a:extLst>
              <a:ext uri="{FF2B5EF4-FFF2-40B4-BE49-F238E27FC236}">
                <a16:creationId xmlns:a16="http://schemas.microsoft.com/office/drawing/2014/main" id="{A09CF15C-46A4-03B5-6160-8349E2C8EBEC}"/>
              </a:ext>
            </a:extLst>
          </p:cNvPr>
          <p:cNvPicPr>
            <a:picLocks noChangeAspect="1"/>
          </p:cNvPicPr>
          <p:nvPr/>
        </p:nvPicPr>
        <p:blipFill>
          <a:blip r:embed="rId3"/>
          <a:stretch>
            <a:fillRect/>
          </a:stretch>
        </p:blipFill>
        <p:spPr>
          <a:xfrm>
            <a:off x="8472458" y="779264"/>
            <a:ext cx="419136" cy="236240"/>
          </a:xfrm>
          <a:prstGeom prst="rect">
            <a:avLst/>
          </a:prstGeom>
        </p:spPr>
      </p:pic>
    </p:spTree>
    <p:extLst>
      <p:ext uri="{BB962C8B-B14F-4D97-AF65-F5344CB8AC3E}">
        <p14:creationId xmlns:p14="http://schemas.microsoft.com/office/powerpoint/2010/main" val="334989161"/>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382D1542-BB43-2645-A462-10586716810D}"/>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DF42504D-68AF-0230-7AC9-980C565DD13E}"/>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Greedy Technique</a:t>
            </a:r>
          </a:p>
        </p:txBody>
      </p:sp>
      <p:sp>
        <p:nvSpPr>
          <p:cNvPr id="369" name="Google Shape;369;p42">
            <a:extLst>
              <a:ext uri="{FF2B5EF4-FFF2-40B4-BE49-F238E27FC236}">
                <a16:creationId xmlns:a16="http://schemas.microsoft.com/office/drawing/2014/main" id="{E668779F-45E3-8414-CA90-080C70CE0969}"/>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98</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E1DE10DB-5D82-41ED-1E42-0EFD83F729BF}"/>
              </a:ext>
            </a:extLst>
          </p:cNvPr>
          <p:cNvSpPr txBox="1"/>
          <p:nvPr/>
        </p:nvSpPr>
        <p:spPr>
          <a:xfrm>
            <a:off x="154290" y="1060459"/>
            <a:ext cx="8761110" cy="3831778"/>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IN" sz="1800" b="1" i="0" u="none" strike="noStrike" kern="0" cap="none" spc="0" normalizeH="0" baseline="0" noProof="0" dirty="0">
                <a:ln>
                  <a:noFill/>
                </a:ln>
                <a:solidFill>
                  <a:sysClr val="windowText" lastClr="000000"/>
                </a:solidFill>
                <a:effectLst/>
                <a:uLnTx/>
                <a:uFillTx/>
                <a:latin typeface="+mj-lt"/>
              </a:rPr>
              <a:t>Kruskal’s Algorithm ( </a:t>
            </a:r>
            <a:r>
              <a:rPr kumimoji="0" lang="en-US" sz="1800" b="1" i="0" u="none" strike="noStrike" kern="0" cap="none" spc="0" normalizeH="0" baseline="0" noProof="0" dirty="0">
                <a:ln>
                  <a:noFill/>
                </a:ln>
                <a:solidFill>
                  <a:sysClr val="windowText" lastClr="000000"/>
                </a:solidFill>
                <a:effectLst/>
                <a:uLnTx/>
                <a:uFillTx/>
                <a:latin typeface="+mj-lt"/>
              </a:rPr>
              <a:t>Disjoint Subsets and Union-Find Algorithms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latin typeface="+mj-lt"/>
              </a:rPr>
              <a:t>One can easily prove that in either case the height of the tree will be logarithmic, making it possible to execute each find in O(log n) time.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latin typeface="+mj-lt"/>
              </a:rPr>
              <a:t>Thus, for quick union, the time efficiency of a sequence of at most n − 1 unions and m finds is in O(n + m log n).</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latin typeface="+mj-lt"/>
              </a:rPr>
              <a:t>In fact, an even better efficiency can be obtained by combining either variety of quick union with path compression.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latin typeface="+mj-lt"/>
              </a:rPr>
              <a:t>This modification makes every node encountered during the execution of a find operation point to the tree’s root (Figure 9.9). </a:t>
            </a:r>
            <a:endParaRPr kumimoji="0" lang="en-US" sz="1700" b="0" i="0" u="none" strike="noStrike" kern="0" cap="none" spc="0" normalizeH="0" baseline="0" noProof="0" dirty="0">
              <a:ln>
                <a:noFill/>
              </a:ln>
              <a:solidFill>
                <a:sysClr val="windowText" lastClr="000000"/>
              </a:solidFill>
              <a:effectLst/>
              <a:uLnTx/>
              <a:uFillTx/>
              <a:latin typeface="+mj-lt"/>
            </a:endParaRPr>
          </a:p>
        </p:txBody>
      </p:sp>
      <p:sp>
        <p:nvSpPr>
          <p:cNvPr id="6" name="Google Shape;368;p42">
            <a:extLst>
              <a:ext uri="{FF2B5EF4-FFF2-40B4-BE49-F238E27FC236}">
                <a16:creationId xmlns:a16="http://schemas.microsoft.com/office/drawing/2014/main" id="{41C326A0-48B0-ACFE-AAA9-5F4A7B3004C2}"/>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Greedy Technique</a:t>
            </a:r>
          </a:p>
        </p:txBody>
      </p:sp>
      <p:pic>
        <p:nvPicPr>
          <p:cNvPr id="9" name="Picture 8">
            <a:extLst>
              <a:ext uri="{FF2B5EF4-FFF2-40B4-BE49-F238E27FC236}">
                <a16:creationId xmlns:a16="http://schemas.microsoft.com/office/drawing/2014/main" id="{90A6E0FC-66D8-4B31-F069-445FB8194FBB}"/>
              </a:ext>
            </a:extLst>
          </p:cNvPr>
          <p:cNvPicPr>
            <a:picLocks noChangeAspect="1"/>
          </p:cNvPicPr>
          <p:nvPr/>
        </p:nvPicPr>
        <p:blipFill>
          <a:blip r:embed="rId3"/>
          <a:stretch>
            <a:fillRect/>
          </a:stretch>
        </p:blipFill>
        <p:spPr>
          <a:xfrm>
            <a:off x="8472458" y="779264"/>
            <a:ext cx="419136" cy="236240"/>
          </a:xfrm>
          <a:prstGeom prst="rect">
            <a:avLst/>
          </a:prstGeom>
        </p:spPr>
      </p:pic>
    </p:spTree>
    <p:extLst>
      <p:ext uri="{BB962C8B-B14F-4D97-AF65-F5344CB8AC3E}">
        <p14:creationId xmlns:p14="http://schemas.microsoft.com/office/powerpoint/2010/main" val="381965956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154E78EA-EC6A-942B-55A2-8FA398D19A96}"/>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F74C1422-F758-D601-C724-B2542BB6D931}"/>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Greedy Technique</a:t>
            </a:r>
          </a:p>
        </p:txBody>
      </p:sp>
      <p:sp>
        <p:nvSpPr>
          <p:cNvPr id="369" name="Google Shape;369;p42">
            <a:extLst>
              <a:ext uri="{FF2B5EF4-FFF2-40B4-BE49-F238E27FC236}">
                <a16:creationId xmlns:a16="http://schemas.microsoft.com/office/drawing/2014/main" id="{C3A1E12F-C099-3DD7-204C-68D847EE6CF4}"/>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99</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E4124727-553B-09DA-39EB-56A7F4F92BF1}"/>
              </a:ext>
            </a:extLst>
          </p:cNvPr>
          <p:cNvSpPr txBox="1"/>
          <p:nvPr/>
        </p:nvSpPr>
        <p:spPr>
          <a:xfrm>
            <a:off x="154290" y="1222681"/>
            <a:ext cx="8761110" cy="3416279"/>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IN" sz="1800" b="1" i="0" u="none" strike="noStrike" kern="0" cap="none" spc="0" normalizeH="0" baseline="0" noProof="0" dirty="0">
                <a:ln>
                  <a:noFill/>
                </a:ln>
                <a:solidFill>
                  <a:sysClr val="windowText" lastClr="000000"/>
                </a:solidFill>
                <a:effectLst/>
                <a:uLnTx/>
                <a:uFillTx/>
                <a:latin typeface="+mj-lt"/>
              </a:rPr>
              <a:t>Kruskal’s Algorithm ( </a:t>
            </a:r>
            <a:r>
              <a:rPr kumimoji="0" lang="en-US" sz="1800" b="1" i="0" u="none" strike="noStrike" kern="0" cap="none" spc="0" normalizeH="0" baseline="0" noProof="0" dirty="0">
                <a:ln>
                  <a:noFill/>
                </a:ln>
                <a:solidFill>
                  <a:sysClr val="windowText" lastClr="000000"/>
                </a:solidFill>
                <a:effectLst/>
                <a:uLnTx/>
                <a:uFillTx/>
                <a:latin typeface="+mj-lt"/>
              </a:rPr>
              <a:t>Disjoint Subsets and Union-Find Algorithms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endParaRPr kumimoji="0" lang="en-US" sz="1800" b="0" i="0" u="none" strike="noStrike" kern="0" cap="none" spc="0" normalizeH="0" baseline="0" noProof="0" dirty="0">
              <a:ln>
                <a:noFill/>
              </a:ln>
              <a:solidFill>
                <a:sysClr val="windowText" lastClr="000000"/>
              </a:solidFill>
              <a:effectLst/>
              <a:uLnTx/>
              <a:uFillTx/>
              <a:latin typeface="+mj-lt"/>
            </a:endParaRP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endParaRPr kumimoji="0" lang="en-US" sz="1800" b="0" i="0" u="none" strike="noStrike" kern="0" cap="none" spc="0" normalizeH="0" baseline="0" noProof="0" dirty="0">
              <a:ln>
                <a:noFill/>
              </a:ln>
              <a:solidFill>
                <a:sysClr val="windowText" lastClr="000000"/>
              </a:solidFill>
              <a:effectLst/>
              <a:uLnTx/>
              <a:uFillTx/>
              <a:latin typeface="+mj-lt"/>
            </a:endParaRP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endParaRPr kumimoji="0" lang="en-US" sz="1800" b="0" i="0" u="none" strike="noStrike" kern="0" cap="none" spc="0" normalizeH="0" baseline="0" noProof="0" dirty="0">
              <a:ln>
                <a:noFill/>
              </a:ln>
              <a:solidFill>
                <a:sysClr val="windowText" lastClr="000000"/>
              </a:solidFill>
              <a:effectLst/>
              <a:uLnTx/>
              <a:uFillTx/>
              <a:latin typeface="+mj-lt"/>
            </a:endParaRP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endParaRPr kumimoji="0" lang="en-US" sz="1800" b="0" i="0" u="none" strike="noStrike" kern="0" cap="none" spc="0" normalizeH="0" baseline="0" noProof="0" dirty="0">
              <a:ln>
                <a:noFill/>
              </a:ln>
              <a:solidFill>
                <a:sysClr val="windowText" lastClr="000000"/>
              </a:solidFill>
              <a:effectLst/>
              <a:uLnTx/>
              <a:uFillTx/>
              <a:latin typeface="+mj-lt"/>
            </a:endParaRP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endParaRPr kumimoji="0" lang="en-US" sz="1800" b="0" i="0" u="none" strike="noStrike" kern="0" cap="none" spc="0" normalizeH="0" baseline="0" noProof="0" dirty="0">
              <a:ln>
                <a:noFill/>
              </a:ln>
              <a:solidFill>
                <a:sysClr val="windowText" lastClr="000000"/>
              </a:solidFill>
              <a:effectLst/>
              <a:uLnTx/>
              <a:uFillTx/>
              <a:latin typeface="+mj-lt"/>
            </a:endParaRP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latin typeface="+mj-lt"/>
              </a:rPr>
              <a:t>This and similar techniques improve the efficiency of a sequence of at most n − 1 unions and m finds to only slightly worse than linear.</a:t>
            </a:r>
          </a:p>
        </p:txBody>
      </p:sp>
      <p:sp>
        <p:nvSpPr>
          <p:cNvPr id="6" name="Google Shape;368;p42">
            <a:extLst>
              <a:ext uri="{FF2B5EF4-FFF2-40B4-BE49-F238E27FC236}">
                <a16:creationId xmlns:a16="http://schemas.microsoft.com/office/drawing/2014/main" id="{965ABB91-E5EC-50DC-257F-3467C5D6EFA9}"/>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Greedy Technique</a:t>
            </a:r>
          </a:p>
        </p:txBody>
      </p:sp>
      <p:pic>
        <p:nvPicPr>
          <p:cNvPr id="9" name="Picture 8">
            <a:extLst>
              <a:ext uri="{FF2B5EF4-FFF2-40B4-BE49-F238E27FC236}">
                <a16:creationId xmlns:a16="http://schemas.microsoft.com/office/drawing/2014/main" id="{9B500778-2D7C-33FD-0AB2-832FF69FF371}"/>
              </a:ext>
            </a:extLst>
          </p:cNvPr>
          <p:cNvPicPr>
            <a:picLocks noChangeAspect="1"/>
          </p:cNvPicPr>
          <p:nvPr/>
        </p:nvPicPr>
        <p:blipFill>
          <a:blip r:embed="rId3"/>
          <a:stretch>
            <a:fillRect/>
          </a:stretch>
        </p:blipFill>
        <p:spPr>
          <a:xfrm>
            <a:off x="8472458" y="779264"/>
            <a:ext cx="419136" cy="236240"/>
          </a:xfrm>
          <a:prstGeom prst="rect">
            <a:avLst/>
          </a:prstGeom>
        </p:spPr>
      </p:pic>
      <p:pic>
        <p:nvPicPr>
          <p:cNvPr id="3" name="Picture 2">
            <a:extLst>
              <a:ext uri="{FF2B5EF4-FFF2-40B4-BE49-F238E27FC236}">
                <a16:creationId xmlns:a16="http://schemas.microsoft.com/office/drawing/2014/main" id="{7D2E57F3-27CF-76AE-0B63-AC70682B7FFD}"/>
              </a:ext>
            </a:extLst>
          </p:cNvPr>
          <p:cNvPicPr>
            <a:picLocks noChangeAspect="1"/>
          </p:cNvPicPr>
          <p:nvPr/>
        </p:nvPicPr>
        <p:blipFill>
          <a:blip r:embed="rId4"/>
          <a:stretch>
            <a:fillRect/>
          </a:stretch>
        </p:blipFill>
        <p:spPr>
          <a:xfrm>
            <a:off x="1456029" y="1731123"/>
            <a:ext cx="5503827" cy="1983187"/>
          </a:xfrm>
          <a:prstGeom prst="rect">
            <a:avLst/>
          </a:prstGeom>
        </p:spPr>
      </p:pic>
    </p:spTree>
    <p:extLst>
      <p:ext uri="{BB962C8B-B14F-4D97-AF65-F5344CB8AC3E}">
        <p14:creationId xmlns:p14="http://schemas.microsoft.com/office/powerpoint/2010/main" val="20085904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2"/>
          <p:cNvSpPr txBox="1"/>
          <p:nvPr/>
        </p:nvSpPr>
        <p:spPr>
          <a:xfrm>
            <a:off x="1742085" y="1644446"/>
            <a:ext cx="5485797" cy="1292621"/>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0" cap="none" spc="0" normalizeH="0" baseline="0" noProof="0" dirty="0">
                <a:ln>
                  <a:noFill/>
                </a:ln>
                <a:solidFill>
                  <a:srgbClr val="083C92"/>
                </a:solidFill>
                <a:effectLst/>
                <a:uLnTx/>
                <a:uFillTx/>
                <a:latin typeface="Arial"/>
                <a:ea typeface="Arial"/>
                <a:cs typeface="Arial"/>
                <a:sym typeface="Arial"/>
              </a:rPr>
              <a:t>Module-4</a:t>
            </a:r>
            <a:endParaRPr kumimoji="0" sz="1800" b="0" i="0" u="none" strike="noStrike" kern="0" cap="none" spc="0" normalizeH="0" baseline="0" noProof="0" dirty="0">
              <a:ln>
                <a:noFill/>
              </a:ln>
              <a:solidFill>
                <a:sysClr val="windowText" lastClr="000000"/>
              </a:solidFill>
              <a:effectLst/>
              <a:uLnTx/>
              <a:uFillTx/>
            </a:endParaRPr>
          </a:p>
          <a:p>
            <a:pPr marL="0" marR="0" lvl="0" indent="0" algn="ctr" defTabSz="914400" eaLnBrk="1" fontAlgn="auto" latinLnBrk="0" hangingPunct="1">
              <a:lnSpc>
                <a:spcPct val="150000"/>
              </a:lnSpc>
              <a:spcBef>
                <a:spcPts val="0"/>
              </a:spcBef>
              <a:spcAft>
                <a:spcPts val="0"/>
              </a:spcAft>
              <a:buClrTx/>
              <a:buSzPts val="1800"/>
              <a:buFontTx/>
              <a:buNone/>
              <a:tabLst/>
              <a:defRPr/>
            </a:pPr>
            <a:r>
              <a:rPr kumimoji="0" lang="en-IN" sz="2800" b="1" i="0" u="none" strike="noStrike" kern="0" cap="none" spc="0" normalizeH="0" baseline="0" noProof="0" dirty="0">
                <a:ln>
                  <a:noFill/>
                </a:ln>
                <a:solidFill>
                  <a:sysClr val="windowText" lastClr="000000"/>
                </a:solidFill>
                <a:effectLst/>
                <a:uLnTx/>
                <a:uFillTx/>
              </a:rPr>
              <a:t>Huffman Trees and Codes</a:t>
            </a:r>
          </a:p>
        </p:txBody>
      </p:sp>
      <p:sp>
        <p:nvSpPr>
          <p:cNvPr id="62" name="Google Shape;62;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100</a:t>
            </a:fld>
            <a:endParaRPr kumimoji="0" sz="18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1313489485"/>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0A5094D1-5FB7-84C2-5D40-64AB298D1BEE}"/>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5B92289A-1530-29F9-BFAA-EA4F542E82F8}"/>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Greedy Technique</a:t>
            </a:r>
          </a:p>
        </p:txBody>
      </p:sp>
      <p:sp>
        <p:nvSpPr>
          <p:cNvPr id="369" name="Google Shape;369;p42">
            <a:extLst>
              <a:ext uri="{FF2B5EF4-FFF2-40B4-BE49-F238E27FC236}">
                <a16:creationId xmlns:a16="http://schemas.microsoft.com/office/drawing/2014/main" id="{5BEB460A-9C57-C1D9-F29E-5D2692526FD3}"/>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101</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21F752E3-6F66-0777-BE6D-4931AB517B9E}"/>
              </a:ext>
            </a:extLst>
          </p:cNvPr>
          <p:cNvSpPr txBox="1"/>
          <p:nvPr/>
        </p:nvSpPr>
        <p:spPr>
          <a:xfrm>
            <a:off x="154290" y="1081890"/>
            <a:ext cx="8761110" cy="4039527"/>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IN" sz="1800" b="1" i="0" u="none" strike="noStrike" kern="0" cap="none" spc="0" normalizeH="0" baseline="0" noProof="0" dirty="0">
                <a:ln>
                  <a:noFill/>
                </a:ln>
                <a:solidFill>
                  <a:sysClr val="windowText" lastClr="000000"/>
                </a:solidFill>
                <a:effectLst/>
                <a:uLnTx/>
                <a:uFillTx/>
                <a:latin typeface="+mj-lt"/>
              </a:rPr>
              <a:t>Huffman Trees and Codes</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j-lt"/>
              </a:rPr>
              <a:t>Suppose we have to encode a text that comprises symbols from some n-symbol alphabet by assigning to each of the text’s symbols some sequence of bits called the codeword.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j-lt"/>
              </a:rPr>
              <a:t>For example, we can use a fixed-length encoding that assigns to each symbol a bit string of the same length m (m ≥ log2 n). This is exactly what the standard ASCII code does.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j-lt"/>
              </a:rPr>
              <a:t>One way of getting a coding scheme that yields a shorter bit string on the average is based on the old idea of assigning shorter codewords to more frequent symbols and longer codewords to less frequent symbols.</a:t>
            </a:r>
          </a:p>
        </p:txBody>
      </p:sp>
    </p:spTree>
    <p:extLst>
      <p:ext uri="{BB962C8B-B14F-4D97-AF65-F5344CB8AC3E}">
        <p14:creationId xmlns:p14="http://schemas.microsoft.com/office/powerpoint/2010/main" val="867566013"/>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1BDBC1FB-E073-FCEB-63A4-2DA97A6BBF6C}"/>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53E12D0F-43DF-2124-EF48-B0261545FFCB}"/>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Greedy Technique</a:t>
            </a:r>
          </a:p>
        </p:txBody>
      </p:sp>
      <p:sp>
        <p:nvSpPr>
          <p:cNvPr id="369" name="Google Shape;369;p42">
            <a:extLst>
              <a:ext uri="{FF2B5EF4-FFF2-40B4-BE49-F238E27FC236}">
                <a16:creationId xmlns:a16="http://schemas.microsoft.com/office/drawing/2014/main" id="{E568C33F-B1A7-8E5F-5CFC-12A0E019CD26}"/>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102</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EBE7194A-F59F-26FF-85BD-221DC737E7E0}"/>
              </a:ext>
            </a:extLst>
          </p:cNvPr>
          <p:cNvSpPr txBox="1"/>
          <p:nvPr/>
        </p:nvSpPr>
        <p:spPr>
          <a:xfrm>
            <a:off x="154290" y="1081890"/>
            <a:ext cx="8761110" cy="4039527"/>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IN" sz="1800" b="1" i="0" u="none" strike="noStrike" kern="0" cap="none" spc="0" normalizeH="0" baseline="0" noProof="0" dirty="0">
                <a:ln>
                  <a:noFill/>
                </a:ln>
                <a:solidFill>
                  <a:sysClr val="windowText" lastClr="000000"/>
                </a:solidFill>
                <a:effectLst/>
                <a:uLnTx/>
                <a:uFillTx/>
                <a:latin typeface="+mj-lt"/>
              </a:rPr>
              <a:t>Huffman Trees and Codes</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j-lt"/>
              </a:rPr>
              <a:t>Variable-length encoding, which assigns codewords of different lengths to different symbols, introduces a problem that fixed-length encoding does not have.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j-lt"/>
              </a:rPr>
              <a:t>Namely, how can we tell how many bits of an encoded text represent the first symbol?</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j-lt"/>
              </a:rPr>
              <a:t> To avoid this complication, we can limit ourselves to the so-called prefix-free (or simply prefix) codes.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j-lt"/>
              </a:rPr>
              <a:t>In a prefix code, no codeword is a prefix of a codeword of another symbol. Hence, with such an encoding, we can simply scan a bit string until we get the first group of bits that is a codeword for some symbol, replace these bits by this symbol, and repeat this operation until the bit string’s end is reached.</a:t>
            </a:r>
          </a:p>
        </p:txBody>
      </p:sp>
    </p:spTree>
    <p:extLst>
      <p:ext uri="{BB962C8B-B14F-4D97-AF65-F5344CB8AC3E}">
        <p14:creationId xmlns:p14="http://schemas.microsoft.com/office/powerpoint/2010/main" val="3725813004"/>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D075C35A-7167-CE2D-83DB-C514CE3D20BF}"/>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CBA2F6E0-06D5-6335-D4B2-160B93A283E9}"/>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Greedy Technique</a:t>
            </a:r>
          </a:p>
        </p:txBody>
      </p:sp>
      <p:sp>
        <p:nvSpPr>
          <p:cNvPr id="369" name="Google Shape;369;p42">
            <a:extLst>
              <a:ext uri="{FF2B5EF4-FFF2-40B4-BE49-F238E27FC236}">
                <a16:creationId xmlns:a16="http://schemas.microsoft.com/office/drawing/2014/main" id="{A7FBE175-2387-E21E-7FD7-5EDD8AE64463}"/>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103</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E0DDEFE8-67C2-4E04-62A8-CF3580ACB71C}"/>
              </a:ext>
            </a:extLst>
          </p:cNvPr>
          <p:cNvSpPr txBox="1"/>
          <p:nvPr/>
        </p:nvSpPr>
        <p:spPr>
          <a:xfrm>
            <a:off x="154290" y="1081890"/>
            <a:ext cx="8761110" cy="3254697"/>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IN" sz="1800" b="1" i="0" u="none" strike="noStrike" kern="0" cap="none" spc="0" normalizeH="0" baseline="0" noProof="0" dirty="0">
                <a:ln>
                  <a:noFill/>
                </a:ln>
                <a:solidFill>
                  <a:sysClr val="windowText" lastClr="000000"/>
                </a:solidFill>
                <a:effectLst/>
                <a:uLnTx/>
                <a:uFillTx/>
                <a:latin typeface="+mj-lt"/>
              </a:rPr>
              <a:t>Huffman Trees and Codes</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j-lt"/>
              </a:rPr>
              <a:t>If we want to create a binary prefix code for some alphabet, it is natural to associate the alphabet’s symbols with leaves of a binary tree in which all the left edges are labeled by 0 and all the right edges are labeled by 1.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j-lt"/>
              </a:rPr>
              <a:t>The codeword of a symbol can then be obtained by recording the labels on the simple path from the root to the symbol’s leaf.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j-lt"/>
              </a:rPr>
              <a:t>Since there is no simple path to a leaf that continues to another leaf, no codeword can be a prefix of another codeword; hence, any such tree yields a prefix code.</a:t>
            </a:r>
          </a:p>
        </p:txBody>
      </p:sp>
    </p:spTree>
    <p:extLst>
      <p:ext uri="{BB962C8B-B14F-4D97-AF65-F5344CB8AC3E}">
        <p14:creationId xmlns:p14="http://schemas.microsoft.com/office/powerpoint/2010/main" val="2775090119"/>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CD33E602-957D-AD6F-B7B8-F2AD8A43B6BC}"/>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F04E81F9-4151-4B61-FB0D-E4216F2E98A8}"/>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Greedy Technique</a:t>
            </a:r>
          </a:p>
        </p:txBody>
      </p:sp>
      <p:sp>
        <p:nvSpPr>
          <p:cNvPr id="369" name="Google Shape;369;p42">
            <a:extLst>
              <a:ext uri="{FF2B5EF4-FFF2-40B4-BE49-F238E27FC236}">
                <a16:creationId xmlns:a16="http://schemas.microsoft.com/office/drawing/2014/main" id="{0860ADD4-571E-7CBC-3D0F-445251AB163F}"/>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104</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267FE5EF-AE50-2EE8-4FB9-618AF514DC38}"/>
              </a:ext>
            </a:extLst>
          </p:cNvPr>
          <p:cNvSpPr txBox="1"/>
          <p:nvPr/>
        </p:nvSpPr>
        <p:spPr>
          <a:xfrm>
            <a:off x="154290" y="1081890"/>
            <a:ext cx="8761110" cy="2862282"/>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IN" sz="1800" b="1" i="0" u="none" strike="noStrike" kern="0" cap="none" spc="0" normalizeH="0" baseline="0" noProof="0" dirty="0">
                <a:ln>
                  <a:noFill/>
                </a:ln>
                <a:solidFill>
                  <a:sysClr val="windowText" lastClr="000000"/>
                </a:solidFill>
                <a:effectLst/>
                <a:uLnTx/>
                <a:uFillTx/>
                <a:latin typeface="+mj-lt"/>
              </a:rPr>
              <a:t>Huffman Trees and Codes</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j-lt"/>
              </a:rPr>
              <a:t>Among the many trees that can be constructed in this manner for a given alphabet with known frequencies of the symbol occurrences, how can we construct a tree that would assign shorter bit strings to high-frequency symbols and longer ones to low-frequency symbols?</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j-lt"/>
              </a:rPr>
              <a:t>It can be done by the following greedy algorithm, invented by David Huffman while he was a graduate student at MIT [Huf52].</a:t>
            </a:r>
          </a:p>
        </p:txBody>
      </p:sp>
    </p:spTree>
    <p:extLst>
      <p:ext uri="{BB962C8B-B14F-4D97-AF65-F5344CB8AC3E}">
        <p14:creationId xmlns:p14="http://schemas.microsoft.com/office/powerpoint/2010/main" val="2117951699"/>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5F8A63AD-9F88-14FB-BC25-5694F9C35DC6}"/>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56F48F1E-D807-C259-5ECC-1CD1C0994E01}"/>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Greedy Technique</a:t>
            </a:r>
          </a:p>
        </p:txBody>
      </p:sp>
      <p:sp>
        <p:nvSpPr>
          <p:cNvPr id="369" name="Google Shape;369;p42">
            <a:extLst>
              <a:ext uri="{FF2B5EF4-FFF2-40B4-BE49-F238E27FC236}">
                <a16:creationId xmlns:a16="http://schemas.microsoft.com/office/drawing/2014/main" id="{19005755-9029-2193-9AE6-3EA31F0340A2}"/>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105</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B65819EB-E8D0-F9FB-91B4-E1049DD5185B}"/>
              </a:ext>
            </a:extLst>
          </p:cNvPr>
          <p:cNvSpPr txBox="1"/>
          <p:nvPr/>
        </p:nvSpPr>
        <p:spPr>
          <a:xfrm>
            <a:off x="154290" y="1081890"/>
            <a:ext cx="8761110" cy="923289"/>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IN" sz="1800" b="1" i="0" u="none" strike="noStrike" kern="0" cap="none" spc="0" normalizeH="0" baseline="0" noProof="0" dirty="0">
                <a:ln>
                  <a:noFill/>
                </a:ln>
                <a:solidFill>
                  <a:sysClr val="windowText" lastClr="000000"/>
                </a:solidFill>
                <a:effectLst/>
                <a:uLnTx/>
                <a:uFillTx/>
                <a:latin typeface="+mj-lt"/>
              </a:rPr>
              <a:t>Huffman Trees and Codes</a:t>
            </a:r>
          </a:p>
          <a:p>
            <a:pPr marL="0" marR="0" lvl="0" indent="0" algn="just" defTabSz="914400" eaLnBrk="1" fontAlgn="auto" latinLnBrk="0" hangingPunct="1">
              <a:lnSpc>
                <a:spcPct val="150000"/>
              </a:lnSpc>
              <a:spcBef>
                <a:spcPts val="0"/>
              </a:spcBef>
              <a:spcAft>
                <a:spcPts val="0"/>
              </a:spcAft>
              <a:buClrTx/>
              <a:buSzPts val="1800"/>
              <a:buFontTx/>
              <a:buNone/>
              <a:tabLst/>
              <a:defRPr/>
            </a:pPr>
            <a:endParaRPr kumimoji="0" lang="en-IN" sz="1800" b="1" i="0" u="none" strike="noStrike" kern="0" cap="none" spc="0" normalizeH="0" baseline="0" noProof="0" dirty="0">
              <a:ln>
                <a:noFill/>
              </a:ln>
              <a:solidFill>
                <a:sysClr val="windowText" lastClr="000000"/>
              </a:solidFill>
              <a:effectLst/>
              <a:uLnTx/>
              <a:uFillTx/>
              <a:latin typeface="+mj-lt"/>
            </a:endParaRPr>
          </a:p>
        </p:txBody>
      </p:sp>
      <p:pic>
        <p:nvPicPr>
          <p:cNvPr id="3" name="Picture 2">
            <a:extLst>
              <a:ext uri="{FF2B5EF4-FFF2-40B4-BE49-F238E27FC236}">
                <a16:creationId xmlns:a16="http://schemas.microsoft.com/office/drawing/2014/main" id="{3787F7A6-7910-1C7D-0EEA-7739BDC7808A}"/>
              </a:ext>
            </a:extLst>
          </p:cNvPr>
          <p:cNvPicPr>
            <a:picLocks noChangeAspect="1"/>
          </p:cNvPicPr>
          <p:nvPr/>
        </p:nvPicPr>
        <p:blipFill>
          <a:blip r:embed="rId3"/>
          <a:stretch>
            <a:fillRect/>
          </a:stretch>
        </p:blipFill>
        <p:spPr>
          <a:xfrm>
            <a:off x="585075" y="1543534"/>
            <a:ext cx="7887383" cy="3482642"/>
          </a:xfrm>
          <a:prstGeom prst="rect">
            <a:avLst/>
          </a:prstGeom>
        </p:spPr>
      </p:pic>
    </p:spTree>
    <p:extLst>
      <p:ext uri="{BB962C8B-B14F-4D97-AF65-F5344CB8AC3E}">
        <p14:creationId xmlns:p14="http://schemas.microsoft.com/office/powerpoint/2010/main" val="2209273296"/>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7C27F25C-B977-9C88-AD30-0B6A822B82F2}"/>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F87A1E5E-89F6-D823-BE97-50C2BFA452EC}"/>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Greedy Technique</a:t>
            </a:r>
          </a:p>
        </p:txBody>
      </p:sp>
      <p:sp>
        <p:nvSpPr>
          <p:cNvPr id="369" name="Google Shape;369;p42">
            <a:extLst>
              <a:ext uri="{FF2B5EF4-FFF2-40B4-BE49-F238E27FC236}">
                <a16:creationId xmlns:a16="http://schemas.microsoft.com/office/drawing/2014/main" id="{4527900C-C87A-75E8-AA78-440B663355BA}"/>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106</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22A30B02-B034-5668-35BC-C7D629D1C3FA}"/>
              </a:ext>
            </a:extLst>
          </p:cNvPr>
          <p:cNvSpPr txBox="1"/>
          <p:nvPr/>
        </p:nvSpPr>
        <p:spPr>
          <a:xfrm>
            <a:off x="154290" y="1081890"/>
            <a:ext cx="8761110" cy="923289"/>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IN" sz="1800" b="1" i="0" u="none" strike="noStrike" kern="0" cap="none" spc="0" normalizeH="0" baseline="0" noProof="0" dirty="0">
                <a:ln>
                  <a:noFill/>
                </a:ln>
                <a:solidFill>
                  <a:sysClr val="windowText" lastClr="000000"/>
                </a:solidFill>
                <a:effectLst/>
                <a:uLnTx/>
                <a:uFillTx/>
                <a:latin typeface="+mj-lt"/>
              </a:rPr>
              <a:t>Huffman Trees and Codes</a:t>
            </a:r>
          </a:p>
          <a:p>
            <a:pPr marL="0" marR="0" lvl="0" indent="0" algn="just" defTabSz="914400" eaLnBrk="1" fontAlgn="auto" latinLnBrk="0" hangingPunct="1">
              <a:lnSpc>
                <a:spcPct val="150000"/>
              </a:lnSpc>
              <a:spcBef>
                <a:spcPts val="0"/>
              </a:spcBef>
              <a:spcAft>
                <a:spcPts val="0"/>
              </a:spcAft>
              <a:buClrTx/>
              <a:buSzPts val="1800"/>
              <a:buFontTx/>
              <a:buNone/>
              <a:tabLst/>
              <a:defRPr/>
            </a:pPr>
            <a:endParaRPr kumimoji="0" lang="en-IN" sz="1800" b="1" i="0" u="none" strike="noStrike" kern="0" cap="none" spc="0" normalizeH="0" baseline="0" noProof="0" dirty="0">
              <a:ln>
                <a:noFill/>
              </a:ln>
              <a:solidFill>
                <a:sysClr val="windowText" lastClr="000000"/>
              </a:solidFill>
              <a:effectLst/>
              <a:uLnTx/>
              <a:uFillTx/>
              <a:latin typeface="+mj-lt"/>
            </a:endParaRPr>
          </a:p>
        </p:txBody>
      </p:sp>
      <p:pic>
        <p:nvPicPr>
          <p:cNvPr id="3" name="Picture 2">
            <a:extLst>
              <a:ext uri="{FF2B5EF4-FFF2-40B4-BE49-F238E27FC236}">
                <a16:creationId xmlns:a16="http://schemas.microsoft.com/office/drawing/2014/main" id="{F9E5057A-30B0-A5E6-D932-F69BDB741D93}"/>
              </a:ext>
            </a:extLst>
          </p:cNvPr>
          <p:cNvPicPr>
            <a:picLocks noChangeAspect="1"/>
          </p:cNvPicPr>
          <p:nvPr/>
        </p:nvPicPr>
        <p:blipFill>
          <a:blip r:embed="rId3"/>
          <a:stretch>
            <a:fillRect/>
          </a:stretch>
        </p:blipFill>
        <p:spPr>
          <a:xfrm>
            <a:off x="722246" y="1744192"/>
            <a:ext cx="7750212" cy="2072820"/>
          </a:xfrm>
          <a:prstGeom prst="rect">
            <a:avLst/>
          </a:prstGeom>
        </p:spPr>
      </p:pic>
    </p:spTree>
    <p:extLst>
      <p:ext uri="{BB962C8B-B14F-4D97-AF65-F5344CB8AC3E}">
        <p14:creationId xmlns:p14="http://schemas.microsoft.com/office/powerpoint/2010/main" val="1516116119"/>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05ABC402-5736-C097-16DD-A76259D777CF}"/>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6A96D3A5-671B-F93B-DAB0-29D684330D85}"/>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Greedy Technique</a:t>
            </a:r>
          </a:p>
        </p:txBody>
      </p:sp>
      <p:sp>
        <p:nvSpPr>
          <p:cNvPr id="369" name="Google Shape;369;p42">
            <a:extLst>
              <a:ext uri="{FF2B5EF4-FFF2-40B4-BE49-F238E27FC236}">
                <a16:creationId xmlns:a16="http://schemas.microsoft.com/office/drawing/2014/main" id="{61616A88-B48F-B5A2-4E0D-D6FA38E4562D}"/>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107</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7B7ED1A8-B0C6-1E16-ABC0-9A1015A90EE9}"/>
              </a:ext>
            </a:extLst>
          </p:cNvPr>
          <p:cNvSpPr txBox="1"/>
          <p:nvPr/>
        </p:nvSpPr>
        <p:spPr>
          <a:xfrm>
            <a:off x="154290" y="1081890"/>
            <a:ext cx="8761110" cy="923289"/>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IN" sz="1800" b="1" i="0" u="none" strike="noStrike" kern="0" cap="none" spc="0" normalizeH="0" baseline="0" noProof="0" dirty="0">
                <a:ln>
                  <a:noFill/>
                </a:ln>
                <a:solidFill>
                  <a:sysClr val="windowText" lastClr="000000"/>
                </a:solidFill>
                <a:effectLst/>
                <a:uLnTx/>
                <a:uFillTx/>
                <a:latin typeface="+mj-lt"/>
              </a:rPr>
              <a:t>Huffman Trees and Codes</a:t>
            </a:r>
          </a:p>
          <a:p>
            <a:pPr marL="0" marR="0" lvl="0" indent="0" algn="just" defTabSz="914400" eaLnBrk="1" fontAlgn="auto" latinLnBrk="0" hangingPunct="1">
              <a:lnSpc>
                <a:spcPct val="150000"/>
              </a:lnSpc>
              <a:spcBef>
                <a:spcPts val="0"/>
              </a:spcBef>
              <a:spcAft>
                <a:spcPts val="0"/>
              </a:spcAft>
              <a:buClrTx/>
              <a:buSzPts val="1800"/>
              <a:buFontTx/>
              <a:buNone/>
              <a:tabLst/>
              <a:defRPr/>
            </a:pPr>
            <a:endParaRPr kumimoji="0" lang="en-IN" sz="1800" b="1" i="0" u="none" strike="noStrike" kern="0" cap="none" spc="0" normalizeH="0" baseline="0" noProof="0" dirty="0">
              <a:ln>
                <a:noFill/>
              </a:ln>
              <a:solidFill>
                <a:sysClr val="windowText" lastClr="000000"/>
              </a:solidFill>
              <a:effectLst/>
              <a:uLnTx/>
              <a:uFillTx/>
              <a:latin typeface="+mj-lt"/>
            </a:endParaRPr>
          </a:p>
        </p:txBody>
      </p:sp>
      <p:pic>
        <p:nvPicPr>
          <p:cNvPr id="5" name="Picture 4">
            <a:extLst>
              <a:ext uri="{FF2B5EF4-FFF2-40B4-BE49-F238E27FC236}">
                <a16:creationId xmlns:a16="http://schemas.microsoft.com/office/drawing/2014/main" id="{4A2BD108-61EE-3099-EEF9-7CC871AB39BA}"/>
              </a:ext>
            </a:extLst>
          </p:cNvPr>
          <p:cNvPicPr>
            <a:picLocks noChangeAspect="1"/>
          </p:cNvPicPr>
          <p:nvPr/>
        </p:nvPicPr>
        <p:blipFill>
          <a:blip r:embed="rId3"/>
          <a:stretch>
            <a:fillRect/>
          </a:stretch>
        </p:blipFill>
        <p:spPr>
          <a:xfrm>
            <a:off x="372365" y="2121096"/>
            <a:ext cx="3848433" cy="2347163"/>
          </a:xfrm>
          <a:prstGeom prst="rect">
            <a:avLst/>
          </a:prstGeom>
        </p:spPr>
      </p:pic>
      <p:pic>
        <p:nvPicPr>
          <p:cNvPr id="7" name="Picture 6">
            <a:extLst>
              <a:ext uri="{FF2B5EF4-FFF2-40B4-BE49-F238E27FC236}">
                <a16:creationId xmlns:a16="http://schemas.microsoft.com/office/drawing/2014/main" id="{A083AE5C-CF31-0A4F-A7D6-D427885A81B3}"/>
              </a:ext>
            </a:extLst>
          </p:cNvPr>
          <p:cNvPicPr>
            <a:picLocks noChangeAspect="1"/>
          </p:cNvPicPr>
          <p:nvPr/>
        </p:nvPicPr>
        <p:blipFill>
          <a:blip r:embed="rId4"/>
          <a:stretch>
            <a:fillRect/>
          </a:stretch>
        </p:blipFill>
        <p:spPr>
          <a:xfrm>
            <a:off x="4438808" y="2311480"/>
            <a:ext cx="4397121" cy="1653683"/>
          </a:xfrm>
          <a:prstGeom prst="rect">
            <a:avLst/>
          </a:prstGeom>
        </p:spPr>
      </p:pic>
      <p:pic>
        <p:nvPicPr>
          <p:cNvPr id="9" name="Picture 8">
            <a:extLst>
              <a:ext uri="{FF2B5EF4-FFF2-40B4-BE49-F238E27FC236}">
                <a16:creationId xmlns:a16="http://schemas.microsoft.com/office/drawing/2014/main" id="{D6A26EB8-F7B9-4E48-6263-8947487345AB}"/>
              </a:ext>
            </a:extLst>
          </p:cNvPr>
          <p:cNvPicPr>
            <a:picLocks noChangeAspect="1"/>
          </p:cNvPicPr>
          <p:nvPr/>
        </p:nvPicPr>
        <p:blipFill>
          <a:blip r:embed="rId5"/>
          <a:stretch>
            <a:fillRect/>
          </a:stretch>
        </p:blipFill>
        <p:spPr>
          <a:xfrm>
            <a:off x="1588681" y="1613426"/>
            <a:ext cx="5700254" cy="426757"/>
          </a:xfrm>
          <a:prstGeom prst="rect">
            <a:avLst/>
          </a:prstGeom>
        </p:spPr>
      </p:pic>
    </p:spTree>
    <p:extLst>
      <p:ext uri="{BB962C8B-B14F-4D97-AF65-F5344CB8AC3E}">
        <p14:creationId xmlns:p14="http://schemas.microsoft.com/office/powerpoint/2010/main" val="1277913478"/>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706A6632-E9FD-0BC1-6444-B9621BD8F971}"/>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CD00CB0F-819B-C369-4ABF-A4AE9E4CBF38}"/>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Greedy Technique</a:t>
            </a:r>
          </a:p>
        </p:txBody>
      </p:sp>
      <p:sp>
        <p:nvSpPr>
          <p:cNvPr id="369" name="Google Shape;369;p42">
            <a:extLst>
              <a:ext uri="{FF2B5EF4-FFF2-40B4-BE49-F238E27FC236}">
                <a16:creationId xmlns:a16="http://schemas.microsoft.com/office/drawing/2014/main" id="{3777CC97-5AB0-8AD0-9416-03E54D32B2BC}"/>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108</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A4E40241-3214-5297-492E-B9876AEC5C7A}"/>
              </a:ext>
            </a:extLst>
          </p:cNvPr>
          <p:cNvSpPr txBox="1"/>
          <p:nvPr/>
        </p:nvSpPr>
        <p:spPr>
          <a:xfrm>
            <a:off x="154290" y="1081890"/>
            <a:ext cx="8761110" cy="923289"/>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IN" sz="1800" b="1" i="0" u="none" strike="noStrike" kern="0" cap="none" spc="0" normalizeH="0" baseline="0" noProof="0" dirty="0">
                <a:ln>
                  <a:noFill/>
                </a:ln>
                <a:solidFill>
                  <a:sysClr val="windowText" lastClr="000000"/>
                </a:solidFill>
                <a:effectLst/>
                <a:uLnTx/>
                <a:uFillTx/>
                <a:latin typeface="+mj-lt"/>
              </a:rPr>
              <a:t>Huffman Trees and Codes</a:t>
            </a:r>
          </a:p>
          <a:p>
            <a:pPr marL="0" marR="0" lvl="0" indent="0" algn="just" defTabSz="914400" eaLnBrk="1" fontAlgn="auto" latinLnBrk="0" hangingPunct="1">
              <a:lnSpc>
                <a:spcPct val="150000"/>
              </a:lnSpc>
              <a:spcBef>
                <a:spcPts val="0"/>
              </a:spcBef>
              <a:spcAft>
                <a:spcPts val="0"/>
              </a:spcAft>
              <a:buClrTx/>
              <a:buSzPts val="1800"/>
              <a:buFontTx/>
              <a:buNone/>
              <a:tabLst/>
              <a:defRPr/>
            </a:pPr>
            <a:endParaRPr kumimoji="0" lang="en-IN" sz="1800" b="1" i="0" u="none" strike="noStrike" kern="0" cap="none" spc="0" normalizeH="0" baseline="0" noProof="0" dirty="0">
              <a:ln>
                <a:noFill/>
              </a:ln>
              <a:solidFill>
                <a:sysClr val="windowText" lastClr="000000"/>
              </a:solidFill>
              <a:effectLst/>
              <a:uLnTx/>
              <a:uFillTx/>
              <a:latin typeface="+mj-lt"/>
            </a:endParaRPr>
          </a:p>
        </p:txBody>
      </p:sp>
      <p:pic>
        <p:nvPicPr>
          <p:cNvPr id="3" name="Picture 2">
            <a:extLst>
              <a:ext uri="{FF2B5EF4-FFF2-40B4-BE49-F238E27FC236}">
                <a16:creationId xmlns:a16="http://schemas.microsoft.com/office/drawing/2014/main" id="{53671496-1AE3-694C-2337-EEC9B139CE85}"/>
              </a:ext>
            </a:extLst>
          </p:cNvPr>
          <p:cNvPicPr>
            <a:picLocks noChangeAspect="1"/>
          </p:cNvPicPr>
          <p:nvPr/>
        </p:nvPicPr>
        <p:blipFill>
          <a:blip r:embed="rId3"/>
          <a:stretch>
            <a:fillRect/>
          </a:stretch>
        </p:blipFill>
        <p:spPr>
          <a:xfrm>
            <a:off x="79980" y="1820880"/>
            <a:ext cx="4359018" cy="2232853"/>
          </a:xfrm>
          <a:prstGeom prst="rect">
            <a:avLst/>
          </a:prstGeom>
        </p:spPr>
      </p:pic>
      <p:pic>
        <p:nvPicPr>
          <p:cNvPr id="8" name="Picture 7">
            <a:extLst>
              <a:ext uri="{FF2B5EF4-FFF2-40B4-BE49-F238E27FC236}">
                <a16:creationId xmlns:a16="http://schemas.microsoft.com/office/drawing/2014/main" id="{260285C4-7A6A-5C39-A8B5-ABB55E8A919C}"/>
              </a:ext>
            </a:extLst>
          </p:cNvPr>
          <p:cNvPicPr>
            <a:picLocks noChangeAspect="1"/>
          </p:cNvPicPr>
          <p:nvPr/>
        </p:nvPicPr>
        <p:blipFill>
          <a:blip r:embed="rId4"/>
          <a:stretch>
            <a:fillRect/>
          </a:stretch>
        </p:blipFill>
        <p:spPr>
          <a:xfrm>
            <a:off x="4438998" y="1820880"/>
            <a:ext cx="4320914" cy="2804403"/>
          </a:xfrm>
          <a:prstGeom prst="rect">
            <a:avLst/>
          </a:prstGeom>
        </p:spPr>
      </p:pic>
    </p:spTree>
    <p:extLst>
      <p:ext uri="{BB962C8B-B14F-4D97-AF65-F5344CB8AC3E}">
        <p14:creationId xmlns:p14="http://schemas.microsoft.com/office/powerpoint/2010/main" val="3487922795"/>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502BDE9D-E30E-A4F8-0CDA-4C87EECF5E93}"/>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8898BDA7-67F7-D27E-D6D2-8E17D2D6FA0B}"/>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Greedy Technique</a:t>
            </a:r>
          </a:p>
        </p:txBody>
      </p:sp>
      <p:sp>
        <p:nvSpPr>
          <p:cNvPr id="369" name="Google Shape;369;p42">
            <a:extLst>
              <a:ext uri="{FF2B5EF4-FFF2-40B4-BE49-F238E27FC236}">
                <a16:creationId xmlns:a16="http://schemas.microsoft.com/office/drawing/2014/main" id="{C8510C3C-1187-6DCA-4342-177F48A07674}"/>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109</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459EB612-3999-AEDD-5A51-B58FC86BAE33}"/>
              </a:ext>
            </a:extLst>
          </p:cNvPr>
          <p:cNvSpPr txBox="1"/>
          <p:nvPr/>
        </p:nvSpPr>
        <p:spPr>
          <a:xfrm>
            <a:off x="154290" y="1081890"/>
            <a:ext cx="8761110" cy="3416279"/>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IN" sz="1800" b="1" i="0" u="none" strike="noStrike" kern="0" cap="none" spc="0" normalizeH="0" baseline="0" noProof="0" dirty="0">
                <a:ln>
                  <a:noFill/>
                </a:ln>
                <a:solidFill>
                  <a:sysClr val="windowText" lastClr="000000"/>
                </a:solidFill>
                <a:effectLst/>
                <a:uLnTx/>
                <a:uFillTx/>
                <a:latin typeface="+mj-lt"/>
              </a:rPr>
              <a:t>Huffman Trees and Codes</a:t>
            </a:r>
          </a:p>
          <a:p>
            <a:pPr marL="0" marR="0" lvl="0" indent="0" algn="just" defTabSz="914400" eaLnBrk="1" fontAlgn="auto" latinLnBrk="0" hangingPunct="1">
              <a:lnSpc>
                <a:spcPct val="150000"/>
              </a:lnSpc>
              <a:spcBef>
                <a:spcPts val="0"/>
              </a:spcBef>
              <a:spcAft>
                <a:spcPts val="0"/>
              </a:spcAft>
              <a:buClrTx/>
              <a:buSzPts val="1800"/>
              <a:buFontTx/>
              <a:buNone/>
              <a:tabLst/>
              <a:defRPr/>
            </a:pPr>
            <a:endParaRPr kumimoji="0" lang="en-IN" sz="1800" b="1" i="0" u="none" strike="noStrike" kern="0" cap="none" spc="0" normalizeH="0" baseline="0" noProof="0" dirty="0">
              <a:ln>
                <a:noFill/>
              </a:ln>
              <a:solidFill>
                <a:sysClr val="windowText" lastClr="000000"/>
              </a:solidFill>
              <a:effectLst/>
              <a:uLnTx/>
              <a:uFillTx/>
              <a:latin typeface="+mj-lt"/>
            </a:endParaRPr>
          </a:p>
          <a:p>
            <a:pPr marL="0" marR="0" lvl="0" indent="0" algn="just" defTabSz="914400" eaLnBrk="1" fontAlgn="auto" latinLnBrk="0" hangingPunct="1">
              <a:lnSpc>
                <a:spcPct val="150000"/>
              </a:lnSpc>
              <a:spcBef>
                <a:spcPts val="0"/>
              </a:spcBef>
              <a:spcAft>
                <a:spcPts val="0"/>
              </a:spcAft>
              <a:buClrTx/>
              <a:buSzPts val="1800"/>
              <a:buFontTx/>
              <a:buNone/>
              <a:tabLst/>
              <a:defRPr/>
            </a:pPr>
            <a:endParaRPr kumimoji="0" lang="en-IN" sz="1800" b="1" i="0" u="none" strike="noStrike" kern="0" cap="none" spc="0" normalizeH="0" baseline="0" noProof="0" dirty="0">
              <a:ln>
                <a:noFill/>
              </a:ln>
              <a:solidFill>
                <a:sysClr val="windowText" lastClr="000000"/>
              </a:solidFill>
              <a:effectLst/>
              <a:uLnTx/>
              <a:uFillTx/>
              <a:latin typeface="+mj-lt"/>
            </a:endParaRPr>
          </a:p>
          <a:p>
            <a:pPr marL="0" marR="0" lvl="0" indent="0" algn="just" defTabSz="914400" eaLnBrk="1" fontAlgn="auto" latinLnBrk="0" hangingPunct="1">
              <a:lnSpc>
                <a:spcPct val="150000"/>
              </a:lnSpc>
              <a:spcBef>
                <a:spcPts val="0"/>
              </a:spcBef>
              <a:spcAft>
                <a:spcPts val="0"/>
              </a:spcAft>
              <a:buClrTx/>
              <a:buSzPts val="1800"/>
              <a:buFontTx/>
              <a:buNone/>
              <a:tabLst/>
              <a:defRPr/>
            </a:pPr>
            <a:endParaRPr kumimoji="0" lang="en-IN" sz="1800" b="1" i="0" u="none" strike="noStrike" kern="0" cap="none" spc="0" normalizeH="0" baseline="0" noProof="0" dirty="0">
              <a:ln>
                <a:noFill/>
              </a:ln>
              <a:solidFill>
                <a:sysClr val="windowText" lastClr="000000"/>
              </a:solidFill>
              <a:effectLst/>
              <a:uLnTx/>
              <a:uFillTx/>
              <a:latin typeface="+mj-lt"/>
            </a:endParaRPr>
          </a:p>
          <a:p>
            <a:pPr marL="0" marR="0" lvl="0" indent="0" algn="just" defTabSz="914400" eaLnBrk="1" fontAlgn="auto" latinLnBrk="0" hangingPunct="1">
              <a:lnSpc>
                <a:spcPct val="150000"/>
              </a:lnSpc>
              <a:spcBef>
                <a:spcPts val="0"/>
              </a:spcBef>
              <a:spcAft>
                <a:spcPts val="0"/>
              </a:spcAft>
              <a:buClrTx/>
              <a:buSzPts val="1800"/>
              <a:buFontTx/>
              <a:buNone/>
              <a:tabLst/>
              <a:defRPr/>
            </a:pPr>
            <a:endParaRPr kumimoji="0" lang="en-IN" sz="1800" b="1" i="0" u="none" strike="noStrike" kern="0" cap="none" spc="0" normalizeH="0" baseline="0" noProof="0" dirty="0">
              <a:ln>
                <a:noFill/>
              </a:ln>
              <a:solidFill>
                <a:sysClr val="windowText" lastClr="000000"/>
              </a:solidFill>
              <a:effectLst/>
              <a:uLnTx/>
              <a:uFillTx/>
              <a:latin typeface="+mj-lt"/>
            </a:endParaRPr>
          </a:p>
          <a:p>
            <a:pPr marL="0" marR="0" lvl="0" indent="0" algn="just" defTabSz="914400" eaLnBrk="1" fontAlgn="auto" latinLnBrk="0" hangingPunct="1">
              <a:lnSpc>
                <a:spcPct val="150000"/>
              </a:lnSpc>
              <a:spcBef>
                <a:spcPts val="0"/>
              </a:spcBef>
              <a:spcAft>
                <a:spcPts val="0"/>
              </a:spcAft>
              <a:buClrTx/>
              <a:buSzPts val="1800"/>
              <a:buFontTx/>
              <a:buNone/>
              <a:tabLst/>
              <a:defRPr/>
            </a:pPr>
            <a:endParaRPr kumimoji="0" lang="en-IN" sz="1800" b="1" i="0" u="none" strike="noStrike" kern="0" cap="none" spc="0" normalizeH="0" baseline="0" noProof="0" dirty="0">
              <a:ln>
                <a:noFill/>
              </a:ln>
              <a:solidFill>
                <a:sysClr val="windowText" lastClr="000000"/>
              </a:solidFill>
              <a:effectLst/>
              <a:uLnTx/>
              <a:uFillTx/>
              <a:latin typeface="+mj-lt"/>
            </a:endParaRPr>
          </a:p>
          <a:p>
            <a:pPr marL="0" marR="0" lvl="0" indent="0" algn="just" defTabSz="914400" eaLnBrk="1" fontAlgn="auto" latinLnBrk="0" hangingPunct="1">
              <a:lnSpc>
                <a:spcPct val="150000"/>
              </a:lnSpc>
              <a:spcBef>
                <a:spcPts val="0"/>
              </a:spcBef>
              <a:spcAft>
                <a:spcPts val="0"/>
              </a:spcAft>
              <a:buClrTx/>
              <a:buSzPts val="1800"/>
              <a:buFontTx/>
              <a:buNone/>
              <a:tabLst/>
              <a:defRPr/>
            </a:pPr>
            <a:endParaRPr kumimoji="0" lang="en-IN" sz="1800" b="1" i="0" u="none" strike="noStrike" kern="0" cap="none" spc="0" normalizeH="0" baseline="0" noProof="0" dirty="0">
              <a:ln>
                <a:noFill/>
              </a:ln>
              <a:solidFill>
                <a:sysClr val="windowText" lastClr="000000"/>
              </a:solidFill>
              <a:effectLst/>
              <a:uLnTx/>
              <a:uFillTx/>
              <a:latin typeface="+mj-lt"/>
            </a:endParaRPr>
          </a:p>
          <a:p>
            <a:pPr marL="0" marR="0" lvl="0" indent="0" algn="just" defTabSz="914400" eaLnBrk="1" fontAlgn="auto" latinLnBrk="0" hangingPunct="1">
              <a:lnSpc>
                <a:spcPct val="150000"/>
              </a:lnSpc>
              <a:spcBef>
                <a:spcPts val="0"/>
              </a:spcBef>
              <a:spcAft>
                <a:spcPts val="0"/>
              </a:spcAft>
              <a:buClrTx/>
              <a:buSzPts val="1800"/>
              <a:buFontTx/>
              <a:buNone/>
              <a:tabLst/>
              <a:defRPr/>
            </a:pPr>
            <a:endParaRPr kumimoji="0" lang="en-IN" sz="1800" b="1" i="0" u="none" strike="noStrike" kern="0" cap="none" spc="0" normalizeH="0" baseline="0" noProof="0" dirty="0">
              <a:ln>
                <a:noFill/>
              </a:ln>
              <a:solidFill>
                <a:sysClr val="windowText" lastClr="000000"/>
              </a:solidFill>
              <a:effectLst/>
              <a:uLnTx/>
              <a:uFillTx/>
              <a:latin typeface="+mj-lt"/>
            </a:endParaRPr>
          </a:p>
        </p:txBody>
      </p:sp>
      <p:pic>
        <p:nvPicPr>
          <p:cNvPr id="5" name="Picture 4">
            <a:extLst>
              <a:ext uri="{FF2B5EF4-FFF2-40B4-BE49-F238E27FC236}">
                <a16:creationId xmlns:a16="http://schemas.microsoft.com/office/drawing/2014/main" id="{223E2135-51AF-8905-F559-5D0DD0877B55}"/>
              </a:ext>
            </a:extLst>
          </p:cNvPr>
          <p:cNvPicPr>
            <a:picLocks noChangeAspect="1"/>
          </p:cNvPicPr>
          <p:nvPr/>
        </p:nvPicPr>
        <p:blipFill>
          <a:blip r:embed="rId3"/>
          <a:stretch>
            <a:fillRect/>
          </a:stretch>
        </p:blipFill>
        <p:spPr>
          <a:xfrm>
            <a:off x="1108920" y="1612546"/>
            <a:ext cx="5951736" cy="1447925"/>
          </a:xfrm>
          <a:prstGeom prst="rect">
            <a:avLst/>
          </a:prstGeom>
        </p:spPr>
      </p:pic>
      <p:pic>
        <p:nvPicPr>
          <p:cNvPr id="7" name="Picture 6">
            <a:extLst>
              <a:ext uri="{FF2B5EF4-FFF2-40B4-BE49-F238E27FC236}">
                <a16:creationId xmlns:a16="http://schemas.microsoft.com/office/drawing/2014/main" id="{E5B838CC-0830-11BF-D0CF-9EF217942C15}"/>
              </a:ext>
            </a:extLst>
          </p:cNvPr>
          <p:cNvPicPr>
            <a:picLocks noChangeAspect="1"/>
          </p:cNvPicPr>
          <p:nvPr/>
        </p:nvPicPr>
        <p:blipFill>
          <a:blip r:embed="rId4"/>
          <a:stretch>
            <a:fillRect/>
          </a:stretch>
        </p:blipFill>
        <p:spPr>
          <a:xfrm>
            <a:off x="742618" y="3225519"/>
            <a:ext cx="7658764" cy="1272650"/>
          </a:xfrm>
          <a:prstGeom prst="rect">
            <a:avLst/>
          </a:prstGeom>
        </p:spPr>
      </p:pic>
    </p:spTree>
    <p:extLst>
      <p:ext uri="{BB962C8B-B14F-4D97-AF65-F5344CB8AC3E}">
        <p14:creationId xmlns:p14="http://schemas.microsoft.com/office/powerpoint/2010/main" val="390094149"/>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A06CB55E-F732-1CCB-F0D4-FC9ACD1CCC68}"/>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9E6C6E26-3BA6-9E80-8726-FD24F8038F22}"/>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Greedy Technique</a:t>
            </a:r>
          </a:p>
        </p:txBody>
      </p:sp>
      <p:sp>
        <p:nvSpPr>
          <p:cNvPr id="369" name="Google Shape;369;p42">
            <a:extLst>
              <a:ext uri="{FF2B5EF4-FFF2-40B4-BE49-F238E27FC236}">
                <a16:creationId xmlns:a16="http://schemas.microsoft.com/office/drawing/2014/main" id="{0B90A6B7-0DFA-3513-317E-C14F080929CA}"/>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110</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377A26D0-8D1D-C5F1-EDEA-396C523AD9F9}"/>
              </a:ext>
            </a:extLst>
          </p:cNvPr>
          <p:cNvSpPr txBox="1"/>
          <p:nvPr/>
        </p:nvSpPr>
        <p:spPr>
          <a:xfrm>
            <a:off x="154290" y="1081890"/>
            <a:ext cx="8761110" cy="6163185"/>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IN" sz="1800" b="1" i="0" u="none" strike="noStrike" kern="0" cap="none" spc="0" normalizeH="0" baseline="0" noProof="0" dirty="0">
                <a:ln>
                  <a:noFill/>
                </a:ln>
                <a:solidFill>
                  <a:sysClr val="windowText" lastClr="000000"/>
                </a:solidFill>
                <a:effectLst/>
                <a:uLnTx/>
                <a:uFillTx/>
                <a:latin typeface="+mj-lt"/>
              </a:rPr>
              <a:t>Huffman Trees and Codes</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j-lt"/>
              </a:rPr>
              <a:t>Had we used a fixed-length encoding for the same alphabet, we would have to use at least 3 bits per each symbol.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j-lt"/>
              </a:rPr>
              <a:t>Thus, for this toy example, Huffman’s code achieves the compression ratio—a standard measure of a compression algorithm’s effectiveness—</a:t>
            </a:r>
          </a:p>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US" sz="1700" b="0" i="0" u="none" strike="noStrike" kern="0" cap="none" spc="0" normalizeH="0" baseline="0" noProof="0" dirty="0">
                <a:ln>
                  <a:noFill/>
                </a:ln>
                <a:solidFill>
                  <a:sysClr val="windowText" lastClr="000000"/>
                </a:solidFill>
                <a:effectLst/>
                <a:uLnTx/>
                <a:uFillTx/>
                <a:latin typeface="+mj-lt"/>
              </a:rPr>
              <a:t>     of (3− 2.25)/3 100%= 25%.</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j-lt"/>
              </a:rPr>
              <a:t>In other words, Huffman’s encoding of the text will use 25% less memory than its fixed-length encoding.</a:t>
            </a:r>
          </a:p>
          <a:p>
            <a:pPr marL="0" marR="0" lvl="0" indent="0" algn="just" defTabSz="914400" eaLnBrk="1" fontAlgn="auto" latinLnBrk="0" hangingPunct="1">
              <a:lnSpc>
                <a:spcPct val="150000"/>
              </a:lnSpc>
              <a:spcBef>
                <a:spcPts val="0"/>
              </a:spcBef>
              <a:spcAft>
                <a:spcPts val="0"/>
              </a:spcAft>
              <a:buClrTx/>
              <a:buSzPts val="1800"/>
              <a:buFontTx/>
              <a:buNone/>
              <a:tabLst/>
              <a:defRPr/>
            </a:pPr>
            <a:endParaRPr kumimoji="0" lang="en-IN" sz="1800" b="1" i="0" u="none" strike="noStrike" kern="0" cap="none" spc="0" normalizeH="0" baseline="0" noProof="0" dirty="0">
              <a:ln>
                <a:noFill/>
              </a:ln>
              <a:solidFill>
                <a:sysClr val="windowText" lastClr="000000"/>
              </a:solidFill>
              <a:effectLst/>
              <a:uLnTx/>
              <a:uFillTx/>
              <a:latin typeface="+mj-lt"/>
            </a:endParaRPr>
          </a:p>
          <a:p>
            <a:pPr marL="0" marR="0" lvl="0" indent="0" algn="just" defTabSz="914400" eaLnBrk="1" fontAlgn="auto" latinLnBrk="0" hangingPunct="1">
              <a:lnSpc>
                <a:spcPct val="150000"/>
              </a:lnSpc>
              <a:spcBef>
                <a:spcPts val="0"/>
              </a:spcBef>
              <a:spcAft>
                <a:spcPts val="0"/>
              </a:spcAft>
              <a:buClrTx/>
              <a:buSzPts val="1800"/>
              <a:buFontTx/>
              <a:buNone/>
              <a:tabLst/>
              <a:defRPr/>
            </a:pPr>
            <a:endParaRPr kumimoji="0" lang="en-IN" sz="1800" b="1" i="0" u="none" strike="noStrike" kern="0" cap="none" spc="0" normalizeH="0" baseline="0" noProof="0" dirty="0">
              <a:ln>
                <a:noFill/>
              </a:ln>
              <a:solidFill>
                <a:sysClr val="windowText" lastClr="000000"/>
              </a:solidFill>
              <a:effectLst/>
              <a:uLnTx/>
              <a:uFillTx/>
              <a:latin typeface="+mj-lt"/>
            </a:endParaRPr>
          </a:p>
          <a:p>
            <a:pPr marL="0" marR="0" lvl="0" indent="0" algn="just" defTabSz="914400" eaLnBrk="1" fontAlgn="auto" latinLnBrk="0" hangingPunct="1">
              <a:lnSpc>
                <a:spcPct val="150000"/>
              </a:lnSpc>
              <a:spcBef>
                <a:spcPts val="0"/>
              </a:spcBef>
              <a:spcAft>
                <a:spcPts val="0"/>
              </a:spcAft>
              <a:buClrTx/>
              <a:buSzPts val="1800"/>
              <a:buFontTx/>
              <a:buNone/>
              <a:tabLst/>
              <a:defRPr/>
            </a:pPr>
            <a:endParaRPr kumimoji="0" lang="en-IN" sz="1800" b="1" i="0" u="none" strike="noStrike" kern="0" cap="none" spc="0" normalizeH="0" baseline="0" noProof="0" dirty="0">
              <a:ln>
                <a:noFill/>
              </a:ln>
              <a:solidFill>
                <a:sysClr val="windowText" lastClr="000000"/>
              </a:solidFill>
              <a:effectLst/>
              <a:uLnTx/>
              <a:uFillTx/>
              <a:latin typeface="+mj-lt"/>
            </a:endParaRPr>
          </a:p>
          <a:p>
            <a:pPr marL="0" marR="0" lvl="0" indent="0" algn="just" defTabSz="914400" eaLnBrk="1" fontAlgn="auto" latinLnBrk="0" hangingPunct="1">
              <a:lnSpc>
                <a:spcPct val="150000"/>
              </a:lnSpc>
              <a:spcBef>
                <a:spcPts val="0"/>
              </a:spcBef>
              <a:spcAft>
                <a:spcPts val="0"/>
              </a:spcAft>
              <a:buClrTx/>
              <a:buSzPts val="1800"/>
              <a:buFontTx/>
              <a:buNone/>
              <a:tabLst/>
              <a:defRPr/>
            </a:pPr>
            <a:endParaRPr kumimoji="0" lang="en-IN" sz="1800" b="1" i="0" u="none" strike="noStrike" kern="0" cap="none" spc="0" normalizeH="0" baseline="0" noProof="0" dirty="0">
              <a:ln>
                <a:noFill/>
              </a:ln>
              <a:solidFill>
                <a:sysClr val="windowText" lastClr="000000"/>
              </a:solidFill>
              <a:effectLst/>
              <a:uLnTx/>
              <a:uFillTx/>
              <a:latin typeface="+mj-lt"/>
            </a:endParaRPr>
          </a:p>
          <a:p>
            <a:pPr marL="0" marR="0" lvl="0" indent="0" algn="just" defTabSz="914400" eaLnBrk="1" fontAlgn="auto" latinLnBrk="0" hangingPunct="1">
              <a:lnSpc>
                <a:spcPct val="150000"/>
              </a:lnSpc>
              <a:spcBef>
                <a:spcPts val="0"/>
              </a:spcBef>
              <a:spcAft>
                <a:spcPts val="0"/>
              </a:spcAft>
              <a:buClrTx/>
              <a:buSzPts val="1800"/>
              <a:buFontTx/>
              <a:buNone/>
              <a:tabLst/>
              <a:defRPr/>
            </a:pPr>
            <a:endParaRPr kumimoji="0" lang="en-IN" sz="1800" b="1" i="0" u="none" strike="noStrike" kern="0" cap="none" spc="0" normalizeH="0" baseline="0" noProof="0" dirty="0">
              <a:ln>
                <a:noFill/>
              </a:ln>
              <a:solidFill>
                <a:sysClr val="windowText" lastClr="000000"/>
              </a:solidFill>
              <a:effectLst/>
              <a:uLnTx/>
              <a:uFillTx/>
              <a:latin typeface="+mj-lt"/>
            </a:endParaRPr>
          </a:p>
          <a:p>
            <a:pPr marL="0" marR="0" lvl="0" indent="0" algn="just" defTabSz="914400" eaLnBrk="1" fontAlgn="auto" latinLnBrk="0" hangingPunct="1">
              <a:lnSpc>
                <a:spcPct val="150000"/>
              </a:lnSpc>
              <a:spcBef>
                <a:spcPts val="0"/>
              </a:spcBef>
              <a:spcAft>
                <a:spcPts val="0"/>
              </a:spcAft>
              <a:buClrTx/>
              <a:buSzPts val="1800"/>
              <a:buFontTx/>
              <a:buNone/>
              <a:tabLst/>
              <a:defRPr/>
            </a:pPr>
            <a:endParaRPr kumimoji="0" lang="en-IN" sz="1800" b="1" i="0" u="none" strike="noStrike" kern="0" cap="none" spc="0" normalizeH="0" baseline="0" noProof="0" dirty="0">
              <a:ln>
                <a:noFill/>
              </a:ln>
              <a:solidFill>
                <a:sysClr val="windowText" lastClr="000000"/>
              </a:solidFill>
              <a:effectLst/>
              <a:uLnTx/>
              <a:uFillTx/>
              <a:latin typeface="+mj-lt"/>
            </a:endParaRPr>
          </a:p>
          <a:p>
            <a:pPr marL="0" marR="0" lvl="0" indent="0" algn="just" defTabSz="914400" eaLnBrk="1" fontAlgn="auto" latinLnBrk="0" hangingPunct="1">
              <a:lnSpc>
                <a:spcPct val="150000"/>
              </a:lnSpc>
              <a:spcBef>
                <a:spcPts val="0"/>
              </a:spcBef>
              <a:spcAft>
                <a:spcPts val="0"/>
              </a:spcAft>
              <a:buClrTx/>
              <a:buSzPts val="1800"/>
              <a:buFontTx/>
              <a:buNone/>
              <a:tabLst/>
              <a:defRPr/>
            </a:pPr>
            <a:endParaRPr kumimoji="0" lang="en-IN" sz="1800" b="1" i="0" u="none" strike="noStrike" kern="0" cap="none" spc="0" normalizeH="0" baseline="0" noProof="0" dirty="0">
              <a:ln>
                <a:noFill/>
              </a:ln>
              <a:solidFill>
                <a:sysClr val="windowText" lastClr="000000"/>
              </a:solidFill>
              <a:effectLst/>
              <a:uLnTx/>
              <a:uFillTx/>
              <a:latin typeface="+mj-lt"/>
            </a:endParaRPr>
          </a:p>
        </p:txBody>
      </p:sp>
    </p:spTree>
    <p:extLst>
      <p:ext uri="{BB962C8B-B14F-4D97-AF65-F5344CB8AC3E}">
        <p14:creationId xmlns:p14="http://schemas.microsoft.com/office/powerpoint/2010/main" val="1280975196"/>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C315B1AA-1DB5-255B-B9C2-A70B03C486A0}"/>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00AB98E8-6F74-886A-6897-3DEBBCFA3683}"/>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Greedy Technique</a:t>
            </a:r>
          </a:p>
        </p:txBody>
      </p:sp>
      <p:sp>
        <p:nvSpPr>
          <p:cNvPr id="369" name="Google Shape;369;p42">
            <a:extLst>
              <a:ext uri="{FF2B5EF4-FFF2-40B4-BE49-F238E27FC236}">
                <a16:creationId xmlns:a16="http://schemas.microsoft.com/office/drawing/2014/main" id="{9D31A842-E4AD-456E-E95E-63EB08218A55}"/>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111</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28C1AD45-9AF6-7EE2-595D-1390B2D5614D}"/>
              </a:ext>
            </a:extLst>
          </p:cNvPr>
          <p:cNvSpPr txBox="1"/>
          <p:nvPr/>
        </p:nvSpPr>
        <p:spPr>
          <a:xfrm>
            <a:off x="154290" y="817571"/>
            <a:ext cx="8761110" cy="4431942"/>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IN" sz="1800" b="1" i="0" u="none" strike="noStrike" kern="0" cap="none" spc="0" normalizeH="0" baseline="0" noProof="0" dirty="0">
                <a:ln>
                  <a:noFill/>
                </a:ln>
                <a:solidFill>
                  <a:sysClr val="windowText" lastClr="000000"/>
                </a:solidFill>
                <a:effectLst/>
                <a:uLnTx/>
                <a:uFillTx/>
                <a:latin typeface="+mj-lt"/>
              </a:rPr>
              <a:t>Huffman Trees and Codes</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j-lt"/>
              </a:rPr>
              <a:t>Huffman’s encoding is one of the most important file-compression methods. In addition to its simplicity and versatility, it yields an optimal, i.e., minimal-length, encoding (provided the frequencies of symbol occurrences are independent and known in advance).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j-lt"/>
              </a:rPr>
              <a:t>The simplest version of Huffman compression calls, in fact, for a preliminary scanning of a given text to count the frequencies of symbol occurrences in it.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j-lt"/>
              </a:rPr>
              <a:t>Then these frequencies are used to construct a Huffman coding tree and encode the text as described above.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j-lt"/>
              </a:rPr>
              <a:t>This scheme makes it necessary, however, to include the coding table into the encoded text to make its decoding possible. </a:t>
            </a:r>
            <a:endParaRPr kumimoji="0" lang="en-IN" sz="1800" b="1" i="0" u="none" strike="noStrike" kern="0" cap="none" spc="0" normalizeH="0" baseline="0" noProof="0" dirty="0">
              <a:ln>
                <a:noFill/>
              </a:ln>
              <a:solidFill>
                <a:sysClr val="windowText" lastClr="000000"/>
              </a:solidFill>
              <a:effectLst/>
              <a:uLnTx/>
              <a:uFillTx/>
              <a:latin typeface="+mj-lt"/>
            </a:endParaRPr>
          </a:p>
        </p:txBody>
      </p:sp>
    </p:spTree>
    <p:extLst>
      <p:ext uri="{BB962C8B-B14F-4D97-AF65-F5344CB8AC3E}">
        <p14:creationId xmlns:p14="http://schemas.microsoft.com/office/powerpoint/2010/main" val="2664872682"/>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510C63F3-1325-1938-8A8A-0AC3DF9D989A}"/>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B1E0DD2C-F793-D574-DC99-0FF1281001BD}"/>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Greedy Technique</a:t>
            </a:r>
          </a:p>
        </p:txBody>
      </p:sp>
      <p:sp>
        <p:nvSpPr>
          <p:cNvPr id="369" name="Google Shape;369;p42">
            <a:extLst>
              <a:ext uri="{FF2B5EF4-FFF2-40B4-BE49-F238E27FC236}">
                <a16:creationId xmlns:a16="http://schemas.microsoft.com/office/drawing/2014/main" id="{32FDD451-3065-7A4B-1F97-E67C7994BE3B}"/>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112</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04E091F1-18B6-742E-C35D-CA2B97903186}"/>
              </a:ext>
            </a:extLst>
          </p:cNvPr>
          <p:cNvSpPr txBox="1"/>
          <p:nvPr/>
        </p:nvSpPr>
        <p:spPr>
          <a:xfrm>
            <a:off x="154290" y="1081890"/>
            <a:ext cx="8761110" cy="5770770"/>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IN" sz="1800" b="1" i="0" u="none" strike="noStrike" kern="0" cap="none" spc="0" normalizeH="0" baseline="0" noProof="0" dirty="0">
                <a:ln>
                  <a:noFill/>
                </a:ln>
                <a:solidFill>
                  <a:sysClr val="windowText" lastClr="000000"/>
                </a:solidFill>
                <a:effectLst/>
                <a:uLnTx/>
                <a:uFillTx/>
                <a:latin typeface="+mj-lt"/>
              </a:rPr>
              <a:t>Huffman Trees and Codes</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j-lt"/>
              </a:rPr>
              <a:t>This drawback can be overcome by using dynamic Huffman encoding, in which the coding tree is updated each time a new symbol is read from the source text.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endParaRPr kumimoji="0" lang="en-US" sz="1700" b="0" i="0" u="none" strike="noStrike" kern="0" cap="none" spc="0" normalizeH="0" baseline="0" noProof="0" dirty="0">
              <a:ln>
                <a:noFill/>
              </a:ln>
              <a:solidFill>
                <a:sysClr val="windowText" lastClr="000000"/>
              </a:solidFill>
              <a:effectLst/>
              <a:uLnTx/>
              <a:uFillTx/>
              <a:latin typeface="+mj-lt"/>
            </a:endParaRP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j-lt"/>
              </a:rPr>
              <a:t>It is important to note that applications of Huffman’s algorithm are not limited to data compression. Suppose we have n positive numbers w1, w2, . . . , </a:t>
            </a:r>
            <a:r>
              <a:rPr kumimoji="0" lang="en-US" sz="1700" b="0" i="0" u="none" strike="noStrike" kern="0" cap="none" spc="0" normalizeH="0" baseline="0" noProof="0" dirty="0" err="1">
                <a:ln>
                  <a:noFill/>
                </a:ln>
                <a:solidFill>
                  <a:sysClr val="windowText" lastClr="000000"/>
                </a:solidFill>
                <a:effectLst/>
                <a:uLnTx/>
                <a:uFillTx/>
                <a:latin typeface="+mj-lt"/>
              </a:rPr>
              <a:t>wn</a:t>
            </a:r>
            <a:r>
              <a:rPr kumimoji="0" lang="en-US" sz="1700" b="0" i="0" u="none" strike="noStrike" kern="0" cap="none" spc="0" normalizeH="0" baseline="0" noProof="0" dirty="0">
                <a:ln>
                  <a:noFill/>
                </a:ln>
                <a:solidFill>
                  <a:sysClr val="windowText" lastClr="000000"/>
                </a:solidFill>
                <a:effectLst/>
                <a:uLnTx/>
                <a:uFillTx/>
                <a:latin typeface="+mj-lt"/>
              </a:rPr>
              <a:t> that have to be assigned to n leaves of a binary tree, one per node.</a:t>
            </a:r>
          </a:p>
          <a:p>
            <a:pPr marL="0" marR="0" lvl="0" indent="0" algn="just" defTabSz="914400" eaLnBrk="1" fontAlgn="auto" latinLnBrk="0" hangingPunct="1">
              <a:lnSpc>
                <a:spcPct val="150000"/>
              </a:lnSpc>
              <a:spcBef>
                <a:spcPts val="0"/>
              </a:spcBef>
              <a:spcAft>
                <a:spcPts val="0"/>
              </a:spcAft>
              <a:buClrTx/>
              <a:buSzPts val="1800"/>
              <a:buFontTx/>
              <a:buNone/>
              <a:tabLst/>
              <a:defRPr/>
            </a:pPr>
            <a:endParaRPr kumimoji="0" lang="en-IN" sz="1800" b="1" i="0" u="none" strike="noStrike" kern="0" cap="none" spc="0" normalizeH="0" baseline="0" noProof="0" dirty="0">
              <a:ln>
                <a:noFill/>
              </a:ln>
              <a:solidFill>
                <a:sysClr val="windowText" lastClr="000000"/>
              </a:solidFill>
              <a:effectLst/>
              <a:uLnTx/>
              <a:uFillTx/>
              <a:latin typeface="+mj-lt"/>
            </a:endParaRPr>
          </a:p>
          <a:p>
            <a:pPr marL="0" marR="0" lvl="0" indent="0" algn="just" defTabSz="914400" eaLnBrk="1" fontAlgn="auto" latinLnBrk="0" hangingPunct="1">
              <a:lnSpc>
                <a:spcPct val="150000"/>
              </a:lnSpc>
              <a:spcBef>
                <a:spcPts val="0"/>
              </a:spcBef>
              <a:spcAft>
                <a:spcPts val="0"/>
              </a:spcAft>
              <a:buClrTx/>
              <a:buSzPts val="1800"/>
              <a:buFontTx/>
              <a:buNone/>
              <a:tabLst/>
              <a:defRPr/>
            </a:pPr>
            <a:endParaRPr kumimoji="0" lang="en-IN" sz="1800" b="1" i="0" u="none" strike="noStrike" kern="0" cap="none" spc="0" normalizeH="0" baseline="0" noProof="0" dirty="0">
              <a:ln>
                <a:noFill/>
              </a:ln>
              <a:solidFill>
                <a:sysClr val="windowText" lastClr="000000"/>
              </a:solidFill>
              <a:effectLst/>
              <a:uLnTx/>
              <a:uFillTx/>
              <a:latin typeface="+mj-lt"/>
            </a:endParaRPr>
          </a:p>
          <a:p>
            <a:pPr marL="0" marR="0" lvl="0" indent="0" algn="just" defTabSz="914400" eaLnBrk="1" fontAlgn="auto" latinLnBrk="0" hangingPunct="1">
              <a:lnSpc>
                <a:spcPct val="150000"/>
              </a:lnSpc>
              <a:spcBef>
                <a:spcPts val="0"/>
              </a:spcBef>
              <a:spcAft>
                <a:spcPts val="0"/>
              </a:spcAft>
              <a:buClrTx/>
              <a:buSzPts val="1800"/>
              <a:buFontTx/>
              <a:buNone/>
              <a:tabLst/>
              <a:defRPr/>
            </a:pPr>
            <a:endParaRPr kumimoji="0" lang="en-IN" sz="1800" b="1" i="0" u="none" strike="noStrike" kern="0" cap="none" spc="0" normalizeH="0" baseline="0" noProof="0" dirty="0">
              <a:ln>
                <a:noFill/>
              </a:ln>
              <a:solidFill>
                <a:sysClr val="windowText" lastClr="000000"/>
              </a:solidFill>
              <a:effectLst/>
              <a:uLnTx/>
              <a:uFillTx/>
              <a:latin typeface="+mj-lt"/>
            </a:endParaRPr>
          </a:p>
          <a:p>
            <a:pPr marL="0" marR="0" lvl="0" indent="0" algn="just" defTabSz="914400" eaLnBrk="1" fontAlgn="auto" latinLnBrk="0" hangingPunct="1">
              <a:lnSpc>
                <a:spcPct val="150000"/>
              </a:lnSpc>
              <a:spcBef>
                <a:spcPts val="0"/>
              </a:spcBef>
              <a:spcAft>
                <a:spcPts val="0"/>
              </a:spcAft>
              <a:buClrTx/>
              <a:buSzPts val="1800"/>
              <a:buFontTx/>
              <a:buNone/>
              <a:tabLst/>
              <a:defRPr/>
            </a:pPr>
            <a:endParaRPr kumimoji="0" lang="en-IN" sz="1800" b="1" i="0" u="none" strike="noStrike" kern="0" cap="none" spc="0" normalizeH="0" baseline="0" noProof="0" dirty="0">
              <a:ln>
                <a:noFill/>
              </a:ln>
              <a:solidFill>
                <a:sysClr val="windowText" lastClr="000000"/>
              </a:solidFill>
              <a:effectLst/>
              <a:uLnTx/>
              <a:uFillTx/>
              <a:latin typeface="+mj-lt"/>
            </a:endParaRPr>
          </a:p>
          <a:p>
            <a:pPr marL="0" marR="0" lvl="0" indent="0" algn="just" defTabSz="914400" eaLnBrk="1" fontAlgn="auto" latinLnBrk="0" hangingPunct="1">
              <a:lnSpc>
                <a:spcPct val="150000"/>
              </a:lnSpc>
              <a:spcBef>
                <a:spcPts val="0"/>
              </a:spcBef>
              <a:spcAft>
                <a:spcPts val="0"/>
              </a:spcAft>
              <a:buClrTx/>
              <a:buSzPts val="1800"/>
              <a:buFontTx/>
              <a:buNone/>
              <a:tabLst/>
              <a:defRPr/>
            </a:pPr>
            <a:endParaRPr kumimoji="0" lang="en-IN" sz="1800" b="1" i="0" u="none" strike="noStrike" kern="0" cap="none" spc="0" normalizeH="0" baseline="0" noProof="0" dirty="0">
              <a:ln>
                <a:noFill/>
              </a:ln>
              <a:solidFill>
                <a:sysClr val="windowText" lastClr="000000"/>
              </a:solidFill>
              <a:effectLst/>
              <a:uLnTx/>
              <a:uFillTx/>
              <a:latin typeface="+mj-lt"/>
            </a:endParaRPr>
          </a:p>
          <a:p>
            <a:pPr marL="0" marR="0" lvl="0" indent="0" algn="just" defTabSz="914400" eaLnBrk="1" fontAlgn="auto" latinLnBrk="0" hangingPunct="1">
              <a:lnSpc>
                <a:spcPct val="150000"/>
              </a:lnSpc>
              <a:spcBef>
                <a:spcPts val="0"/>
              </a:spcBef>
              <a:spcAft>
                <a:spcPts val="0"/>
              </a:spcAft>
              <a:buClrTx/>
              <a:buSzPts val="1800"/>
              <a:buFontTx/>
              <a:buNone/>
              <a:tabLst/>
              <a:defRPr/>
            </a:pPr>
            <a:endParaRPr kumimoji="0" lang="en-IN" sz="1800" b="1" i="0" u="none" strike="noStrike" kern="0" cap="none" spc="0" normalizeH="0" baseline="0" noProof="0" dirty="0">
              <a:ln>
                <a:noFill/>
              </a:ln>
              <a:solidFill>
                <a:sysClr val="windowText" lastClr="000000"/>
              </a:solidFill>
              <a:effectLst/>
              <a:uLnTx/>
              <a:uFillTx/>
              <a:latin typeface="+mj-lt"/>
            </a:endParaRPr>
          </a:p>
          <a:p>
            <a:pPr marL="0" marR="0" lvl="0" indent="0" algn="just" defTabSz="914400" eaLnBrk="1" fontAlgn="auto" latinLnBrk="0" hangingPunct="1">
              <a:lnSpc>
                <a:spcPct val="150000"/>
              </a:lnSpc>
              <a:spcBef>
                <a:spcPts val="0"/>
              </a:spcBef>
              <a:spcAft>
                <a:spcPts val="0"/>
              </a:spcAft>
              <a:buClrTx/>
              <a:buSzPts val="1800"/>
              <a:buFontTx/>
              <a:buNone/>
              <a:tabLst/>
              <a:defRPr/>
            </a:pPr>
            <a:endParaRPr kumimoji="0" lang="en-IN" sz="1800" b="1" i="0" u="none" strike="noStrike" kern="0" cap="none" spc="0" normalizeH="0" baseline="0" noProof="0" dirty="0">
              <a:ln>
                <a:noFill/>
              </a:ln>
              <a:solidFill>
                <a:sysClr val="windowText" lastClr="000000"/>
              </a:solidFill>
              <a:effectLst/>
              <a:uLnTx/>
              <a:uFillTx/>
              <a:latin typeface="+mj-lt"/>
            </a:endParaRPr>
          </a:p>
        </p:txBody>
      </p:sp>
    </p:spTree>
    <p:extLst>
      <p:ext uri="{BB962C8B-B14F-4D97-AF65-F5344CB8AC3E}">
        <p14:creationId xmlns:p14="http://schemas.microsoft.com/office/powerpoint/2010/main" val="1995542182"/>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A2B766B5-6630-4F20-2ECF-343AE01E76D2}"/>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1E241FC3-6FD1-07FD-7CFD-4D388889B216}"/>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Greedy Technique</a:t>
            </a:r>
          </a:p>
        </p:txBody>
      </p:sp>
      <p:sp>
        <p:nvSpPr>
          <p:cNvPr id="369" name="Google Shape;369;p42">
            <a:extLst>
              <a:ext uri="{FF2B5EF4-FFF2-40B4-BE49-F238E27FC236}">
                <a16:creationId xmlns:a16="http://schemas.microsoft.com/office/drawing/2014/main" id="{C37C5C28-933A-A07E-F65B-52477D0E47A4}"/>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113</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7A10FEFF-DAAD-FB90-C970-60EB5E8183BB}"/>
              </a:ext>
            </a:extLst>
          </p:cNvPr>
          <p:cNvSpPr txBox="1"/>
          <p:nvPr/>
        </p:nvSpPr>
        <p:spPr>
          <a:xfrm>
            <a:off x="154290" y="1081890"/>
            <a:ext cx="8761110" cy="6140102"/>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IN" sz="1800" b="1" i="0" u="none" strike="noStrike" kern="0" cap="none" spc="0" normalizeH="0" baseline="0" noProof="0" dirty="0">
                <a:ln>
                  <a:noFill/>
                </a:ln>
                <a:solidFill>
                  <a:sysClr val="windowText" lastClr="000000"/>
                </a:solidFill>
                <a:effectLst/>
                <a:uLnTx/>
                <a:uFillTx/>
                <a:latin typeface="+mj-lt"/>
              </a:rPr>
              <a:t>Huffman Trees and Codes</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j-lt"/>
              </a:rPr>
              <a:t>If we define the weighted path length as  the sum                  where li is the length of the simple path from the root to the </a:t>
            </a:r>
            <a:r>
              <a:rPr kumimoji="0" lang="en-US" sz="1700" b="0" i="0" u="none" strike="noStrike" kern="0" cap="none" spc="0" normalizeH="0" baseline="0" noProof="0" dirty="0" err="1">
                <a:ln>
                  <a:noFill/>
                </a:ln>
                <a:solidFill>
                  <a:sysClr val="windowText" lastClr="000000"/>
                </a:solidFill>
                <a:effectLst/>
                <a:uLnTx/>
                <a:uFillTx/>
                <a:latin typeface="+mj-lt"/>
              </a:rPr>
              <a:t>ith</a:t>
            </a:r>
            <a:r>
              <a:rPr kumimoji="0" lang="en-US" sz="1700" b="0" i="0" u="none" strike="noStrike" kern="0" cap="none" spc="0" normalizeH="0" baseline="0" noProof="0" dirty="0">
                <a:ln>
                  <a:noFill/>
                </a:ln>
                <a:solidFill>
                  <a:sysClr val="windowText" lastClr="000000"/>
                </a:solidFill>
                <a:effectLst/>
                <a:uLnTx/>
                <a:uFillTx/>
                <a:latin typeface="+mj-lt"/>
              </a:rPr>
              <a:t> leaf, how can we construct a binary tree with minimum weighted path length?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j-lt"/>
              </a:rPr>
              <a:t>This problem arises in many situations involving decision making. Consider, for example, the game of guessing a chosen object from n possibilities (say, an integer between 1 and n) by asking questions answerable by yes or no.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j-lt"/>
              </a:rPr>
              <a:t>Different strategies for playing this game can be modeled by decision trees such as those depicted in Figure 9.13 for n = 4.</a:t>
            </a:r>
            <a:endParaRPr kumimoji="0" lang="en-IN" sz="1700" b="0" i="0" u="none" strike="noStrike" kern="0" cap="none" spc="0" normalizeH="0" baseline="0" noProof="0" dirty="0">
              <a:ln>
                <a:noFill/>
              </a:ln>
              <a:solidFill>
                <a:sysClr val="windowText" lastClr="000000"/>
              </a:solidFill>
              <a:effectLst/>
              <a:uLnTx/>
              <a:uFillTx/>
              <a:latin typeface="+mj-lt"/>
            </a:endParaRPr>
          </a:p>
          <a:p>
            <a:pPr marL="0" marR="0" lvl="0" indent="0" algn="just" defTabSz="914400" eaLnBrk="1" fontAlgn="auto" latinLnBrk="0" hangingPunct="1">
              <a:lnSpc>
                <a:spcPct val="150000"/>
              </a:lnSpc>
              <a:spcBef>
                <a:spcPts val="0"/>
              </a:spcBef>
              <a:spcAft>
                <a:spcPts val="0"/>
              </a:spcAft>
              <a:buClrTx/>
              <a:buSzPts val="1800"/>
              <a:buFontTx/>
              <a:buNone/>
              <a:tabLst/>
              <a:defRPr/>
            </a:pPr>
            <a:endParaRPr kumimoji="0" lang="en-IN" sz="1800" b="1" i="0" u="none" strike="noStrike" kern="0" cap="none" spc="0" normalizeH="0" baseline="0" noProof="0" dirty="0">
              <a:ln>
                <a:noFill/>
              </a:ln>
              <a:solidFill>
                <a:sysClr val="windowText" lastClr="000000"/>
              </a:solidFill>
              <a:effectLst/>
              <a:uLnTx/>
              <a:uFillTx/>
              <a:latin typeface="+mj-lt"/>
            </a:endParaRPr>
          </a:p>
          <a:p>
            <a:pPr marL="0" marR="0" lvl="0" indent="0" algn="just" defTabSz="914400" eaLnBrk="1" fontAlgn="auto" latinLnBrk="0" hangingPunct="1">
              <a:lnSpc>
                <a:spcPct val="150000"/>
              </a:lnSpc>
              <a:spcBef>
                <a:spcPts val="0"/>
              </a:spcBef>
              <a:spcAft>
                <a:spcPts val="0"/>
              </a:spcAft>
              <a:buClrTx/>
              <a:buSzPts val="1800"/>
              <a:buFontTx/>
              <a:buNone/>
              <a:tabLst/>
              <a:defRPr/>
            </a:pPr>
            <a:endParaRPr kumimoji="0" lang="en-IN" sz="1800" b="1" i="0" u="none" strike="noStrike" kern="0" cap="none" spc="0" normalizeH="0" baseline="0" noProof="0" dirty="0">
              <a:ln>
                <a:noFill/>
              </a:ln>
              <a:solidFill>
                <a:sysClr val="windowText" lastClr="000000"/>
              </a:solidFill>
              <a:effectLst/>
              <a:uLnTx/>
              <a:uFillTx/>
              <a:latin typeface="+mj-lt"/>
            </a:endParaRPr>
          </a:p>
          <a:p>
            <a:pPr marL="0" marR="0" lvl="0" indent="0" algn="just" defTabSz="914400" eaLnBrk="1" fontAlgn="auto" latinLnBrk="0" hangingPunct="1">
              <a:lnSpc>
                <a:spcPct val="150000"/>
              </a:lnSpc>
              <a:spcBef>
                <a:spcPts val="0"/>
              </a:spcBef>
              <a:spcAft>
                <a:spcPts val="0"/>
              </a:spcAft>
              <a:buClrTx/>
              <a:buSzPts val="1800"/>
              <a:buFontTx/>
              <a:buNone/>
              <a:tabLst/>
              <a:defRPr/>
            </a:pPr>
            <a:endParaRPr kumimoji="0" lang="en-IN" sz="1800" b="1" i="0" u="none" strike="noStrike" kern="0" cap="none" spc="0" normalizeH="0" baseline="0" noProof="0" dirty="0">
              <a:ln>
                <a:noFill/>
              </a:ln>
              <a:solidFill>
                <a:sysClr val="windowText" lastClr="000000"/>
              </a:solidFill>
              <a:effectLst/>
              <a:uLnTx/>
              <a:uFillTx/>
              <a:latin typeface="+mj-lt"/>
            </a:endParaRPr>
          </a:p>
          <a:p>
            <a:pPr marL="0" marR="0" lvl="0" indent="0" algn="just" defTabSz="914400" eaLnBrk="1" fontAlgn="auto" latinLnBrk="0" hangingPunct="1">
              <a:lnSpc>
                <a:spcPct val="150000"/>
              </a:lnSpc>
              <a:spcBef>
                <a:spcPts val="0"/>
              </a:spcBef>
              <a:spcAft>
                <a:spcPts val="0"/>
              </a:spcAft>
              <a:buClrTx/>
              <a:buSzPts val="1800"/>
              <a:buFontTx/>
              <a:buNone/>
              <a:tabLst/>
              <a:defRPr/>
            </a:pPr>
            <a:endParaRPr kumimoji="0" lang="en-IN" sz="1800" b="1" i="0" u="none" strike="noStrike" kern="0" cap="none" spc="0" normalizeH="0" baseline="0" noProof="0" dirty="0">
              <a:ln>
                <a:noFill/>
              </a:ln>
              <a:solidFill>
                <a:sysClr val="windowText" lastClr="000000"/>
              </a:solidFill>
              <a:effectLst/>
              <a:uLnTx/>
              <a:uFillTx/>
              <a:latin typeface="+mj-lt"/>
            </a:endParaRPr>
          </a:p>
          <a:p>
            <a:pPr marL="0" marR="0" lvl="0" indent="0" algn="just" defTabSz="914400" eaLnBrk="1" fontAlgn="auto" latinLnBrk="0" hangingPunct="1">
              <a:lnSpc>
                <a:spcPct val="150000"/>
              </a:lnSpc>
              <a:spcBef>
                <a:spcPts val="0"/>
              </a:spcBef>
              <a:spcAft>
                <a:spcPts val="0"/>
              </a:spcAft>
              <a:buClrTx/>
              <a:buSzPts val="1800"/>
              <a:buFontTx/>
              <a:buNone/>
              <a:tabLst/>
              <a:defRPr/>
            </a:pPr>
            <a:endParaRPr kumimoji="0" lang="en-IN" sz="1800" b="1" i="0" u="none" strike="noStrike" kern="0" cap="none" spc="0" normalizeH="0" baseline="0" noProof="0" dirty="0">
              <a:ln>
                <a:noFill/>
              </a:ln>
              <a:solidFill>
                <a:sysClr val="windowText" lastClr="000000"/>
              </a:solidFill>
              <a:effectLst/>
              <a:uLnTx/>
              <a:uFillTx/>
              <a:latin typeface="+mj-lt"/>
            </a:endParaRPr>
          </a:p>
          <a:p>
            <a:pPr marL="0" marR="0" lvl="0" indent="0" algn="just" defTabSz="914400" eaLnBrk="1" fontAlgn="auto" latinLnBrk="0" hangingPunct="1">
              <a:lnSpc>
                <a:spcPct val="150000"/>
              </a:lnSpc>
              <a:spcBef>
                <a:spcPts val="0"/>
              </a:spcBef>
              <a:spcAft>
                <a:spcPts val="0"/>
              </a:spcAft>
              <a:buClrTx/>
              <a:buSzPts val="1800"/>
              <a:buFontTx/>
              <a:buNone/>
              <a:tabLst/>
              <a:defRPr/>
            </a:pPr>
            <a:endParaRPr kumimoji="0" lang="en-IN" sz="1800" b="1" i="0" u="none" strike="noStrike" kern="0" cap="none" spc="0" normalizeH="0" baseline="0" noProof="0" dirty="0">
              <a:ln>
                <a:noFill/>
              </a:ln>
              <a:solidFill>
                <a:sysClr val="windowText" lastClr="000000"/>
              </a:solidFill>
              <a:effectLst/>
              <a:uLnTx/>
              <a:uFillTx/>
              <a:latin typeface="+mj-lt"/>
            </a:endParaRPr>
          </a:p>
        </p:txBody>
      </p:sp>
      <p:pic>
        <p:nvPicPr>
          <p:cNvPr id="3" name="Picture 2">
            <a:extLst>
              <a:ext uri="{FF2B5EF4-FFF2-40B4-BE49-F238E27FC236}">
                <a16:creationId xmlns:a16="http://schemas.microsoft.com/office/drawing/2014/main" id="{354F4146-E4D2-1863-1BEE-C9F6D5F40E2B}"/>
              </a:ext>
            </a:extLst>
          </p:cNvPr>
          <p:cNvPicPr>
            <a:picLocks noChangeAspect="1"/>
          </p:cNvPicPr>
          <p:nvPr/>
        </p:nvPicPr>
        <p:blipFill>
          <a:blip r:embed="rId3"/>
          <a:stretch>
            <a:fillRect/>
          </a:stretch>
        </p:blipFill>
        <p:spPr>
          <a:xfrm>
            <a:off x="5443016" y="1622334"/>
            <a:ext cx="1044030" cy="281964"/>
          </a:xfrm>
          <a:prstGeom prst="rect">
            <a:avLst/>
          </a:prstGeom>
        </p:spPr>
      </p:pic>
    </p:spTree>
    <p:extLst>
      <p:ext uri="{BB962C8B-B14F-4D97-AF65-F5344CB8AC3E}">
        <p14:creationId xmlns:p14="http://schemas.microsoft.com/office/powerpoint/2010/main" val="787333399"/>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D493022C-BD2C-FB0B-BD17-262DBED7B407}"/>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20DA2926-CD04-D1BB-2552-68E5531F1E9B}"/>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Greedy Technique</a:t>
            </a:r>
          </a:p>
        </p:txBody>
      </p:sp>
      <p:sp>
        <p:nvSpPr>
          <p:cNvPr id="369" name="Google Shape;369;p42">
            <a:extLst>
              <a:ext uri="{FF2B5EF4-FFF2-40B4-BE49-F238E27FC236}">
                <a16:creationId xmlns:a16="http://schemas.microsoft.com/office/drawing/2014/main" id="{D162433F-F5A3-39D9-3851-1D70A3D287B0}"/>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114</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86028D9D-B7FA-352F-9B1E-918F9D6A6DFF}"/>
              </a:ext>
            </a:extLst>
          </p:cNvPr>
          <p:cNvSpPr txBox="1"/>
          <p:nvPr/>
        </p:nvSpPr>
        <p:spPr>
          <a:xfrm>
            <a:off x="154290" y="1081890"/>
            <a:ext cx="8761110" cy="3000781"/>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IN" sz="1800" b="1" i="0" u="none" strike="noStrike" kern="0" cap="none" spc="0" normalizeH="0" baseline="0" noProof="0" dirty="0">
                <a:ln>
                  <a:noFill/>
                </a:ln>
                <a:solidFill>
                  <a:sysClr val="windowText" lastClr="000000"/>
                </a:solidFill>
                <a:effectLst/>
                <a:uLnTx/>
                <a:uFillTx/>
                <a:latin typeface="+mj-lt"/>
              </a:rPr>
              <a:t>Huffman Trees and Codes</a:t>
            </a:r>
          </a:p>
          <a:p>
            <a:pPr marL="0" marR="0" lvl="0" indent="0" algn="just" defTabSz="914400" eaLnBrk="1" fontAlgn="auto" latinLnBrk="0" hangingPunct="1">
              <a:lnSpc>
                <a:spcPct val="150000"/>
              </a:lnSpc>
              <a:spcBef>
                <a:spcPts val="0"/>
              </a:spcBef>
              <a:spcAft>
                <a:spcPts val="0"/>
              </a:spcAft>
              <a:buClrTx/>
              <a:buSzPts val="1800"/>
              <a:buFontTx/>
              <a:buNone/>
              <a:tabLst/>
              <a:defRPr/>
            </a:pPr>
            <a:endParaRPr kumimoji="0" lang="en-IN" sz="1800" b="1" i="0" u="none" strike="noStrike" kern="0" cap="none" spc="0" normalizeH="0" baseline="0" noProof="0" dirty="0">
              <a:ln>
                <a:noFill/>
              </a:ln>
              <a:solidFill>
                <a:sysClr val="windowText" lastClr="000000"/>
              </a:solidFill>
              <a:effectLst/>
              <a:uLnTx/>
              <a:uFillTx/>
              <a:latin typeface="+mj-lt"/>
            </a:endParaRPr>
          </a:p>
          <a:p>
            <a:pPr marL="0" marR="0" lvl="0" indent="0" algn="just" defTabSz="914400" eaLnBrk="1" fontAlgn="auto" latinLnBrk="0" hangingPunct="1">
              <a:lnSpc>
                <a:spcPct val="150000"/>
              </a:lnSpc>
              <a:spcBef>
                <a:spcPts val="0"/>
              </a:spcBef>
              <a:spcAft>
                <a:spcPts val="0"/>
              </a:spcAft>
              <a:buClrTx/>
              <a:buSzPts val="1800"/>
              <a:buFontTx/>
              <a:buNone/>
              <a:tabLst/>
              <a:defRPr/>
            </a:pPr>
            <a:endParaRPr kumimoji="0" lang="en-IN" sz="1800" b="1" i="0" u="none" strike="noStrike" kern="0" cap="none" spc="0" normalizeH="0" baseline="0" noProof="0" dirty="0">
              <a:ln>
                <a:noFill/>
              </a:ln>
              <a:solidFill>
                <a:sysClr val="windowText" lastClr="000000"/>
              </a:solidFill>
              <a:effectLst/>
              <a:uLnTx/>
              <a:uFillTx/>
              <a:latin typeface="+mj-lt"/>
            </a:endParaRPr>
          </a:p>
          <a:p>
            <a:pPr marL="0" marR="0" lvl="0" indent="0" algn="just" defTabSz="914400" eaLnBrk="1" fontAlgn="auto" latinLnBrk="0" hangingPunct="1">
              <a:lnSpc>
                <a:spcPct val="150000"/>
              </a:lnSpc>
              <a:spcBef>
                <a:spcPts val="0"/>
              </a:spcBef>
              <a:spcAft>
                <a:spcPts val="0"/>
              </a:spcAft>
              <a:buClrTx/>
              <a:buSzPts val="1800"/>
              <a:buFontTx/>
              <a:buNone/>
              <a:tabLst/>
              <a:defRPr/>
            </a:pPr>
            <a:endParaRPr kumimoji="0" lang="en-IN" sz="1800" b="1" i="0" u="none" strike="noStrike" kern="0" cap="none" spc="0" normalizeH="0" baseline="0" noProof="0" dirty="0">
              <a:ln>
                <a:noFill/>
              </a:ln>
              <a:solidFill>
                <a:sysClr val="windowText" lastClr="000000"/>
              </a:solidFill>
              <a:effectLst/>
              <a:uLnTx/>
              <a:uFillTx/>
              <a:latin typeface="+mj-lt"/>
            </a:endParaRPr>
          </a:p>
          <a:p>
            <a:pPr marL="0" marR="0" lvl="0" indent="0" algn="just" defTabSz="914400" eaLnBrk="1" fontAlgn="auto" latinLnBrk="0" hangingPunct="1">
              <a:lnSpc>
                <a:spcPct val="150000"/>
              </a:lnSpc>
              <a:spcBef>
                <a:spcPts val="0"/>
              </a:spcBef>
              <a:spcAft>
                <a:spcPts val="0"/>
              </a:spcAft>
              <a:buClrTx/>
              <a:buSzPts val="1800"/>
              <a:buFontTx/>
              <a:buNone/>
              <a:tabLst/>
              <a:defRPr/>
            </a:pPr>
            <a:endParaRPr kumimoji="0" lang="en-IN" sz="1800" b="1" i="0" u="none" strike="noStrike" kern="0" cap="none" spc="0" normalizeH="0" baseline="0" noProof="0" dirty="0">
              <a:ln>
                <a:noFill/>
              </a:ln>
              <a:solidFill>
                <a:sysClr val="windowText" lastClr="000000"/>
              </a:solidFill>
              <a:effectLst/>
              <a:uLnTx/>
              <a:uFillTx/>
              <a:latin typeface="+mj-lt"/>
            </a:endParaRPr>
          </a:p>
          <a:p>
            <a:pPr marL="0" marR="0" lvl="0" indent="0" algn="just" defTabSz="914400" eaLnBrk="1" fontAlgn="auto" latinLnBrk="0" hangingPunct="1">
              <a:lnSpc>
                <a:spcPct val="150000"/>
              </a:lnSpc>
              <a:spcBef>
                <a:spcPts val="0"/>
              </a:spcBef>
              <a:spcAft>
                <a:spcPts val="0"/>
              </a:spcAft>
              <a:buClrTx/>
              <a:buSzPts val="1800"/>
              <a:buFontTx/>
              <a:buNone/>
              <a:tabLst/>
              <a:defRPr/>
            </a:pPr>
            <a:endParaRPr kumimoji="0" lang="en-IN" sz="1800" b="1" i="0" u="none" strike="noStrike" kern="0" cap="none" spc="0" normalizeH="0" baseline="0" noProof="0" dirty="0">
              <a:ln>
                <a:noFill/>
              </a:ln>
              <a:solidFill>
                <a:sysClr val="windowText" lastClr="000000"/>
              </a:solidFill>
              <a:effectLst/>
              <a:uLnTx/>
              <a:uFillTx/>
              <a:latin typeface="+mj-lt"/>
            </a:endParaRPr>
          </a:p>
          <a:p>
            <a:pPr marL="0" marR="0" lvl="0" indent="0" algn="just" defTabSz="914400" eaLnBrk="1" fontAlgn="auto" latinLnBrk="0" hangingPunct="1">
              <a:lnSpc>
                <a:spcPct val="150000"/>
              </a:lnSpc>
              <a:spcBef>
                <a:spcPts val="0"/>
              </a:spcBef>
              <a:spcAft>
                <a:spcPts val="0"/>
              </a:spcAft>
              <a:buClrTx/>
              <a:buSzPts val="1800"/>
              <a:buFontTx/>
              <a:buNone/>
              <a:tabLst/>
              <a:defRPr/>
            </a:pPr>
            <a:endParaRPr kumimoji="0" lang="en-IN" sz="1800" b="1" i="0" u="none" strike="noStrike" kern="0" cap="none" spc="0" normalizeH="0" baseline="0" noProof="0" dirty="0">
              <a:ln>
                <a:noFill/>
              </a:ln>
              <a:solidFill>
                <a:sysClr val="windowText" lastClr="000000"/>
              </a:solidFill>
              <a:effectLst/>
              <a:uLnTx/>
              <a:uFillTx/>
              <a:latin typeface="+mj-lt"/>
            </a:endParaRPr>
          </a:p>
        </p:txBody>
      </p:sp>
      <p:pic>
        <p:nvPicPr>
          <p:cNvPr id="5" name="Picture 4">
            <a:extLst>
              <a:ext uri="{FF2B5EF4-FFF2-40B4-BE49-F238E27FC236}">
                <a16:creationId xmlns:a16="http://schemas.microsoft.com/office/drawing/2014/main" id="{7A209598-082F-9DEF-AAD2-1E405EC019BA}"/>
              </a:ext>
            </a:extLst>
          </p:cNvPr>
          <p:cNvPicPr>
            <a:picLocks noChangeAspect="1"/>
          </p:cNvPicPr>
          <p:nvPr/>
        </p:nvPicPr>
        <p:blipFill>
          <a:blip r:embed="rId3"/>
          <a:stretch>
            <a:fillRect/>
          </a:stretch>
        </p:blipFill>
        <p:spPr>
          <a:xfrm>
            <a:off x="1050936" y="1605070"/>
            <a:ext cx="3398815" cy="2080440"/>
          </a:xfrm>
          <a:prstGeom prst="rect">
            <a:avLst/>
          </a:prstGeom>
        </p:spPr>
      </p:pic>
      <p:pic>
        <p:nvPicPr>
          <p:cNvPr id="7" name="Picture 6">
            <a:extLst>
              <a:ext uri="{FF2B5EF4-FFF2-40B4-BE49-F238E27FC236}">
                <a16:creationId xmlns:a16="http://schemas.microsoft.com/office/drawing/2014/main" id="{ED496088-3C21-4590-EFC1-BDD1DE8ED9C3}"/>
              </a:ext>
            </a:extLst>
          </p:cNvPr>
          <p:cNvPicPr>
            <a:picLocks noChangeAspect="1"/>
          </p:cNvPicPr>
          <p:nvPr/>
        </p:nvPicPr>
        <p:blipFill>
          <a:blip r:embed="rId4"/>
          <a:stretch>
            <a:fillRect/>
          </a:stretch>
        </p:blipFill>
        <p:spPr>
          <a:xfrm>
            <a:off x="4694251" y="1605070"/>
            <a:ext cx="3558848" cy="2758679"/>
          </a:xfrm>
          <a:prstGeom prst="rect">
            <a:avLst/>
          </a:prstGeom>
        </p:spPr>
      </p:pic>
      <p:pic>
        <p:nvPicPr>
          <p:cNvPr id="9" name="Picture 8">
            <a:extLst>
              <a:ext uri="{FF2B5EF4-FFF2-40B4-BE49-F238E27FC236}">
                <a16:creationId xmlns:a16="http://schemas.microsoft.com/office/drawing/2014/main" id="{2176F6E1-A8E3-AA7A-A72D-5AC6F641CB2F}"/>
              </a:ext>
            </a:extLst>
          </p:cNvPr>
          <p:cNvPicPr>
            <a:picLocks noChangeAspect="1"/>
          </p:cNvPicPr>
          <p:nvPr/>
        </p:nvPicPr>
        <p:blipFill>
          <a:blip r:embed="rId5"/>
          <a:stretch>
            <a:fillRect/>
          </a:stretch>
        </p:blipFill>
        <p:spPr>
          <a:xfrm>
            <a:off x="781719" y="4429607"/>
            <a:ext cx="6523285" cy="281964"/>
          </a:xfrm>
          <a:prstGeom prst="rect">
            <a:avLst/>
          </a:prstGeom>
        </p:spPr>
      </p:pic>
    </p:spTree>
    <p:extLst>
      <p:ext uri="{BB962C8B-B14F-4D97-AF65-F5344CB8AC3E}">
        <p14:creationId xmlns:p14="http://schemas.microsoft.com/office/powerpoint/2010/main" val="57916132"/>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EB55EF9D-B03B-BD96-BA46-6C482167AA75}"/>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701E30C1-14DC-3870-C143-AA2CABE85CAD}"/>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Greedy Technique</a:t>
            </a:r>
          </a:p>
        </p:txBody>
      </p:sp>
      <p:sp>
        <p:nvSpPr>
          <p:cNvPr id="369" name="Google Shape;369;p42">
            <a:extLst>
              <a:ext uri="{FF2B5EF4-FFF2-40B4-BE49-F238E27FC236}">
                <a16:creationId xmlns:a16="http://schemas.microsoft.com/office/drawing/2014/main" id="{225BBEDD-8EDE-E192-4DD3-BA278F72A3E1}"/>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115</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8D129B52-B0E9-22F0-32A4-F19C37B9D852}"/>
              </a:ext>
            </a:extLst>
          </p:cNvPr>
          <p:cNvSpPr txBox="1"/>
          <p:nvPr/>
        </p:nvSpPr>
        <p:spPr>
          <a:xfrm>
            <a:off x="122842" y="1158974"/>
            <a:ext cx="8761110" cy="5309105"/>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IN" sz="1800" b="1" i="0" u="none" strike="noStrike" kern="0" cap="none" spc="0" normalizeH="0" baseline="0" noProof="0" dirty="0">
                <a:ln>
                  <a:noFill/>
                </a:ln>
                <a:solidFill>
                  <a:sysClr val="windowText" lastClr="000000"/>
                </a:solidFill>
                <a:effectLst/>
                <a:uLnTx/>
                <a:uFillTx/>
                <a:latin typeface="+mj-lt"/>
              </a:rPr>
              <a:t>Huffman Trees and Codes</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n-lt"/>
              </a:rPr>
              <a:t>The length of the simple path from the root to a leaf in such a tree is equal to the number of questions needed to get to the chosen number represented by the leaf.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n-lt"/>
              </a:rPr>
              <a:t>If number </a:t>
            </a:r>
            <a:r>
              <a:rPr kumimoji="0" lang="en-US" sz="1700" b="0" i="0" u="none" strike="noStrike" kern="0" cap="none" spc="0" normalizeH="0" baseline="0" noProof="0" dirty="0" err="1">
                <a:ln>
                  <a:noFill/>
                </a:ln>
                <a:solidFill>
                  <a:sysClr val="windowText" lastClr="000000"/>
                </a:solidFill>
                <a:effectLst/>
                <a:uLnTx/>
                <a:uFillTx/>
                <a:latin typeface="+mn-lt"/>
              </a:rPr>
              <a:t>i</a:t>
            </a:r>
            <a:r>
              <a:rPr kumimoji="0" lang="en-US" sz="1700" b="0" i="0" u="none" strike="noStrike" kern="0" cap="none" spc="0" normalizeH="0" baseline="0" noProof="0" dirty="0">
                <a:ln>
                  <a:noFill/>
                </a:ln>
                <a:solidFill>
                  <a:sysClr val="windowText" lastClr="000000"/>
                </a:solidFill>
                <a:effectLst/>
                <a:uLnTx/>
                <a:uFillTx/>
                <a:latin typeface="+mn-lt"/>
              </a:rPr>
              <a:t> is chosen with probability pi, the sum                  w</a:t>
            </a:r>
            <a:r>
              <a:rPr kumimoji="0" lang="en-US" sz="1700" b="0" i="0" u="none" strike="noStrike" kern="0" cap="none" spc="0" normalizeH="0" baseline="0" noProof="0" dirty="0">
                <a:ln>
                  <a:noFill/>
                </a:ln>
                <a:solidFill>
                  <a:sysClr val="windowText" lastClr="000000"/>
                </a:solidFill>
                <a:effectLst/>
                <a:uLnTx/>
                <a:uFillTx/>
                <a:latin typeface="+mj-lt"/>
              </a:rPr>
              <a:t>here l</a:t>
            </a:r>
            <a:r>
              <a:rPr kumimoji="0" lang="en-US" sz="1700" b="0" i="0" u="none" strike="noStrike" kern="0" cap="none" spc="0" normalizeH="0" baseline="-25000" noProof="0" dirty="0">
                <a:ln>
                  <a:noFill/>
                </a:ln>
                <a:solidFill>
                  <a:sysClr val="windowText" lastClr="000000"/>
                </a:solidFill>
                <a:effectLst/>
                <a:uLnTx/>
                <a:uFillTx/>
                <a:latin typeface="+mj-lt"/>
              </a:rPr>
              <a:t>i</a:t>
            </a:r>
            <a:r>
              <a:rPr kumimoji="0" lang="en-US" sz="1700" b="0" i="0" u="none" strike="noStrike" kern="0" cap="none" spc="0" normalizeH="0" baseline="0" noProof="0" dirty="0">
                <a:ln>
                  <a:noFill/>
                </a:ln>
                <a:solidFill>
                  <a:sysClr val="windowText" lastClr="000000"/>
                </a:solidFill>
                <a:effectLst/>
                <a:uLnTx/>
                <a:uFillTx/>
                <a:latin typeface="+mj-lt"/>
              </a:rPr>
              <a:t> is the length of the path from the root to the </a:t>
            </a:r>
            <a:r>
              <a:rPr kumimoji="0" lang="en-US" sz="1700" b="0" i="0" u="none" strike="noStrike" kern="0" cap="none" spc="0" normalizeH="0" baseline="0" noProof="0" dirty="0" err="1">
                <a:ln>
                  <a:noFill/>
                </a:ln>
                <a:solidFill>
                  <a:sysClr val="windowText" lastClr="000000"/>
                </a:solidFill>
                <a:effectLst/>
                <a:uLnTx/>
                <a:uFillTx/>
                <a:latin typeface="+mj-lt"/>
              </a:rPr>
              <a:t>i</a:t>
            </a:r>
            <a:r>
              <a:rPr kumimoji="0" lang="en-US" sz="1700" b="0" i="0" u="none" strike="noStrike" kern="0" cap="none" spc="0" normalizeH="0" baseline="30000" noProof="0" dirty="0" err="1">
                <a:ln>
                  <a:noFill/>
                </a:ln>
                <a:solidFill>
                  <a:sysClr val="windowText" lastClr="000000"/>
                </a:solidFill>
                <a:effectLst/>
                <a:uLnTx/>
                <a:uFillTx/>
                <a:latin typeface="+mj-lt"/>
              </a:rPr>
              <a:t>th</a:t>
            </a:r>
            <a:r>
              <a:rPr kumimoji="0" lang="en-US" sz="1700" b="0" i="0" u="none" strike="noStrike" kern="0" cap="none" spc="0" normalizeH="0" baseline="0" noProof="0" dirty="0">
                <a:ln>
                  <a:noFill/>
                </a:ln>
                <a:solidFill>
                  <a:sysClr val="windowText" lastClr="000000"/>
                </a:solidFill>
                <a:effectLst/>
                <a:uLnTx/>
                <a:uFillTx/>
                <a:latin typeface="+mj-lt"/>
              </a:rPr>
              <a:t> leaf, indicates the average number of questions needed to “guess” the chosen number with a game strategy represented by its decision tree.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j-lt"/>
              </a:rPr>
              <a:t>If each of the numbers is chosen with the same probability of 1/n, the best strategy is to successively eliminate half (or almost half) the candidates as binary search does.</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j-lt"/>
              </a:rPr>
              <a:t>This may not be the case for arbitrary pi ’s, however. </a:t>
            </a:r>
            <a:endParaRPr kumimoji="0" lang="en-IN" sz="1800" b="1" i="0" u="none" strike="noStrike" kern="0" cap="none" spc="0" normalizeH="0" baseline="0" noProof="0" dirty="0">
              <a:ln>
                <a:noFill/>
              </a:ln>
              <a:solidFill>
                <a:sysClr val="windowText" lastClr="000000"/>
              </a:solidFill>
              <a:effectLst/>
              <a:uLnTx/>
              <a:uFillTx/>
              <a:latin typeface="+mj-lt"/>
            </a:endParaRPr>
          </a:p>
          <a:p>
            <a:pPr marL="0" marR="0" lvl="0" indent="0" algn="just" defTabSz="914400" eaLnBrk="1" fontAlgn="auto" latinLnBrk="0" hangingPunct="1">
              <a:lnSpc>
                <a:spcPct val="150000"/>
              </a:lnSpc>
              <a:spcBef>
                <a:spcPts val="0"/>
              </a:spcBef>
              <a:spcAft>
                <a:spcPts val="0"/>
              </a:spcAft>
              <a:buClrTx/>
              <a:buSzPts val="1800"/>
              <a:buFontTx/>
              <a:buNone/>
              <a:tabLst/>
              <a:defRPr/>
            </a:pPr>
            <a:endParaRPr kumimoji="0" lang="en-IN" sz="1800" b="1" i="0" u="none" strike="noStrike" kern="0" cap="none" spc="0" normalizeH="0" baseline="0" noProof="0" dirty="0">
              <a:ln>
                <a:noFill/>
              </a:ln>
              <a:solidFill>
                <a:sysClr val="windowText" lastClr="000000"/>
              </a:solidFill>
              <a:effectLst/>
              <a:uLnTx/>
              <a:uFillTx/>
              <a:latin typeface="+mj-lt"/>
            </a:endParaRPr>
          </a:p>
          <a:p>
            <a:pPr marL="0" marR="0" lvl="0" indent="0" algn="just" defTabSz="914400" eaLnBrk="1" fontAlgn="auto" latinLnBrk="0" hangingPunct="1">
              <a:lnSpc>
                <a:spcPct val="150000"/>
              </a:lnSpc>
              <a:spcBef>
                <a:spcPts val="0"/>
              </a:spcBef>
              <a:spcAft>
                <a:spcPts val="0"/>
              </a:spcAft>
              <a:buClrTx/>
              <a:buSzPts val="1800"/>
              <a:buFontTx/>
              <a:buNone/>
              <a:tabLst/>
              <a:defRPr/>
            </a:pPr>
            <a:endParaRPr kumimoji="0" lang="en-IN" sz="1800" b="1" i="0" u="none" strike="noStrike" kern="0" cap="none" spc="0" normalizeH="0" baseline="0" noProof="0" dirty="0">
              <a:ln>
                <a:noFill/>
              </a:ln>
              <a:solidFill>
                <a:sysClr val="windowText" lastClr="000000"/>
              </a:solidFill>
              <a:effectLst/>
              <a:uLnTx/>
              <a:uFillTx/>
              <a:latin typeface="+mj-lt"/>
            </a:endParaRPr>
          </a:p>
          <a:p>
            <a:pPr marL="0" marR="0" lvl="0" indent="0" algn="just" defTabSz="914400" eaLnBrk="1" fontAlgn="auto" latinLnBrk="0" hangingPunct="1">
              <a:lnSpc>
                <a:spcPct val="150000"/>
              </a:lnSpc>
              <a:spcBef>
                <a:spcPts val="0"/>
              </a:spcBef>
              <a:spcAft>
                <a:spcPts val="0"/>
              </a:spcAft>
              <a:buClrTx/>
              <a:buSzPts val="1800"/>
              <a:buFontTx/>
              <a:buNone/>
              <a:tabLst/>
              <a:defRPr/>
            </a:pPr>
            <a:endParaRPr kumimoji="0" lang="en-IN" sz="1800" b="1" i="0" u="none" strike="noStrike" kern="0" cap="none" spc="0" normalizeH="0" baseline="0" noProof="0" dirty="0">
              <a:ln>
                <a:noFill/>
              </a:ln>
              <a:solidFill>
                <a:sysClr val="windowText" lastClr="000000"/>
              </a:solidFill>
              <a:effectLst/>
              <a:uLnTx/>
              <a:uFillTx/>
              <a:latin typeface="+mj-lt"/>
            </a:endParaRPr>
          </a:p>
          <a:p>
            <a:pPr marL="0" marR="0" lvl="0" indent="0" algn="just" defTabSz="914400" eaLnBrk="1" fontAlgn="auto" latinLnBrk="0" hangingPunct="1">
              <a:lnSpc>
                <a:spcPct val="150000"/>
              </a:lnSpc>
              <a:spcBef>
                <a:spcPts val="0"/>
              </a:spcBef>
              <a:spcAft>
                <a:spcPts val="0"/>
              </a:spcAft>
              <a:buClrTx/>
              <a:buSzPts val="1800"/>
              <a:buFontTx/>
              <a:buNone/>
              <a:tabLst/>
              <a:defRPr/>
            </a:pPr>
            <a:endParaRPr kumimoji="0" lang="en-IN" sz="1800" b="1" i="0" u="none" strike="noStrike" kern="0" cap="none" spc="0" normalizeH="0" baseline="0" noProof="0" dirty="0">
              <a:ln>
                <a:noFill/>
              </a:ln>
              <a:solidFill>
                <a:sysClr val="windowText" lastClr="000000"/>
              </a:solidFill>
              <a:effectLst/>
              <a:uLnTx/>
              <a:uFillTx/>
              <a:latin typeface="+mj-lt"/>
            </a:endParaRPr>
          </a:p>
        </p:txBody>
      </p:sp>
      <p:pic>
        <p:nvPicPr>
          <p:cNvPr id="6" name="Picture 5">
            <a:extLst>
              <a:ext uri="{FF2B5EF4-FFF2-40B4-BE49-F238E27FC236}">
                <a16:creationId xmlns:a16="http://schemas.microsoft.com/office/drawing/2014/main" id="{7D6CDCD8-35BE-E1F9-B398-A4D2D6EA7665}"/>
              </a:ext>
            </a:extLst>
          </p:cNvPr>
          <p:cNvPicPr>
            <a:picLocks noChangeAspect="1"/>
          </p:cNvPicPr>
          <p:nvPr/>
        </p:nvPicPr>
        <p:blipFill>
          <a:blip r:embed="rId3"/>
          <a:stretch>
            <a:fillRect/>
          </a:stretch>
        </p:blipFill>
        <p:spPr>
          <a:xfrm>
            <a:off x="5135835" y="2430768"/>
            <a:ext cx="1044030" cy="281964"/>
          </a:xfrm>
          <a:prstGeom prst="rect">
            <a:avLst/>
          </a:prstGeom>
        </p:spPr>
      </p:pic>
    </p:spTree>
    <p:extLst>
      <p:ext uri="{BB962C8B-B14F-4D97-AF65-F5344CB8AC3E}">
        <p14:creationId xmlns:p14="http://schemas.microsoft.com/office/powerpoint/2010/main" val="3402796900"/>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4776AF38-EA54-B8B7-7054-04214F33381C}"/>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4D8B4BB5-2758-66D4-12C1-129D71705974}"/>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Greedy Technique</a:t>
            </a:r>
          </a:p>
        </p:txBody>
      </p:sp>
      <p:sp>
        <p:nvSpPr>
          <p:cNvPr id="369" name="Google Shape;369;p42">
            <a:extLst>
              <a:ext uri="{FF2B5EF4-FFF2-40B4-BE49-F238E27FC236}">
                <a16:creationId xmlns:a16="http://schemas.microsoft.com/office/drawing/2014/main" id="{992D1913-D036-FB97-1290-408065CA1EFF}"/>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116</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62F4BD0D-6D50-4572-7129-7784FC6D39DA}"/>
              </a:ext>
            </a:extLst>
          </p:cNvPr>
          <p:cNvSpPr txBox="1"/>
          <p:nvPr/>
        </p:nvSpPr>
        <p:spPr>
          <a:xfrm>
            <a:off x="154290" y="978651"/>
            <a:ext cx="8761110" cy="4455025"/>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IN" sz="1800" b="1" i="0" u="none" strike="noStrike" kern="0" cap="none" spc="0" normalizeH="0" baseline="0" noProof="0" dirty="0">
                <a:ln>
                  <a:noFill/>
                </a:ln>
                <a:solidFill>
                  <a:sysClr val="windowText" lastClr="000000"/>
                </a:solidFill>
                <a:effectLst/>
                <a:uLnTx/>
                <a:uFillTx/>
                <a:latin typeface="+mj-lt"/>
              </a:rPr>
              <a:t>Huffman Trees and Codes</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j-lt"/>
              </a:rPr>
              <a:t>For example, if n = 4 and p1 = 0.1, p2 = 0.2, p3 = 0.3, and p4 = 0.4, the minimum weighted path tree is the rightmost one in Figure 9.13.</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j-lt"/>
              </a:rPr>
              <a:t>Thus, we need Huffman’s algorithm to solve this problem in its general case.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j-lt"/>
              </a:rPr>
              <a:t>Note that this is the second time we are encountering the problem of constructing an optimal binary tree.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j-lt"/>
              </a:rPr>
              <a:t>In this section, given numbers are assigned just to leaves.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j-lt"/>
              </a:rPr>
              <a:t>The latter problem turns out to be easier: it can be solved by the greedy algorithm, whereas the former is solved by the more complicated dynamic programming algorithm.</a:t>
            </a:r>
            <a:endParaRPr kumimoji="0" lang="en-IN" sz="1800" b="1" i="0" u="none" strike="noStrike" kern="0" cap="none" spc="0" normalizeH="0" baseline="0" noProof="0" dirty="0">
              <a:ln>
                <a:noFill/>
              </a:ln>
              <a:solidFill>
                <a:sysClr val="windowText" lastClr="000000"/>
              </a:solidFill>
              <a:effectLst/>
              <a:uLnTx/>
              <a:uFillTx/>
              <a:latin typeface="+mj-lt"/>
            </a:endParaRPr>
          </a:p>
          <a:p>
            <a:pPr marL="0" marR="0" lvl="0" indent="0" algn="just" defTabSz="914400" eaLnBrk="1" fontAlgn="auto" latinLnBrk="0" hangingPunct="1">
              <a:lnSpc>
                <a:spcPct val="150000"/>
              </a:lnSpc>
              <a:spcBef>
                <a:spcPts val="0"/>
              </a:spcBef>
              <a:spcAft>
                <a:spcPts val="0"/>
              </a:spcAft>
              <a:buClrTx/>
              <a:buSzPts val="1800"/>
              <a:buFontTx/>
              <a:buNone/>
              <a:tabLst/>
              <a:defRPr/>
            </a:pPr>
            <a:endParaRPr kumimoji="0" lang="en-IN" sz="1800" b="1" i="0" u="none" strike="noStrike" kern="0" cap="none" spc="0" normalizeH="0" baseline="0" noProof="0" dirty="0">
              <a:ln>
                <a:noFill/>
              </a:ln>
              <a:solidFill>
                <a:sysClr val="windowText" lastClr="000000"/>
              </a:solidFill>
              <a:effectLst/>
              <a:uLnTx/>
              <a:uFillTx/>
              <a:latin typeface="+mj-lt"/>
            </a:endParaRPr>
          </a:p>
        </p:txBody>
      </p:sp>
    </p:spTree>
    <p:extLst>
      <p:ext uri="{BB962C8B-B14F-4D97-AF65-F5344CB8AC3E}">
        <p14:creationId xmlns:p14="http://schemas.microsoft.com/office/powerpoint/2010/main" val="3069415124"/>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2"/>
          <p:cNvSpPr txBox="1"/>
          <p:nvPr/>
        </p:nvSpPr>
        <p:spPr>
          <a:xfrm>
            <a:off x="1742085" y="1644446"/>
            <a:ext cx="5485797" cy="1292621"/>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0" cap="none" spc="0" normalizeH="0" baseline="0" noProof="0" dirty="0">
                <a:ln>
                  <a:noFill/>
                </a:ln>
                <a:solidFill>
                  <a:srgbClr val="083C92"/>
                </a:solidFill>
                <a:effectLst/>
                <a:uLnTx/>
                <a:uFillTx/>
                <a:latin typeface="Arial"/>
                <a:ea typeface="Arial"/>
                <a:cs typeface="Arial"/>
                <a:sym typeface="Arial"/>
              </a:rPr>
              <a:t>Module-4</a:t>
            </a:r>
            <a:endParaRPr kumimoji="0" sz="1800" b="0" i="0" u="none" strike="noStrike" kern="0" cap="none" spc="0" normalizeH="0" baseline="0" noProof="0" dirty="0">
              <a:ln>
                <a:noFill/>
              </a:ln>
              <a:solidFill>
                <a:sysClr val="windowText" lastClr="000000"/>
              </a:solidFill>
              <a:effectLst/>
              <a:uLnTx/>
              <a:uFillTx/>
            </a:endParaRPr>
          </a:p>
          <a:p>
            <a:pPr lvl="0" algn="ctr">
              <a:lnSpc>
                <a:spcPct val="150000"/>
              </a:lnSpc>
              <a:buClrTx/>
              <a:buSzPts val="1800"/>
            </a:pPr>
            <a:r>
              <a:rPr lang="en-IN" sz="2800" b="1" dirty="0">
                <a:solidFill>
                  <a:sysClr val="windowText" lastClr="000000"/>
                </a:solidFill>
              </a:rPr>
              <a:t>Dijkstra’s Algorithm</a:t>
            </a:r>
            <a:endParaRPr kumimoji="0" lang="en-IN" sz="2800" b="1" i="0" u="none" strike="noStrike" kern="0" cap="none" spc="0" normalizeH="0" baseline="0" noProof="0" dirty="0">
              <a:ln>
                <a:noFill/>
              </a:ln>
              <a:solidFill>
                <a:sysClr val="windowText" lastClr="000000"/>
              </a:solidFill>
              <a:effectLst/>
              <a:uLnTx/>
              <a:uFillTx/>
            </a:endParaRPr>
          </a:p>
        </p:txBody>
      </p:sp>
      <p:sp>
        <p:nvSpPr>
          <p:cNvPr id="62" name="Google Shape;62;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117</a:t>
            </a:fld>
            <a:endParaRPr kumimoji="0" sz="18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4032310042"/>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4776AF38-EA54-B8B7-7054-04214F33381C}"/>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4D8B4BB5-2758-66D4-12C1-129D71705974}"/>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Greedy Technique</a:t>
            </a:r>
          </a:p>
        </p:txBody>
      </p:sp>
      <p:sp>
        <p:nvSpPr>
          <p:cNvPr id="369" name="Google Shape;369;p42">
            <a:extLst>
              <a:ext uri="{FF2B5EF4-FFF2-40B4-BE49-F238E27FC236}">
                <a16:creationId xmlns:a16="http://schemas.microsoft.com/office/drawing/2014/main" id="{992D1913-D036-FB97-1290-408065CA1EFF}"/>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118</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62F4BD0D-6D50-4572-7129-7784FC6D39DA}"/>
              </a:ext>
            </a:extLst>
          </p:cNvPr>
          <p:cNvSpPr txBox="1"/>
          <p:nvPr/>
        </p:nvSpPr>
        <p:spPr>
          <a:xfrm>
            <a:off x="154290" y="978651"/>
            <a:ext cx="8761110" cy="4247276"/>
          </a:xfrm>
          <a:prstGeom prst="rect">
            <a:avLst/>
          </a:prstGeom>
          <a:noFill/>
          <a:ln>
            <a:noFill/>
          </a:ln>
        </p:spPr>
        <p:txBody>
          <a:bodyPr spcFirstLastPara="1" wrap="square" lIns="91425" tIns="45700" rIns="91425" bIns="45700" anchor="t" anchorCtr="0">
            <a:spAutoFit/>
          </a:bodyPr>
          <a:lstStyle/>
          <a:p>
            <a:pPr lvl="0" algn="just">
              <a:lnSpc>
                <a:spcPct val="150000"/>
              </a:lnSpc>
              <a:buClrTx/>
              <a:buSzPts val="1800"/>
            </a:pPr>
            <a:r>
              <a:rPr lang="en-IN" sz="1800" b="1" dirty="0">
                <a:solidFill>
                  <a:sysClr val="windowText" lastClr="000000"/>
                </a:solidFill>
                <a:latin typeface="+mj-lt"/>
              </a:rPr>
              <a:t>Dijkstra’s Algorithms</a:t>
            </a:r>
            <a:endParaRPr kumimoji="0" lang="en-IN" sz="1800" b="1" i="0" u="none" strike="noStrike" kern="0" cap="none" spc="0" normalizeH="0" baseline="0" noProof="0" dirty="0">
              <a:ln>
                <a:noFill/>
              </a:ln>
              <a:solidFill>
                <a:sysClr val="windowText" lastClr="000000"/>
              </a:solidFill>
              <a:effectLst/>
              <a:uLnTx/>
              <a:uFillTx/>
              <a:latin typeface="+mj-lt"/>
            </a:endParaRPr>
          </a:p>
          <a:p>
            <a:pPr marL="285750" lvl="0" indent="-285750" algn="just">
              <a:lnSpc>
                <a:spcPct val="150000"/>
              </a:lnSpc>
              <a:buClrTx/>
              <a:buSzPts val="1800"/>
              <a:buFont typeface="Arial" panose="020B0604020202020204" pitchFamily="34" charset="0"/>
              <a:buChar char="•"/>
            </a:pPr>
            <a:r>
              <a:rPr lang="en-US" sz="1800" dirty="0"/>
              <a:t>We consider the single-source shortest-paths problem: for a given vertex called the source in a weighted connected graph, find shortest paths to all its other vertices. </a:t>
            </a:r>
          </a:p>
          <a:p>
            <a:pPr marL="285750" lvl="0" indent="-285750" algn="just">
              <a:lnSpc>
                <a:spcPct val="150000"/>
              </a:lnSpc>
              <a:buClrTx/>
              <a:buSzPts val="1800"/>
              <a:buFont typeface="Arial" panose="020B0604020202020204" pitchFamily="34" charset="0"/>
              <a:buChar char="•"/>
            </a:pPr>
            <a:r>
              <a:rPr lang="en-US" sz="1800" dirty="0"/>
              <a:t>It is important to stress that we are not interested here in a single shortest path that starts at the source and visits all the other vertices.</a:t>
            </a:r>
            <a:endParaRPr lang="en-US" sz="1700" dirty="0">
              <a:solidFill>
                <a:sysClr val="windowText" lastClr="000000"/>
              </a:solidFill>
              <a:latin typeface="+mj-lt"/>
            </a:endParaRPr>
          </a:p>
          <a:p>
            <a:pPr marL="285750" lvl="0" indent="-285750" algn="just">
              <a:lnSpc>
                <a:spcPct val="150000"/>
              </a:lnSpc>
              <a:buClrTx/>
              <a:buSzPts val="1800"/>
              <a:buFont typeface="Arial" panose="020B0604020202020204" pitchFamily="34" charset="0"/>
              <a:buChar char="•"/>
            </a:pPr>
            <a:r>
              <a:rPr lang="en-US" sz="1800" dirty="0"/>
              <a:t>The single-source shortest-paths problem asks for a family of paths, each leading from the source to a different vertex in the graph, though some paths may, of course, have edges in common</a:t>
            </a:r>
            <a:endParaRPr kumimoji="0" lang="en-IN" sz="1800" b="1" i="0" u="none" strike="noStrike" kern="0" cap="none" spc="0" normalizeH="0" baseline="0" noProof="0" dirty="0">
              <a:ln>
                <a:noFill/>
              </a:ln>
              <a:solidFill>
                <a:sysClr val="windowText" lastClr="000000"/>
              </a:solidFill>
              <a:effectLst/>
              <a:uLnTx/>
              <a:uFillTx/>
              <a:latin typeface="+mj-lt"/>
            </a:endParaRPr>
          </a:p>
          <a:p>
            <a:pPr marL="0" marR="0" lvl="0" indent="0" algn="just" defTabSz="914400" eaLnBrk="1" fontAlgn="auto" latinLnBrk="0" hangingPunct="1">
              <a:lnSpc>
                <a:spcPct val="150000"/>
              </a:lnSpc>
              <a:spcBef>
                <a:spcPts val="0"/>
              </a:spcBef>
              <a:spcAft>
                <a:spcPts val="0"/>
              </a:spcAft>
              <a:buClrTx/>
              <a:buSzPts val="1800"/>
              <a:buFontTx/>
              <a:buNone/>
              <a:tabLst/>
              <a:defRPr/>
            </a:pPr>
            <a:endParaRPr kumimoji="0" lang="en-IN" sz="1800" b="1" i="0" u="none" strike="noStrike" kern="0" cap="none" spc="0" normalizeH="0" baseline="0" noProof="0" dirty="0">
              <a:ln>
                <a:noFill/>
              </a:ln>
              <a:solidFill>
                <a:sysClr val="windowText" lastClr="000000"/>
              </a:solidFill>
              <a:effectLst/>
              <a:uLnTx/>
              <a:uFillTx/>
              <a:latin typeface="+mj-lt"/>
            </a:endParaRPr>
          </a:p>
        </p:txBody>
      </p:sp>
    </p:spTree>
    <p:extLst>
      <p:ext uri="{BB962C8B-B14F-4D97-AF65-F5344CB8AC3E}">
        <p14:creationId xmlns:p14="http://schemas.microsoft.com/office/powerpoint/2010/main" val="1545505572"/>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4776AF38-EA54-B8B7-7054-04214F33381C}"/>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4D8B4BB5-2758-66D4-12C1-129D71705974}"/>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Greedy Technique</a:t>
            </a:r>
          </a:p>
        </p:txBody>
      </p:sp>
      <p:sp>
        <p:nvSpPr>
          <p:cNvPr id="369" name="Google Shape;369;p42">
            <a:extLst>
              <a:ext uri="{FF2B5EF4-FFF2-40B4-BE49-F238E27FC236}">
                <a16:creationId xmlns:a16="http://schemas.microsoft.com/office/drawing/2014/main" id="{992D1913-D036-FB97-1290-408065CA1EFF}"/>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119</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62F4BD0D-6D50-4572-7129-7784FC6D39DA}"/>
              </a:ext>
            </a:extLst>
          </p:cNvPr>
          <p:cNvSpPr txBox="1"/>
          <p:nvPr/>
        </p:nvSpPr>
        <p:spPr>
          <a:xfrm>
            <a:off x="154290" y="978651"/>
            <a:ext cx="8761110" cy="3831778"/>
          </a:xfrm>
          <a:prstGeom prst="rect">
            <a:avLst/>
          </a:prstGeom>
          <a:noFill/>
          <a:ln>
            <a:noFill/>
          </a:ln>
        </p:spPr>
        <p:txBody>
          <a:bodyPr spcFirstLastPara="1" wrap="square" lIns="91425" tIns="45700" rIns="91425" bIns="45700" anchor="t" anchorCtr="0">
            <a:spAutoFit/>
          </a:bodyPr>
          <a:lstStyle/>
          <a:p>
            <a:pPr lvl="0" algn="just">
              <a:lnSpc>
                <a:spcPct val="150000"/>
              </a:lnSpc>
              <a:buClrTx/>
              <a:buSzPts val="1800"/>
            </a:pPr>
            <a:r>
              <a:rPr lang="en-IN" sz="1800" b="1" dirty="0">
                <a:solidFill>
                  <a:sysClr val="windowText" lastClr="000000"/>
                </a:solidFill>
                <a:latin typeface="+mj-lt"/>
              </a:rPr>
              <a:t>Dijkstra’s Algorithms</a:t>
            </a:r>
            <a:endParaRPr kumimoji="0" lang="en-IN" sz="1800" b="1" i="0" u="none" strike="noStrike" kern="0" cap="none" spc="0" normalizeH="0" baseline="0" noProof="0" dirty="0">
              <a:ln>
                <a:noFill/>
              </a:ln>
              <a:solidFill>
                <a:sysClr val="windowText" lastClr="000000"/>
              </a:solidFill>
              <a:effectLst/>
              <a:uLnTx/>
              <a:uFillTx/>
              <a:latin typeface="+mj-lt"/>
            </a:endParaRPr>
          </a:p>
          <a:p>
            <a:pPr marL="285750" lvl="0" indent="-285750" algn="just">
              <a:lnSpc>
                <a:spcPct val="150000"/>
              </a:lnSpc>
              <a:buClrTx/>
              <a:buSzPts val="1800"/>
              <a:buFont typeface="Arial" panose="020B0604020202020204" pitchFamily="34" charset="0"/>
              <a:buChar char="•"/>
            </a:pPr>
            <a:r>
              <a:rPr lang="en-US" sz="1800" dirty="0"/>
              <a:t>The most widely used applications are transportation planning and packet routing in communication networks, including the Internet.</a:t>
            </a:r>
          </a:p>
          <a:p>
            <a:pPr marL="285750" lvl="0" indent="-285750" algn="just">
              <a:lnSpc>
                <a:spcPct val="150000"/>
              </a:lnSpc>
              <a:buClrTx/>
              <a:buSzPts val="1800"/>
              <a:buFont typeface="Arial" panose="020B0604020202020204" pitchFamily="34" charset="0"/>
              <a:buChar char="•"/>
            </a:pPr>
            <a:r>
              <a:rPr lang="en-US" sz="1800" dirty="0"/>
              <a:t>There are several well-known algorithms for finding shortest paths, including Floyd’s algorithm for the more general all-pairs shortest-paths problem</a:t>
            </a:r>
          </a:p>
          <a:p>
            <a:pPr marL="285750" lvl="0" indent="-285750" algn="just">
              <a:lnSpc>
                <a:spcPct val="150000"/>
              </a:lnSpc>
              <a:buClrTx/>
              <a:buSzPts val="1800"/>
              <a:buFont typeface="Arial" panose="020B0604020202020204" pitchFamily="34" charset="0"/>
              <a:buChar char="•"/>
            </a:pPr>
            <a:r>
              <a:rPr lang="en-IN" sz="1800" dirty="0"/>
              <a:t>Here, we consider the best-known algorithm for the </a:t>
            </a:r>
            <a:r>
              <a:rPr lang="en-IN" sz="1800" b="1" dirty="0"/>
              <a:t>single-source shortest-paths problem, called Dijkstra’s algorithm</a:t>
            </a:r>
            <a:r>
              <a:rPr lang="en-IN" sz="1800" dirty="0"/>
              <a:t>. </a:t>
            </a:r>
          </a:p>
          <a:p>
            <a:pPr marL="285750" lvl="0" indent="-285750" algn="just">
              <a:lnSpc>
                <a:spcPct val="150000"/>
              </a:lnSpc>
              <a:buClrTx/>
              <a:buSzPts val="1800"/>
              <a:buFont typeface="Arial" panose="020B0604020202020204" pitchFamily="34" charset="0"/>
              <a:buChar char="•"/>
            </a:pPr>
            <a:r>
              <a:rPr lang="en-IN" sz="1800" dirty="0"/>
              <a:t>This algorithm is applicable to undirected and directed graphs with nonnegative weights only</a:t>
            </a:r>
            <a:endParaRPr kumimoji="0" lang="en-IN" sz="1800" b="1" i="0" u="none" strike="noStrike" kern="0" cap="none" spc="0" normalizeH="0" baseline="0" noProof="0" dirty="0">
              <a:ln>
                <a:noFill/>
              </a:ln>
              <a:solidFill>
                <a:sysClr val="windowText" lastClr="000000"/>
              </a:solidFill>
              <a:effectLst/>
              <a:uLnTx/>
              <a:uFillTx/>
              <a:latin typeface="+mj-lt"/>
            </a:endParaRPr>
          </a:p>
        </p:txBody>
      </p:sp>
    </p:spTree>
    <p:extLst>
      <p:ext uri="{BB962C8B-B14F-4D97-AF65-F5344CB8AC3E}">
        <p14:creationId xmlns:p14="http://schemas.microsoft.com/office/powerpoint/2010/main" val="335300181"/>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4776AF38-EA54-B8B7-7054-04214F33381C}"/>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4D8B4BB5-2758-66D4-12C1-129D71705974}"/>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Greedy Technique</a:t>
            </a:r>
          </a:p>
        </p:txBody>
      </p:sp>
      <p:sp>
        <p:nvSpPr>
          <p:cNvPr id="369" name="Google Shape;369;p42">
            <a:extLst>
              <a:ext uri="{FF2B5EF4-FFF2-40B4-BE49-F238E27FC236}">
                <a16:creationId xmlns:a16="http://schemas.microsoft.com/office/drawing/2014/main" id="{992D1913-D036-FB97-1290-408065CA1EFF}"/>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120</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62F4BD0D-6D50-4572-7129-7784FC6D39DA}"/>
              </a:ext>
            </a:extLst>
          </p:cNvPr>
          <p:cNvSpPr txBox="1"/>
          <p:nvPr/>
        </p:nvSpPr>
        <p:spPr>
          <a:xfrm>
            <a:off x="154290" y="978651"/>
            <a:ext cx="8761110" cy="3831778"/>
          </a:xfrm>
          <a:prstGeom prst="rect">
            <a:avLst/>
          </a:prstGeom>
          <a:noFill/>
          <a:ln>
            <a:noFill/>
          </a:ln>
        </p:spPr>
        <p:txBody>
          <a:bodyPr spcFirstLastPara="1" wrap="square" lIns="91425" tIns="45700" rIns="91425" bIns="45700" anchor="t" anchorCtr="0">
            <a:spAutoFit/>
          </a:bodyPr>
          <a:lstStyle/>
          <a:p>
            <a:pPr lvl="0" algn="just">
              <a:lnSpc>
                <a:spcPct val="150000"/>
              </a:lnSpc>
              <a:buClrTx/>
              <a:buSzPts val="1800"/>
            </a:pPr>
            <a:r>
              <a:rPr lang="en-IN" sz="1800" b="1" dirty="0">
                <a:solidFill>
                  <a:sysClr val="windowText" lastClr="000000"/>
                </a:solidFill>
                <a:latin typeface="+mj-lt"/>
              </a:rPr>
              <a:t>Dijkstra’s Algorithms</a:t>
            </a:r>
            <a:endParaRPr kumimoji="0" lang="en-IN" sz="1800" b="1" i="0" u="none" strike="noStrike" kern="0" cap="none" spc="0" normalizeH="0" baseline="0" noProof="0" dirty="0">
              <a:ln>
                <a:noFill/>
              </a:ln>
              <a:solidFill>
                <a:sysClr val="windowText" lastClr="000000"/>
              </a:solidFill>
              <a:effectLst/>
              <a:uLnTx/>
              <a:uFillTx/>
              <a:latin typeface="+mj-lt"/>
            </a:endParaRPr>
          </a:p>
          <a:p>
            <a:pPr marL="285750" lvl="0" indent="-285750" algn="just">
              <a:lnSpc>
                <a:spcPct val="150000"/>
              </a:lnSpc>
              <a:buClrTx/>
              <a:buSzPts val="1800"/>
              <a:buFont typeface="Arial" panose="020B0604020202020204" pitchFamily="34" charset="0"/>
              <a:buChar char="•"/>
            </a:pPr>
            <a:r>
              <a:rPr lang="en-US" sz="1800" dirty="0"/>
              <a:t>Dijkstra’s algorithm finds the shortest paths to a graph’s vertices in order of their distance from a given source. </a:t>
            </a:r>
          </a:p>
          <a:p>
            <a:pPr marL="285750" lvl="0" indent="-285750" algn="just">
              <a:lnSpc>
                <a:spcPct val="150000"/>
              </a:lnSpc>
              <a:buClrTx/>
              <a:buSzPts val="1800"/>
              <a:buFont typeface="Arial" panose="020B0604020202020204" pitchFamily="34" charset="0"/>
              <a:buChar char="•"/>
            </a:pPr>
            <a:r>
              <a:rPr lang="en-US" sz="1800" dirty="0"/>
              <a:t>First, it finds the shortest path from the source to a vertex nearest to it, then to a second nearest, and so on. </a:t>
            </a:r>
          </a:p>
          <a:p>
            <a:pPr marL="285750" lvl="0" indent="-285750" algn="just">
              <a:lnSpc>
                <a:spcPct val="150000"/>
              </a:lnSpc>
              <a:buClrTx/>
              <a:buSzPts val="1800"/>
              <a:buFont typeface="Arial" panose="020B0604020202020204" pitchFamily="34" charset="0"/>
              <a:buChar char="•"/>
            </a:pPr>
            <a:r>
              <a:rPr lang="en-US" sz="1800" dirty="0"/>
              <a:t>In general, before its </a:t>
            </a:r>
            <a:r>
              <a:rPr lang="en-US" sz="1800" dirty="0" err="1"/>
              <a:t>ith</a:t>
            </a:r>
            <a:r>
              <a:rPr lang="en-US" sz="1800" dirty="0"/>
              <a:t> iteration commences, the algorithm has already identified the shortest paths to </a:t>
            </a:r>
            <a:r>
              <a:rPr lang="en-US" sz="1800" dirty="0" err="1"/>
              <a:t>i</a:t>
            </a:r>
            <a:r>
              <a:rPr lang="en-US" sz="1800" dirty="0"/>
              <a:t> −1 other vertices nearest to the source. </a:t>
            </a:r>
          </a:p>
          <a:p>
            <a:pPr marL="285750" lvl="0" indent="-285750" algn="just">
              <a:lnSpc>
                <a:spcPct val="150000"/>
              </a:lnSpc>
              <a:buClrTx/>
              <a:buSzPts val="1800"/>
              <a:buFont typeface="Arial" panose="020B0604020202020204" pitchFamily="34" charset="0"/>
              <a:buChar char="•"/>
            </a:pPr>
            <a:r>
              <a:rPr lang="en-US" sz="1800" dirty="0"/>
              <a:t>These vertices, the source, and the edges of the shortest paths leading to them from the source form a subtree </a:t>
            </a:r>
            <a:r>
              <a:rPr lang="en-US" sz="1800" dirty="0" err="1"/>
              <a:t>T</a:t>
            </a:r>
            <a:r>
              <a:rPr lang="en-US" sz="1800" baseline="-25000" dirty="0" err="1"/>
              <a:t>i</a:t>
            </a:r>
            <a:r>
              <a:rPr lang="en-US" sz="1800" dirty="0"/>
              <a:t> of the given graph (Figure 9.10).</a:t>
            </a:r>
            <a:endParaRPr kumimoji="0" lang="en-IN" sz="1800" b="1" i="0" u="none" strike="noStrike" kern="0" cap="none" spc="0" normalizeH="0" baseline="0" noProof="0" dirty="0">
              <a:ln>
                <a:noFill/>
              </a:ln>
              <a:solidFill>
                <a:sysClr val="windowText" lastClr="000000"/>
              </a:solidFill>
              <a:effectLst/>
              <a:uLnTx/>
              <a:uFillTx/>
              <a:latin typeface="+mj-lt"/>
            </a:endParaRPr>
          </a:p>
        </p:txBody>
      </p:sp>
    </p:spTree>
    <p:extLst>
      <p:ext uri="{BB962C8B-B14F-4D97-AF65-F5344CB8AC3E}">
        <p14:creationId xmlns:p14="http://schemas.microsoft.com/office/powerpoint/2010/main" val="3604303152"/>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4776AF38-EA54-B8B7-7054-04214F33381C}"/>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4D8B4BB5-2758-66D4-12C1-129D71705974}"/>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Greedy Technique</a:t>
            </a:r>
          </a:p>
        </p:txBody>
      </p:sp>
      <p:sp>
        <p:nvSpPr>
          <p:cNvPr id="369" name="Google Shape;369;p42">
            <a:extLst>
              <a:ext uri="{FF2B5EF4-FFF2-40B4-BE49-F238E27FC236}">
                <a16:creationId xmlns:a16="http://schemas.microsoft.com/office/drawing/2014/main" id="{992D1913-D036-FB97-1290-408065CA1EFF}"/>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121</a:t>
            </a:fld>
            <a:endParaRPr kumimoji="0" sz="1800" b="0" i="0" u="none" strike="noStrike" kern="0" cap="none" spc="0" normalizeH="0" baseline="0" noProof="0">
              <a:ln>
                <a:noFill/>
              </a:ln>
              <a:solidFill>
                <a:sysClr val="windowText" lastClr="000000"/>
              </a:solidFill>
              <a:effectLst/>
              <a:uLnTx/>
              <a:uFillTx/>
            </a:endParaRPr>
          </a:p>
        </p:txBody>
      </p:sp>
      <p:pic>
        <p:nvPicPr>
          <p:cNvPr id="2" name="Picture 1"/>
          <p:cNvPicPr>
            <a:picLocks noChangeAspect="1"/>
          </p:cNvPicPr>
          <p:nvPr/>
        </p:nvPicPr>
        <p:blipFill>
          <a:blip r:embed="rId3"/>
          <a:stretch>
            <a:fillRect/>
          </a:stretch>
        </p:blipFill>
        <p:spPr>
          <a:xfrm>
            <a:off x="1040069" y="1244509"/>
            <a:ext cx="6651215" cy="3614469"/>
          </a:xfrm>
          <a:prstGeom prst="rect">
            <a:avLst/>
          </a:prstGeom>
        </p:spPr>
      </p:pic>
    </p:spTree>
    <p:extLst>
      <p:ext uri="{BB962C8B-B14F-4D97-AF65-F5344CB8AC3E}">
        <p14:creationId xmlns:p14="http://schemas.microsoft.com/office/powerpoint/2010/main" val="1944541039"/>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4776AF38-EA54-B8B7-7054-04214F33381C}"/>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4D8B4BB5-2758-66D4-12C1-129D71705974}"/>
              </a:ext>
            </a:extLst>
          </p:cNvPr>
          <p:cNvSpPr txBox="1"/>
          <p:nvPr/>
        </p:nvSpPr>
        <p:spPr>
          <a:xfrm>
            <a:off x="154289" y="576800"/>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Greedy Technique</a:t>
            </a:r>
          </a:p>
        </p:txBody>
      </p:sp>
      <p:sp>
        <p:nvSpPr>
          <p:cNvPr id="369" name="Google Shape;369;p42">
            <a:extLst>
              <a:ext uri="{FF2B5EF4-FFF2-40B4-BE49-F238E27FC236}">
                <a16:creationId xmlns:a16="http://schemas.microsoft.com/office/drawing/2014/main" id="{992D1913-D036-FB97-1290-408065CA1EFF}"/>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122</a:t>
            </a:fld>
            <a:endParaRPr kumimoji="0" sz="1800" b="0" i="0" u="none" strike="noStrike" kern="0" cap="none" spc="0" normalizeH="0" baseline="0" noProof="0">
              <a:ln>
                <a:noFill/>
              </a:ln>
              <a:solidFill>
                <a:sysClr val="windowText" lastClr="000000"/>
              </a:solidFill>
              <a:effectLst/>
              <a:uLnTx/>
              <a:uFillTx/>
            </a:endParaRPr>
          </a:p>
        </p:txBody>
      </p:sp>
      <p:pic>
        <p:nvPicPr>
          <p:cNvPr id="3" name="Picture 2"/>
          <p:cNvPicPr>
            <a:picLocks noChangeAspect="1"/>
          </p:cNvPicPr>
          <p:nvPr/>
        </p:nvPicPr>
        <p:blipFill>
          <a:blip r:embed="rId3"/>
          <a:stretch>
            <a:fillRect/>
          </a:stretch>
        </p:blipFill>
        <p:spPr>
          <a:xfrm>
            <a:off x="2122691" y="1099980"/>
            <a:ext cx="5045025" cy="3708210"/>
          </a:xfrm>
          <a:prstGeom prst="rect">
            <a:avLst/>
          </a:prstGeom>
        </p:spPr>
      </p:pic>
    </p:spTree>
    <p:extLst>
      <p:ext uri="{BB962C8B-B14F-4D97-AF65-F5344CB8AC3E}">
        <p14:creationId xmlns:p14="http://schemas.microsoft.com/office/powerpoint/2010/main" val="781353506"/>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4776AF38-EA54-B8B7-7054-04214F33381C}"/>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4D8B4BB5-2758-66D4-12C1-129D71705974}"/>
              </a:ext>
            </a:extLst>
          </p:cNvPr>
          <p:cNvSpPr txBox="1"/>
          <p:nvPr/>
        </p:nvSpPr>
        <p:spPr>
          <a:xfrm>
            <a:off x="154290"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Greedy Technique</a:t>
            </a:r>
          </a:p>
        </p:txBody>
      </p:sp>
      <p:sp>
        <p:nvSpPr>
          <p:cNvPr id="369" name="Google Shape;369;p42">
            <a:extLst>
              <a:ext uri="{FF2B5EF4-FFF2-40B4-BE49-F238E27FC236}">
                <a16:creationId xmlns:a16="http://schemas.microsoft.com/office/drawing/2014/main" id="{992D1913-D036-FB97-1290-408065CA1EFF}"/>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123</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62F4BD0D-6D50-4572-7129-7784FC6D39DA}"/>
              </a:ext>
            </a:extLst>
          </p:cNvPr>
          <p:cNvSpPr txBox="1"/>
          <p:nvPr/>
        </p:nvSpPr>
        <p:spPr>
          <a:xfrm>
            <a:off x="154290" y="978651"/>
            <a:ext cx="8761110" cy="1338788"/>
          </a:xfrm>
          <a:prstGeom prst="rect">
            <a:avLst/>
          </a:prstGeom>
          <a:noFill/>
          <a:ln>
            <a:noFill/>
          </a:ln>
        </p:spPr>
        <p:txBody>
          <a:bodyPr spcFirstLastPara="1" wrap="square" lIns="91425" tIns="45700" rIns="91425" bIns="45700" anchor="t" anchorCtr="0">
            <a:spAutoFit/>
          </a:bodyPr>
          <a:lstStyle/>
          <a:p>
            <a:pPr lvl="0" algn="just">
              <a:lnSpc>
                <a:spcPct val="150000"/>
              </a:lnSpc>
              <a:buClrTx/>
              <a:buSzPts val="1800"/>
            </a:pPr>
            <a:r>
              <a:rPr lang="en-IN" sz="1800" b="1" dirty="0">
                <a:solidFill>
                  <a:sysClr val="windowText" lastClr="000000"/>
                </a:solidFill>
                <a:latin typeface="+mj-lt"/>
              </a:rPr>
              <a:t>Dijkstra’s Algorithms</a:t>
            </a:r>
            <a:endParaRPr kumimoji="0" lang="en-IN" sz="1800" b="1" i="0" u="none" strike="noStrike" kern="0" cap="none" spc="0" normalizeH="0" baseline="0" noProof="0" dirty="0">
              <a:ln>
                <a:noFill/>
              </a:ln>
              <a:solidFill>
                <a:sysClr val="windowText" lastClr="000000"/>
              </a:solidFill>
              <a:effectLst/>
              <a:uLnTx/>
              <a:uFillTx/>
              <a:latin typeface="+mj-lt"/>
            </a:endParaRPr>
          </a:p>
          <a:p>
            <a:pPr marL="285750" lvl="0" indent="-285750" algn="just">
              <a:lnSpc>
                <a:spcPct val="150000"/>
              </a:lnSpc>
              <a:buClrTx/>
              <a:buSzPts val="1800"/>
              <a:buFont typeface="Arial" panose="020B0604020202020204" pitchFamily="34" charset="0"/>
              <a:buChar char="•"/>
            </a:pPr>
            <a:r>
              <a:rPr lang="en-IN" sz="1800" dirty="0"/>
              <a:t>The time efficiency of Dijkstra’s algorithm depends on the data structures used for implementing the priority queue and for representing an input graph itself.</a:t>
            </a:r>
            <a:endParaRPr kumimoji="0" lang="en-IN" sz="1800" b="1" i="0" u="none" strike="noStrike" kern="0" cap="none" spc="0" normalizeH="0" baseline="0" noProof="0" dirty="0">
              <a:ln>
                <a:noFill/>
              </a:ln>
              <a:solidFill>
                <a:sysClr val="windowText" lastClr="000000"/>
              </a:solidFill>
              <a:effectLst/>
              <a:uLnTx/>
              <a:uFillTx/>
              <a:latin typeface="+mj-lt"/>
            </a:endParaRPr>
          </a:p>
        </p:txBody>
      </p:sp>
    </p:spTree>
    <p:extLst>
      <p:ext uri="{BB962C8B-B14F-4D97-AF65-F5344CB8AC3E}">
        <p14:creationId xmlns:p14="http://schemas.microsoft.com/office/powerpoint/2010/main" val="1567098828"/>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4776AF38-EA54-B8B7-7054-04214F33381C}"/>
            </a:ext>
          </a:extLst>
        </p:cNvPr>
        <p:cNvGrpSpPr/>
        <p:nvPr/>
      </p:nvGrpSpPr>
      <p:grpSpPr>
        <a:xfrm>
          <a:off x="0" y="0"/>
          <a:ext cx="0" cy="0"/>
          <a:chOff x="0" y="0"/>
          <a:chExt cx="0" cy="0"/>
        </a:xfrm>
      </p:grpSpPr>
      <p:sp>
        <p:nvSpPr>
          <p:cNvPr id="369" name="Google Shape;369;p42">
            <a:extLst>
              <a:ext uri="{FF2B5EF4-FFF2-40B4-BE49-F238E27FC236}">
                <a16:creationId xmlns:a16="http://schemas.microsoft.com/office/drawing/2014/main" id="{992D1913-D036-FB97-1290-408065CA1EFF}"/>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124</a:t>
            </a:fld>
            <a:endParaRPr kumimoji="0" sz="1800" b="0" i="0" u="none" strike="noStrike" kern="0" cap="none" spc="0" normalizeH="0" baseline="0" noProof="0">
              <a:ln>
                <a:noFill/>
              </a:ln>
              <a:solidFill>
                <a:sysClr val="windowText" lastClr="000000"/>
              </a:solidFill>
              <a:effectLst/>
              <a:uLnTx/>
              <a:uFillTx/>
            </a:endParaRPr>
          </a:p>
        </p:txBody>
      </p:sp>
      <p:pic>
        <p:nvPicPr>
          <p:cNvPr id="2" name="Picture 1"/>
          <p:cNvPicPr>
            <a:picLocks noChangeAspect="1"/>
          </p:cNvPicPr>
          <p:nvPr/>
        </p:nvPicPr>
        <p:blipFill>
          <a:blip r:embed="rId3"/>
          <a:stretch>
            <a:fillRect/>
          </a:stretch>
        </p:blipFill>
        <p:spPr>
          <a:xfrm>
            <a:off x="4028261" y="122674"/>
            <a:ext cx="5051890" cy="4788539"/>
          </a:xfrm>
          <a:prstGeom prst="rect">
            <a:avLst/>
          </a:prstGeom>
        </p:spPr>
      </p:pic>
      <p:pic>
        <p:nvPicPr>
          <p:cNvPr id="3" name="Picture 2"/>
          <p:cNvPicPr>
            <a:picLocks noChangeAspect="1"/>
          </p:cNvPicPr>
          <p:nvPr/>
        </p:nvPicPr>
        <p:blipFill>
          <a:blip r:embed="rId4"/>
          <a:stretch>
            <a:fillRect/>
          </a:stretch>
        </p:blipFill>
        <p:spPr>
          <a:xfrm>
            <a:off x="207921" y="1766523"/>
            <a:ext cx="3764732" cy="1500840"/>
          </a:xfrm>
          <a:prstGeom prst="rect">
            <a:avLst/>
          </a:prstGeom>
        </p:spPr>
      </p:pic>
    </p:spTree>
    <p:extLst>
      <p:ext uri="{BB962C8B-B14F-4D97-AF65-F5344CB8AC3E}">
        <p14:creationId xmlns:p14="http://schemas.microsoft.com/office/powerpoint/2010/main" val="4113735646"/>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p43"/>
          <p:cNvSpPr txBox="1"/>
          <p:nvPr/>
        </p:nvSpPr>
        <p:spPr>
          <a:xfrm>
            <a:off x="3275402" y="2377325"/>
            <a:ext cx="2164375"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1" i="0" u="none" strike="noStrike" cap="none">
                <a:solidFill>
                  <a:srgbClr val="000000"/>
                </a:solidFill>
                <a:latin typeface="Arial"/>
                <a:ea typeface="Arial"/>
                <a:cs typeface="Arial"/>
                <a:sym typeface="Arial"/>
              </a:rPr>
              <a:t>End of Module 4</a:t>
            </a:r>
            <a:endParaRPr/>
          </a:p>
        </p:txBody>
      </p:sp>
      <p:sp>
        <p:nvSpPr>
          <p:cNvPr id="377" name="Google Shape;377;p4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t>125</a:t>
            </a:fld>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1140</TotalTime>
  <Words>9238</Words>
  <Application>Microsoft Office PowerPoint</Application>
  <PresentationFormat>On-screen Show (16:9)</PresentationFormat>
  <Paragraphs>780</Paragraphs>
  <Slides>125</Slides>
  <Notes>125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125</vt:i4>
      </vt:variant>
    </vt:vector>
  </HeadingPairs>
  <TitlesOfParts>
    <vt:vector size="130" baseType="lpstr">
      <vt:lpstr>Arial</vt:lpstr>
      <vt:lpstr>Univers-Bold</vt:lpstr>
      <vt:lpstr>Wingdings</vt:lpstr>
      <vt:lpstr>TimesTen-Italic</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Roopashree S</dc:creator>
  <cp:lastModifiedBy>dell</cp:lastModifiedBy>
  <cp:revision>43</cp:revision>
  <dcterms:modified xsi:type="dcterms:W3CDTF">2025-04-24T05:59:13Z</dcterms:modified>
</cp:coreProperties>
</file>